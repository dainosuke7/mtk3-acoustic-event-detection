
<file path=[Content_Types].xml><?xml version="1.0" encoding="utf-8"?>
<Types xmlns="http://schemas.openxmlformats.org/package/2006/content-types">
  <Default Extension="jp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rts/chart1.xml" ContentType="application/vnd.openxmlformats-officedocument.drawingml.chart+xml"/>
  <Override PartName="/ppt/notesSlides/notesSlide21.xml" ContentType="application/vnd.openxmlformats-officedocument.presentationml.notesSlide+xml"/>
  <Override PartName="/ppt/charts/chart2.xml" ContentType="application/vnd.openxmlformats-officedocument.drawingml.chart+xml"/>
  <Override PartName="/ppt/notesSlides/notesSlide22.xml" ContentType="application/vnd.openxmlformats-officedocument.presentationml.notesSlide+xml"/>
  <Override PartName="/ppt/charts/chart3.xml" ContentType="application/vnd.openxmlformats-officedocument.drawingml.chart+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98" r:id="rId30"/>
    <p:sldId id="299" r:id="rId31"/>
    <p:sldId id="284" r:id="rId32"/>
    <p:sldId id="300"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100" d="100"/>
          <a:sy n="100" d="100"/>
        </p:scale>
        <p:origin x="420" y="3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500" b="0" i="0" u="none" strike="noStrike">
                <a:solidFill>
                  <a:srgbClr val="000000"/>
                </a:solidFill>
                <a:latin typeface="游ゴシック"/>
              </a:defRPr>
            </a:pPr>
            <a:r>
              <a:rPr lang="en-US" altLang="ja-JP" sz="1500" b="0" i="0" u="none" strike="noStrike">
                <a:solidFill>
                  <a:srgbClr val="000000"/>
                </a:solidFill>
                <a:latin typeface="游ゴシック"/>
              </a:rPr>
              <a:t>1,053 ms </a:t>
            </a:r>
            <a:r>
              <a:rPr lang="ja-JP" altLang="en-US" sz="1500" b="0" i="0" u="none" strike="noStrike">
                <a:solidFill>
                  <a:srgbClr val="000000"/>
                </a:solidFill>
                <a:latin typeface="游ゴシック"/>
              </a:rPr>
              <a:t>で窓バッファを追い越し、窓が消える</a:t>
            </a:r>
          </a:p>
        </c:rich>
      </c:tx>
      <c:overlay val="0"/>
    </c:title>
    <c:autoTitleDeleted val="0"/>
    <c:plotArea>
      <c:layout/>
      <c:lineChart>
        <c:grouping val="standard"/>
        <c:varyColors val="0"/>
        <c:ser>
          <c:idx val="0"/>
          <c:order val="0"/>
          <c:tx>
            <c:strRef>
              <c:f>Sheet1!$B$1</c:f>
              <c:strCache>
                <c:ptCount val="1"/>
                <c:pt idx="0">
                  <c:v>遅れ (ms)</c:v>
                </c:pt>
              </c:strCache>
            </c:strRef>
          </c:tx>
          <c:spPr>
            <a:ln w="38100" cap="flat">
              <a:solidFill>
                <a:srgbClr val="E07B00"/>
              </a:solidFill>
              <a:prstDash val="solid"/>
              <a:round/>
            </a:ln>
            <a:effectLst/>
          </c:spPr>
          <c:marker>
            <c:symbol val="circle"/>
            <c:size val="8"/>
            <c:spPr>
              <a:solidFill>
                <a:srgbClr val="E07B00"/>
              </a:solidFill>
              <a:ln w="9525" cap="flat">
                <a:solidFill>
                  <a:srgbClr val="E07B00"/>
                </a:solidFill>
                <a:prstDash val="solid"/>
                <a:round/>
              </a:ln>
              <a:effectLst/>
            </c:spPr>
          </c:marker>
          <c:cat>
            <c:strRef>
              <c:f>Sheet1!$A$2:$A$9</c:f>
              <c:strCache>
                <c:ptCount val="8"/>
                <c:pt idx="0">
                  <c:v>21</c:v>
                </c:pt>
                <c:pt idx="1">
                  <c:v>22</c:v>
                </c:pt>
                <c:pt idx="2">
                  <c:v>23</c:v>
                </c:pt>
                <c:pt idx="3">
                  <c:v>24</c:v>
                </c:pt>
                <c:pt idx="4">
                  <c:v>25</c:v>
                </c:pt>
                <c:pt idx="5">
                  <c:v>26</c:v>
                </c:pt>
                <c:pt idx="6">
                  <c:v>27</c:v>
                </c:pt>
                <c:pt idx="7">
                  <c:v>28</c:v>
                </c:pt>
              </c:strCache>
            </c:strRef>
          </c:cat>
          <c:val>
            <c:numRef>
              <c:f>Sheet1!$B$2:$B$9</c:f>
              <c:numCache>
                <c:formatCode>General</c:formatCode>
                <c:ptCount val="8"/>
                <c:pt idx="0">
                  <c:v>0.3</c:v>
                </c:pt>
                <c:pt idx="1">
                  <c:v>151</c:v>
                </c:pt>
                <c:pt idx="2">
                  <c:v>302</c:v>
                </c:pt>
                <c:pt idx="3">
                  <c:v>452</c:v>
                </c:pt>
                <c:pt idx="4">
                  <c:v>603</c:v>
                </c:pt>
                <c:pt idx="5">
                  <c:v>753</c:v>
                </c:pt>
                <c:pt idx="6">
                  <c:v>903</c:v>
                </c:pt>
                <c:pt idx="7">
                  <c:v>1053</c:v>
                </c:pt>
              </c:numCache>
            </c:numRef>
          </c:val>
          <c:smooth val="0"/>
          <c:extLst>
            <c:ext xmlns:c16="http://schemas.microsoft.com/office/drawing/2014/chart" uri="{C3380CC4-5D6E-409C-BE32-E72D297353CC}">
              <c16:uniqueId val="{00000000-2BDD-46E2-ADBC-D8E314C316B9}"/>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title>
          <c:tx>
            <c:rich>
              <a:bodyPr/>
              <a:lstStyle/>
              <a:p>
                <a:pPr>
                  <a:defRPr sz="1400" b="0" i="0" u="none" strike="noStrike">
                    <a:solidFill>
                      <a:srgbClr val="000000"/>
                    </a:solidFill>
                    <a:latin typeface="Arial"/>
                  </a:defRPr>
                </a:pPr>
                <a:r>
                  <a:rPr lang="ja-JP" altLang="en-US" sz="1400" b="0" i="0" u="none" strike="noStrike">
                    <a:solidFill>
                      <a:srgbClr val="000000"/>
                    </a:solidFill>
                    <a:latin typeface="Arial"/>
                  </a:rPr>
                  <a:t>窓の番号</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游ゴシック"/>
              </a:defRPr>
            </a:pPr>
            <a:endParaRPr lang="ja-JP"/>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5E7EB"/>
              </a:solidFill>
              <a:prstDash val="solid"/>
              <a:round/>
            </a:ln>
          </c:spPr>
        </c:majorGridlines>
        <c:title>
          <c:tx>
            <c:rich>
              <a:bodyPr/>
              <a:lstStyle/>
              <a:p>
                <a:pPr>
                  <a:defRPr sz="1300" b="0" i="0" u="none" strike="noStrike">
                    <a:solidFill>
                      <a:srgbClr val="000000"/>
                    </a:solidFill>
                    <a:latin typeface="Arial"/>
                  </a:defRPr>
                </a:pPr>
                <a:r>
                  <a:rPr lang="ja-JP" altLang="en-US" sz="1300" b="0" i="0" u="none" strike="noStrike">
                    <a:solidFill>
                      <a:srgbClr val="000000"/>
                    </a:solidFill>
                    <a:latin typeface="Arial"/>
                  </a:rPr>
                  <a:t>窓が揃ってから処理を始めるまでの遅れ（</a:t>
                </a:r>
                <a:r>
                  <a:rPr lang="en-US" altLang="ja-JP" sz="1300" b="0" i="0" u="none" strike="noStrike">
                    <a:solidFill>
                      <a:srgbClr val="000000"/>
                    </a:solidFill>
                    <a:latin typeface="Arial"/>
                  </a:rPr>
                  <a:t>ms</a:t>
                </a:r>
                <a:r>
                  <a:rPr lang="ja-JP" altLang="en-US" sz="1300" b="0" i="0" u="none" strike="noStrike">
                    <a:solidFill>
                      <a:srgbClr val="000000"/>
                    </a:solidFill>
                    <a:latin typeface="Arial"/>
                  </a:rPr>
                  <a:t>）</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000000"/>
                </a:solidFill>
                <a:latin typeface="游ゴシック"/>
              </a:defRPr>
            </a:pPr>
            <a:endParaRPr lang="ja-JP"/>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600" b="0" i="0" u="none" strike="noStrike">
                <a:solidFill>
                  <a:srgbClr val="000000"/>
                </a:solidFill>
                <a:latin typeface="游ゴシック"/>
              </a:defRPr>
            </a:pPr>
            <a:r>
              <a:rPr lang="ja-JP" altLang="en-US" sz="1600" b="0" i="0" u="none" strike="noStrike">
                <a:solidFill>
                  <a:srgbClr val="000000"/>
                </a:solidFill>
                <a:latin typeface="游ゴシック"/>
              </a:rPr>
              <a:t>誤報（件</a:t>
            </a:r>
            <a:r>
              <a:rPr lang="en-US" altLang="ja-JP" sz="1600" b="0" i="0" u="none" strike="noStrike">
                <a:solidFill>
                  <a:srgbClr val="000000"/>
                </a:solidFill>
                <a:latin typeface="游ゴシック"/>
              </a:rPr>
              <a:t>/</a:t>
            </a:r>
            <a:r>
              <a:rPr lang="ja-JP" altLang="en-US" sz="1600" b="0" i="0" u="none" strike="noStrike">
                <a:solidFill>
                  <a:srgbClr val="000000"/>
                </a:solidFill>
                <a:latin typeface="游ゴシック"/>
              </a:rPr>
              <a:t>時、縦軸は対数）</a:t>
            </a:r>
          </a:p>
        </c:rich>
      </c:tx>
      <c:overlay val="0"/>
    </c:title>
    <c:autoTitleDeleted val="0"/>
    <c:plotArea>
      <c:layout/>
      <c:barChart>
        <c:barDir val="col"/>
        <c:grouping val="clustered"/>
        <c:varyColors val="0"/>
        <c:ser>
          <c:idx val="0"/>
          <c:order val="0"/>
          <c:tx>
            <c:strRef>
              <c:f>Sheet1!$B$1</c:f>
              <c:strCache>
                <c:ptCount val="1"/>
                <c:pt idx="0">
                  <c:v>件/時</c:v>
                </c:pt>
              </c:strCache>
            </c:strRef>
          </c:tx>
          <c:spPr>
            <a:solidFill>
              <a:srgbClr val="156082"/>
            </a:solidFill>
            <a:effectLst/>
          </c:spPr>
          <c:invertIfNegative val="0"/>
          <c:dLbls>
            <c:numFmt formatCode="[&lt;10]0.0;#,##0" sourceLinked="0"/>
            <c:spPr>
              <a:noFill/>
              <a:ln>
                <a:noFill/>
              </a:ln>
              <a:effectLst/>
            </c:spPr>
            <c:txPr>
              <a:bodyPr/>
              <a:lstStyle/>
              <a:p>
                <a:pPr>
                  <a:defRPr sz="1600" b="1" i="0" u="none" strike="noStrike">
                    <a:solidFill>
                      <a:srgbClr val="000000"/>
                    </a:solidFill>
                    <a:latin typeface="游ゴシック"/>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対策前</c:v>
                </c:pt>
                <c:pt idx="1">
                  <c:v>1 段目</c:v>
                </c:pt>
                <c:pt idx="2">
                  <c:v>2 段目</c:v>
                </c:pt>
              </c:strCache>
            </c:strRef>
          </c:cat>
          <c:val>
            <c:numRef>
              <c:f>Sheet1!$B$2:$B$4</c:f>
              <c:numCache>
                <c:formatCode>General</c:formatCode>
                <c:ptCount val="3"/>
                <c:pt idx="0">
                  <c:v>1216</c:v>
                </c:pt>
                <c:pt idx="1">
                  <c:v>80</c:v>
                </c:pt>
                <c:pt idx="2">
                  <c:v>3.5</c:v>
                </c:pt>
              </c:numCache>
            </c:numRef>
          </c:val>
          <c:extLst>
            <c:ext xmlns:c16="http://schemas.microsoft.com/office/drawing/2014/chart" uri="{C3380CC4-5D6E-409C-BE32-E72D297353CC}">
              <c16:uniqueId val="{00000000-0CFF-485B-8B8A-60F4DCBC085B}"/>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000000"/>
                </a:solidFill>
                <a:latin typeface="游ゴシック"/>
              </a:defRPr>
            </a:pPr>
            <a:endParaRPr lang="ja-JP"/>
          </a:p>
        </c:txPr>
        <c:crossAx val="2094734552"/>
        <c:crosses val="autoZero"/>
        <c:auto val="1"/>
        <c:lblAlgn val="ctr"/>
        <c:lblOffset val="100"/>
        <c:noMultiLvlLbl val="1"/>
      </c:catAx>
      <c:valAx>
        <c:axId val="2094734552"/>
        <c:scaling>
          <c:logBase val="10"/>
          <c:orientation val="minMax"/>
          <c:max val="10000"/>
          <c:min val="1"/>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ja-JP"/>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500" b="0" i="0" u="none" strike="noStrike">
                <a:solidFill>
                  <a:srgbClr val="000000"/>
                </a:solidFill>
                <a:latin typeface="游ゴシック"/>
              </a:defRPr>
            </a:pPr>
            <a:r>
              <a:rPr lang="en-US" altLang="ja-JP" sz="1500" b="0" i="0" u="none" strike="noStrike">
                <a:solidFill>
                  <a:srgbClr val="000000"/>
                </a:solidFill>
                <a:latin typeface="游ゴシック"/>
              </a:rPr>
              <a:t>5 </a:t>
            </a:r>
            <a:r>
              <a:rPr lang="ja-JP" altLang="en-US" sz="1500" b="0" i="0" u="none" strike="noStrike">
                <a:solidFill>
                  <a:srgbClr val="000000"/>
                </a:solidFill>
                <a:latin typeface="游ゴシック"/>
              </a:rPr>
              <a:t>分ごとの通知の件数</a:t>
            </a:r>
          </a:p>
        </c:rich>
      </c:tx>
      <c:overlay val="0"/>
    </c:title>
    <c:autoTitleDeleted val="0"/>
    <c:plotArea>
      <c:layout/>
      <c:barChart>
        <c:barDir val="col"/>
        <c:grouping val="clustered"/>
        <c:varyColors val="0"/>
        <c:ser>
          <c:idx val="0"/>
          <c:order val="0"/>
          <c:tx>
            <c:strRef>
              <c:f>Sheet1!$B$1</c:f>
              <c:strCache>
                <c:ptCount val="1"/>
                <c:pt idx="0">
                  <c:v>通知</c:v>
                </c:pt>
              </c:strCache>
            </c:strRef>
          </c:tx>
          <c:spPr>
            <a:solidFill>
              <a:srgbClr val="156082"/>
            </a:solidFill>
            <a:effectLst/>
          </c:spPr>
          <c:invertIfNegative val="0"/>
          <c:cat>
            <c:strRef>
              <c:f>Sheet1!$A$2:$A$13</c:f>
              <c:strCache>
                <c:ptCount val="12"/>
                <c:pt idx="0">
                  <c:v>0</c:v>
                </c:pt>
                <c:pt idx="1">
                  <c:v>5</c:v>
                </c:pt>
                <c:pt idx="2">
                  <c:v>10</c:v>
                </c:pt>
                <c:pt idx="3">
                  <c:v>15</c:v>
                </c:pt>
                <c:pt idx="4">
                  <c:v>20</c:v>
                </c:pt>
                <c:pt idx="5">
                  <c:v>25</c:v>
                </c:pt>
                <c:pt idx="6">
                  <c:v>30</c:v>
                </c:pt>
                <c:pt idx="7">
                  <c:v>35</c:v>
                </c:pt>
                <c:pt idx="8">
                  <c:v>40</c:v>
                </c:pt>
                <c:pt idx="9">
                  <c:v>45</c:v>
                </c:pt>
                <c:pt idx="10">
                  <c:v>50</c:v>
                </c:pt>
                <c:pt idx="11">
                  <c:v>55</c:v>
                </c:pt>
              </c:strCache>
            </c:strRef>
          </c:cat>
          <c:val>
            <c:numRef>
              <c:f>Sheet1!$B$2:$B$13</c:f>
              <c:numCache>
                <c:formatCode>General</c:formatCode>
                <c:ptCount val="12"/>
                <c:pt idx="0">
                  <c:v>1</c:v>
                </c:pt>
                <c:pt idx="1">
                  <c:v>6</c:v>
                </c:pt>
                <c:pt idx="2">
                  <c:v>7</c:v>
                </c:pt>
                <c:pt idx="3">
                  <c:v>3</c:v>
                </c:pt>
                <c:pt idx="4">
                  <c:v>3</c:v>
                </c:pt>
                <c:pt idx="5">
                  <c:v>7</c:v>
                </c:pt>
                <c:pt idx="6">
                  <c:v>6</c:v>
                </c:pt>
                <c:pt idx="7">
                  <c:v>8</c:v>
                </c:pt>
                <c:pt idx="8">
                  <c:v>5</c:v>
                </c:pt>
                <c:pt idx="9">
                  <c:v>13</c:v>
                </c:pt>
                <c:pt idx="10">
                  <c:v>8</c:v>
                </c:pt>
                <c:pt idx="11">
                  <c:v>13</c:v>
                </c:pt>
              </c:numCache>
            </c:numRef>
          </c:val>
          <c:extLst>
            <c:ext xmlns:c16="http://schemas.microsoft.com/office/drawing/2014/chart" uri="{C3380CC4-5D6E-409C-BE32-E72D297353CC}">
              <c16:uniqueId val="{00000000-D1CC-424D-A69F-CFA591B04D3E}"/>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title>
          <c:tx>
            <c:rich>
              <a:bodyPr/>
              <a:lstStyle/>
              <a:p>
                <a:pPr>
                  <a:defRPr sz="1300" b="0" i="0" u="none" strike="noStrike">
                    <a:solidFill>
                      <a:srgbClr val="000000"/>
                    </a:solidFill>
                    <a:latin typeface="Arial"/>
                  </a:defRPr>
                </a:pPr>
                <a:r>
                  <a:rPr lang="ja-JP" altLang="en-US" sz="1300" b="0" i="0" u="none" strike="noStrike">
                    <a:solidFill>
                      <a:srgbClr val="000000"/>
                    </a:solidFill>
                    <a:latin typeface="Arial"/>
                  </a:rPr>
                  <a:t>開始からの分</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Arial"/>
              </a:defRPr>
            </a:pPr>
            <a:endParaRPr lang="ja-JP"/>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000000"/>
                </a:solidFill>
                <a:latin typeface="Arial"/>
              </a:defRPr>
            </a:pPr>
            <a:endParaRPr lang="ja-JP"/>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5990249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png"/><Relationship Id="rId11" Type="http://schemas.openxmlformats.org/officeDocument/2006/relationships/image" Target="../media/image11.png"/><Relationship Id="rId5" Type="http://schemas.openxmlformats.org/officeDocument/2006/relationships/image" Target="../media/image6.png"/><Relationship Id="rId10" Type="http://schemas.openxmlformats.org/officeDocument/2006/relationships/image" Target="../media/image10.png"/><Relationship Id="rId4" Type="http://schemas.openxmlformats.org/officeDocument/2006/relationships/image" Target="../media/image5.png"/><Relationship Id="rId9" Type="http://schemas.openxmlformats.org/officeDocument/2006/relationships/image" Target="../media/image9.png"/></Relationships>
</file>

<file path=ppt/slides/_rels/slide5.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10" Type="http://schemas.openxmlformats.org/officeDocument/2006/relationships/image" Target="../media/image19.jpg"/><Relationship Id="rId4" Type="http://schemas.openxmlformats.org/officeDocument/2006/relationships/image" Target="../media/image13.png"/><Relationship Id="rId9" Type="http://schemas.openxmlformats.org/officeDocument/2006/relationships/image" Target="../media/image18.png"/></Relationships>
</file>

<file path=ppt/slides/_rels/slide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22.png"/><Relationship Id="rId4" Type="http://schemas.openxmlformats.org/officeDocument/2006/relationships/image" Target="../media/image21.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30.png"/><Relationship Id="rId4" Type="http://schemas.openxmlformats.org/officeDocument/2006/relationships/image" Target="../media/image29.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33.png"/><Relationship Id="rId4" Type="http://schemas.openxmlformats.org/officeDocument/2006/relationships/image" Target="../media/image32.png"/></Relationships>
</file>

<file path=ppt/slides/_rels/slide1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37.png"/><Relationship Id="rId4" Type="http://schemas.openxmlformats.org/officeDocument/2006/relationships/image" Target="../media/image36.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42.jp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41.png"/><Relationship Id="rId5" Type="http://schemas.openxmlformats.org/officeDocument/2006/relationships/image" Target="../media/image40.jpg"/><Relationship Id="rId4" Type="http://schemas.openxmlformats.org/officeDocument/2006/relationships/image" Target="../media/image39.png"/></Relationships>
</file>

<file path=ppt/slides/_rels/slide29.xml.rels><?xml version="1.0" encoding="UTF-8" standalone="yes"?>
<Relationships xmlns="http://schemas.openxmlformats.org/package/2006/relationships"><Relationship Id="rId3" Type="http://schemas.openxmlformats.org/officeDocument/2006/relationships/image" Target="../media/image44.jpg"/><Relationship Id="rId2" Type="http://schemas.openxmlformats.org/officeDocument/2006/relationships/image" Target="../media/image43.png"/><Relationship Id="rId1" Type="http://schemas.openxmlformats.org/officeDocument/2006/relationships/slideLayout" Target="../slideLayouts/slideLayout1.xml"/><Relationship Id="rId5" Type="http://schemas.openxmlformats.org/officeDocument/2006/relationships/image" Target="../media/image46.jpg"/><Relationship Id="rId4" Type="http://schemas.openxmlformats.org/officeDocument/2006/relationships/image" Target="../media/image45.jpg"/></Relationships>
</file>

<file path=ppt/slides/_rels/slide30.xml.rels><?xml version="1.0" encoding="UTF-8" standalone="yes"?>
<Relationships xmlns="http://schemas.openxmlformats.org/package/2006/relationships"><Relationship Id="rId3" Type="http://schemas.microsoft.com/office/2007/relationships/media" Target="../media/media2.mp4"/><Relationship Id="rId7" Type="http://schemas.openxmlformats.org/officeDocument/2006/relationships/image" Target="../media/image48.jp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47.jpg"/><Relationship Id="rId5" Type="http://schemas.openxmlformats.org/officeDocument/2006/relationships/slideLayout" Target="../slideLayouts/slideLayout1.xml"/><Relationship Id="rId4" Type="http://schemas.openxmlformats.org/officeDocument/2006/relationships/video" Target="../media/media2.mp4"/></Relationships>
</file>

<file path=ppt/slides/_rels/slide31.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29.xml"/><Relationship Id="rId1" Type="http://schemas.openxmlformats.org/officeDocument/2006/relationships/slideLayout" Target="../slideLayouts/slideLayout1.xml"/><Relationship Id="rId5" Type="http://schemas.openxmlformats.org/officeDocument/2006/relationships/image" Target="../media/image51.jpg"/><Relationship Id="rId4" Type="http://schemas.openxmlformats.org/officeDocument/2006/relationships/image" Target="../media/image50.jpg"/></Relationships>
</file>

<file path=ppt/slides/_rels/slide32.xml.rels><?xml version="1.0" encoding="UTF-8" standalone="yes"?>
<Relationships xmlns="http://schemas.openxmlformats.org/package/2006/relationships"><Relationship Id="rId3" Type="http://schemas.microsoft.com/office/2007/relationships/media" Target="../media/media4.mp4"/><Relationship Id="rId7" Type="http://schemas.openxmlformats.org/officeDocument/2006/relationships/image" Target="../media/image53.jpg"/><Relationship Id="rId2" Type="http://schemas.openxmlformats.org/officeDocument/2006/relationships/video" Target="../media/media3.mp4"/><Relationship Id="rId1" Type="http://schemas.microsoft.com/office/2007/relationships/media" Target="../media/media3.mp4"/><Relationship Id="rId6" Type="http://schemas.openxmlformats.org/officeDocument/2006/relationships/image" Target="../media/image52.jpg"/><Relationship Id="rId5" Type="http://schemas.openxmlformats.org/officeDocument/2006/relationships/slideLayout" Target="../slideLayouts/slideLayout1.xml"/><Relationship Id="rId4" Type="http://schemas.openxmlformats.org/officeDocument/2006/relationships/video" Target="../media/media4.mp4"/></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55.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image" Target="../media/image1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55.png"/><Relationship Id="rId5" Type="http://schemas.openxmlformats.org/officeDocument/2006/relationships/image" Target="../media/image56.png"/><Relationship Id="rId4" Type="http://schemas.openxmlformats.org/officeDocument/2006/relationships/image" Target="../media/image9.png"/></Relationships>
</file>

<file path=ppt/slides/_rels/slide37.xml.rels><?xml version="1.0" encoding="UTF-8" standalone="yes"?>
<Relationships xmlns="http://schemas.openxmlformats.org/package/2006/relationships"><Relationship Id="rId8" Type="http://schemas.openxmlformats.org/officeDocument/2006/relationships/image" Target="../media/image59.png"/><Relationship Id="rId3" Type="http://schemas.openxmlformats.org/officeDocument/2006/relationships/image" Target="../media/image57.png"/><Relationship Id="rId7" Type="http://schemas.openxmlformats.org/officeDocument/2006/relationships/image" Target="../media/image33.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58.png"/><Relationship Id="rId4" Type="http://schemas.openxmlformats.org/officeDocument/2006/relationships/image" Target="../media/image16.png"/><Relationship Id="rId9" Type="http://schemas.openxmlformats.org/officeDocument/2006/relationships/image" Target="../media/image35.png"/></Relationships>
</file>

<file path=ppt/slides/_rels/slide38.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6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61.png"/><Relationship Id="rId5" Type="http://schemas.openxmlformats.org/officeDocument/2006/relationships/image" Target="../media/image25.png"/><Relationship Id="rId4" Type="http://schemas.openxmlformats.org/officeDocument/2006/relationships/image" Target="../media/image13.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54.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228600"/>
            <a:ext cx="10972800" cy="411480"/>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TRON プログラミングコンテスト 2026　RTOS アプリケーション学生部門</a:t>
            </a:r>
            <a:endParaRPr lang="en-US" sz="1600" dirty="0"/>
          </a:p>
        </p:txBody>
      </p:sp>
      <p:sp>
        <p:nvSpPr>
          <p:cNvPr id="3" name="Text 1"/>
          <p:cNvSpPr txBox="1"/>
          <p:nvPr/>
        </p:nvSpPr>
        <p:spPr>
          <a:xfrm>
            <a:off x="457200" y="1645920"/>
            <a:ext cx="11274552" cy="1737360"/>
          </a:xfrm>
          <a:prstGeom prst="rect">
            <a:avLst/>
          </a:prstGeom>
          <a:noFill/>
          <a:ln/>
        </p:spPr>
        <p:txBody>
          <a:bodyPr wrap="square" lIns="0" tIns="0" rIns="0" bIns="0" rtlCol="0" anchor="ctr"/>
          <a:lstStyle/>
          <a:p>
            <a:pPr marL="0" indent="0" algn="ctr">
              <a:buNone/>
            </a:pPr>
            <a:r>
              <a:rPr lang="en-US" sz="3800" b="1" dirty="0">
                <a:solidFill>
                  <a:srgbClr val="000000"/>
                </a:solidFill>
                <a:latin typeface="游ゴシック" pitchFamily="34" charset="0"/>
                <a:ea typeface="游ゴシック" pitchFamily="34" charset="-122"/>
                <a:cs typeface="游ゴシック" pitchFamily="34" charset="-120"/>
              </a:rPr>
              <a:t>μT-Kernel で音響処理と NPU 推論を両立する</a:t>
            </a:r>
            <a:endParaRPr lang="en-US" sz="3800" dirty="0"/>
          </a:p>
          <a:p>
            <a:pPr marL="0" indent="0" algn="ctr">
              <a:buNone/>
            </a:pPr>
            <a:r>
              <a:rPr lang="en-US" sz="3800" b="1" dirty="0">
                <a:solidFill>
                  <a:srgbClr val="000000"/>
                </a:solidFill>
                <a:latin typeface="游ゴシック" pitchFamily="34" charset="0"/>
                <a:ea typeface="游ゴシック" pitchFamily="34" charset="-122"/>
                <a:cs typeface="游ゴシック" pitchFamily="34" charset="-120"/>
              </a:rPr>
              <a:t>音響イベント検出基盤の開発</a:t>
            </a:r>
            <a:endParaRPr lang="en-US" sz="3800" dirty="0"/>
          </a:p>
        </p:txBody>
      </p:sp>
      <p:sp>
        <p:nvSpPr>
          <p:cNvPr id="4" name="Text 2"/>
          <p:cNvSpPr txBox="1"/>
          <p:nvPr/>
        </p:nvSpPr>
        <p:spPr>
          <a:xfrm>
            <a:off x="457200" y="3611880"/>
            <a:ext cx="11274552" cy="457200"/>
          </a:xfrm>
          <a:prstGeom prst="rect">
            <a:avLst/>
          </a:prstGeom>
          <a:noFill/>
          <a:ln/>
        </p:spPr>
        <p:txBody>
          <a:bodyPr wrap="square" lIns="0" tIns="0" rIns="0" bIns="0" rtlCol="0" anchor="ctr"/>
          <a:lstStyle/>
          <a:p>
            <a:pPr marL="0" indent="0" algn="ctr">
              <a:buNone/>
            </a:pPr>
            <a:r>
              <a:rPr lang="en-US" sz="2000" dirty="0">
                <a:solidFill>
                  <a:srgbClr val="595959"/>
                </a:solidFill>
                <a:latin typeface="游ゴシック" pitchFamily="34" charset="0"/>
                <a:ea typeface="游ゴシック" pitchFamily="34" charset="-122"/>
                <a:cs typeface="游ゴシック" pitchFamily="34" charset="-120"/>
              </a:rPr>
              <a:t>STM32N6570-DK ＋ μT-Kernel 3.0（BSP2）</a:t>
            </a:r>
            <a:endParaRPr lang="en-US" sz="2000" dirty="0"/>
          </a:p>
        </p:txBody>
      </p:sp>
      <p:sp>
        <p:nvSpPr>
          <p:cNvPr id="5" name="Text 3"/>
          <p:cNvSpPr txBox="1"/>
          <p:nvPr/>
        </p:nvSpPr>
        <p:spPr>
          <a:xfrm>
            <a:off x="5943600" y="5074920"/>
            <a:ext cx="5788152" cy="457200"/>
          </a:xfrm>
          <a:prstGeom prst="rect">
            <a:avLst/>
          </a:prstGeom>
          <a:noFill/>
          <a:ln/>
        </p:spPr>
        <p:txBody>
          <a:bodyPr wrap="square" lIns="0" tIns="0" rIns="0" bIns="0" rtlCol="0" anchor="ctr"/>
          <a:lstStyle/>
          <a:p>
            <a:pPr marL="0" indent="0" algn="r">
              <a:buNone/>
            </a:pPr>
            <a:r>
              <a:rPr lang="en-US" sz="2400" b="1" dirty="0">
                <a:solidFill>
                  <a:srgbClr val="000000"/>
                </a:solidFill>
                <a:latin typeface="游ゴシック" pitchFamily="34" charset="0"/>
                <a:ea typeface="游ゴシック" pitchFamily="34" charset="-122"/>
                <a:cs typeface="游ゴシック" pitchFamily="34" charset="-120"/>
              </a:rPr>
              <a:t>辻　大知</a:t>
            </a:r>
            <a:endParaRPr lang="en-US" sz="2400" dirty="0"/>
          </a:p>
        </p:txBody>
      </p:sp>
      <p:sp>
        <p:nvSpPr>
          <p:cNvPr id="6" name="Text 4"/>
          <p:cNvSpPr txBox="1"/>
          <p:nvPr/>
        </p:nvSpPr>
        <p:spPr>
          <a:xfrm>
            <a:off x="5029200" y="5577840"/>
            <a:ext cx="6702552" cy="457200"/>
          </a:xfrm>
          <a:prstGeom prst="rect">
            <a:avLst/>
          </a:prstGeom>
          <a:noFill/>
          <a:ln/>
        </p:spPr>
        <p:txBody>
          <a:bodyPr wrap="square" lIns="0" tIns="0" rIns="0" bIns="0" rtlCol="0" anchor="ctr"/>
          <a:lstStyle/>
          <a:p>
            <a:pPr marL="0" indent="0" algn="r">
              <a:buNone/>
            </a:pPr>
            <a:r>
              <a:rPr lang="en-US" sz="1800" dirty="0">
                <a:solidFill>
                  <a:srgbClr val="000000"/>
                </a:solidFill>
                <a:latin typeface="游ゴシック" pitchFamily="34" charset="0"/>
                <a:ea typeface="游ゴシック" pitchFamily="34" charset="-122"/>
                <a:cs typeface="游ゴシック" pitchFamily="34" charset="-120"/>
              </a:rPr>
              <a:t>福井工業高等専門学校　専攻科 生産システム工学専攻</a:t>
            </a:r>
            <a:endParaRPr lang="en-US" sz="1800" dirty="0"/>
          </a:p>
        </p:txBody>
      </p:sp>
      <p:sp>
        <p:nvSpPr>
          <p:cNvPr id="7" name="Shape 5"/>
          <p:cNvSpPr/>
          <p:nvPr/>
        </p:nvSpPr>
        <p:spPr>
          <a:xfrm>
            <a:off x="0" y="6309360"/>
            <a:ext cx="12191695" cy="274320"/>
          </a:xfrm>
          <a:prstGeom prst="rect">
            <a:avLst/>
          </a:prstGeom>
          <a:solidFill>
            <a:srgbClr val="156082"/>
          </a:solidFill>
          <a:ln w="12700">
            <a:solidFill>
              <a:srgbClr val="156082"/>
            </a:solidFill>
            <a:prstDash val="solid"/>
          </a:ln>
        </p:spPr>
        <p:txBody>
          <a:bodyPr/>
          <a:lstStyle/>
          <a:p>
            <a:endParaRPr lang="ja-JP"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88036" y="131064"/>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1　</a:t>
            </a:r>
            <a:r>
              <a:rPr lang="ja-JP" altLang="en-US" sz="3000" b="1" dirty="0">
                <a:solidFill>
                  <a:srgbClr val="000000"/>
                </a:solidFill>
                <a:latin typeface="游ゴシック" pitchFamily="34" charset="0"/>
                <a:ea typeface="游ゴシック" pitchFamily="34" charset="-122"/>
                <a:cs typeface="游ゴシック" pitchFamily="34" charset="-120"/>
              </a:rPr>
              <a:t>プロジェクト概要</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Shape 2"/>
          <p:cNvSpPr/>
          <p:nvPr/>
        </p:nvSpPr>
        <p:spPr>
          <a:xfrm>
            <a:off x="0" y="1051560"/>
            <a:ext cx="12191695" cy="1097280"/>
          </a:xfrm>
          <a:prstGeom prst="rect">
            <a:avLst/>
          </a:prstGeom>
          <a:solidFill>
            <a:srgbClr val="DDEBF3"/>
          </a:solidFill>
          <a:ln w="12700">
            <a:solidFill>
              <a:srgbClr val="DDEBF3"/>
            </a:solidFill>
            <a:prstDash val="solid"/>
          </a:ln>
        </p:spPr>
        <p:txBody>
          <a:bodyPr/>
          <a:lstStyle/>
          <a:p>
            <a:endParaRPr lang="ja-JP" altLang="en-US"/>
          </a:p>
        </p:txBody>
      </p:sp>
      <p:sp>
        <p:nvSpPr>
          <p:cNvPr id="5" name="Text 3"/>
          <p:cNvSpPr txBox="1"/>
          <p:nvPr/>
        </p:nvSpPr>
        <p:spPr>
          <a:xfrm>
            <a:off x="457200" y="1097280"/>
            <a:ext cx="11274552" cy="1005840"/>
          </a:xfrm>
          <a:prstGeom prst="rect">
            <a:avLst/>
          </a:prstGeom>
          <a:noFill/>
          <a:ln/>
        </p:spPr>
        <p:txBody>
          <a:bodyPr wrap="square" lIns="0" tIns="0" rIns="0" bIns="0" rtlCol="0" anchor="ctr"/>
          <a:lstStyle/>
          <a:p>
            <a:pPr marL="0" indent="0">
              <a:buNone/>
            </a:pPr>
            <a:r>
              <a:rPr lang="en-US" sz="2800" b="1" dirty="0">
                <a:latin typeface="游ゴシック" pitchFamily="34" charset="0"/>
                <a:ea typeface="游ゴシック" pitchFamily="34" charset="-122"/>
                <a:cs typeface="游ゴシック" pitchFamily="34" charset="-120"/>
              </a:rPr>
              <a:t>マイコン 1 個で、音を 1 </a:t>
            </a:r>
            <a:r>
              <a:rPr lang="en-US" sz="2800" b="1" dirty="0" err="1">
                <a:latin typeface="游ゴシック" pitchFamily="34" charset="0"/>
                <a:ea typeface="游ゴシック" pitchFamily="34" charset="-122"/>
                <a:cs typeface="游ゴシック" pitchFamily="34" charset="-120"/>
              </a:rPr>
              <a:t>サンプルも落とさずに</a:t>
            </a:r>
            <a:endParaRPr lang="en-US" sz="2800" b="1" dirty="0">
              <a:latin typeface="游ゴシック" pitchFamily="34" charset="0"/>
              <a:ea typeface="游ゴシック" pitchFamily="34" charset="-122"/>
              <a:cs typeface="游ゴシック" pitchFamily="34" charset="-120"/>
            </a:endParaRPr>
          </a:p>
          <a:p>
            <a:pPr marL="0" indent="0">
              <a:buNone/>
            </a:pPr>
            <a:r>
              <a:rPr lang="en-US" sz="2800" b="1" dirty="0">
                <a:latin typeface="游ゴシック" pitchFamily="34" charset="0"/>
                <a:ea typeface="游ゴシック" pitchFamily="34" charset="-122"/>
                <a:cs typeface="游ゴシック" pitchFamily="34" charset="-120"/>
              </a:rPr>
              <a:t>NPU </a:t>
            </a:r>
            <a:r>
              <a:rPr lang="en-US" sz="2800" b="1" dirty="0" err="1">
                <a:latin typeface="游ゴシック" pitchFamily="34" charset="0"/>
                <a:ea typeface="游ゴシック" pitchFamily="34" charset="-122"/>
                <a:cs typeface="游ゴシック" pitchFamily="34" charset="-120"/>
              </a:rPr>
              <a:t>推論を回す基盤を</a:t>
            </a:r>
            <a:r>
              <a:rPr lang="ja-JP" altLang="en-US" sz="2800" b="1" dirty="0">
                <a:latin typeface="游ゴシック" pitchFamily="34" charset="0"/>
                <a:ea typeface="游ゴシック" pitchFamily="34" charset="-122"/>
                <a:cs typeface="游ゴシック" pitchFamily="34" charset="-120"/>
              </a:rPr>
              <a:t>開発</a:t>
            </a:r>
            <a:endParaRPr lang="en-US" sz="2800" dirty="0"/>
          </a:p>
        </p:txBody>
      </p:sp>
      <p:sp>
        <p:nvSpPr>
          <p:cNvPr id="6" name="Text 4"/>
          <p:cNvSpPr txBox="1"/>
          <p:nvPr/>
        </p:nvSpPr>
        <p:spPr>
          <a:xfrm>
            <a:off x="457200" y="6217920"/>
            <a:ext cx="1234440" cy="420624"/>
          </a:xfrm>
          <a:prstGeom prst="rect">
            <a:avLst/>
          </a:prstGeom>
          <a:noFill/>
          <a:ln/>
        </p:spPr>
        <p:txBody>
          <a:bodyPr wrap="square" lIns="0" tIns="0" rIns="0" bIns="0" rtlCol="0" anchor="ctr"/>
          <a:lstStyle/>
          <a:p>
            <a:pPr marL="0" indent="0">
              <a:buNone/>
            </a:pPr>
            <a:r>
              <a:rPr lang="en-US" sz="1300" dirty="0">
                <a:solidFill>
                  <a:srgbClr val="595959"/>
                </a:solidFill>
                <a:latin typeface="游ゴシック" pitchFamily="34" charset="0"/>
                <a:ea typeface="游ゴシック" pitchFamily="34" charset="-122"/>
                <a:cs typeface="游ゴシック" pitchFamily="34" charset="-120"/>
              </a:rPr>
              <a:t>この章の流れ</a:t>
            </a:r>
            <a:endParaRPr lang="en-US" sz="1300" dirty="0"/>
          </a:p>
        </p:txBody>
      </p:sp>
      <p:sp>
        <p:nvSpPr>
          <p:cNvPr id="7" name="Shape 5"/>
          <p:cNvSpPr/>
          <p:nvPr/>
        </p:nvSpPr>
        <p:spPr>
          <a:xfrm>
            <a:off x="1737360" y="6217920"/>
            <a:ext cx="3136392" cy="420624"/>
          </a:xfrm>
          <a:prstGeom prst="rect">
            <a:avLst/>
          </a:prstGeom>
          <a:solidFill>
            <a:srgbClr val="FFFFFF"/>
          </a:solidFill>
          <a:ln w="15875">
            <a:solidFill>
              <a:srgbClr val="156082"/>
            </a:solidFill>
            <a:prstDash val="solid"/>
          </a:ln>
        </p:spPr>
        <p:txBody>
          <a:bodyPr/>
          <a:lstStyle/>
          <a:p>
            <a:endParaRPr lang="ja-JP" altLang="en-US"/>
          </a:p>
        </p:txBody>
      </p:sp>
      <p:sp>
        <p:nvSpPr>
          <p:cNvPr id="8" name="Text 6"/>
          <p:cNvSpPr txBox="1"/>
          <p:nvPr/>
        </p:nvSpPr>
        <p:spPr>
          <a:xfrm>
            <a:off x="1783080" y="6217920"/>
            <a:ext cx="30449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1-1 なぜ難しいか</a:t>
            </a:r>
            <a:endParaRPr lang="en-US" sz="1400" dirty="0"/>
          </a:p>
        </p:txBody>
      </p:sp>
      <p:sp>
        <p:nvSpPr>
          <p:cNvPr id="9" name="Shape 7"/>
          <p:cNvSpPr/>
          <p:nvPr/>
        </p:nvSpPr>
        <p:spPr>
          <a:xfrm>
            <a:off x="494690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10" name="Shape 8"/>
          <p:cNvSpPr/>
          <p:nvPr/>
        </p:nvSpPr>
        <p:spPr>
          <a:xfrm>
            <a:off x="5166360" y="6217920"/>
            <a:ext cx="3136392" cy="420624"/>
          </a:xfrm>
          <a:prstGeom prst="rect">
            <a:avLst/>
          </a:prstGeom>
          <a:solidFill>
            <a:srgbClr val="FFFFFF"/>
          </a:solidFill>
          <a:ln w="15875">
            <a:solidFill>
              <a:srgbClr val="156082"/>
            </a:solidFill>
            <a:prstDash val="solid"/>
          </a:ln>
        </p:spPr>
        <p:txBody>
          <a:bodyPr/>
          <a:lstStyle/>
          <a:p>
            <a:endParaRPr lang="ja-JP" altLang="en-US"/>
          </a:p>
        </p:txBody>
      </p:sp>
      <p:sp>
        <p:nvSpPr>
          <p:cNvPr id="11" name="Text 9"/>
          <p:cNvSpPr txBox="1"/>
          <p:nvPr/>
        </p:nvSpPr>
        <p:spPr>
          <a:xfrm>
            <a:off x="5212080" y="6217920"/>
            <a:ext cx="30449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1-2 作ったもの</a:t>
            </a:r>
            <a:endParaRPr lang="en-US" sz="1400" dirty="0"/>
          </a:p>
        </p:txBody>
      </p:sp>
      <p:sp>
        <p:nvSpPr>
          <p:cNvPr id="12" name="Shape 10"/>
          <p:cNvSpPr/>
          <p:nvPr/>
        </p:nvSpPr>
        <p:spPr>
          <a:xfrm>
            <a:off x="837590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13" name="Shape 11"/>
          <p:cNvSpPr/>
          <p:nvPr/>
        </p:nvSpPr>
        <p:spPr>
          <a:xfrm>
            <a:off x="8595360" y="6217920"/>
            <a:ext cx="3136392" cy="420624"/>
          </a:xfrm>
          <a:prstGeom prst="rect">
            <a:avLst/>
          </a:prstGeom>
          <a:solidFill>
            <a:srgbClr val="FFFFFF"/>
          </a:solidFill>
          <a:ln w="15875">
            <a:solidFill>
              <a:srgbClr val="156082"/>
            </a:solidFill>
            <a:prstDash val="solid"/>
          </a:ln>
        </p:spPr>
        <p:txBody>
          <a:bodyPr/>
          <a:lstStyle/>
          <a:p>
            <a:endParaRPr lang="ja-JP" altLang="en-US"/>
          </a:p>
        </p:txBody>
      </p:sp>
      <p:sp>
        <p:nvSpPr>
          <p:cNvPr id="14" name="Text 12"/>
          <p:cNvSpPr txBox="1"/>
          <p:nvPr/>
        </p:nvSpPr>
        <p:spPr>
          <a:xfrm>
            <a:off x="8641080" y="6217920"/>
            <a:ext cx="30449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1-3 使った道具</a:t>
            </a:r>
            <a:endParaRPr lang="en-US" sz="1400" dirty="0"/>
          </a:p>
        </p:txBody>
      </p:sp>
      <p:sp>
        <p:nvSpPr>
          <p:cNvPr id="15" name="Shape 13"/>
          <p:cNvSpPr/>
          <p:nvPr/>
        </p:nvSpPr>
        <p:spPr>
          <a:xfrm>
            <a:off x="457200" y="2331720"/>
            <a:ext cx="5532120" cy="3063240"/>
          </a:xfrm>
          <a:prstGeom prst="rect">
            <a:avLst/>
          </a:prstGeom>
          <a:solidFill>
            <a:srgbClr val="F2F2F2"/>
          </a:solidFill>
          <a:ln w="12700">
            <a:solidFill>
              <a:srgbClr val="BFBFBF"/>
            </a:solidFill>
            <a:prstDash val="solid"/>
          </a:ln>
        </p:spPr>
        <p:txBody>
          <a:bodyPr/>
          <a:lstStyle/>
          <a:p>
            <a:endParaRPr lang="ja-JP" altLang="en-US"/>
          </a:p>
        </p:txBody>
      </p:sp>
      <p:sp>
        <p:nvSpPr>
          <p:cNvPr id="16" name="Shape 14"/>
          <p:cNvSpPr/>
          <p:nvPr/>
        </p:nvSpPr>
        <p:spPr>
          <a:xfrm>
            <a:off x="685800" y="2514600"/>
            <a:ext cx="640080" cy="640080"/>
          </a:xfrm>
          <a:prstGeom prst="ellipse">
            <a:avLst/>
          </a:prstGeom>
          <a:solidFill>
            <a:srgbClr val="156082"/>
          </a:solidFill>
          <a:ln w="12700">
            <a:solidFill>
              <a:srgbClr val="156082"/>
            </a:solidFill>
            <a:prstDash val="solid"/>
          </a:ln>
        </p:spPr>
        <p:txBody>
          <a:bodyPr/>
          <a:lstStyle/>
          <a:p>
            <a:endParaRPr lang="ja-JP" altLang="en-US"/>
          </a:p>
        </p:txBody>
      </p:sp>
      <p:pic>
        <p:nvPicPr>
          <p:cNvPr id="17" name="Image 0" descr="/home/claude/v4/icons/FaBullseye_FFFFFF.png"/>
          <p:cNvPicPr>
            <a:picLocks noChangeAspect="1"/>
          </p:cNvPicPr>
          <p:nvPr/>
        </p:nvPicPr>
        <p:blipFill>
          <a:blip r:embed="rId3"/>
          <a:stretch>
            <a:fillRect/>
          </a:stretch>
        </p:blipFill>
        <p:spPr>
          <a:xfrm>
            <a:off x="795528" y="2624328"/>
            <a:ext cx="420624" cy="420624"/>
          </a:xfrm>
          <a:prstGeom prst="rect">
            <a:avLst/>
          </a:prstGeom>
        </p:spPr>
      </p:pic>
      <p:sp>
        <p:nvSpPr>
          <p:cNvPr id="18" name="Text 15"/>
          <p:cNvSpPr txBox="1"/>
          <p:nvPr/>
        </p:nvSpPr>
        <p:spPr>
          <a:xfrm>
            <a:off x="1463040" y="2514600"/>
            <a:ext cx="4343400" cy="640080"/>
          </a:xfrm>
          <a:prstGeom prst="rect">
            <a:avLst/>
          </a:prstGeom>
          <a:noFill/>
          <a:ln/>
        </p:spPr>
        <p:txBody>
          <a:bodyPr wrap="square" lIns="0" tIns="0" rIns="0" bIns="0" rtlCol="0" anchor="ctr"/>
          <a:lstStyle/>
          <a:p>
            <a:pPr marL="0" indent="0">
              <a:buNone/>
            </a:pPr>
            <a:r>
              <a:rPr lang="en-US" sz="2400" b="1" dirty="0">
                <a:solidFill>
                  <a:srgbClr val="156082"/>
                </a:solidFill>
                <a:latin typeface="游ゴシック" pitchFamily="34" charset="0"/>
                <a:ea typeface="游ゴシック" pitchFamily="34" charset="-122"/>
                <a:cs typeface="游ゴシック" pitchFamily="34" charset="-120"/>
              </a:rPr>
              <a:t>何のために</a:t>
            </a:r>
            <a:endParaRPr lang="en-US" sz="2400" dirty="0"/>
          </a:p>
        </p:txBody>
      </p:sp>
      <p:sp>
        <p:nvSpPr>
          <p:cNvPr id="19" name="Text 16"/>
          <p:cNvSpPr txBox="1"/>
          <p:nvPr/>
        </p:nvSpPr>
        <p:spPr>
          <a:xfrm>
            <a:off x="685800" y="3291840"/>
            <a:ext cx="5120640" cy="201168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000000"/>
                </a:solidFill>
                <a:latin typeface="游ゴシック" pitchFamily="34" charset="0"/>
                <a:ea typeface="游ゴシック" pitchFamily="34" charset="-122"/>
                <a:cs typeface="游ゴシック" pitchFamily="34" charset="-120"/>
              </a:rPr>
              <a:t>NPU 付きマイコンで、音の取り込みと推論を同時に動かす</a:t>
            </a:r>
            <a:endParaRPr lang="en-US" sz="1900" dirty="0"/>
          </a:p>
          <a:p>
            <a:pPr marL="342900" indent="-342900">
              <a:spcAft>
                <a:spcPts val="600"/>
              </a:spcAft>
              <a:buSzPct val="100000"/>
              <a:buChar char="•"/>
            </a:pPr>
            <a:r>
              <a:rPr lang="en-US" sz="1900" dirty="0">
                <a:solidFill>
                  <a:srgbClr val="000000"/>
                </a:solidFill>
                <a:latin typeface="游ゴシック" pitchFamily="34" charset="0"/>
                <a:ea typeface="游ゴシック" pitchFamily="34" charset="-122"/>
                <a:cs typeface="游ゴシック" pitchFamily="34" charset="-120"/>
              </a:rPr>
              <a:t>推論が重くても遅れても、音は壊さない</a:t>
            </a:r>
            <a:endParaRPr lang="en-US" sz="1900" dirty="0"/>
          </a:p>
          <a:p>
            <a:pPr marL="342900" indent="-342900">
              <a:spcAft>
                <a:spcPts val="600"/>
              </a:spcAft>
              <a:buSzPct val="100000"/>
              <a:buChar char="•"/>
            </a:pPr>
            <a:r>
              <a:rPr lang="en-US" sz="1900" dirty="0">
                <a:solidFill>
                  <a:srgbClr val="000000"/>
                </a:solidFill>
                <a:latin typeface="游ゴシック" pitchFamily="34" charset="0"/>
                <a:ea typeface="游ゴシック" pitchFamily="34" charset="-122"/>
                <a:cs typeface="游ゴシック" pitchFamily="34" charset="-120"/>
              </a:rPr>
              <a:t>それを「動いた」ではなく、数字で示す</a:t>
            </a:r>
            <a:endParaRPr lang="en-US" sz="1900" dirty="0"/>
          </a:p>
        </p:txBody>
      </p:sp>
      <p:sp>
        <p:nvSpPr>
          <p:cNvPr id="20" name="Shape 17"/>
          <p:cNvSpPr/>
          <p:nvPr/>
        </p:nvSpPr>
        <p:spPr>
          <a:xfrm>
            <a:off x="6199632" y="2331720"/>
            <a:ext cx="5532120" cy="3063240"/>
          </a:xfrm>
          <a:prstGeom prst="rect">
            <a:avLst/>
          </a:prstGeom>
          <a:solidFill>
            <a:srgbClr val="F2F2F2"/>
          </a:solidFill>
          <a:ln w="12700">
            <a:solidFill>
              <a:srgbClr val="BFBFBF"/>
            </a:solidFill>
            <a:prstDash val="solid"/>
          </a:ln>
        </p:spPr>
        <p:txBody>
          <a:bodyPr/>
          <a:lstStyle/>
          <a:p>
            <a:endParaRPr lang="ja-JP" altLang="en-US"/>
          </a:p>
        </p:txBody>
      </p:sp>
      <p:sp>
        <p:nvSpPr>
          <p:cNvPr id="21" name="Shape 18"/>
          <p:cNvSpPr/>
          <p:nvPr/>
        </p:nvSpPr>
        <p:spPr>
          <a:xfrm>
            <a:off x="6428232" y="2514600"/>
            <a:ext cx="640080" cy="640080"/>
          </a:xfrm>
          <a:prstGeom prst="ellipse">
            <a:avLst/>
          </a:prstGeom>
          <a:solidFill>
            <a:srgbClr val="156082"/>
          </a:solidFill>
          <a:ln w="12700">
            <a:solidFill>
              <a:srgbClr val="156082"/>
            </a:solidFill>
            <a:prstDash val="solid"/>
          </a:ln>
        </p:spPr>
        <p:txBody>
          <a:bodyPr/>
          <a:lstStyle/>
          <a:p>
            <a:endParaRPr lang="ja-JP" altLang="en-US"/>
          </a:p>
        </p:txBody>
      </p:sp>
      <p:pic>
        <p:nvPicPr>
          <p:cNvPr id="22" name="Image 1" descr="/home/claude/v4/icons/FaTools_FFFFFF.png"/>
          <p:cNvPicPr>
            <a:picLocks noChangeAspect="1"/>
          </p:cNvPicPr>
          <p:nvPr/>
        </p:nvPicPr>
        <p:blipFill>
          <a:blip r:embed="rId4"/>
          <a:stretch>
            <a:fillRect/>
          </a:stretch>
        </p:blipFill>
        <p:spPr>
          <a:xfrm>
            <a:off x="6537960" y="2624328"/>
            <a:ext cx="420624" cy="420624"/>
          </a:xfrm>
          <a:prstGeom prst="rect">
            <a:avLst/>
          </a:prstGeom>
        </p:spPr>
      </p:pic>
      <p:sp>
        <p:nvSpPr>
          <p:cNvPr id="23" name="Text 19"/>
          <p:cNvSpPr txBox="1"/>
          <p:nvPr/>
        </p:nvSpPr>
        <p:spPr>
          <a:xfrm>
            <a:off x="7205472" y="2514600"/>
            <a:ext cx="4343400" cy="640080"/>
          </a:xfrm>
          <a:prstGeom prst="rect">
            <a:avLst/>
          </a:prstGeom>
          <a:noFill/>
          <a:ln/>
        </p:spPr>
        <p:txBody>
          <a:bodyPr wrap="square" lIns="0" tIns="0" rIns="0" bIns="0" rtlCol="0" anchor="ctr"/>
          <a:lstStyle/>
          <a:p>
            <a:pPr marL="0" indent="0">
              <a:buNone/>
            </a:pPr>
            <a:r>
              <a:rPr lang="en-US" sz="2400" b="1" dirty="0">
                <a:solidFill>
                  <a:srgbClr val="156082"/>
                </a:solidFill>
                <a:latin typeface="游ゴシック" pitchFamily="34" charset="0"/>
                <a:ea typeface="游ゴシック" pitchFamily="34" charset="-122"/>
                <a:cs typeface="游ゴシック" pitchFamily="34" charset="-120"/>
              </a:rPr>
              <a:t>何を作ったか</a:t>
            </a:r>
            <a:endParaRPr lang="en-US" sz="2400" dirty="0"/>
          </a:p>
        </p:txBody>
      </p:sp>
      <p:sp>
        <p:nvSpPr>
          <p:cNvPr id="24" name="Text 20"/>
          <p:cNvSpPr txBox="1"/>
          <p:nvPr/>
        </p:nvSpPr>
        <p:spPr>
          <a:xfrm>
            <a:off x="6428232" y="3291840"/>
            <a:ext cx="5120640" cy="201168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000000"/>
                </a:solidFill>
                <a:latin typeface="游ゴシック" pitchFamily="34" charset="0"/>
                <a:ea typeface="游ゴシック" pitchFamily="34" charset="-122"/>
                <a:cs typeface="游ゴシック" pitchFamily="34" charset="-120"/>
              </a:rPr>
              <a:t>μT-Kernel のタスク構成（音 ＞ 推論 ＞ 表示）</a:t>
            </a:r>
            <a:endParaRPr lang="en-US" sz="1900" dirty="0"/>
          </a:p>
          <a:p>
            <a:pPr marL="342900" indent="-342900">
              <a:spcAft>
                <a:spcPts val="600"/>
              </a:spcAft>
              <a:buSzPct val="100000"/>
              <a:buChar char="•"/>
            </a:pPr>
            <a:r>
              <a:rPr lang="en-US" sz="1900" dirty="0">
                <a:solidFill>
                  <a:srgbClr val="000000"/>
                </a:solidFill>
                <a:latin typeface="游ゴシック" pitchFamily="34" charset="0"/>
                <a:ea typeface="游ゴシック" pitchFamily="34" charset="-122"/>
                <a:cs typeface="游ゴシック" pitchFamily="34" charset="-120"/>
              </a:rPr>
              <a:t>NPU・フラッシュ・LCD の初期化と前処理</a:t>
            </a:r>
            <a:endParaRPr lang="en-US" sz="1900" dirty="0"/>
          </a:p>
          <a:p>
            <a:pPr marL="342900" indent="-342900">
              <a:spcAft>
                <a:spcPts val="600"/>
              </a:spcAft>
              <a:buSzPct val="100000"/>
              <a:buChar char="•"/>
            </a:pPr>
            <a:r>
              <a:rPr lang="en-US" sz="1900" dirty="0">
                <a:solidFill>
                  <a:srgbClr val="000000"/>
                </a:solidFill>
                <a:latin typeface="游ゴシック" pitchFamily="34" charset="0"/>
                <a:ea typeface="游ゴシック" pitchFamily="34" charset="-122"/>
                <a:cs typeface="游ゴシック" pitchFamily="34" charset="-120"/>
              </a:rPr>
              <a:t>音の判定と通知（LCD・LED・UART）</a:t>
            </a:r>
            <a:endParaRPr lang="en-US" sz="1900" dirty="0"/>
          </a:p>
          <a:p>
            <a:pPr marL="342900" indent="-342900">
              <a:spcAft>
                <a:spcPts val="600"/>
              </a:spcAft>
              <a:buSzPct val="100000"/>
              <a:buChar char="•"/>
            </a:pPr>
            <a:r>
              <a:rPr lang="en-US" sz="1900" dirty="0">
                <a:solidFill>
                  <a:srgbClr val="000000"/>
                </a:solidFill>
                <a:latin typeface="游ゴシック" pitchFamily="34" charset="0"/>
                <a:ea typeface="游ゴシック" pitchFamily="34" charset="-122"/>
                <a:cs typeface="游ゴシック" pitchFamily="34" charset="-120"/>
              </a:rPr>
              <a:t>自己検証と、ログの集計・再生の道具</a:t>
            </a:r>
            <a:endParaRPr lang="en-US" sz="1900" dirty="0"/>
          </a:p>
        </p:txBody>
      </p:sp>
      <p:sp>
        <p:nvSpPr>
          <p:cNvPr id="25" name="Shape 21"/>
          <p:cNvSpPr/>
          <p:nvPr/>
        </p:nvSpPr>
        <p:spPr>
          <a:xfrm>
            <a:off x="457200" y="5532120"/>
            <a:ext cx="11274552" cy="502920"/>
          </a:xfrm>
          <a:prstGeom prst="rect">
            <a:avLst/>
          </a:prstGeom>
          <a:solidFill>
            <a:srgbClr val="FFFFFF"/>
          </a:solidFill>
          <a:ln w="15875">
            <a:solidFill>
              <a:srgbClr val="156082"/>
            </a:solidFill>
            <a:prstDash val="solid"/>
          </a:ln>
        </p:spPr>
        <p:txBody>
          <a:bodyPr/>
          <a:lstStyle/>
          <a:p>
            <a:endParaRPr lang="ja-JP" altLang="en-US"/>
          </a:p>
        </p:txBody>
      </p:sp>
      <p:pic>
        <p:nvPicPr>
          <p:cNvPr id="26" name="Image 2" descr="/home/claude/v4/icons/FaBell_156082.png"/>
          <p:cNvPicPr>
            <a:picLocks noChangeAspect="1"/>
          </p:cNvPicPr>
          <p:nvPr/>
        </p:nvPicPr>
        <p:blipFill>
          <a:blip r:embed="rId5"/>
          <a:stretch>
            <a:fillRect/>
          </a:stretch>
        </p:blipFill>
        <p:spPr>
          <a:xfrm>
            <a:off x="594360" y="5577840"/>
            <a:ext cx="411480" cy="411480"/>
          </a:xfrm>
          <a:prstGeom prst="rect">
            <a:avLst/>
          </a:prstGeom>
        </p:spPr>
      </p:pic>
      <p:sp>
        <p:nvSpPr>
          <p:cNvPr id="27" name="Text 22"/>
          <p:cNvSpPr txBox="1"/>
          <p:nvPr/>
        </p:nvSpPr>
        <p:spPr>
          <a:xfrm>
            <a:off x="1143000" y="5532120"/>
            <a:ext cx="10515600" cy="502920"/>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動作例：部屋の音（犬・泣き声・くしゃみ など）を検知して、画面と LED で知らせる（8 章）</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1-1　なぜ難しいか：1 コアで 3 つの仕事</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2199" y="1170432"/>
            <a:ext cx="11274552" cy="457200"/>
          </a:xfrm>
          <a:prstGeom prst="rect">
            <a:avLst/>
          </a:prstGeom>
          <a:noFill/>
          <a:ln/>
        </p:spPr>
        <p:txBody>
          <a:bodyPr wrap="square" lIns="0" tIns="0" rIns="0" bIns="0" rtlCol="0" anchor="t"/>
          <a:lstStyle/>
          <a:p>
            <a:pPr marL="0" indent="0">
              <a:buNone/>
            </a:pPr>
            <a:r>
              <a:rPr lang="en-US" sz="3200" b="1" dirty="0">
                <a:latin typeface="游ゴシック" pitchFamily="34" charset="0"/>
                <a:ea typeface="游ゴシック" pitchFamily="34" charset="-122"/>
                <a:cs typeface="游ゴシック" pitchFamily="34" charset="-120"/>
              </a:rPr>
              <a:t>音は 16 ms </a:t>
            </a:r>
            <a:r>
              <a:rPr lang="en-US" sz="3200" b="1" dirty="0" err="1">
                <a:latin typeface="游ゴシック" pitchFamily="34" charset="0"/>
                <a:ea typeface="游ゴシック" pitchFamily="34" charset="-122"/>
                <a:cs typeface="游ゴシック" pitchFamily="34" charset="-120"/>
              </a:rPr>
              <a:t>ごとに受け取らないと溢れる</a:t>
            </a:r>
            <a:r>
              <a:rPr lang="en-US" sz="3200" b="1" dirty="0">
                <a:latin typeface="游ゴシック" pitchFamily="34" charset="0"/>
                <a:ea typeface="游ゴシック" pitchFamily="34" charset="-122"/>
                <a:cs typeface="游ゴシック" pitchFamily="34" charset="-120"/>
              </a:rPr>
              <a:t>。</a:t>
            </a:r>
          </a:p>
          <a:p>
            <a:pPr marL="0" indent="0">
              <a:buNone/>
            </a:pPr>
            <a:r>
              <a:rPr lang="en-US" sz="2400" b="1" dirty="0" err="1">
                <a:latin typeface="游ゴシック" pitchFamily="34" charset="0"/>
                <a:ea typeface="游ゴシック" pitchFamily="34" charset="-122"/>
                <a:cs typeface="游ゴシック" pitchFamily="34" charset="-120"/>
              </a:rPr>
              <a:t>そこへ</a:t>
            </a:r>
            <a:r>
              <a:rPr lang="en-US" sz="2400" b="1" dirty="0">
                <a:latin typeface="游ゴシック" pitchFamily="34" charset="0"/>
                <a:ea typeface="游ゴシック" pitchFamily="34" charset="-122"/>
                <a:cs typeface="游ゴシック" pitchFamily="34" charset="-120"/>
              </a:rPr>
              <a:t> 1 回 112 ms の推論が割り込む</a:t>
            </a:r>
            <a:endParaRPr lang="en-US" sz="2400" dirty="0"/>
          </a:p>
        </p:txBody>
      </p:sp>
      <p:sp>
        <p:nvSpPr>
          <p:cNvPr id="5" name="Shape 3"/>
          <p:cNvSpPr/>
          <p:nvPr/>
        </p:nvSpPr>
        <p:spPr>
          <a:xfrm>
            <a:off x="457200" y="2194560"/>
            <a:ext cx="8138160" cy="3566160"/>
          </a:xfrm>
          <a:prstGeom prst="rect">
            <a:avLst/>
          </a:prstGeom>
          <a:solidFill>
            <a:srgbClr val="FFFFFF">
              <a:alpha val="0"/>
            </a:srgbClr>
          </a:solidFill>
          <a:ln w="12700">
            <a:solidFill>
              <a:srgbClr val="000000"/>
            </a:solidFill>
            <a:prstDash val="solid"/>
          </a:ln>
        </p:spPr>
        <p:txBody>
          <a:bodyPr/>
          <a:lstStyle/>
          <a:p>
            <a:endParaRPr lang="ja-JP" altLang="en-US"/>
          </a:p>
        </p:txBody>
      </p:sp>
      <p:sp>
        <p:nvSpPr>
          <p:cNvPr id="6" name="Text 4"/>
          <p:cNvSpPr txBox="1"/>
          <p:nvPr/>
        </p:nvSpPr>
        <p:spPr>
          <a:xfrm>
            <a:off x="594360" y="2514600"/>
            <a:ext cx="1965960" cy="457200"/>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音の取り込み</a:t>
            </a:r>
            <a:endParaRPr lang="en-US" sz="1800" dirty="0"/>
          </a:p>
        </p:txBody>
      </p:sp>
      <p:sp>
        <p:nvSpPr>
          <p:cNvPr id="7" name="Text 5"/>
          <p:cNvSpPr txBox="1"/>
          <p:nvPr/>
        </p:nvSpPr>
        <p:spPr>
          <a:xfrm>
            <a:off x="594360" y="2926080"/>
            <a:ext cx="1965960" cy="274320"/>
          </a:xfrm>
          <a:prstGeom prst="rect">
            <a:avLst/>
          </a:prstGeom>
          <a:noFill/>
          <a:ln/>
        </p:spPr>
        <p:txBody>
          <a:bodyPr wrap="square" lIns="0" tIns="0" rIns="0" bIns="0" rtlCol="0" anchor="ctr"/>
          <a:lstStyle/>
          <a:p>
            <a:pPr marL="0" indent="0">
              <a:buNone/>
            </a:pPr>
            <a:r>
              <a:rPr lang="en-US" sz="1300" dirty="0">
                <a:solidFill>
                  <a:srgbClr val="595959"/>
                </a:solidFill>
                <a:latin typeface="游ゴシック" pitchFamily="34" charset="0"/>
                <a:ea typeface="游ゴシック" pitchFamily="34" charset="-122"/>
                <a:cs typeface="游ゴシック" pitchFamily="34" charset="-120"/>
              </a:rPr>
              <a:t>16 ms ごと・切れ目なし</a:t>
            </a:r>
            <a:endParaRPr lang="en-US" sz="1300" dirty="0"/>
          </a:p>
        </p:txBody>
      </p:sp>
      <p:sp>
        <p:nvSpPr>
          <p:cNvPr id="8" name="Shape 6"/>
          <p:cNvSpPr/>
          <p:nvPr/>
        </p:nvSpPr>
        <p:spPr>
          <a:xfrm>
            <a:off x="2606040" y="2587752"/>
            <a:ext cx="5760720" cy="329184"/>
          </a:xfrm>
          <a:prstGeom prst="rect">
            <a:avLst/>
          </a:prstGeom>
          <a:solidFill>
            <a:srgbClr val="008A5E"/>
          </a:solidFill>
          <a:ln w="12700">
            <a:solidFill>
              <a:srgbClr val="008A5E"/>
            </a:solidFill>
            <a:prstDash val="solid"/>
          </a:ln>
        </p:spPr>
        <p:txBody>
          <a:bodyPr/>
          <a:lstStyle/>
          <a:p>
            <a:endParaRPr lang="ja-JP" altLang="en-US"/>
          </a:p>
        </p:txBody>
      </p:sp>
      <p:sp>
        <p:nvSpPr>
          <p:cNvPr id="9" name="Text 7"/>
          <p:cNvSpPr txBox="1"/>
          <p:nvPr/>
        </p:nvSpPr>
        <p:spPr>
          <a:xfrm>
            <a:off x="594360" y="3429000"/>
            <a:ext cx="1965960" cy="457200"/>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推論</a:t>
            </a:r>
            <a:endParaRPr lang="en-US" sz="1800" dirty="0"/>
          </a:p>
        </p:txBody>
      </p:sp>
      <p:sp>
        <p:nvSpPr>
          <p:cNvPr id="10" name="Shape 8"/>
          <p:cNvSpPr/>
          <p:nvPr/>
        </p:nvSpPr>
        <p:spPr>
          <a:xfrm>
            <a:off x="4361259" y="3502152"/>
            <a:ext cx="201625" cy="329184"/>
          </a:xfrm>
          <a:prstGeom prst="rect">
            <a:avLst/>
          </a:prstGeom>
          <a:solidFill>
            <a:srgbClr val="156082"/>
          </a:solidFill>
          <a:ln w="12700">
            <a:solidFill>
              <a:srgbClr val="156082"/>
            </a:solidFill>
            <a:prstDash val="solid"/>
          </a:ln>
        </p:spPr>
        <p:txBody>
          <a:bodyPr/>
          <a:lstStyle/>
          <a:p>
            <a:endParaRPr lang="ja-JP" altLang="en-US"/>
          </a:p>
        </p:txBody>
      </p:sp>
      <p:sp>
        <p:nvSpPr>
          <p:cNvPr id="11" name="Shape 9"/>
          <p:cNvSpPr/>
          <p:nvPr/>
        </p:nvSpPr>
        <p:spPr>
          <a:xfrm>
            <a:off x="6089475" y="3502152"/>
            <a:ext cx="201625" cy="329184"/>
          </a:xfrm>
          <a:prstGeom prst="rect">
            <a:avLst/>
          </a:prstGeom>
          <a:solidFill>
            <a:srgbClr val="156082"/>
          </a:solidFill>
          <a:ln w="12700">
            <a:solidFill>
              <a:srgbClr val="156082"/>
            </a:solidFill>
            <a:prstDash val="solid"/>
          </a:ln>
        </p:spPr>
        <p:txBody>
          <a:bodyPr/>
          <a:lstStyle/>
          <a:p>
            <a:endParaRPr lang="ja-JP" altLang="en-US"/>
          </a:p>
        </p:txBody>
      </p:sp>
      <p:sp>
        <p:nvSpPr>
          <p:cNvPr id="12" name="Shape 10"/>
          <p:cNvSpPr/>
          <p:nvPr/>
        </p:nvSpPr>
        <p:spPr>
          <a:xfrm>
            <a:off x="7817691" y="3502152"/>
            <a:ext cx="201625" cy="329184"/>
          </a:xfrm>
          <a:prstGeom prst="rect">
            <a:avLst/>
          </a:prstGeom>
          <a:solidFill>
            <a:srgbClr val="156082"/>
          </a:solidFill>
          <a:ln w="12700">
            <a:solidFill>
              <a:srgbClr val="156082"/>
            </a:solidFill>
            <a:prstDash val="solid"/>
          </a:ln>
        </p:spPr>
        <p:txBody>
          <a:bodyPr/>
          <a:lstStyle/>
          <a:p>
            <a:endParaRPr lang="ja-JP" altLang="en-US"/>
          </a:p>
        </p:txBody>
      </p:sp>
      <p:sp>
        <p:nvSpPr>
          <p:cNvPr id="13" name="Text 11"/>
          <p:cNvSpPr txBox="1"/>
          <p:nvPr/>
        </p:nvSpPr>
        <p:spPr>
          <a:xfrm>
            <a:off x="2606040" y="3858768"/>
            <a:ext cx="5760720" cy="274320"/>
          </a:xfrm>
          <a:prstGeom prst="rect">
            <a:avLst/>
          </a:prstGeom>
          <a:noFill/>
          <a:ln/>
        </p:spPr>
        <p:txBody>
          <a:bodyPr wrap="square" lIns="0" tIns="0" rIns="0" bIns="0" rtlCol="0" anchor="ctr"/>
          <a:lstStyle/>
          <a:p>
            <a:pPr marL="0" indent="0">
              <a:buNone/>
            </a:pPr>
            <a:r>
              <a:rPr lang="en-US" sz="1400" dirty="0">
                <a:solidFill>
                  <a:srgbClr val="595959"/>
                </a:solidFill>
                <a:latin typeface="游ゴシック" pitchFamily="34" charset="0"/>
                <a:ea typeface="游ゴシック" pitchFamily="34" charset="-122"/>
                <a:cs typeface="游ゴシック" pitchFamily="34" charset="-120"/>
              </a:rPr>
              <a:t>窓が揃うたびに 112 ms（前処理 69 ＋ 推論 41）</a:t>
            </a:r>
            <a:endParaRPr lang="en-US" sz="1400" dirty="0"/>
          </a:p>
        </p:txBody>
      </p:sp>
      <p:sp>
        <p:nvSpPr>
          <p:cNvPr id="14" name="Text 12"/>
          <p:cNvSpPr txBox="1"/>
          <p:nvPr/>
        </p:nvSpPr>
        <p:spPr>
          <a:xfrm>
            <a:off x="594360" y="4343400"/>
            <a:ext cx="1965960" cy="457200"/>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表示・ログ</a:t>
            </a:r>
            <a:endParaRPr lang="en-US" sz="1800" dirty="0"/>
          </a:p>
        </p:txBody>
      </p:sp>
      <p:sp>
        <p:nvSpPr>
          <p:cNvPr id="15" name="Shape 13"/>
          <p:cNvSpPr/>
          <p:nvPr/>
        </p:nvSpPr>
        <p:spPr>
          <a:xfrm>
            <a:off x="4562885" y="4416552"/>
            <a:ext cx="99727" cy="329184"/>
          </a:xfrm>
          <a:prstGeom prst="rect">
            <a:avLst/>
          </a:prstGeom>
          <a:solidFill>
            <a:srgbClr val="E07B00"/>
          </a:solidFill>
          <a:ln w="12700">
            <a:solidFill>
              <a:srgbClr val="E07B00"/>
            </a:solidFill>
            <a:prstDash val="solid"/>
          </a:ln>
        </p:spPr>
        <p:txBody>
          <a:bodyPr/>
          <a:lstStyle/>
          <a:p>
            <a:endParaRPr lang="ja-JP" altLang="en-US"/>
          </a:p>
        </p:txBody>
      </p:sp>
      <p:sp>
        <p:nvSpPr>
          <p:cNvPr id="16" name="Shape 14"/>
          <p:cNvSpPr/>
          <p:nvPr/>
        </p:nvSpPr>
        <p:spPr>
          <a:xfrm>
            <a:off x="6291101" y="4416552"/>
            <a:ext cx="99727" cy="329184"/>
          </a:xfrm>
          <a:prstGeom prst="rect">
            <a:avLst/>
          </a:prstGeom>
          <a:solidFill>
            <a:srgbClr val="E07B00"/>
          </a:solidFill>
          <a:ln w="12700">
            <a:solidFill>
              <a:srgbClr val="E07B00"/>
            </a:solidFill>
            <a:prstDash val="solid"/>
          </a:ln>
        </p:spPr>
        <p:txBody>
          <a:bodyPr/>
          <a:lstStyle/>
          <a:p>
            <a:endParaRPr lang="ja-JP" altLang="en-US"/>
          </a:p>
        </p:txBody>
      </p:sp>
      <p:sp>
        <p:nvSpPr>
          <p:cNvPr id="17" name="Shape 15"/>
          <p:cNvSpPr/>
          <p:nvPr/>
        </p:nvSpPr>
        <p:spPr>
          <a:xfrm>
            <a:off x="8019317" y="4416552"/>
            <a:ext cx="99727" cy="329184"/>
          </a:xfrm>
          <a:prstGeom prst="rect">
            <a:avLst/>
          </a:prstGeom>
          <a:solidFill>
            <a:srgbClr val="E07B00"/>
          </a:solidFill>
          <a:ln w="12700">
            <a:solidFill>
              <a:srgbClr val="E07B00"/>
            </a:solidFill>
            <a:prstDash val="solid"/>
          </a:ln>
        </p:spPr>
        <p:txBody>
          <a:bodyPr/>
          <a:lstStyle/>
          <a:p>
            <a:endParaRPr lang="ja-JP" altLang="en-US"/>
          </a:p>
        </p:txBody>
      </p:sp>
      <p:sp>
        <p:nvSpPr>
          <p:cNvPr id="18" name="Text 16"/>
          <p:cNvSpPr txBox="1"/>
          <p:nvPr/>
        </p:nvSpPr>
        <p:spPr>
          <a:xfrm>
            <a:off x="2606040" y="4773168"/>
            <a:ext cx="5760720" cy="274320"/>
          </a:xfrm>
          <a:prstGeom prst="rect">
            <a:avLst/>
          </a:prstGeom>
          <a:noFill/>
          <a:ln/>
        </p:spPr>
        <p:txBody>
          <a:bodyPr wrap="square" lIns="0" tIns="0" rIns="0" bIns="0" rtlCol="0" anchor="ctr"/>
          <a:lstStyle/>
          <a:p>
            <a:pPr marL="0" indent="0">
              <a:buNone/>
            </a:pPr>
            <a:r>
              <a:rPr lang="en-US" sz="1400" dirty="0">
                <a:solidFill>
                  <a:srgbClr val="595959"/>
                </a:solidFill>
                <a:latin typeface="游ゴシック" pitchFamily="34" charset="0"/>
                <a:ea typeface="游ゴシック" pitchFamily="34" charset="-122"/>
                <a:cs typeface="游ゴシック" pitchFamily="34" charset="-120"/>
              </a:rPr>
              <a:t>推論のあと、空いた時間で</a:t>
            </a:r>
            <a:endParaRPr lang="en-US" sz="1400" dirty="0"/>
          </a:p>
        </p:txBody>
      </p:sp>
      <p:sp>
        <p:nvSpPr>
          <p:cNvPr id="19" name="Shape 17"/>
          <p:cNvSpPr/>
          <p:nvPr/>
        </p:nvSpPr>
        <p:spPr>
          <a:xfrm>
            <a:off x="2606040" y="3099816"/>
            <a:ext cx="1755219" cy="0"/>
          </a:xfrm>
          <a:prstGeom prst="line">
            <a:avLst/>
          </a:prstGeom>
          <a:noFill/>
          <a:ln w="19050">
            <a:solidFill>
              <a:srgbClr val="008A5E"/>
            </a:solidFill>
            <a:prstDash val="solid"/>
          </a:ln>
        </p:spPr>
        <p:txBody>
          <a:bodyPr/>
          <a:lstStyle/>
          <a:p>
            <a:endParaRPr lang="ja-JP" altLang="en-US"/>
          </a:p>
        </p:txBody>
      </p:sp>
      <p:sp>
        <p:nvSpPr>
          <p:cNvPr id="20" name="Shape 18"/>
          <p:cNvSpPr/>
          <p:nvPr/>
        </p:nvSpPr>
        <p:spPr>
          <a:xfrm>
            <a:off x="2606040" y="3026664"/>
            <a:ext cx="0" cy="146304"/>
          </a:xfrm>
          <a:prstGeom prst="line">
            <a:avLst/>
          </a:prstGeom>
          <a:noFill/>
          <a:ln w="19050">
            <a:solidFill>
              <a:srgbClr val="008A5E"/>
            </a:solidFill>
            <a:prstDash val="solid"/>
          </a:ln>
        </p:spPr>
        <p:txBody>
          <a:bodyPr/>
          <a:lstStyle/>
          <a:p>
            <a:endParaRPr lang="ja-JP" altLang="en-US"/>
          </a:p>
        </p:txBody>
      </p:sp>
      <p:sp>
        <p:nvSpPr>
          <p:cNvPr id="21" name="Shape 19"/>
          <p:cNvSpPr/>
          <p:nvPr/>
        </p:nvSpPr>
        <p:spPr>
          <a:xfrm>
            <a:off x="4361259" y="3026664"/>
            <a:ext cx="0" cy="146304"/>
          </a:xfrm>
          <a:prstGeom prst="line">
            <a:avLst/>
          </a:prstGeom>
          <a:noFill/>
          <a:ln w="19050">
            <a:solidFill>
              <a:srgbClr val="008A5E"/>
            </a:solidFill>
            <a:prstDash val="solid"/>
          </a:ln>
        </p:spPr>
        <p:txBody>
          <a:bodyPr/>
          <a:lstStyle/>
          <a:p>
            <a:endParaRPr lang="ja-JP" altLang="en-US"/>
          </a:p>
        </p:txBody>
      </p:sp>
      <p:sp>
        <p:nvSpPr>
          <p:cNvPr id="22" name="Text 20"/>
          <p:cNvSpPr txBox="1"/>
          <p:nvPr/>
        </p:nvSpPr>
        <p:spPr>
          <a:xfrm>
            <a:off x="4452699" y="2962656"/>
            <a:ext cx="4480560" cy="274320"/>
          </a:xfrm>
          <a:prstGeom prst="rect">
            <a:avLst/>
          </a:prstGeom>
          <a:noFill/>
          <a:ln/>
        </p:spPr>
        <p:txBody>
          <a:bodyPr wrap="square" lIns="0" tIns="0" rIns="0" bIns="0" rtlCol="0" anchor="ctr"/>
          <a:lstStyle/>
          <a:p>
            <a:pPr marL="0" indent="0">
              <a:buNone/>
            </a:pPr>
            <a:r>
              <a:rPr lang="en-US" sz="1400" b="1" dirty="0">
                <a:solidFill>
                  <a:srgbClr val="008A5E"/>
                </a:solidFill>
                <a:latin typeface="游ゴシック" pitchFamily="34" charset="0"/>
                <a:ea typeface="游ゴシック" pitchFamily="34" charset="-122"/>
                <a:cs typeface="游ゴシック" pitchFamily="34" charset="-120"/>
              </a:rPr>
              <a:t>窓 1 つ ＝ 975 ms（960 ms ごと）</a:t>
            </a:r>
            <a:endParaRPr lang="en-US" sz="1400" dirty="0"/>
          </a:p>
        </p:txBody>
      </p:sp>
      <p:sp>
        <p:nvSpPr>
          <p:cNvPr id="23" name="Shape 21"/>
          <p:cNvSpPr/>
          <p:nvPr/>
        </p:nvSpPr>
        <p:spPr>
          <a:xfrm>
            <a:off x="2606040" y="5303520"/>
            <a:ext cx="5760720" cy="0"/>
          </a:xfrm>
          <a:prstGeom prst="line">
            <a:avLst/>
          </a:prstGeom>
          <a:noFill/>
          <a:ln w="12700">
            <a:solidFill>
              <a:srgbClr val="000000"/>
            </a:solidFill>
            <a:prstDash val="solid"/>
          </a:ln>
        </p:spPr>
        <p:txBody>
          <a:bodyPr/>
          <a:lstStyle/>
          <a:p>
            <a:endParaRPr lang="ja-JP" altLang="en-US"/>
          </a:p>
        </p:txBody>
      </p:sp>
      <p:sp>
        <p:nvSpPr>
          <p:cNvPr id="24" name="Shape 22"/>
          <p:cNvSpPr/>
          <p:nvPr/>
        </p:nvSpPr>
        <p:spPr>
          <a:xfrm>
            <a:off x="2606040" y="5257800"/>
            <a:ext cx="0" cy="91440"/>
          </a:xfrm>
          <a:prstGeom prst="line">
            <a:avLst/>
          </a:prstGeom>
          <a:noFill/>
          <a:ln w="12700">
            <a:solidFill>
              <a:srgbClr val="000000"/>
            </a:solidFill>
            <a:prstDash val="solid"/>
          </a:ln>
        </p:spPr>
        <p:txBody>
          <a:bodyPr/>
          <a:lstStyle/>
          <a:p>
            <a:endParaRPr lang="ja-JP" altLang="en-US"/>
          </a:p>
        </p:txBody>
      </p:sp>
      <p:sp>
        <p:nvSpPr>
          <p:cNvPr id="25" name="Text 23"/>
          <p:cNvSpPr txBox="1"/>
          <p:nvPr/>
        </p:nvSpPr>
        <p:spPr>
          <a:xfrm>
            <a:off x="2286000" y="5349240"/>
            <a:ext cx="640080" cy="256032"/>
          </a:xfrm>
          <a:prstGeom prst="rect">
            <a:avLst/>
          </a:prstGeom>
          <a:noFill/>
          <a:ln/>
        </p:spPr>
        <p:txBody>
          <a:bodyPr wrap="square" lIns="0" tIns="0" rIns="0" bIns="0" rtlCol="0" anchor="ctr"/>
          <a:lstStyle/>
          <a:p>
            <a:pPr marL="0" indent="0" algn="ctr">
              <a:buNone/>
            </a:pPr>
            <a:r>
              <a:rPr lang="en-US" sz="1300" dirty="0">
                <a:solidFill>
                  <a:srgbClr val="000000"/>
                </a:solidFill>
                <a:latin typeface="游ゴシック" pitchFamily="34" charset="0"/>
                <a:ea typeface="游ゴシック" pitchFamily="34" charset="-122"/>
                <a:cs typeface="游ゴシック" pitchFamily="34" charset="-120"/>
              </a:rPr>
              <a:t>0.00</a:t>
            </a:r>
            <a:endParaRPr lang="en-US" sz="1300" dirty="0"/>
          </a:p>
        </p:txBody>
      </p:sp>
      <p:sp>
        <p:nvSpPr>
          <p:cNvPr id="26" name="Shape 24"/>
          <p:cNvSpPr/>
          <p:nvPr/>
        </p:nvSpPr>
        <p:spPr>
          <a:xfrm>
            <a:off x="4334256" y="5257800"/>
            <a:ext cx="0" cy="91440"/>
          </a:xfrm>
          <a:prstGeom prst="line">
            <a:avLst/>
          </a:prstGeom>
          <a:noFill/>
          <a:ln w="12700">
            <a:solidFill>
              <a:srgbClr val="000000"/>
            </a:solidFill>
            <a:prstDash val="solid"/>
          </a:ln>
        </p:spPr>
        <p:txBody>
          <a:bodyPr/>
          <a:lstStyle/>
          <a:p>
            <a:endParaRPr lang="ja-JP" altLang="en-US"/>
          </a:p>
        </p:txBody>
      </p:sp>
      <p:sp>
        <p:nvSpPr>
          <p:cNvPr id="27" name="Text 25"/>
          <p:cNvSpPr txBox="1"/>
          <p:nvPr/>
        </p:nvSpPr>
        <p:spPr>
          <a:xfrm>
            <a:off x="4014216" y="5349240"/>
            <a:ext cx="640080" cy="256032"/>
          </a:xfrm>
          <a:prstGeom prst="rect">
            <a:avLst/>
          </a:prstGeom>
          <a:noFill/>
          <a:ln/>
        </p:spPr>
        <p:txBody>
          <a:bodyPr wrap="square" lIns="0" tIns="0" rIns="0" bIns="0" rtlCol="0" anchor="ctr"/>
          <a:lstStyle/>
          <a:p>
            <a:pPr marL="0" indent="0" algn="ctr">
              <a:buNone/>
            </a:pPr>
            <a:r>
              <a:rPr lang="en-US" sz="1300" dirty="0">
                <a:solidFill>
                  <a:srgbClr val="000000"/>
                </a:solidFill>
                <a:latin typeface="游ゴシック" pitchFamily="34" charset="0"/>
                <a:ea typeface="游ゴシック" pitchFamily="34" charset="-122"/>
                <a:cs typeface="游ゴシック" pitchFamily="34" charset="-120"/>
              </a:rPr>
              <a:t>0.96</a:t>
            </a:r>
            <a:endParaRPr lang="en-US" sz="1300" dirty="0"/>
          </a:p>
        </p:txBody>
      </p:sp>
      <p:sp>
        <p:nvSpPr>
          <p:cNvPr id="28" name="Shape 26"/>
          <p:cNvSpPr/>
          <p:nvPr/>
        </p:nvSpPr>
        <p:spPr>
          <a:xfrm>
            <a:off x="6062472" y="5257800"/>
            <a:ext cx="0" cy="91440"/>
          </a:xfrm>
          <a:prstGeom prst="line">
            <a:avLst/>
          </a:prstGeom>
          <a:noFill/>
          <a:ln w="12700">
            <a:solidFill>
              <a:srgbClr val="000000"/>
            </a:solidFill>
            <a:prstDash val="solid"/>
          </a:ln>
        </p:spPr>
        <p:txBody>
          <a:bodyPr/>
          <a:lstStyle/>
          <a:p>
            <a:endParaRPr lang="ja-JP" altLang="en-US"/>
          </a:p>
        </p:txBody>
      </p:sp>
      <p:sp>
        <p:nvSpPr>
          <p:cNvPr id="29" name="Text 27"/>
          <p:cNvSpPr txBox="1"/>
          <p:nvPr/>
        </p:nvSpPr>
        <p:spPr>
          <a:xfrm>
            <a:off x="5742432" y="5349240"/>
            <a:ext cx="640080" cy="256032"/>
          </a:xfrm>
          <a:prstGeom prst="rect">
            <a:avLst/>
          </a:prstGeom>
          <a:noFill/>
          <a:ln/>
        </p:spPr>
        <p:txBody>
          <a:bodyPr wrap="square" lIns="0" tIns="0" rIns="0" bIns="0" rtlCol="0" anchor="ctr"/>
          <a:lstStyle/>
          <a:p>
            <a:pPr marL="0" indent="0" algn="ctr">
              <a:buNone/>
            </a:pPr>
            <a:r>
              <a:rPr lang="en-US" sz="1300" dirty="0">
                <a:solidFill>
                  <a:srgbClr val="000000"/>
                </a:solidFill>
                <a:latin typeface="游ゴシック" pitchFamily="34" charset="0"/>
                <a:ea typeface="游ゴシック" pitchFamily="34" charset="-122"/>
                <a:cs typeface="游ゴシック" pitchFamily="34" charset="-120"/>
              </a:rPr>
              <a:t>1.92</a:t>
            </a:r>
            <a:endParaRPr lang="en-US" sz="1300" dirty="0"/>
          </a:p>
        </p:txBody>
      </p:sp>
      <p:sp>
        <p:nvSpPr>
          <p:cNvPr id="30" name="Shape 28"/>
          <p:cNvSpPr/>
          <p:nvPr/>
        </p:nvSpPr>
        <p:spPr>
          <a:xfrm>
            <a:off x="7790688" y="5257800"/>
            <a:ext cx="0" cy="91440"/>
          </a:xfrm>
          <a:prstGeom prst="line">
            <a:avLst/>
          </a:prstGeom>
          <a:noFill/>
          <a:ln w="12700">
            <a:solidFill>
              <a:srgbClr val="000000"/>
            </a:solidFill>
            <a:prstDash val="solid"/>
          </a:ln>
        </p:spPr>
        <p:txBody>
          <a:bodyPr/>
          <a:lstStyle/>
          <a:p>
            <a:endParaRPr lang="ja-JP" altLang="en-US"/>
          </a:p>
        </p:txBody>
      </p:sp>
      <p:sp>
        <p:nvSpPr>
          <p:cNvPr id="31" name="Text 29"/>
          <p:cNvSpPr txBox="1"/>
          <p:nvPr/>
        </p:nvSpPr>
        <p:spPr>
          <a:xfrm>
            <a:off x="7470648" y="5349240"/>
            <a:ext cx="640080" cy="256032"/>
          </a:xfrm>
          <a:prstGeom prst="rect">
            <a:avLst/>
          </a:prstGeom>
          <a:noFill/>
          <a:ln/>
        </p:spPr>
        <p:txBody>
          <a:bodyPr wrap="square" lIns="0" tIns="0" rIns="0" bIns="0" rtlCol="0" anchor="ctr"/>
          <a:lstStyle/>
          <a:p>
            <a:pPr marL="0" indent="0" algn="ctr">
              <a:buNone/>
            </a:pPr>
            <a:r>
              <a:rPr lang="en-US" sz="1300" dirty="0">
                <a:solidFill>
                  <a:srgbClr val="000000"/>
                </a:solidFill>
                <a:latin typeface="游ゴシック" pitchFamily="34" charset="0"/>
                <a:ea typeface="游ゴシック" pitchFamily="34" charset="-122"/>
                <a:cs typeface="游ゴシック" pitchFamily="34" charset="-120"/>
              </a:rPr>
              <a:t>2.88</a:t>
            </a:r>
            <a:endParaRPr lang="en-US" sz="1300" dirty="0"/>
          </a:p>
        </p:txBody>
      </p:sp>
      <p:sp>
        <p:nvSpPr>
          <p:cNvPr id="32" name="Text 30"/>
          <p:cNvSpPr txBox="1"/>
          <p:nvPr/>
        </p:nvSpPr>
        <p:spPr>
          <a:xfrm>
            <a:off x="2606040" y="5577840"/>
            <a:ext cx="5760720" cy="237744"/>
          </a:xfrm>
          <a:prstGeom prst="rect">
            <a:avLst/>
          </a:prstGeom>
          <a:noFill/>
          <a:ln/>
        </p:spPr>
        <p:txBody>
          <a:bodyPr wrap="square" lIns="0" tIns="0" rIns="0" bIns="0" rtlCol="0" anchor="ctr"/>
          <a:lstStyle/>
          <a:p>
            <a:pPr marL="0" indent="0" algn="ctr">
              <a:buNone/>
            </a:pPr>
            <a:r>
              <a:rPr lang="en-US" sz="1300" dirty="0">
                <a:solidFill>
                  <a:srgbClr val="595959"/>
                </a:solidFill>
                <a:latin typeface="游ゴシック" pitchFamily="34" charset="0"/>
                <a:ea typeface="游ゴシック" pitchFamily="34" charset="-122"/>
                <a:cs typeface="游ゴシック" pitchFamily="34" charset="-120"/>
              </a:rPr>
              <a:t>時刻 t（秒）</a:t>
            </a:r>
            <a:endParaRPr lang="en-US" sz="1300" dirty="0"/>
          </a:p>
        </p:txBody>
      </p:sp>
      <p:sp>
        <p:nvSpPr>
          <p:cNvPr id="33" name="Text 31"/>
          <p:cNvSpPr txBox="1"/>
          <p:nvPr/>
        </p:nvSpPr>
        <p:spPr>
          <a:xfrm>
            <a:off x="8869680" y="2194560"/>
            <a:ext cx="2862072" cy="411480"/>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取りこぼしの数え方</a:t>
            </a:r>
            <a:endParaRPr lang="en-US" sz="1800" dirty="0"/>
          </a:p>
        </p:txBody>
      </p:sp>
      <p:sp>
        <p:nvSpPr>
          <p:cNvPr id="34" name="Text 32"/>
          <p:cNvSpPr txBox="1"/>
          <p:nvPr/>
        </p:nvSpPr>
        <p:spPr>
          <a:xfrm>
            <a:off x="8869680" y="2651760"/>
            <a:ext cx="2862072" cy="621792"/>
          </a:xfrm>
          <a:prstGeom prst="rect">
            <a:avLst/>
          </a:prstGeom>
          <a:noFill/>
          <a:ln/>
        </p:spPr>
        <p:txBody>
          <a:bodyPr wrap="square" lIns="0" tIns="0" rIns="0" bIns="0" rtlCol="0" anchor="t"/>
          <a:lstStyle/>
          <a:p>
            <a:pPr marL="0" indent="0">
              <a:buNone/>
            </a:pPr>
            <a:r>
              <a:rPr lang="en-US" sz="1600" b="1" dirty="0">
                <a:solidFill>
                  <a:srgbClr val="00B050"/>
                </a:solidFill>
                <a:latin typeface="Consolas" pitchFamily="34" charset="0"/>
                <a:ea typeface="Consolas" pitchFamily="34" charset="-122"/>
                <a:cs typeface="Consolas" pitchFamily="34" charset="-120"/>
              </a:rPr>
              <a:t>under</a:t>
            </a:r>
            <a:r>
              <a:rPr lang="en-US" sz="1600" b="1" dirty="0">
                <a:solidFill>
                  <a:srgbClr val="156082"/>
                </a:solidFill>
                <a:latin typeface="Consolas" pitchFamily="34" charset="0"/>
                <a:ea typeface="Consolas" pitchFamily="34" charset="-122"/>
                <a:cs typeface="Consolas" pitchFamily="34" charset="-120"/>
              </a:rPr>
              <a:t>　</a:t>
            </a:r>
            <a:r>
              <a:rPr lang="en-US" sz="1600" dirty="0">
                <a:solidFill>
                  <a:srgbClr val="000000"/>
                </a:solidFill>
                <a:latin typeface="游ゴシック" pitchFamily="34" charset="0"/>
                <a:ea typeface="游ゴシック" pitchFamily="34" charset="-122"/>
                <a:cs typeface="游ゴシック" pitchFamily="34" charset="-120"/>
              </a:rPr>
              <a:t>ヘッドホンに渡す音が足りず、無音で埋めた回数</a:t>
            </a:r>
            <a:endParaRPr lang="en-US" sz="1600" dirty="0"/>
          </a:p>
        </p:txBody>
      </p:sp>
      <p:sp>
        <p:nvSpPr>
          <p:cNvPr id="35" name="Text 33"/>
          <p:cNvSpPr txBox="1"/>
          <p:nvPr/>
        </p:nvSpPr>
        <p:spPr>
          <a:xfrm>
            <a:off x="8869680" y="3310128"/>
            <a:ext cx="2862072" cy="621792"/>
          </a:xfrm>
          <a:prstGeom prst="rect">
            <a:avLst/>
          </a:prstGeom>
          <a:noFill/>
          <a:ln/>
        </p:spPr>
        <p:txBody>
          <a:bodyPr wrap="square" lIns="0" tIns="0" rIns="0" bIns="0" rtlCol="0" anchor="t"/>
          <a:lstStyle/>
          <a:p>
            <a:pPr marL="0" indent="0">
              <a:buNone/>
            </a:pPr>
            <a:r>
              <a:rPr lang="en-US" sz="1600" b="1" dirty="0">
                <a:solidFill>
                  <a:srgbClr val="FF0000"/>
                </a:solidFill>
                <a:latin typeface="Consolas" pitchFamily="34" charset="0"/>
                <a:ea typeface="Consolas" pitchFamily="34" charset="-122"/>
                <a:cs typeface="Consolas" pitchFamily="34" charset="-120"/>
              </a:rPr>
              <a:t>over</a:t>
            </a:r>
            <a:r>
              <a:rPr lang="en-US" sz="1600" b="1" dirty="0">
                <a:solidFill>
                  <a:srgbClr val="156082"/>
                </a:solidFill>
                <a:latin typeface="Consolas" pitchFamily="34" charset="0"/>
                <a:ea typeface="Consolas" pitchFamily="34" charset="-122"/>
                <a:cs typeface="Consolas" pitchFamily="34" charset="-120"/>
              </a:rPr>
              <a:t>　</a:t>
            </a:r>
            <a:r>
              <a:rPr lang="en-US" sz="1600" dirty="0">
                <a:solidFill>
                  <a:srgbClr val="000000"/>
                </a:solidFill>
                <a:latin typeface="游ゴシック" pitchFamily="34" charset="0"/>
                <a:ea typeface="游ゴシック" pitchFamily="34" charset="-122"/>
                <a:cs typeface="游ゴシック" pitchFamily="34" charset="-120"/>
              </a:rPr>
              <a:t>マイクの音を受け取れずに捨てた回数</a:t>
            </a:r>
            <a:endParaRPr lang="en-US" sz="1600" dirty="0"/>
          </a:p>
        </p:txBody>
      </p:sp>
      <p:sp>
        <p:nvSpPr>
          <p:cNvPr id="36" name="Text 34"/>
          <p:cNvSpPr txBox="1"/>
          <p:nvPr/>
        </p:nvSpPr>
        <p:spPr>
          <a:xfrm>
            <a:off x="8869680" y="3968496"/>
            <a:ext cx="2862072" cy="621792"/>
          </a:xfrm>
          <a:prstGeom prst="rect">
            <a:avLst/>
          </a:prstGeom>
          <a:noFill/>
          <a:ln/>
        </p:spPr>
        <p:txBody>
          <a:bodyPr wrap="square" lIns="0" tIns="0" rIns="0" bIns="0" rtlCol="0" anchor="t"/>
          <a:lstStyle/>
          <a:p>
            <a:pPr marL="0" indent="0">
              <a:buNone/>
            </a:pPr>
            <a:r>
              <a:rPr lang="en-US" sz="1600" b="1" dirty="0">
                <a:solidFill>
                  <a:srgbClr val="156082"/>
                </a:solidFill>
                <a:latin typeface="Consolas" pitchFamily="34" charset="0"/>
                <a:ea typeface="Consolas" pitchFamily="34" charset="-122"/>
                <a:cs typeface="Consolas" pitchFamily="34" charset="-120"/>
              </a:rPr>
              <a:t>late　</a:t>
            </a:r>
            <a:r>
              <a:rPr lang="en-US" sz="1600" dirty="0">
                <a:solidFill>
                  <a:srgbClr val="000000"/>
                </a:solidFill>
                <a:latin typeface="游ゴシック" pitchFamily="34" charset="0"/>
                <a:ea typeface="游ゴシック" pitchFamily="34" charset="-122"/>
                <a:cs typeface="游ゴシック" pitchFamily="34" charset="-120"/>
              </a:rPr>
              <a:t>処理が 1 周期ぶん間に合わなかった回数</a:t>
            </a:r>
            <a:endParaRPr lang="en-US" sz="1600" dirty="0"/>
          </a:p>
        </p:txBody>
      </p:sp>
      <p:sp>
        <p:nvSpPr>
          <p:cNvPr id="37" name="Text 35"/>
          <p:cNvSpPr txBox="1"/>
          <p:nvPr/>
        </p:nvSpPr>
        <p:spPr>
          <a:xfrm>
            <a:off x="8869680" y="4663440"/>
            <a:ext cx="3017520" cy="1097280"/>
          </a:xfrm>
          <a:prstGeom prst="rect">
            <a:avLst/>
          </a:prstGeom>
          <a:noFill/>
          <a:ln/>
        </p:spPr>
        <p:txBody>
          <a:bodyPr wrap="square" lIns="0" tIns="0" rIns="0" bIns="0" rtlCol="0" anchor="t"/>
          <a:lstStyle/>
          <a:p>
            <a:pPr marL="0" indent="0">
              <a:buNone/>
            </a:pPr>
            <a:r>
              <a:rPr lang="en-US" sz="1600" b="1" dirty="0">
                <a:solidFill>
                  <a:schemeClr val="accent1"/>
                </a:solidFill>
                <a:latin typeface="游ゴシック" pitchFamily="34" charset="0"/>
                <a:ea typeface="游ゴシック" pitchFamily="34" charset="-122"/>
                <a:cs typeface="游ゴシック" pitchFamily="34" charset="-120"/>
              </a:rPr>
              <a:t>3</a:t>
            </a:r>
            <a:r>
              <a:rPr lang="ja-JP" altLang="en-US" sz="1600" b="1" dirty="0">
                <a:solidFill>
                  <a:schemeClr val="accent1"/>
                </a:solidFill>
                <a:latin typeface="游ゴシック" pitchFamily="34" charset="0"/>
                <a:ea typeface="游ゴシック" pitchFamily="34" charset="-122"/>
                <a:cs typeface="游ゴシック" pitchFamily="34" charset="-120"/>
              </a:rPr>
              <a:t>つの指標とも</a:t>
            </a:r>
            <a:r>
              <a:rPr lang="en-US" sz="1600" b="1" dirty="0">
                <a:solidFill>
                  <a:schemeClr val="accent1"/>
                </a:solidFill>
                <a:latin typeface="游ゴシック" pitchFamily="34" charset="0"/>
                <a:ea typeface="游ゴシック" pitchFamily="34" charset="-122"/>
                <a:cs typeface="游ゴシック" pitchFamily="34" charset="-120"/>
              </a:rPr>
              <a:t>0</a:t>
            </a:r>
            <a:r>
              <a:rPr lang="ja-JP" altLang="en-US" sz="1600" b="1" dirty="0">
                <a:solidFill>
                  <a:schemeClr val="accent1"/>
                </a:solidFill>
                <a:latin typeface="游ゴシック" pitchFamily="34" charset="0"/>
                <a:ea typeface="游ゴシック" pitchFamily="34" charset="-122"/>
                <a:cs typeface="游ゴシック" pitchFamily="34" charset="-120"/>
              </a:rPr>
              <a:t>ならば</a:t>
            </a:r>
            <a:r>
              <a:rPr lang="en-US" sz="1600" b="1" dirty="0">
                <a:solidFill>
                  <a:schemeClr val="accent1"/>
                </a:solidFill>
                <a:latin typeface="游ゴシック" pitchFamily="34" charset="0"/>
                <a:ea typeface="游ゴシック" pitchFamily="34" charset="-122"/>
                <a:cs typeface="游ゴシック" pitchFamily="34" charset="-120"/>
              </a:rPr>
              <a:t> </a:t>
            </a:r>
          </a:p>
          <a:p>
            <a:pPr marL="0" indent="0">
              <a:buNone/>
            </a:pPr>
            <a:r>
              <a:rPr lang="en-US" sz="1600" b="1" dirty="0">
                <a:solidFill>
                  <a:schemeClr val="accent1"/>
                </a:solidFill>
                <a:latin typeface="游ゴシック" pitchFamily="34" charset="0"/>
                <a:ea typeface="游ゴシック" pitchFamily="34" charset="-122"/>
                <a:cs typeface="游ゴシック" pitchFamily="34" charset="-120"/>
              </a:rPr>
              <a:t>1 </a:t>
            </a:r>
            <a:r>
              <a:rPr lang="en-US" sz="1600" b="1" dirty="0" err="1">
                <a:solidFill>
                  <a:schemeClr val="accent1"/>
                </a:solidFill>
                <a:latin typeface="游ゴシック" pitchFamily="34" charset="0"/>
                <a:ea typeface="游ゴシック" pitchFamily="34" charset="-122"/>
                <a:cs typeface="游ゴシック" pitchFamily="34" charset="-120"/>
              </a:rPr>
              <a:t>サンプルも落ちていない</a:t>
            </a:r>
            <a:r>
              <a:rPr lang="en-US" sz="1600" b="1" dirty="0">
                <a:solidFill>
                  <a:schemeClr val="accent1"/>
                </a:solidFill>
                <a:latin typeface="游ゴシック" pitchFamily="34" charset="0"/>
                <a:ea typeface="游ゴシック" pitchFamily="34" charset="-122"/>
                <a:cs typeface="游ゴシック" pitchFamily="34" charset="-120"/>
              </a:rPr>
              <a:t>。</a:t>
            </a:r>
          </a:p>
          <a:p>
            <a:pPr marL="0" indent="0">
              <a:buNone/>
            </a:pPr>
            <a:endParaRPr lang="en-US" sz="1600" b="1" dirty="0">
              <a:solidFill>
                <a:srgbClr val="000000"/>
              </a:solidFill>
              <a:latin typeface="游ゴシック" pitchFamily="34" charset="0"/>
              <a:ea typeface="游ゴシック" pitchFamily="34" charset="-122"/>
              <a:cs typeface="游ゴシック" pitchFamily="34" charset="-120"/>
            </a:endParaRPr>
          </a:p>
          <a:p>
            <a:pPr marL="0" indent="0">
              <a:buNone/>
            </a:pPr>
            <a:r>
              <a:rPr lang="en-US" sz="1100" dirty="0" err="1">
                <a:solidFill>
                  <a:srgbClr val="000000"/>
                </a:solidFill>
                <a:latin typeface="游ゴシック" pitchFamily="34" charset="0"/>
                <a:ea typeface="游ゴシック" pitchFamily="34" charset="-122"/>
                <a:cs typeface="游ゴシック" pitchFamily="34" charset="-120"/>
              </a:rPr>
              <a:t>以下「音の取りこぼし」はこの</a:t>
            </a:r>
            <a:r>
              <a:rPr lang="en-US" sz="1100" dirty="0">
                <a:solidFill>
                  <a:srgbClr val="000000"/>
                </a:solidFill>
                <a:latin typeface="游ゴシック" pitchFamily="34" charset="0"/>
                <a:ea typeface="游ゴシック" pitchFamily="34" charset="-122"/>
                <a:cs typeface="游ゴシック" pitchFamily="34" charset="-120"/>
              </a:rPr>
              <a:t> 3 つを指す</a:t>
            </a:r>
            <a:endParaRPr lang="en-US" sz="1100" dirty="0"/>
          </a:p>
        </p:txBody>
      </p:sp>
      <p:sp>
        <p:nvSpPr>
          <p:cNvPr id="38" name="Text 36"/>
          <p:cNvSpPr txBox="1"/>
          <p:nvPr/>
        </p:nvSpPr>
        <p:spPr>
          <a:xfrm>
            <a:off x="594360" y="5998464"/>
            <a:ext cx="11274552" cy="548640"/>
          </a:xfrm>
          <a:prstGeom prst="rect">
            <a:avLst/>
          </a:prstGeom>
          <a:noFill/>
          <a:ln/>
        </p:spPr>
        <p:txBody>
          <a:bodyPr wrap="square" lIns="0" tIns="0" rIns="0" bIns="0" rtlCol="0" anchor="ctr"/>
          <a:lstStyle/>
          <a:p>
            <a:pPr marL="0" indent="0">
              <a:buNone/>
            </a:pPr>
            <a:r>
              <a:rPr lang="en-US" sz="2400" b="1" dirty="0" err="1">
                <a:solidFill>
                  <a:srgbClr val="FF0000"/>
                </a:solidFill>
                <a:latin typeface="游ゴシック" pitchFamily="34" charset="0"/>
                <a:ea typeface="游ゴシック" pitchFamily="34" charset="-122"/>
                <a:cs typeface="游ゴシック" pitchFamily="34" charset="-120"/>
              </a:rPr>
              <a:t>取り込みが落ちると、検出器に入る音そのものが欠ける</a:t>
            </a:r>
            <a:r>
              <a:rPr lang="en-US" sz="2400" b="1" dirty="0">
                <a:solidFill>
                  <a:srgbClr val="FF0000"/>
                </a:solidFill>
                <a:latin typeface="游ゴシック" pitchFamily="34" charset="0"/>
                <a:ea typeface="游ゴシック" pitchFamily="34" charset="-122"/>
                <a:cs typeface="游ゴシック" pitchFamily="34" charset="-120"/>
              </a:rPr>
              <a:t>。</a:t>
            </a:r>
          </a:p>
          <a:p>
            <a:pPr marL="0" indent="0">
              <a:buNone/>
            </a:pPr>
            <a:r>
              <a:rPr lang="ja-JP" altLang="en-US" sz="2400" b="1" dirty="0">
                <a:solidFill>
                  <a:srgbClr val="FF0000"/>
                </a:solidFill>
                <a:latin typeface="游ゴシック" pitchFamily="34" charset="0"/>
                <a:ea typeface="游ゴシック" pitchFamily="34" charset="-122"/>
                <a:cs typeface="游ゴシック" pitchFamily="34" charset="-120"/>
              </a:rPr>
              <a:t>→</a:t>
            </a:r>
            <a:r>
              <a:rPr lang="en-US" sz="2400" b="1" dirty="0">
                <a:solidFill>
                  <a:srgbClr val="FF0000"/>
                </a:solidFill>
                <a:latin typeface="游ゴシック" pitchFamily="34" charset="0"/>
                <a:ea typeface="游ゴシック" pitchFamily="34" charset="-122"/>
                <a:cs typeface="游ゴシック" pitchFamily="34" charset="-120"/>
              </a:rPr>
              <a:t>音を最優先にした（2 章）</a:t>
            </a:r>
            <a:endParaRPr lang="en-US" sz="2400" b="1" dirty="0">
              <a:solidFill>
                <a:srgbClr val="FF0000"/>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80889"/>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1-2　</a:t>
            </a:r>
            <a:r>
              <a:rPr lang="ja-JP" altLang="en-US" sz="3000" b="1" dirty="0">
                <a:solidFill>
                  <a:srgbClr val="000000"/>
                </a:solidFill>
                <a:latin typeface="游ゴシック" pitchFamily="34" charset="0"/>
                <a:ea typeface="游ゴシック" pitchFamily="34" charset="-122"/>
                <a:cs typeface="游ゴシック" pitchFamily="34" charset="-120"/>
              </a:rPr>
              <a:t>システムフロー</a:t>
            </a:r>
            <a:r>
              <a:rPr lang="en-US" sz="3000" b="1" dirty="0">
                <a:solidFill>
                  <a:srgbClr val="000000"/>
                </a:solidFill>
                <a:latin typeface="游ゴシック" pitchFamily="34" charset="0"/>
                <a:ea typeface="游ゴシック" pitchFamily="34" charset="-122"/>
                <a:cs typeface="游ゴシック" pitchFamily="34" charset="-120"/>
              </a:rPr>
              <a:t>：マイクから通知まで</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Shape 2"/>
          <p:cNvSpPr/>
          <p:nvPr/>
        </p:nvSpPr>
        <p:spPr>
          <a:xfrm>
            <a:off x="457200" y="1325880"/>
            <a:ext cx="1417320" cy="1691640"/>
          </a:xfrm>
          <a:prstGeom prst="rect">
            <a:avLst/>
          </a:prstGeom>
          <a:solidFill>
            <a:srgbClr val="F2F2F2"/>
          </a:solidFill>
          <a:ln w="12700">
            <a:solidFill>
              <a:srgbClr val="A6A6A6"/>
            </a:solidFill>
            <a:prstDash val="solid"/>
          </a:ln>
        </p:spPr>
        <p:txBody>
          <a:bodyPr/>
          <a:lstStyle/>
          <a:p>
            <a:endParaRPr lang="ja-JP" altLang="en-US"/>
          </a:p>
        </p:txBody>
      </p:sp>
      <p:pic>
        <p:nvPicPr>
          <p:cNvPr id="5" name="Image 0" descr="/home/claude/v4/icons/FaMicrophone_595959.png"/>
          <p:cNvPicPr>
            <a:picLocks noChangeAspect="1"/>
          </p:cNvPicPr>
          <p:nvPr/>
        </p:nvPicPr>
        <p:blipFill>
          <a:blip r:embed="rId3"/>
          <a:stretch>
            <a:fillRect/>
          </a:stretch>
        </p:blipFill>
        <p:spPr>
          <a:xfrm>
            <a:off x="914400" y="1463040"/>
            <a:ext cx="502920" cy="502920"/>
          </a:xfrm>
          <a:prstGeom prst="rect">
            <a:avLst/>
          </a:prstGeom>
        </p:spPr>
      </p:pic>
      <p:sp>
        <p:nvSpPr>
          <p:cNvPr id="6" name="Text 3"/>
          <p:cNvSpPr txBox="1"/>
          <p:nvPr/>
        </p:nvSpPr>
        <p:spPr>
          <a:xfrm>
            <a:off x="475488" y="2039112"/>
            <a:ext cx="1380744" cy="41148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マイク</a:t>
            </a:r>
            <a:endParaRPr lang="en-US" sz="1600" dirty="0"/>
          </a:p>
        </p:txBody>
      </p:sp>
      <p:sp>
        <p:nvSpPr>
          <p:cNvPr id="7" name="Text 4"/>
          <p:cNvSpPr txBox="1"/>
          <p:nvPr/>
        </p:nvSpPr>
        <p:spPr>
          <a:xfrm>
            <a:off x="475488" y="2468880"/>
            <a:ext cx="1380744" cy="457200"/>
          </a:xfrm>
          <a:prstGeom prst="rect">
            <a:avLst/>
          </a:prstGeom>
          <a:noFill/>
          <a:ln/>
        </p:spPr>
        <p:txBody>
          <a:bodyPr wrap="square" lIns="0" tIns="0" rIns="0" bIns="0" rtlCol="0" anchor="t"/>
          <a:lstStyle/>
          <a:p>
            <a:pPr marL="0" indent="0" algn="ctr">
              <a:buNone/>
            </a:pPr>
            <a:r>
              <a:rPr lang="en-US" sz="1400" dirty="0">
                <a:solidFill>
                  <a:srgbClr val="595959"/>
                </a:solidFill>
                <a:latin typeface="游ゴシック" pitchFamily="34" charset="0"/>
                <a:ea typeface="游ゴシック" pitchFamily="34" charset="-122"/>
                <a:cs typeface="游ゴシック" pitchFamily="34" charset="-120"/>
              </a:rPr>
              <a:t>PDM</a:t>
            </a:r>
            <a:endParaRPr lang="en-US" sz="1400" dirty="0"/>
          </a:p>
        </p:txBody>
      </p:sp>
      <p:sp>
        <p:nvSpPr>
          <p:cNvPr id="8" name="Shape 5"/>
          <p:cNvSpPr/>
          <p:nvPr/>
        </p:nvSpPr>
        <p:spPr>
          <a:xfrm>
            <a:off x="1901952" y="2011680"/>
            <a:ext cx="173736" cy="274320"/>
          </a:xfrm>
          <a:prstGeom prst="rightArrow">
            <a:avLst/>
          </a:prstGeom>
          <a:solidFill>
            <a:srgbClr val="156082"/>
          </a:solidFill>
          <a:ln w="12700">
            <a:solidFill>
              <a:srgbClr val="156082"/>
            </a:solidFill>
            <a:prstDash val="solid"/>
          </a:ln>
        </p:spPr>
        <p:txBody>
          <a:bodyPr/>
          <a:lstStyle/>
          <a:p>
            <a:endParaRPr lang="ja-JP" altLang="en-US"/>
          </a:p>
        </p:txBody>
      </p:sp>
      <p:sp>
        <p:nvSpPr>
          <p:cNvPr id="9" name="Shape 6"/>
          <p:cNvSpPr/>
          <p:nvPr/>
        </p:nvSpPr>
        <p:spPr>
          <a:xfrm>
            <a:off x="2100377" y="1325880"/>
            <a:ext cx="1417320" cy="1691640"/>
          </a:xfrm>
          <a:prstGeom prst="rect">
            <a:avLst/>
          </a:prstGeom>
          <a:solidFill>
            <a:srgbClr val="DDEBF3"/>
          </a:solidFill>
          <a:ln w="19050">
            <a:solidFill>
              <a:srgbClr val="156082"/>
            </a:solidFill>
            <a:prstDash val="solid"/>
          </a:ln>
        </p:spPr>
        <p:txBody>
          <a:bodyPr/>
          <a:lstStyle/>
          <a:p>
            <a:endParaRPr lang="ja-JP" altLang="en-US"/>
          </a:p>
        </p:txBody>
      </p:sp>
      <p:pic>
        <p:nvPicPr>
          <p:cNvPr id="10" name="Image 1" descr="/home/claude/v4/icons/FaWaveSquare_156082.png"/>
          <p:cNvPicPr>
            <a:picLocks noChangeAspect="1"/>
          </p:cNvPicPr>
          <p:nvPr/>
        </p:nvPicPr>
        <p:blipFill>
          <a:blip r:embed="rId4"/>
          <a:stretch>
            <a:fillRect/>
          </a:stretch>
        </p:blipFill>
        <p:spPr>
          <a:xfrm>
            <a:off x="2557577" y="1463040"/>
            <a:ext cx="502920" cy="502920"/>
          </a:xfrm>
          <a:prstGeom prst="rect">
            <a:avLst/>
          </a:prstGeom>
        </p:spPr>
      </p:pic>
      <p:sp>
        <p:nvSpPr>
          <p:cNvPr id="11" name="Text 7"/>
          <p:cNvSpPr txBox="1"/>
          <p:nvPr/>
        </p:nvSpPr>
        <p:spPr>
          <a:xfrm>
            <a:off x="2118665" y="2039112"/>
            <a:ext cx="1380744" cy="41148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音の取り込み</a:t>
            </a:r>
            <a:endParaRPr lang="en-US" sz="1600" dirty="0"/>
          </a:p>
        </p:txBody>
      </p:sp>
      <p:sp>
        <p:nvSpPr>
          <p:cNvPr id="12" name="Text 8"/>
          <p:cNvSpPr txBox="1"/>
          <p:nvPr/>
        </p:nvSpPr>
        <p:spPr>
          <a:xfrm>
            <a:off x="2118665" y="2468880"/>
            <a:ext cx="1380744" cy="457200"/>
          </a:xfrm>
          <a:prstGeom prst="rect">
            <a:avLst/>
          </a:prstGeom>
          <a:noFill/>
          <a:ln/>
        </p:spPr>
        <p:txBody>
          <a:bodyPr wrap="square" lIns="0" tIns="0" rIns="0" bIns="0" rtlCol="0" anchor="t"/>
          <a:lstStyle/>
          <a:p>
            <a:pPr marL="0" indent="0" algn="ctr">
              <a:buNone/>
            </a:pPr>
            <a:r>
              <a:rPr lang="en-US" sz="1400" dirty="0">
                <a:solidFill>
                  <a:srgbClr val="595959"/>
                </a:solidFill>
                <a:latin typeface="游ゴシック" pitchFamily="34" charset="0"/>
                <a:ea typeface="游ゴシック" pitchFamily="34" charset="-122"/>
                <a:cs typeface="游ゴシック" pitchFamily="34" charset="-120"/>
              </a:rPr>
              <a:t>16 ms ごと</a:t>
            </a:r>
            <a:endParaRPr lang="en-US" sz="1400" dirty="0"/>
          </a:p>
        </p:txBody>
      </p:sp>
      <p:sp>
        <p:nvSpPr>
          <p:cNvPr id="13" name="Shape 9"/>
          <p:cNvSpPr/>
          <p:nvPr/>
        </p:nvSpPr>
        <p:spPr>
          <a:xfrm>
            <a:off x="3545129" y="2011680"/>
            <a:ext cx="173736" cy="274320"/>
          </a:xfrm>
          <a:prstGeom prst="rightArrow">
            <a:avLst/>
          </a:prstGeom>
          <a:solidFill>
            <a:srgbClr val="156082"/>
          </a:solidFill>
          <a:ln w="12700">
            <a:solidFill>
              <a:srgbClr val="156082"/>
            </a:solidFill>
            <a:prstDash val="solid"/>
          </a:ln>
        </p:spPr>
        <p:txBody>
          <a:bodyPr/>
          <a:lstStyle/>
          <a:p>
            <a:endParaRPr lang="ja-JP" altLang="en-US"/>
          </a:p>
        </p:txBody>
      </p:sp>
      <p:sp>
        <p:nvSpPr>
          <p:cNvPr id="14" name="Shape 10"/>
          <p:cNvSpPr/>
          <p:nvPr/>
        </p:nvSpPr>
        <p:spPr>
          <a:xfrm>
            <a:off x="3743554" y="1325880"/>
            <a:ext cx="1417320" cy="1691640"/>
          </a:xfrm>
          <a:prstGeom prst="rect">
            <a:avLst/>
          </a:prstGeom>
          <a:solidFill>
            <a:srgbClr val="DDEBF3"/>
          </a:solidFill>
          <a:ln w="19050">
            <a:solidFill>
              <a:srgbClr val="156082"/>
            </a:solidFill>
            <a:prstDash val="solid"/>
          </a:ln>
        </p:spPr>
        <p:txBody>
          <a:bodyPr/>
          <a:lstStyle/>
          <a:p>
            <a:endParaRPr lang="ja-JP" altLang="en-US"/>
          </a:p>
        </p:txBody>
      </p:sp>
      <p:pic>
        <p:nvPicPr>
          <p:cNvPr id="15" name="Image 2" descr="/home/claude/v4/icons/FaLayerGroup_156082.png"/>
          <p:cNvPicPr>
            <a:picLocks noChangeAspect="1"/>
          </p:cNvPicPr>
          <p:nvPr/>
        </p:nvPicPr>
        <p:blipFill>
          <a:blip r:embed="rId5"/>
          <a:stretch>
            <a:fillRect/>
          </a:stretch>
        </p:blipFill>
        <p:spPr>
          <a:xfrm>
            <a:off x="4200754" y="1463040"/>
            <a:ext cx="502920" cy="502920"/>
          </a:xfrm>
          <a:prstGeom prst="rect">
            <a:avLst/>
          </a:prstGeom>
        </p:spPr>
      </p:pic>
      <p:sp>
        <p:nvSpPr>
          <p:cNvPr id="16" name="Text 11"/>
          <p:cNvSpPr txBox="1"/>
          <p:nvPr/>
        </p:nvSpPr>
        <p:spPr>
          <a:xfrm>
            <a:off x="3761842" y="2039112"/>
            <a:ext cx="1380744" cy="41148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窓</a:t>
            </a:r>
            <a:endParaRPr lang="en-US" sz="1600" dirty="0"/>
          </a:p>
        </p:txBody>
      </p:sp>
      <p:sp>
        <p:nvSpPr>
          <p:cNvPr id="17" name="Text 12"/>
          <p:cNvSpPr txBox="1"/>
          <p:nvPr/>
        </p:nvSpPr>
        <p:spPr>
          <a:xfrm>
            <a:off x="3761842" y="2468880"/>
            <a:ext cx="1380744" cy="457200"/>
          </a:xfrm>
          <a:prstGeom prst="rect">
            <a:avLst/>
          </a:prstGeom>
          <a:noFill/>
          <a:ln/>
        </p:spPr>
        <p:txBody>
          <a:bodyPr wrap="square" lIns="0" tIns="0" rIns="0" bIns="0" rtlCol="0" anchor="t"/>
          <a:lstStyle/>
          <a:p>
            <a:pPr marL="0" indent="0" algn="ctr">
              <a:buNone/>
            </a:pPr>
            <a:r>
              <a:rPr lang="en-US" sz="1400" dirty="0">
                <a:solidFill>
                  <a:srgbClr val="595959"/>
                </a:solidFill>
                <a:latin typeface="游ゴシック" pitchFamily="34" charset="0"/>
                <a:ea typeface="游ゴシック" pitchFamily="34" charset="-122"/>
                <a:cs typeface="游ゴシック" pitchFamily="34" charset="-120"/>
              </a:rPr>
              <a:t>975 ms</a:t>
            </a:r>
            <a:endParaRPr lang="en-US" sz="1400" dirty="0"/>
          </a:p>
        </p:txBody>
      </p:sp>
      <p:sp>
        <p:nvSpPr>
          <p:cNvPr id="18" name="Shape 13"/>
          <p:cNvSpPr/>
          <p:nvPr/>
        </p:nvSpPr>
        <p:spPr>
          <a:xfrm>
            <a:off x="5188306" y="2011680"/>
            <a:ext cx="173736" cy="274320"/>
          </a:xfrm>
          <a:prstGeom prst="rightArrow">
            <a:avLst/>
          </a:prstGeom>
          <a:solidFill>
            <a:srgbClr val="156082"/>
          </a:solidFill>
          <a:ln w="12700">
            <a:solidFill>
              <a:srgbClr val="156082"/>
            </a:solidFill>
            <a:prstDash val="solid"/>
          </a:ln>
        </p:spPr>
        <p:txBody>
          <a:bodyPr/>
          <a:lstStyle/>
          <a:p>
            <a:endParaRPr lang="ja-JP" altLang="en-US"/>
          </a:p>
        </p:txBody>
      </p:sp>
      <p:sp>
        <p:nvSpPr>
          <p:cNvPr id="19" name="Shape 14"/>
          <p:cNvSpPr/>
          <p:nvPr/>
        </p:nvSpPr>
        <p:spPr>
          <a:xfrm>
            <a:off x="5386730" y="1325880"/>
            <a:ext cx="1417320" cy="1691640"/>
          </a:xfrm>
          <a:prstGeom prst="rect">
            <a:avLst/>
          </a:prstGeom>
          <a:solidFill>
            <a:srgbClr val="DDEBF3"/>
          </a:solidFill>
          <a:ln w="19050">
            <a:solidFill>
              <a:srgbClr val="156082"/>
            </a:solidFill>
            <a:prstDash val="solid"/>
          </a:ln>
        </p:spPr>
        <p:txBody>
          <a:bodyPr/>
          <a:lstStyle/>
          <a:p>
            <a:endParaRPr lang="ja-JP" altLang="en-US"/>
          </a:p>
        </p:txBody>
      </p:sp>
      <p:pic>
        <p:nvPicPr>
          <p:cNvPr id="20" name="Image 3" descr="/home/claude/v4/icons/FaWaveSquare_156082.png"/>
          <p:cNvPicPr>
            <a:picLocks noChangeAspect="1"/>
          </p:cNvPicPr>
          <p:nvPr/>
        </p:nvPicPr>
        <p:blipFill>
          <a:blip r:embed="rId4"/>
          <a:stretch>
            <a:fillRect/>
          </a:stretch>
        </p:blipFill>
        <p:spPr>
          <a:xfrm>
            <a:off x="5843930" y="1463040"/>
            <a:ext cx="502920" cy="502920"/>
          </a:xfrm>
          <a:prstGeom prst="rect">
            <a:avLst/>
          </a:prstGeom>
        </p:spPr>
      </p:pic>
      <p:sp>
        <p:nvSpPr>
          <p:cNvPr id="21" name="Text 15"/>
          <p:cNvSpPr txBox="1"/>
          <p:nvPr/>
        </p:nvSpPr>
        <p:spPr>
          <a:xfrm>
            <a:off x="5405018" y="2039112"/>
            <a:ext cx="1380744" cy="41148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前処理</a:t>
            </a:r>
            <a:endParaRPr lang="en-US" sz="1600" dirty="0"/>
          </a:p>
        </p:txBody>
      </p:sp>
      <p:sp>
        <p:nvSpPr>
          <p:cNvPr id="22" name="Text 16"/>
          <p:cNvSpPr txBox="1"/>
          <p:nvPr/>
        </p:nvSpPr>
        <p:spPr>
          <a:xfrm>
            <a:off x="5405018" y="2468880"/>
            <a:ext cx="1380744" cy="457200"/>
          </a:xfrm>
          <a:prstGeom prst="rect">
            <a:avLst/>
          </a:prstGeom>
          <a:noFill/>
          <a:ln/>
        </p:spPr>
        <p:txBody>
          <a:bodyPr wrap="square" lIns="0" tIns="0" rIns="0" bIns="0" rtlCol="0" anchor="t"/>
          <a:lstStyle/>
          <a:p>
            <a:pPr marL="0" indent="0" algn="ctr">
              <a:buNone/>
            </a:pPr>
            <a:r>
              <a:rPr lang="en-US" sz="1400" dirty="0">
                <a:solidFill>
                  <a:srgbClr val="595959"/>
                </a:solidFill>
                <a:latin typeface="游ゴシック" pitchFamily="34" charset="0"/>
                <a:ea typeface="游ゴシック" pitchFamily="34" charset="-122"/>
                <a:cs typeface="游ゴシック" pitchFamily="34" charset="-120"/>
              </a:rPr>
              <a:t>音を画像に</a:t>
            </a:r>
            <a:endParaRPr lang="en-US" sz="1400" dirty="0"/>
          </a:p>
        </p:txBody>
      </p:sp>
      <p:sp>
        <p:nvSpPr>
          <p:cNvPr id="23" name="Shape 17"/>
          <p:cNvSpPr/>
          <p:nvPr/>
        </p:nvSpPr>
        <p:spPr>
          <a:xfrm>
            <a:off x="6831482" y="2011680"/>
            <a:ext cx="173736" cy="274320"/>
          </a:xfrm>
          <a:prstGeom prst="rightArrow">
            <a:avLst/>
          </a:prstGeom>
          <a:solidFill>
            <a:srgbClr val="156082"/>
          </a:solidFill>
          <a:ln w="12700">
            <a:solidFill>
              <a:srgbClr val="156082"/>
            </a:solidFill>
            <a:prstDash val="solid"/>
          </a:ln>
        </p:spPr>
        <p:txBody>
          <a:bodyPr/>
          <a:lstStyle/>
          <a:p>
            <a:endParaRPr lang="ja-JP" altLang="en-US"/>
          </a:p>
        </p:txBody>
      </p:sp>
      <p:sp>
        <p:nvSpPr>
          <p:cNvPr id="24" name="Shape 18"/>
          <p:cNvSpPr/>
          <p:nvPr/>
        </p:nvSpPr>
        <p:spPr>
          <a:xfrm>
            <a:off x="7029907" y="1325880"/>
            <a:ext cx="1417320" cy="1691640"/>
          </a:xfrm>
          <a:prstGeom prst="rect">
            <a:avLst/>
          </a:prstGeom>
          <a:solidFill>
            <a:srgbClr val="F2F2F2"/>
          </a:solidFill>
          <a:ln w="12700">
            <a:solidFill>
              <a:srgbClr val="A6A6A6"/>
            </a:solidFill>
            <a:prstDash val="solid"/>
          </a:ln>
        </p:spPr>
        <p:txBody>
          <a:bodyPr/>
          <a:lstStyle/>
          <a:p>
            <a:endParaRPr lang="ja-JP" altLang="en-US"/>
          </a:p>
        </p:txBody>
      </p:sp>
      <p:pic>
        <p:nvPicPr>
          <p:cNvPr id="25" name="Image 4" descr="/home/claude/v4/icons/FaBrain_595959.png"/>
          <p:cNvPicPr>
            <a:picLocks noChangeAspect="1"/>
          </p:cNvPicPr>
          <p:nvPr/>
        </p:nvPicPr>
        <p:blipFill>
          <a:blip r:embed="rId6"/>
          <a:stretch>
            <a:fillRect/>
          </a:stretch>
        </p:blipFill>
        <p:spPr>
          <a:xfrm>
            <a:off x="7487107" y="1463040"/>
            <a:ext cx="502920" cy="502920"/>
          </a:xfrm>
          <a:prstGeom prst="rect">
            <a:avLst/>
          </a:prstGeom>
        </p:spPr>
      </p:pic>
      <p:sp>
        <p:nvSpPr>
          <p:cNvPr id="26" name="Text 19"/>
          <p:cNvSpPr txBox="1"/>
          <p:nvPr/>
        </p:nvSpPr>
        <p:spPr>
          <a:xfrm>
            <a:off x="7048195" y="2039112"/>
            <a:ext cx="1380744" cy="41148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NPU 推論</a:t>
            </a:r>
            <a:endParaRPr lang="en-US" sz="1600" dirty="0"/>
          </a:p>
        </p:txBody>
      </p:sp>
      <p:sp>
        <p:nvSpPr>
          <p:cNvPr id="27" name="Text 20"/>
          <p:cNvSpPr txBox="1"/>
          <p:nvPr/>
        </p:nvSpPr>
        <p:spPr>
          <a:xfrm>
            <a:off x="7048195" y="2468880"/>
            <a:ext cx="1380744" cy="457200"/>
          </a:xfrm>
          <a:prstGeom prst="rect">
            <a:avLst/>
          </a:prstGeom>
          <a:noFill/>
          <a:ln/>
        </p:spPr>
        <p:txBody>
          <a:bodyPr wrap="square" lIns="0" tIns="0" rIns="0" bIns="0" rtlCol="0" anchor="t"/>
          <a:lstStyle/>
          <a:p>
            <a:pPr marL="0" indent="0" algn="ctr">
              <a:buNone/>
            </a:pPr>
            <a:r>
              <a:rPr lang="en-US" sz="1400" dirty="0">
                <a:solidFill>
                  <a:srgbClr val="595959"/>
                </a:solidFill>
                <a:latin typeface="游ゴシック" pitchFamily="34" charset="0"/>
                <a:ea typeface="游ゴシック" pitchFamily="34" charset="-122"/>
                <a:cs typeface="游ゴシック" pitchFamily="34" charset="-120"/>
              </a:rPr>
              <a:t>YAMNet</a:t>
            </a:r>
            <a:endParaRPr lang="en-US" sz="1400" dirty="0"/>
          </a:p>
        </p:txBody>
      </p:sp>
      <p:sp>
        <p:nvSpPr>
          <p:cNvPr id="28" name="Shape 21"/>
          <p:cNvSpPr/>
          <p:nvPr/>
        </p:nvSpPr>
        <p:spPr>
          <a:xfrm>
            <a:off x="8474659" y="2011680"/>
            <a:ext cx="173736" cy="274320"/>
          </a:xfrm>
          <a:prstGeom prst="rightArrow">
            <a:avLst/>
          </a:prstGeom>
          <a:solidFill>
            <a:srgbClr val="156082"/>
          </a:solidFill>
          <a:ln w="12700">
            <a:solidFill>
              <a:srgbClr val="156082"/>
            </a:solidFill>
            <a:prstDash val="solid"/>
          </a:ln>
        </p:spPr>
        <p:txBody>
          <a:bodyPr/>
          <a:lstStyle/>
          <a:p>
            <a:endParaRPr lang="ja-JP" altLang="en-US"/>
          </a:p>
        </p:txBody>
      </p:sp>
      <p:sp>
        <p:nvSpPr>
          <p:cNvPr id="29" name="Shape 22"/>
          <p:cNvSpPr/>
          <p:nvPr/>
        </p:nvSpPr>
        <p:spPr>
          <a:xfrm>
            <a:off x="8673084" y="1325880"/>
            <a:ext cx="1417320" cy="1691640"/>
          </a:xfrm>
          <a:prstGeom prst="rect">
            <a:avLst/>
          </a:prstGeom>
          <a:solidFill>
            <a:srgbClr val="DDEBF3"/>
          </a:solidFill>
          <a:ln w="19050">
            <a:solidFill>
              <a:srgbClr val="156082"/>
            </a:solidFill>
            <a:prstDash val="solid"/>
          </a:ln>
        </p:spPr>
        <p:txBody>
          <a:bodyPr/>
          <a:lstStyle/>
          <a:p>
            <a:endParaRPr lang="ja-JP" altLang="en-US"/>
          </a:p>
        </p:txBody>
      </p:sp>
      <p:pic>
        <p:nvPicPr>
          <p:cNvPr id="30" name="Image 5" descr="/home/claude/v4/icons/FaFilter_156082.png"/>
          <p:cNvPicPr>
            <a:picLocks noChangeAspect="1"/>
          </p:cNvPicPr>
          <p:nvPr/>
        </p:nvPicPr>
        <p:blipFill>
          <a:blip r:embed="rId7"/>
          <a:stretch>
            <a:fillRect/>
          </a:stretch>
        </p:blipFill>
        <p:spPr>
          <a:xfrm>
            <a:off x="9130284" y="1463040"/>
            <a:ext cx="502920" cy="502920"/>
          </a:xfrm>
          <a:prstGeom prst="rect">
            <a:avLst/>
          </a:prstGeom>
        </p:spPr>
      </p:pic>
      <p:sp>
        <p:nvSpPr>
          <p:cNvPr id="31" name="Text 23"/>
          <p:cNvSpPr txBox="1"/>
          <p:nvPr/>
        </p:nvSpPr>
        <p:spPr>
          <a:xfrm>
            <a:off x="8691372" y="2039112"/>
            <a:ext cx="1380744" cy="41148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判定</a:t>
            </a:r>
            <a:endParaRPr lang="en-US" sz="1600" dirty="0"/>
          </a:p>
        </p:txBody>
      </p:sp>
      <p:sp>
        <p:nvSpPr>
          <p:cNvPr id="32" name="Text 24"/>
          <p:cNvSpPr txBox="1"/>
          <p:nvPr/>
        </p:nvSpPr>
        <p:spPr>
          <a:xfrm>
            <a:off x="8691372" y="2468880"/>
            <a:ext cx="1380744" cy="457200"/>
          </a:xfrm>
          <a:prstGeom prst="rect">
            <a:avLst/>
          </a:prstGeom>
          <a:noFill/>
          <a:ln/>
        </p:spPr>
        <p:txBody>
          <a:bodyPr wrap="square" lIns="0" tIns="0" rIns="0" bIns="0" rtlCol="0" anchor="t"/>
          <a:lstStyle/>
          <a:p>
            <a:pPr marL="0" indent="0" algn="ctr">
              <a:buNone/>
            </a:pPr>
            <a:r>
              <a:rPr lang="en-US" sz="1400" dirty="0">
                <a:solidFill>
                  <a:srgbClr val="595959"/>
                </a:solidFill>
                <a:latin typeface="游ゴシック" pitchFamily="34" charset="0"/>
                <a:ea typeface="游ゴシック" pitchFamily="34" charset="-122"/>
                <a:cs typeface="游ゴシック" pitchFamily="34" charset="-120"/>
              </a:rPr>
              <a:t>確率・音量</a:t>
            </a:r>
            <a:endParaRPr lang="en-US" sz="1400" dirty="0"/>
          </a:p>
        </p:txBody>
      </p:sp>
      <p:sp>
        <p:nvSpPr>
          <p:cNvPr id="33" name="Shape 25"/>
          <p:cNvSpPr/>
          <p:nvPr/>
        </p:nvSpPr>
        <p:spPr>
          <a:xfrm>
            <a:off x="10117836" y="2011680"/>
            <a:ext cx="173736" cy="274320"/>
          </a:xfrm>
          <a:prstGeom prst="rightArrow">
            <a:avLst/>
          </a:prstGeom>
          <a:solidFill>
            <a:srgbClr val="156082"/>
          </a:solidFill>
          <a:ln w="12700">
            <a:solidFill>
              <a:srgbClr val="156082"/>
            </a:solidFill>
            <a:prstDash val="solid"/>
          </a:ln>
        </p:spPr>
        <p:txBody>
          <a:bodyPr/>
          <a:lstStyle/>
          <a:p>
            <a:endParaRPr lang="ja-JP" altLang="en-US"/>
          </a:p>
        </p:txBody>
      </p:sp>
      <p:sp>
        <p:nvSpPr>
          <p:cNvPr id="34" name="Shape 26"/>
          <p:cNvSpPr/>
          <p:nvPr/>
        </p:nvSpPr>
        <p:spPr>
          <a:xfrm>
            <a:off x="10316261" y="1325880"/>
            <a:ext cx="1417320" cy="1691640"/>
          </a:xfrm>
          <a:prstGeom prst="rect">
            <a:avLst/>
          </a:prstGeom>
          <a:solidFill>
            <a:srgbClr val="DDEBF3"/>
          </a:solidFill>
          <a:ln w="19050">
            <a:solidFill>
              <a:srgbClr val="156082"/>
            </a:solidFill>
            <a:prstDash val="solid"/>
          </a:ln>
        </p:spPr>
        <p:txBody>
          <a:bodyPr/>
          <a:lstStyle/>
          <a:p>
            <a:endParaRPr lang="ja-JP" altLang="en-US"/>
          </a:p>
        </p:txBody>
      </p:sp>
      <p:pic>
        <p:nvPicPr>
          <p:cNvPr id="35" name="Image 6" descr="/home/claude/v4/icons/FaBell_156082.png"/>
          <p:cNvPicPr>
            <a:picLocks noChangeAspect="1"/>
          </p:cNvPicPr>
          <p:nvPr/>
        </p:nvPicPr>
        <p:blipFill>
          <a:blip r:embed="rId8"/>
          <a:stretch>
            <a:fillRect/>
          </a:stretch>
        </p:blipFill>
        <p:spPr>
          <a:xfrm>
            <a:off x="10773461" y="1463040"/>
            <a:ext cx="502920" cy="502920"/>
          </a:xfrm>
          <a:prstGeom prst="rect">
            <a:avLst/>
          </a:prstGeom>
        </p:spPr>
      </p:pic>
      <p:sp>
        <p:nvSpPr>
          <p:cNvPr id="36" name="Text 27"/>
          <p:cNvSpPr txBox="1"/>
          <p:nvPr/>
        </p:nvSpPr>
        <p:spPr>
          <a:xfrm>
            <a:off x="10334549" y="2039112"/>
            <a:ext cx="1380744" cy="41148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通知</a:t>
            </a:r>
            <a:endParaRPr lang="en-US" sz="1600" dirty="0"/>
          </a:p>
        </p:txBody>
      </p:sp>
      <p:sp>
        <p:nvSpPr>
          <p:cNvPr id="37" name="Text 28"/>
          <p:cNvSpPr txBox="1"/>
          <p:nvPr/>
        </p:nvSpPr>
        <p:spPr>
          <a:xfrm>
            <a:off x="10334549" y="2468880"/>
            <a:ext cx="1380744" cy="457200"/>
          </a:xfrm>
          <a:prstGeom prst="rect">
            <a:avLst/>
          </a:prstGeom>
          <a:noFill/>
          <a:ln/>
        </p:spPr>
        <p:txBody>
          <a:bodyPr wrap="square" lIns="0" tIns="0" rIns="0" bIns="0" rtlCol="0" anchor="t"/>
          <a:lstStyle/>
          <a:p>
            <a:pPr marL="0" indent="0" algn="ctr">
              <a:buNone/>
            </a:pPr>
            <a:r>
              <a:rPr lang="en-US" sz="1400" dirty="0">
                <a:solidFill>
                  <a:srgbClr val="595959"/>
                </a:solidFill>
                <a:latin typeface="游ゴシック" pitchFamily="34" charset="0"/>
                <a:ea typeface="游ゴシック" pitchFamily="34" charset="-122"/>
                <a:cs typeface="游ゴシック" pitchFamily="34" charset="-120"/>
              </a:rPr>
              <a:t>LCD・LED・UART</a:t>
            </a:r>
            <a:endParaRPr lang="en-US" sz="1400" dirty="0"/>
          </a:p>
        </p:txBody>
      </p:sp>
      <p:sp>
        <p:nvSpPr>
          <p:cNvPr id="38" name="Shape 29"/>
          <p:cNvSpPr/>
          <p:nvPr/>
        </p:nvSpPr>
        <p:spPr>
          <a:xfrm>
            <a:off x="457200" y="3127248"/>
            <a:ext cx="11274552" cy="420624"/>
          </a:xfrm>
          <a:prstGeom prst="rect">
            <a:avLst/>
          </a:prstGeom>
          <a:solidFill>
            <a:srgbClr val="F2F2F2"/>
          </a:solidFill>
          <a:ln w="12700">
            <a:solidFill>
              <a:srgbClr val="A6A6A6"/>
            </a:solidFill>
            <a:prstDash val="solid"/>
          </a:ln>
        </p:spPr>
        <p:txBody>
          <a:bodyPr/>
          <a:lstStyle/>
          <a:p>
            <a:endParaRPr lang="ja-JP" altLang="en-US"/>
          </a:p>
        </p:txBody>
      </p:sp>
      <p:sp>
        <p:nvSpPr>
          <p:cNvPr id="39" name="Text 30"/>
          <p:cNvSpPr txBox="1"/>
          <p:nvPr/>
        </p:nvSpPr>
        <p:spPr>
          <a:xfrm>
            <a:off x="457200" y="3127248"/>
            <a:ext cx="11274552" cy="420624"/>
          </a:xfrm>
          <a:prstGeom prst="rect">
            <a:avLst/>
          </a:prstGeom>
          <a:noFill/>
          <a:ln/>
        </p:spPr>
        <p:txBody>
          <a:bodyPr wrap="square" lIns="0" tIns="0" rIns="0" bIns="0" rtlCol="0" anchor="ctr"/>
          <a:lstStyle/>
          <a:p>
            <a:pPr marL="0" indent="0" algn="ctr">
              <a:buNone/>
            </a:pPr>
            <a:r>
              <a:rPr lang="en-US" sz="1600" b="1" dirty="0">
                <a:solidFill>
                  <a:srgbClr val="595959"/>
                </a:solidFill>
                <a:latin typeface="游ゴシック" pitchFamily="34" charset="0"/>
                <a:ea typeface="游ゴシック" pitchFamily="34" charset="-122"/>
                <a:cs typeface="游ゴシック" pitchFamily="34" charset="-120"/>
              </a:rPr>
              <a:t>土台：μT-Kernel 3.0 のタスク・優先度・ハンドラ（既存）</a:t>
            </a:r>
            <a:endParaRPr lang="en-US" sz="1600" dirty="0"/>
          </a:p>
        </p:txBody>
      </p:sp>
      <p:sp>
        <p:nvSpPr>
          <p:cNvPr id="40" name="Text 31"/>
          <p:cNvSpPr txBox="1"/>
          <p:nvPr/>
        </p:nvSpPr>
        <p:spPr>
          <a:xfrm>
            <a:off x="457200" y="3675888"/>
            <a:ext cx="2743200" cy="320040"/>
          </a:xfrm>
          <a:prstGeom prst="rect">
            <a:avLst/>
          </a:prstGeom>
          <a:noFill/>
          <a:ln/>
        </p:spPr>
        <p:txBody>
          <a:bodyPr wrap="square" lIns="0" tIns="0" rIns="0" bIns="0" rtlCol="0" anchor="ctr"/>
          <a:lstStyle/>
          <a:p>
            <a:pPr marL="0" indent="0">
              <a:buNone/>
            </a:pPr>
            <a:r>
              <a:rPr lang="en-US" sz="1500" b="1" dirty="0">
                <a:solidFill>
                  <a:srgbClr val="156082"/>
                </a:solidFill>
                <a:latin typeface="游ゴシック" pitchFamily="34" charset="0"/>
                <a:ea typeface="游ゴシック" pitchFamily="34" charset="-122"/>
                <a:cs typeface="游ゴシック" pitchFamily="34" charset="-120"/>
              </a:rPr>
              <a:t>支える部分</a:t>
            </a:r>
            <a:endParaRPr lang="en-US" sz="1500" dirty="0"/>
          </a:p>
        </p:txBody>
      </p:sp>
      <p:sp>
        <p:nvSpPr>
          <p:cNvPr id="41" name="Shape 32"/>
          <p:cNvSpPr/>
          <p:nvPr/>
        </p:nvSpPr>
        <p:spPr>
          <a:xfrm>
            <a:off x="457200" y="4023360"/>
            <a:ext cx="3611880" cy="868680"/>
          </a:xfrm>
          <a:prstGeom prst="rect">
            <a:avLst/>
          </a:prstGeom>
          <a:solidFill>
            <a:srgbClr val="DDEBF3"/>
          </a:solidFill>
          <a:ln w="19050">
            <a:solidFill>
              <a:srgbClr val="156082"/>
            </a:solidFill>
            <a:prstDash val="solid"/>
          </a:ln>
        </p:spPr>
        <p:txBody>
          <a:bodyPr/>
          <a:lstStyle/>
          <a:p>
            <a:endParaRPr lang="ja-JP" altLang="en-US"/>
          </a:p>
        </p:txBody>
      </p:sp>
      <p:pic>
        <p:nvPicPr>
          <p:cNvPr id="42" name="Image 7" descr="/home/claude/v4/icons/FaCogs_156082.png"/>
          <p:cNvPicPr>
            <a:picLocks noChangeAspect="1"/>
          </p:cNvPicPr>
          <p:nvPr/>
        </p:nvPicPr>
        <p:blipFill>
          <a:blip r:embed="rId9"/>
          <a:stretch>
            <a:fillRect/>
          </a:stretch>
        </p:blipFill>
        <p:spPr>
          <a:xfrm>
            <a:off x="640080" y="4206240"/>
            <a:ext cx="502920" cy="502920"/>
          </a:xfrm>
          <a:prstGeom prst="rect">
            <a:avLst/>
          </a:prstGeom>
        </p:spPr>
      </p:pic>
      <p:sp>
        <p:nvSpPr>
          <p:cNvPr id="43" name="Text 33"/>
          <p:cNvSpPr txBox="1"/>
          <p:nvPr/>
        </p:nvSpPr>
        <p:spPr>
          <a:xfrm>
            <a:off x="1280160" y="4023360"/>
            <a:ext cx="2697480" cy="868680"/>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NPU・外部フラッシュ・LCD の初期化</a:t>
            </a:r>
            <a:endParaRPr lang="en-US" sz="1700" dirty="0"/>
          </a:p>
        </p:txBody>
      </p:sp>
      <p:sp>
        <p:nvSpPr>
          <p:cNvPr id="44" name="Shape 34"/>
          <p:cNvSpPr/>
          <p:nvPr/>
        </p:nvSpPr>
        <p:spPr>
          <a:xfrm>
            <a:off x="4288536" y="4023360"/>
            <a:ext cx="3611880" cy="868680"/>
          </a:xfrm>
          <a:prstGeom prst="rect">
            <a:avLst/>
          </a:prstGeom>
          <a:solidFill>
            <a:srgbClr val="DDEBF3"/>
          </a:solidFill>
          <a:ln w="19050">
            <a:solidFill>
              <a:srgbClr val="156082"/>
            </a:solidFill>
            <a:prstDash val="solid"/>
          </a:ln>
        </p:spPr>
        <p:txBody>
          <a:bodyPr/>
          <a:lstStyle/>
          <a:p>
            <a:endParaRPr lang="ja-JP" altLang="en-US"/>
          </a:p>
        </p:txBody>
      </p:sp>
      <p:pic>
        <p:nvPicPr>
          <p:cNvPr id="45" name="Image 8" descr="/home/claude/v4/icons/FaCheckCircle_156082.png"/>
          <p:cNvPicPr>
            <a:picLocks noChangeAspect="1"/>
          </p:cNvPicPr>
          <p:nvPr/>
        </p:nvPicPr>
        <p:blipFill>
          <a:blip r:embed="rId10"/>
          <a:stretch>
            <a:fillRect/>
          </a:stretch>
        </p:blipFill>
        <p:spPr>
          <a:xfrm>
            <a:off x="4471416" y="4206240"/>
            <a:ext cx="502920" cy="502920"/>
          </a:xfrm>
          <a:prstGeom prst="rect">
            <a:avLst/>
          </a:prstGeom>
        </p:spPr>
      </p:pic>
      <p:sp>
        <p:nvSpPr>
          <p:cNvPr id="46" name="Text 35"/>
          <p:cNvSpPr txBox="1"/>
          <p:nvPr/>
        </p:nvSpPr>
        <p:spPr>
          <a:xfrm>
            <a:off x="5111496" y="4023360"/>
            <a:ext cx="2697480" cy="868680"/>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起動時の自己検証</a:t>
            </a:r>
            <a:endParaRPr lang="en-US" sz="1700" dirty="0"/>
          </a:p>
        </p:txBody>
      </p:sp>
      <p:sp>
        <p:nvSpPr>
          <p:cNvPr id="47" name="Shape 36"/>
          <p:cNvSpPr/>
          <p:nvPr/>
        </p:nvSpPr>
        <p:spPr>
          <a:xfrm>
            <a:off x="8119872" y="4023360"/>
            <a:ext cx="3611880" cy="868680"/>
          </a:xfrm>
          <a:prstGeom prst="rect">
            <a:avLst/>
          </a:prstGeom>
          <a:solidFill>
            <a:srgbClr val="DDEBF3"/>
          </a:solidFill>
          <a:ln w="19050">
            <a:solidFill>
              <a:srgbClr val="156082"/>
            </a:solidFill>
            <a:prstDash val="solid"/>
          </a:ln>
        </p:spPr>
        <p:txBody>
          <a:bodyPr/>
          <a:lstStyle/>
          <a:p>
            <a:endParaRPr lang="ja-JP" altLang="en-US"/>
          </a:p>
        </p:txBody>
      </p:sp>
      <p:pic>
        <p:nvPicPr>
          <p:cNvPr id="48" name="Image 9" descr="/home/claude/v4/icons/FaLaptopCode_156082.png"/>
          <p:cNvPicPr>
            <a:picLocks noChangeAspect="1"/>
          </p:cNvPicPr>
          <p:nvPr/>
        </p:nvPicPr>
        <p:blipFill>
          <a:blip r:embed="rId11"/>
          <a:stretch>
            <a:fillRect/>
          </a:stretch>
        </p:blipFill>
        <p:spPr>
          <a:xfrm>
            <a:off x="8302752" y="4206240"/>
            <a:ext cx="502920" cy="502920"/>
          </a:xfrm>
          <a:prstGeom prst="rect">
            <a:avLst/>
          </a:prstGeom>
        </p:spPr>
      </p:pic>
      <p:sp>
        <p:nvSpPr>
          <p:cNvPr id="49" name="Text 37"/>
          <p:cNvSpPr txBox="1"/>
          <p:nvPr/>
        </p:nvSpPr>
        <p:spPr>
          <a:xfrm>
            <a:off x="8942832" y="4023360"/>
            <a:ext cx="2697480" cy="868680"/>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ログの集計と判定の再生（PC 側）</a:t>
            </a:r>
            <a:endParaRPr lang="en-US" sz="1700" dirty="0"/>
          </a:p>
        </p:txBody>
      </p:sp>
      <p:sp>
        <p:nvSpPr>
          <p:cNvPr id="50" name="Shape 38"/>
          <p:cNvSpPr/>
          <p:nvPr/>
        </p:nvSpPr>
        <p:spPr>
          <a:xfrm>
            <a:off x="457200" y="5047488"/>
            <a:ext cx="274320" cy="201168"/>
          </a:xfrm>
          <a:prstGeom prst="rect">
            <a:avLst/>
          </a:prstGeom>
          <a:solidFill>
            <a:srgbClr val="F2F2F2"/>
          </a:solidFill>
          <a:ln w="12700">
            <a:solidFill>
              <a:srgbClr val="A6A6A6"/>
            </a:solidFill>
            <a:prstDash val="solid"/>
          </a:ln>
        </p:spPr>
        <p:txBody>
          <a:bodyPr/>
          <a:lstStyle/>
          <a:p>
            <a:endParaRPr lang="ja-JP" altLang="en-US"/>
          </a:p>
        </p:txBody>
      </p:sp>
      <p:sp>
        <p:nvSpPr>
          <p:cNvPr id="51" name="Text 39"/>
          <p:cNvSpPr txBox="1"/>
          <p:nvPr/>
        </p:nvSpPr>
        <p:spPr>
          <a:xfrm>
            <a:off x="804672" y="4983480"/>
            <a:ext cx="5486400" cy="329184"/>
          </a:xfrm>
          <a:prstGeom prst="rect">
            <a:avLst/>
          </a:prstGeom>
          <a:noFill/>
          <a:ln/>
        </p:spPr>
        <p:txBody>
          <a:bodyPr wrap="square" lIns="0" tIns="0" rIns="0" bIns="0" rtlCol="0" anchor="ctr"/>
          <a:lstStyle/>
          <a:p>
            <a:pPr marL="0" indent="0">
              <a:buNone/>
            </a:pPr>
            <a:r>
              <a:rPr lang="en-US" sz="1400" dirty="0">
                <a:solidFill>
                  <a:srgbClr val="595959"/>
                </a:solidFill>
                <a:latin typeface="游ゴシック" pitchFamily="34" charset="0"/>
                <a:ea typeface="游ゴシック" pitchFamily="34" charset="-122"/>
                <a:cs typeface="游ゴシック" pitchFamily="34" charset="-120"/>
              </a:rPr>
              <a:t>既存（ハード・OS・ST の推論エンジンと学習済みモデル）</a:t>
            </a:r>
            <a:endParaRPr lang="en-US" sz="1400" dirty="0"/>
          </a:p>
        </p:txBody>
      </p:sp>
      <p:sp>
        <p:nvSpPr>
          <p:cNvPr id="52" name="Shape 40"/>
          <p:cNvSpPr/>
          <p:nvPr/>
        </p:nvSpPr>
        <p:spPr>
          <a:xfrm>
            <a:off x="6400800" y="5047488"/>
            <a:ext cx="274320" cy="201168"/>
          </a:xfrm>
          <a:prstGeom prst="rect">
            <a:avLst/>
          </a:prstGeom>
          <a:solidFill>
            <a:srgbClr val="DDEBF3"/>
          </a:solidFill>
          <a:ln w="19050">
            <a:solidFill>
              <a:srgbClr val="156082"/>
            </a:solidFill>
            <a:prstDash val="solid"/>
          </a:ln>
        </p:spPr>
        <p:txBody>
          <a:bodyPr/>
          <a:lstStyle/>
          <a:p>
            <a:endParaRPr lang="ja-JP" altLang="en-US"/>
          </a:p>
        </p:txBody>
      </p:sp>
      <p:sp>
        <p:nvSpPr>
          <p:cNvPr id="53" name="Text 41"/>
          <p:cNvSpPr txBox="1"/>
          <p:nvPr/>
        </p:nvSpPr>
        <p:spPr>
          <a:xfrm>
            <a:off x="6748272" y="4983480"/>
            <a:ext cx="1828800" cy="329184"/>
          </a:xfrm>
          <a:prstGeom prst="rect">
            <a:avLst/>
          </a:prstGeom>
          <a:noFill/>
          <a:ln/>
        </p:spPr>
        <p:txBody>
          <a:bodyPr wrap="square" lIns="0" tIns="0" rIns="0" bIns="0" rtlCol="0" anchor="ctr"/>
          <a:lstStyle/>
          <a:p>
            <a:pPr marL="0" indent="0">
              <a:buNone/>
            </a:pPr>
            <a:r>
              <a:rPr lang="en-US" sz="1400" dirty="0">
                <a:solidFill>
                  <a:srgbClr val="595959"/>
                </a:solidFill>
                <a:latin typeface="游ゴシック" pitchFamily="34" charset="0"/>
                <a:ea typeface="游ゴシック" pitchFamily="34" charset="-122"/>
                <a:cs typeface="游ゴシック" pitchFamily="34" charset="-120"/>
              </a:rPr>
              <a:t>自作</a:t>
            </a:r>
            <a:endParaRPr lang="en-US" sz="1400" dirty="0"/>
          </a:p>
        </p:txBody>
      </p:sp>
      <p:sp>
        <p:nvSpPr>
          <p:cNvPr id="54" name="Text 42"/>
          <p:cNvSpPr txBox="1"/>
          <p:nvPr/>
        </p:nvSpPr>
        <p:spPr>
          <a:xfrm>
            <a:off x="457200" y="5440680"/>
            <a:ext cx="11274552" cy="1005840"/>
          </a:xfrm>
          <a:prstGeom prst="rect">
            <a:avLst/>
          </a:prstGeom>
          <a:noFill/>
          <a:ln/>
        </p:spPr>
        <p:txBody>
          <a:bodyPr wrap="square" lIns="0" tIns="0" rIns="0" bIns="0" rtlCol="0" anchor="ctr"/>
          <a:lstStyle/>
          <a:p>
            <a:pPr marL="0" indent="0">
              <a:buNone/>
            </a:pPr>
            <a:r>
              <a:rPr lang="en-US" sz="2800" b="1" dirty="0">
                <a:solidFill>
                  <a:srgbClr val="FF0000"/>
                </a:solidFill>
                <a:latin typeface="游ゴシック" pitchFamily="34" charset="0"/>
                <a:ea typeface="游ゴシック" pitchFamily="34" charset="-122"/>
                <a:cs typeface="游ゴシック" pitchFamily="34" charset="-120"/>
              </a:rPr>
              <a:t>マイクから通知まで一本道。OS と推論エンジン・学習済みモデル以外は自作した</a:t>
            </a:r>
            <a:endParaRPr lang="en-US" sz="2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1-3　</a:t>
            </a:r>
            <a:r>
              <a:rPr lang="en-US" sz="3000" b="1" dirty="0" err="1">
                <a:solidFill>
                  <a:srgbClr val="000000"/>
                </a:solidFill>
                <a:latin typeface="游ゴシック" pitchFamily="34" charset="0"/>
                <a:ea typeface="游ゴシック" pitchFamily="34" charset="-122"/>
                <a:cs typeface="游ゴシック" pitchFamily="34" charset="-120"/>
              </a:rPr>
              <a:t>使った</a:t>
            </a:r>
            <a:r>
              <a:rPr lang="ja-JP" altLang="en-US" sz="3000" b="1" dirty="0">
                <a:solidFill>
                  <a:srgbClr val="000000"/>
                </a:solidFill>
                <a:latin typeface="游ゴシック" pitchFamily="34" charset="0"/>
                <a:ea typeface="游ゴシック" pitchFamily="34" charset="-122"/>
                <a:cs typeface="游ゴシック" pitchFamily="34" charset="-120"/>
              </a:rPr>
              <a:t>ツール</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t"/>
          <a:lstStyle/>
          <a:p>
            <a:pPr marL="0" indent="0">
              <a:buNone/>
            </a:pPr>
            <a:r>
              <a:rPr lang="en-US" sz="2800" b="1" dirty="0" err="1">
                <a:solidFill>
                  <a:srgbClr val="FF0000"/>
                </a:solidFill>
                <a:latin typeface="游ゴシック" pitchFamily="34" charset="0"/>
                <a:ea typeface="游ゴシック" pitchFamily="34" charset="-122"/>
                <a:cs typeface="游ゴシック" pitchFamily="34" charset="-120"/>
              </a:rPr>
              <a:t>市販の評価ボードと無償のツールだけで</a:t>
            </a:r>
            <a:r>
              <a:rPr lang="ja-JP" altLang="en-US" sz="2800" b="1" dirty="0">
                <a:solidFill>
                  <a:srgbClr val="FF0000"/>
                </a:solidFill>
                <a:latin typeface="游ゴシック" pitchFamily="34" charset="0"/>
                <a:ea typeface="游ゴシック" pitchFamily="34" charset="-122"/>
                <a:cs typeface="游ゴシック" pitchFamily="34" charset="-120"/>
              </a:rPr>
              <a:t>作成</a:t>
            </a:r>
            <a:r>
              <a:rPr lang="en-US" sz="2800" b="1" dirty="0">
                <a:solidFill>
                  <a:srgbClr val="FF0000"/>
                </a:solidFill>
                <a:latin typeface="游ゴシック" pitchFamily="34" charset="0"/>
                <a:ea typeface="游ゴシック" pitchFamily="34" charset="-122"/>
                <a:cs typeface="游ゴシック" pitchFamily="34" charset="-120"/>
              </a:rPr>
              <a:t>。</a:t>
            </a:r>
          </a:p>
          <a:p>
            <a:pPr marL="0" indent="0">
              <a:buNone/>
            </a:pPr>
            <a:r>
              <a:rPr lang="en-US" sz="1600" b="1" dirty="0" err="1">
                <a:latin typeface="游ゴシック" pitchFamily="34" charset="0"/>
                <a:ea typeface="游ゴシック" pitchFamily="34" charset="-122"/>
                <a:cs typeface="游ゴシック" pitchFamily="34" charset="-120"/>
              </a:rPr>
              <a:t>揃えれば同じものが作れる</a:t>
            </a:r>
            <a:endParaRPr lang="en-US" sz="1600" dirty="0"/>
          </a:p>
        </p:txBody>
      </p:sp>
      <p:sp>
        <p:nvSpPr>
          <p:cNvPr id="8" name="Text 5"/>
          <p:cNvSpPr txBox="1"/>
          <p:nvPr/>
        </p:nvSpPr>
        <p:spPr>
          <a:xfrm>
            <a:off x="457200" y="5486400"/>
            <a:ext cx="4480560" cy="1051560"/>
          </a:xfrm>
          <a:prstGeom prst="rect">
            <a:avLst/>
          </a:prstGeom>
          <a:noFill/>
          <a:ln/>
        </p:spPr>
        <p:txBody>
          <a:bodyPr wrap="square" lIns="0" tIns="0" rIns="0" bIns="0" rtlCol="0" anchor="t"/>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STM32N6570-DK</a:t>
            </a:r>
            <a:endParaRPr lang="en-US" sz="1600" dirty="0"/>
          </a:p>
          <a:p>
            <a:pPr marL="0" indent="0">
              <a:buNone/>
            </a:pPr>
            <a:r>
              <a:rPr lang="en-US" sz="1600" dirty="0">
                <a:solidFill>
                  <a:srgbClr val="000000"/>
                </a:solidFill>
                <a:latin typeface="游ゴシック" pitchFamily="34" charset="0"/>
                <a:ea typeface="游ゴシック" pitchFamily="34" charset="-122"/>
                <a:cs typeface="游ゴシック" pitchFamily="34" charset="-120"/>
              </a:rPr>
              <a:t>Cortex-M55 600 MHz・NPU 300 MHz</a:t>
            </a:r>
            <a:endParaRPr lang="en-US" sz="1600" dirty="0"/>
          </a:p>
          <a:p>
            <a:pPr marL="0" indent="0">
              <a:buNone/>
            </a:pPr>
            <a:r>
              <a:rPr lang="en-US" sz="1600" dirty="0">
                <a:solidFill>
                  <a:srgbClr val="000000"/>
                </a:solidFill>
                <a:latin typeface="游ゴシック" pitchFamily="34" charset="0"/>
                <a:ea typeface="游ゴシック" pitchFamily="34" charset="-122"/>
                <a:cs typeface="游ゴシック" pitchFamily="34" charset="-120"/>
              </a:rPr>
              <a:t>PDM マイク・800×480 LCD</a:t>
            </a:r>
            <a:endParaRPr lang="en-US" sz="1600" dirty="0"/>
          </a:p>
        </p:txBody>
      </p:sp>
      <p:pic>
        <p:nvPicPr>
          <p:cNvPr id="9" name="Image 1" descr="/home/claude/v4/icons/FaMicrochip_156082.png"/>
          <p:cNvPicPr>
            <a:picLocks noChangeAspect="1"/>
          </p:cNvPicPr>
          <p:nvPr/>
        </p:nvPicPr>
        <p:blipFill>
          <a:blip r:embed="rId3"/>
          <a:stretch>
            <a:fillRect/>
          </a:stretch>
        </p:blipFill>
        <p:spPr>
          <a:xfrm>
            <a:off x="5257800" y="2267712"/>
            <a:ext cx="420624" cy="420624"/>
          </a:xfrm>
          <a:prstGeom prst="rect">
            <a:avLst/>
          </a:prstGeom>
        </p:spPr>
      </p:pic>
      <p:sp>
        <p:nvSpPr>
          <p:cNvPr id="10" name="Text 6"/>
          <p:cNvSpPr txBox="1"/>
          <p:nvPr/>
        </p:nvSpPr>
        <p:spPr>
          <a:xfrm>
            <a:off x="5852160" y="2194560"/>
            <a:ext cx="3611880" cy="566928"/>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μT-Kernel 3.0（BSP2）</a:t>
            </a:r>
            <a:endParaRPr lang="en-US" sz="1800" dirty="0"/>
          </a:p>
        </p:txBody>
      </p:sp>
      <p:sp>
        <p:nvSpPr>
          <p:cNvPr id="11" name="Text 7"/>
          <p:cNvSpPr txBox="1"/>
          <p:nvPr/>
        </p:nvSpPr>
        <p:spPr>
          <a:xfrm>
            <a:off x="9464040" y="2194560"/>
            <a:ext cx="2267712" cy="566928"/>
          </a:xfrm>
          <a:prstGeom prst="rect">
            <a:avLst/>
          </a:prstGeom>
          <a:noFill/>
          <a:ln/>
        </p:spPr>
        <p:txBody>
          <a:bodyPr wrap="square" lIns="0" tIns="0" rIns="0" bIns="0" rtlCol="0" anchor="ctr"/>
          <a:lstStyle/>
          <a:p>
            <a:pPr marL="0" indent="0">
              <a:buNone/>
            </a:pPr>
            <a:r>
              <a:rPr lang="en-US" sz="1400" dirty="0">
                <a:solidFill>
                  <a:srgbClr val="595959"/>
                </a:solidFill>
                <a:latin typeface="游ゴシック" pitchFamily="34" charset="0"/>
                <a:ea typeface="游ゴシック" pitchFamily="34" charset="-122"/>
                <a:cs typeface="游ゴシック" pitchFamily="34" charset="-120"/>
              </a:rPr>
              <a:t>OS：タスク・優先度・ハンドラ</a:t>
            </a:r>
            <a:endParaRPr lang="en-US" sz="1400" dirty="0"/>
          </a:p>
        </p:txBody>
      </p:sp>
      <p:sp>
        <p:nvSpPr>
          <p:cNvPr id="12" name="Shape 8"/>
          <p:cNvSpPr/>
          <p:nvPr/>
        </p:nvSpPr>
        <p:spPr>
          <a:xfrm>
            <a:off x="5257800" y="2798064"/>
            <a:ext cx="6473952" cy="0"/>
          </a:xfrm>
          <a:prstGeom prst="line">
            <a:avLst/>
          </a:prstGeom>
          <a:noFill/>
          <a:ln w="9525">
            <a:solidFill>
              <a:srgbClr val="D9D9D9"/>
            </a:solidFill>
            <a:prstDash val="solid"/>
          </a:ln>
        </p:spPr>
        <p:txBody>
          <a:bodyPr/>
          <a:lstStyle/>
          <a:p>
            <a:endParaRPr lang="ja-JP" altLang="en-US"/>
          </a:p>
        </p:txBody>
      </p:sp>
      <p:pic>
        <p:nvPicPr>
          <p:cNvPr id="13" name="Image 2" descr="/home/claude/v4/icons/FaHammer_156082.png"/>
          <p:cNvPicPr>
            <a:picLocks noChangeAspect="1"/>
          </p:cNvPicPr>
          <p:nvPr/>
        </p:nvPicPr>
        <p:blipFill>
          <a:blip r:embed="rId4"/>
          <a:stretch>
            <a:fillRect/>
          </a:stretch>
        </p:blipFill>
        <p:spPr>
          <a:xfrm>
            <a:off x="5257800" y="2889504"/>
            <a:ext cx="420624" cy="420624"/>
          </a:xfrm>
          <a:prstGeom prst="rect">
            <a:avLst/>
          </a:prstGeom>
        </p:spPr>
      </p:pic>
      <p:sp>
        <p:nvSpPr>
          <p:cNvPr id="14" name="Text 9"/>
          <p:cNvSpPr txBox="1"/>
          <p:nvPr/>
        </p:nvSpPr>
        <p:spPr>
          <a:xfrm>
            <a:off x="5852160" y="2816352"/>
            <a:ext cx="3611880" cy="566928"/>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STM32CubeIDE 2.2.0</a:t>
            </a:r>
            <a:endParaRPr lang="en-US" sz="1800" dirty="0"/>
          </a:p>
        </p:txBody>
      </p:sp>
      <p:sp>
        <p:nvSpPr>
          <p:cNvPr id="15" name="Text 10"/>
          <p:cNvSpPr txBox="1"/>
          <p:nvPr/>
        </p:nvSpPr>
        <p:spPr>
          <a:xfrm>
            <a:off x="9464040" y="2816352"/>
            <a:ext cx="2267712" cy="566928"/>
          </a:xfrm>
          <a:prstGeom prst="rect">
            <a:avLst/>
          </a:prstGeom>
          <a:noFill/>
          <a:ln/>
        </p:spPr>
        <p:txBody>
          <a:bodyPr wrap="square" lIns="0" tIns="0" rIns="0" bIns="0" rtlCol="0" anchor="ctr"/>
          <a:lstStyle/>
          <a:p>
            <a:pPr marL="0" indent="0">
              <a:buNone/>
            </a:pPr>
            <a:r>
              <a:rPr lang="en-US" sz="1400" dirty="0">
                <a:solidFill>
                  <a:srgbClr val="595959"/>
                </a:solidFill>
                <a:latin typeface="游ゴシック" pitchFamily="34" charset="0"/>
                <a:ea typeface="游ゴシック" pitchFamily="34" charset="-122"/>
                <a:cs typeface="游ゴシック" pitchFamily="34" charset="-120"/>
              </a:rPr>
              <a:t>ビルド、デバッガからの実行、フラッシュ書き込み</a:t>
            </a:r>
            <a:endParaRPr lang="en-US" sz="1400" dirty="0"/>
          </a:p>
        </p:txBody>
      </p:sp>
      <p:sp>
        <p:nvSpPr>
          <p:cNvPr id="16" name="Shape 11"/>
          <p:cNvSpPr/>
          <p:nvPr/>
        </p:nvSpPr>
        <p:spPr>
          <a:xfrm>
            <a:off x="5257800" y="3419856"/>
            <a:ext cx="6473952" cy="0"/>
          </a:xfrm>
          <a:prstGeom prst="line">
            <a:avLst/>
          </a:prstGeom>
          <a:noFill/>
          <a:ln w="9525">
            <a:solidFill>
              <a:srgbClr val="D9D9D9"/>
            </a:solidFill>
            <a:prstDash val="solid"/>
          </a:ln>
        </p:spPr>
        <p:txBody>
          <a:bodyPr/>
          <a:lstStyle/>
          <a:p>
            <a:endParaRPr lang="ja-JP" altLang="en-US"/>
          </a:p>
        </p:txBody>
      </p:sp>
      <p:pic>
        <p:nvPicPr>
          <p:cNvPr id="17" name="Image 3" descr="/home/claude/v4/icons/FaBrain_156082.png"/>
          <p:cNvPicPr>
            <a:picLocks noChangeAspect="1"/>
          </p:cNvPicPr>
          <p:nvPr/>
        </p:nvPicPr>
        <p:blipFill>
          <a:blip r:embed="rId5"/>
          <a:stretch>
            <a:fillRect/>
          </a:stretch>
        </p:blipFill>
        <p:spPr>
          <a:xfrm>
            <a:off x="5257800" y="3511296"/>
            <a:ext cx="420624" cy="420624"/>
          </a:xfrm>
          <a:prstGeom prst="rect">
            <a:avLst/>
          </a:prstGeom>
        </p:spPr>
      </p:pic>
      <p:sp>
        <p:nvSpPr>
          <p:cNvPr id="18" name="Text 12"/>
          <p:cNvSpPr txBox="1"/>
          <p:nvPr/>
        </p:nvSpPr>
        <p:spPr>
          <a:xfrm>
            <a:off x="5852160" y="3438144"/>
            <a:ext cx="3611880" cy="566928"/>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ST Edge AI Core 4.0.1</a:t>
            </a:r>
            <a:endParaRPr lang="en-US" sz="1800" dirty="0"/>
          </a:p>
        </p:txBody>
      </p:sp>
      <p:sp>
        <p:nvSpPr>
          <p:cNvPr id="19" name="Text 13"/>
          <p:cNvSpPr txBox="1"/>
          <p:nvPr/>
        </p:nvSpPr>
        <p:spPr>
          <a:xfrm>
            <a:off x="9464040" y="3438144"/>
            <a:ext cx="2267712" cy="566928"/>
          </a:xfrm>
          <a:prstGeom prst="rect">
            <a:avLst/>
          </a:prstGeom>
          <a:noFill/>
          <a:ln/>
        </p:spPr>
        <p:txBody>
          <a:bodyPr wrap="square" lIns="0" tIns="0" rIns="0" bIns="0" rtlCol="0" anchor="ctr"/>
          <a:lstStyle/>
          <a:p>
            <a:pPr marL="0" indent="0">
              <a:buNone/>
            </a:pPr>
            <a:r>
              <a:rPr lang="en-US" sz="1400" dirty="0">
                <a:solidFill>
                  <a:srgbClr val="595959"/>
                </a:solidFill>
                <a:latin typeface="游ゴシック" pitchFamily="34" charset="0"/>
                <a:ea typeface="游ゴシック" pitchFamily="34" charset="-122"/>
                <a:cs typeface="游ゴシック" pitchFamily="34" charset="-120"/>
              </a:rPr>
              <a:t>学習済みモデルを NPU 用のコードに変換</a:t>
            </a:r>
            <a:endParaRPr lang="en-US" sz="1400" dirty="0"/>
          </a:p>
        </p:txBody>
      </p:sp>
      <p:sp>
        <p:nvSpPr>
          <p:cNvPr id="20" name="Shape 14"/>
          <p:cNvSpPr/>
          <p:nvPr/>
        </p:nvSpPr>
        <p:spPr>
          <a:xfrm>
            <a:off x="5257800" y="4041648"/>
            <a:ext cx="6473952" cy="0"/>
          </a:xfrm>
          <a:prstGeom prst="line">
            <a:avLst/>
          </a:prstGeom>
          <a:noFill/>
          <a:ln w="9525">
            <a:solidFill>
              <a:srgbClr val="D9D9D9"/>
            </a:solidFill>
            <a:prstDash val="solid"/>
          </a:ln>
        </p:spPr>
        <p:txBody>
          <a:bodyPr/>
          <a:lstStyle/>
          <a:p>
            <a:endParaRPr lang="ja-JP" altLang="en-US"/>
          </a:p>
        </p:txBody>
      </p:sp>
      <p:pic>
        <p:nvPicPr>
          <p:cNvPr id="21" name="Image 4" descr="/home/claude/v4/icons/FaCube_156082.png"/>
          <p:cNvPicPr>
            <a:picLocks noChangeAspect="1"/>
          </p:cNvPicPr>
          <p:nvPr/>
        </p:nvPicPr>
        <p:blipFill>
          <a:blip r:embed="rId6"/>
          <a:stretch>
            <a:fillRect/>
          </a:stretch>
        </p:blipFill>
        <p:spPr>
          <a:xfrm>
            <a:off x="5257800" y="4133088"/>
            <a:ext cx="420624" cy="420624"/>
          </a:xfrm>
          <a:prstGeom prst="rect">
            <a:avLst/>
          </a:prstGeom>
        </p:spPr>
      </p:pic>
      <p:sp>
        <p:nvSpPr>
          <p:cNvPr id="22" name="Text 15"/>
          <p:cNvSpPr txBox="1"/>
          <p:nvPr/>
        </p:nvSpPr>
        <p:spPr>
          <a:xfrm>
            <a:off x="5852160" y="4059936"/>
            <a:ext cx="3611880" cy="566928"/>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ST model zoo（YAMNet）</a:t>
            </a:r>
            <a:endParaRPr lang="en-US" sz="1800" dirty="0"/>
          </a:p>
        </p:txBody>
      </p:sp>
      <p:sp>
        <p:nvSpPr>
          <p:cNvPr id="23" name="Text 16"/>
          <p:cNvSpPr txBox="1"/>
          <p:nvPr/>
        </p:nvSpPr>
        <p:spPr>
          <a:xfrm>
            <a:off x="9464040" y="4059936"/>
            <a:ext cx="2267712" cy="566928"/>
          </a:xfrm>
          <a:prstGeom prst="rect">
            <a:avLst/>
          </a:prstGeom>
          <a:noFill/>
          <a:ln/>
        </p:spPr>
        <p:txBody>
          <a:bodyPr wrap="square" lIns="0" tIns="0" rIns="0" bIns="0" rtlCol="0" anchor="ctr"/>
          <a:lstStyle/>
          <a:p>
            <a:pPr marL="0" indent="0">
              <a:buNone/>
            </a:pPr>
            <a:r>
              <a:rPr lang="en-US" sz="1400" dirty="0">
                <a:solidFill>
                  <a:srgbClr val="595959"/>
                </a:solidFill>
                <a:latin typeface="游ゴシック" pitchFamily="34" charset="0"/>
                <a:ea typeface="游ゴシック" pitchFamily="34" charset="-122"/>
                <a:cs typeface="游ゴシック" pitchFamily="34" charset="-120"/>
              </a:rPr>
              <a:t>学習済みの int8 モデル</a:t>
            </a:r>
            <a:endParaRPr lang="en-US" sz="1400" dirty="0"/>
          </a:p>
        </p:txBody>
      </p:sp>
      <p:sp>
        <p:nvSpPr>
          <p:cNvPr id="24" name="Shape 17"/>
          <p:cNvSpPr/>
          <p:nvPr/>
        </p:nvSpPr>
        <p:spPr>
          <a:xfrm>
            <a:off x="5257800" y="4663440"/>
            <a:ext cx="6473952" cy="0"/>
          </a:xfrm>
          <a:prstGeom prst="line">
            <a:avLst/>
          </a:prstGeom>
          <a:noFill/>
          <a:ln w="9525">
            <a:solidFill>
              <a:srgbClr val="D9D9D9"/>
            </a:solidFill>
            <a:prstDash val="solid"/>
          </a:ln>
        </p:spPr>
        <p:txBody>
          <a:bodyPr/>
          <a:lstStyle/>
          <a:p>
            <a:endParaRPr lang="ja-JP" altLang="en-US"/>
          </a:p>
        </p:txBody>
      </p:sp>
      <p:pic>
        <p:nvPicPr>
          <p:cNvPr id="25" name="Image 5" descr="/home/claude/v4/icons/FaCode_156082.png"/>
          <p:cNvPicPr>
            <a:picLocks noChangeAspect="1"/>
          </p:cNvPicPr>
          <p:nvPr/>
        </p:nvPicPr>
        <p:blipFill>
          <a:blip r:embed="rId7"/>
          <a:stretch>
            <a:fillRect/>
          </a:stretch>
        </p:blipFill>
        <p:spPr>
          <a:xfrm>
            <a:off x="5257800" y="4754880"/>
            <a:ext cx="420624" cy="420624"/>
          </a:xfrm>
          <a:prstGeom prst="rect">
            <a:avLst/>
          </a:prstGeom>
        </p:spPr>
      </p:pic>
      <p:sp>
        <p:nvSpPr>
          <p:cNvPr id="26" name="Text 18"/>
          <p:cNvSpPr txBox="1"/>
          <p:nvPr/>
        </p:nvSpPr>
        <p:spPr>
          <a:xfrm>
            <a:off x="5852160" y="4681728"/>
            <a:ext cx="3611880" cy="566928"/>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VS Code・Git / GitHub</a:t>
            </a:r>
            <a:endParaRPr lang="en-US" sz="1800" dirty="0"/>
          </a:p>
        </p:txBody>
      </p:sp>
      <p:sp>
        <p:nvSpPr>
          <p:cNvPr id="27" name="Text 19"/>
          <p:cNvSpPr txBox="1"/>
          <p:nvPr/>
        </p:nvSpPr>
        <p:spPr>
          <a:xfrm>
            <a:off x="9464040" y="4681728"/>
            <a:ext cx="2267712" cy="566928"/>
          </a:xfrm>
          <a:prstGeom prst="rect">
            <a:avLst/>
          </a:prstGeom>
          <a:noFill/>
          <a:ln/>
        </p:spPr>
        <p:txBody>
          <a:bodyPr wrap="square" lIns="0" tIns="0" rIns="0" bIns="0" rtlCol="0" anchor="ctr"/>
          <a:lstStyle/>
          <a:p>
            <a:pPr marL="0" indent="0">
              <a:buNone/>
            </a:pPr>
            <a:r>
              <a:rPr lang="en-US" sz="1400" dirty="0">
                <a:solidFill>
                  <a:srgbClr val="595959"/>
                </a:solidFill>
                <a:latin typeface="游ゴシック" pitchFamily="34" charset="0"/>
                <a:ea typeface="游ゴシック" pitchFamily="34" charset="-122"/>
                <a:cs typeface="游ゴシック" pitchFamily="34" charset="-120"/>
              </a:rPr>
              <a:t>編集・履歴・公開</a:t>
            </a:r>
            <a:endParaRPr lang="en-US" sz="1400" dirty="0"/>
          </a:p>
        </p:txBody>
      </p:sp>
      <p:sp>
        <p:nvSpPr>
          <p:cNvPr id="28" name="Shape 20"/>
          <p:cNvSpPr/>
          <p:nvPr/>
        </p:nvSpPr>
        <p:spPr>
          <a:xfrm>
            <a:off x="5257800" y="5285232"/>
            <a:ext cx="6473952" cy="0"/>
          </a:xfrm>
          <a:prstGeom prst="line">
            <a:avLst/>
          </a:prstGeom>
          <a:noFill/>
          <a:ln w="9525">
            <a:solidFill>
              <a:srgbClr val="D9D9D9"/>
            </a:solidFill>
            <a:prstDash val="solid"/>
          </a:ln>
        </p:spPr>
        <p:txBody>
          <a:bodyPr/>
          <a:lstStyle/>
          <a:p>
            <a:endParaRPr lang="ja-JP" altLang="en-US"/>
          </a:p>
        </p:txBody>
      </p:sp>
      <p:pic>
        <p:nvPicPr>
          <p:cNvPr id="29" name="Image 6" descr="/home/claude/v4/icons/FaPython_156082.png"/>
          <p:cNvPicPr>
            <a:picLocks noChangeAspect="1"/>
          </p:cNvPicPr>
          <p:nvPr/>
        </p:nvPicPr>
        <p:blipFill>
          <a:blip r:embed="rId8"/>
          <a:stretch>
            <a:fillRect/>
          </a:stretch>
        </p:blipFill>
        <p:spPr>
          <a:xfrm>
            <a:off x="5257800" y="5376672"/>
            <a:ext cx="420624" cy="420624"/>
          </a:xfrm>
          <a:prstGeom prst="rect">
            <a:avLst/>
          </a:prstGeom>
        </p:spPr>
      </p:pic>
      <p:sp>
        <p:nvSpPr>
          <p:cNvPr id="30" name="Text 21"/>
          <p:cNvSpPr txBox="1"/>
          <p:nvPr/>
        </p:nvSpPr>
        <p:spPr>
          <a:xfrm>
            <a:off x="5852160" y="5303520"/>
            <a:ext cx="3611880" cy="566928"/>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Python（uv）・PowerShell</a:t>
            </a:r>
            <a:endParaRPr lang="en-US" sz="1800" dirty="0"/>
          </a:p>
        </p:txBody>
      </p:sp>
      <p:sp>
        <p:nvSpPr>
          <p:cNvPr id="31" name="Text 22"/>
          <p:cNvSpPr txBox="1"/>
          <p:nvPr/>
        </p:nvSpPr>
        <p:spPr>
          <a:xfrm>
            <a:off x="9464040" y="5303520"/>
            <a:ext cx="2267712" cy="566928"/>
          </a:xfrm>
          <a:prstGeom prst="rect">
            <a:avLst/>
          </a:prstGeom>
          <a:noFill/>
          <a:ln/>
        </p:spPr>
        <p:txBody>
          <a:bodyPr wrap="square" lIns="0" tIns="0" rIns="0" bIns="0" rtlCol="0" anchor="ctr"/>
          <a:lstStyle/>
          <a:p>
            <a:pPr marL="0" indent="0">
              <a:buNone/>
            </a:pPr>
            <a:r>
              <a:rPr lang="en-US" sz="1400" dirty="0">
                <a:solidFill>
                  <a:srgbClr val="595959"/>
                </a:solidFill>
                <a:latin typeface="游ゴシック" pitchFamily="34" charset="0"/>
                <a:ea typeface="游ゴシック" pitchFamily="34" charset="-122"/>
                <a:cs typeface="游ゴシック" pitchFamily="34" charset="-120"/>
              </a:rPr>
              <a:t>ログの取得・集計・判定の再生</a:t>
            </a:r>
            <a:endParaRPr lang="en-US" sz="1400" dirty="0"/>
          </a:p>
        </p:txBody>
      </p:sp>
      <p:sp>
        <p:nvSpPr>
          <p:cNvPr id="32" name="Shape 23"/>
          <p:cNvSpPr/>
          <p:nvPr/>
        </p:nvSpPr>
        <p:spPr>
          <a:xfrm>
            <a:off x="5257800" y="5907024"/>
            <a:ext cx="6473952" cy="0"/>
          </a:xfrm>
          <a:prstGeom prst="line">
            <a:avLst/>
          </a:prstGeom>
          <a:noFill/>
          <a:ln w="9525">
            <a:solidFill>
              <a:srgbClr val="D9D9D9"/>
            </a:solidFill>
            <a:prstDash val="solid"/>
          </a:ln>
        </p:spPr>
        <p:txBody>
          <a:bodyPr/>
          <a:lstStyle/>
          <a:p>
            <a:endParaRPr lang="ja-JP" altLang="en-US"/>
          </a:p>
        </p:txBody>
      </p:sp>
      <p:pic>
        <p:nvPicPr>
          <p:cNvPr id="33" name="Image 7" descr="/home/claude/v4/icons/FaVolumeUp_156082.png"/>
          <p:cNvPicPr>
            <a:picLocks noChangeAspect="1"/>
          </p:cNvPicPr>
          <p:nvPr/>
        </p:nvPicPr>
        <p:blipFill>
          <a:blip r:embed="rId9"/>
          <a:stretch>
            <a:fillRect/>
          </a:stretch>
        </p:blipFill>
        <p:spPr>
          <a:xfrm>
            <a:off x="5257800" y="5998464"/>
            <a:ext cx="420624" cy="420624"/>
          </a:xfrm>
          <a:prstGeom prst="rect">
            <a:avLst/>
          </a:prstGeom>
        </p:spPr>
      </p:pic>
      <p:sp>
        <p:nvSpPr>
          <p:cNvPr id="34" name="Text 24"/>
          <p:cNvSpPr txBox="1"/>
          <p:nvPr/>
        </p:nvSpPr>
        <p:spPr>
          <a:xfrm>
            <a:off x="5852160" y="5925312"/>
            <a:ext cx="3611880" cy="566928"/>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ESC-50</a:t>
            </a:r>
            <a:endParaRPr lang="en-US" sz="1800" dirty="0"/>
          </a:p>
        </p:txBody>
      </p:sp>
      <p:sp>
        <p:nvSpPr>
          <p:cNvPr id="35" name="Text 25"/>
          <p:cNvSpPr txBox="1"/>
          <p:nvPr/>
        </p:nvSpPr>
        <p:spPr>
          <a:xfrm>
            <a:off x="9464040" y="5925312"/>
            <a:ext cx="2267712" cy="566928"/>
          </a:xfrm>
          <a:prstGeom prst="rect">
            <a:avLst/>
          </a:prstGeom>
          <a:noFill/>
          <a:ln/>
        </p:spPr>
        <p:txBody>
          <a:bodyPr wrap="square" lIns="0" tIns="0" rIns="0" bIns="0" rtlCol="0" anchor="ctr"/>
          <a:lstStyle/>
          <a:p>
            <a:pPr marL="0" indent="0">
              <a:buNone/>
            </a:pPr>
            <a:r>
              <a:rPr lang="en-US" sz="1400" dirty="0">
                <a:solidFill>
                  <a:srgbClr val="595959"/>
                </a:solidFill>
                <a:latin typeface="游ゴシック" pitchFamily="34" charset="0"/>
                <a:ea typeface="游ゴシック" pitchFamily="34" charset="-122"/>
                <a:cs typeface="游ゴシック" pitchFamily="34" charset="-120"/>
              </a:rPr>
              <a:t>試験に流す音のクリップ</a:t>
            </a:r>
            <a:endParaRPr lang="en-US" sz="1400" dirty="0"/>
          </a:p>
        </p:txBody>
      </p:sp>
      <p:pic>
        <p:nvPicPr>
          <p:cNvPr id="37" name="図 36">
            <a:extLst>
              <a:ext uri="{FF2B5EF4-FFF2-40B4-BE49-F238E27FC236}">
                <a16:creationId xmlns:a16="http://schemas.microsoft.com/office/drawing/2014/main" id="{5793D0AC-06AC-4D12-BDC2-BA94E29852BB}"/>
              </a:ext>
            </a:extLst>
          </p:cNvPr>
          <p:cNvPicPr>
            <a:picLocks noChangeAspect="1"/>
          </p:cNvPicPr>
          <p:nvPr/>
        </p:nvPicPr>
        <p:blipFill rotWithShape="1">
          <a:blip r:embed="rId10"/>
          <a:srcRect t="12051" b="35727"/>
          <a:stretch/>
        </p:blipFill>
        <p:spPr>
          <a:xfrm>
            <a:off x="411480" y="2171114"/>
            <a:ext cx="4267200" cy="296982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2　設計：音を最優先にする</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Shape 2"/>
          <p:cNvSpPr/>
          <p:nvPr/>
        </p:nvSpPr>
        <p:spPr>
          <a:xfrm>
            <a:off x="0" y="1051560"/>
            <a:ext cx="12191695" cy="1097280"/>
          </a:xfrm>
          <a:prstGeom prst="rect">
            <a:avLst/>
          </a:prstGeom>
          <a:solidFill>
            <a:srgbClr val="DDEBF3"/>
          </a:solidFill>
          <a:ln w="12700">
            <a:solidFill>
              <a:srgbClr val="DDEBF3"/>
            </a:solidFill>
            <a:prstDash val="solid"/>
          </a:ln>
        </p:spPr>
        <p:txBody>
          <a:bodyPr/>
          <a:lstStyle/>
          <a:p>
            <a:endParaRPr lang="ja-JP" altLang="en-US"/>
          </a:p>
        </p:txBody>
      </p:sp>
      <p:sp>
        <p:nvSpPr>
          <p:cNvPr id="5" name="Text 3"/>
          <p:cNvSpPr txBox="1"/>
          <p:nvPr/>
        </p:nvSpPr>
        <p:spPr>
          <a:xfrm>
            <a:off x="457200" y="1097280"/>
            <a:ext cx="11274552" cy="1005840"/>
          </a:xfrm>
          <a:prstGeom prst="rect">
            <a:avLst/>
          </a:prstGeom>
          <a:noFill/>
          <a:ln/>
        </p:spPr>
        <p:txBody>
          <a:bodyPr wrap="square" lIns="0" tIns="0" rIns="0" bIns="0" rtlCol="0" anchor="ctr"/>
          <a:lstStyle/>
          <a:p>
            <a:pPr marL="0" indent="0">
              <a:buNone/>
            </a:pPr>
            <a:r>
              <a:rPr lang="en-US" sz="2800" b="1" dirty="0">
                <a:solidFill>
                  <a:srgbClr val="FF0000"/>
                </a:solidFill>
                <a:latin typeface="游ゴシック" pitchFamily="34" charset="0"/>
                <a:ea typeface="游ゴシック" pitchFamily="34" charset="-122"/>
                <a:cs typeface="游ゴシック" pitchFamily="34" charset="-120"/>
              </a:rPr>
              <a:t>音 ＞ 推論 ＞ 表示 </a:t>
            </a:r>
            <a:r>
              <a:rPr lang="en-US" sz="2800" b="1" dirty="0" err="1">
                <a:solidFill>
                  <a:srgbClr val="FF0000"/>
                </a:solidFill>
                <a:latin typeface="游ゴシック" pitchFamily="34" charset="0"/>
                <a:ea typeface="游ゴシック" pitchFamily="34" charset="-122"/>
                <a:cs typeface="游ゴシック" pitchFamily="34" charset="-120"/>
              </a:rPr>
              <a:t>の順で優先度を固定し</a:t>
            </a:r>
            <a:r>
              <a:rPr lang="en-US" sz="2800" b="1" dirty="0">
                <a:solidFill>
                  <a:srgbClr val="FF0000"/>
                </a:solidFill>
                <a:latin typeface="游ゴシック" pitchFamily="34" charset="0"/>
                <a:ea typeface="游ゴシック" pitchFamily="34" charset="-122"/>
                <a:cs typeface="游ゴシック" pitchFamily="34" charset="-120"/>
              </a:rPr>
              <a:t>、</a:t>
            </a:r>
          </a:p>
          <a:p>
            <a:pPr marL="0" indent="0">
              <a:buNone/>
            </a:pPr>
            <a:r>
              <a:rPr lang="en-US" sz="2800" b="1" dirty="0" err="1">
                <a:solidFill>
                  <a:srgbClr val="FF0000"/>
                </a:solidFill>
                <a:latin typeface="游ゴシック" pitchFamily="34" charset="0"/>
                <a:ea typeface="游ゴシック" pitchFamily="34" charset="-122"/>
                <a:cs typeface="游ゴシック" pitchFamily="34" charset="-120"/>
              </a:rPr>
              <a:t>壊れるなら表示から壊れるようにした</a:t>
            </a:r>
            <a:endParaRPr lang="en-US" sz="2800" dirty="0"/>
          </a:p>
        </p:txBody>
      </p:sp>
      <p:sp>
        <p:nvSpPr>
          <p:cNvPr id="6" name="Text 4"/>
          <p:cNvSpPr txBox="1"/>
          <p:nvPr/>
        </p:nvSpPr>
        <p:spPr>
          <a:xfrm>
            <a:off x="457200" y="6217920"/>
            <a:ext cx="1234440" cy="420624"/>
          </a:xfrm>
          <a:prstGeom prst="rect">
            <a:avLst/>
          </a:prstGeom>
          <a:noFill/>
          <a:ln/>
        </p:spPr>
        <p:txBody>
          <a:bodyPr wrap="square" lIns="0" tIns="0" rIns="0" bIns="0" rtlCol="0" anchor="ctr"/>
          <a:lstStyle/>
          <a:p>
            <a:pPr marL="0" indent="0">
              <a:buNone/>
            </a:pPr>
            <a:r>
              <a:rPr lang="en-US" sz="1300" dirty="0">
                <a:solidFill>
                  <a:srgbClr val="595959"/>
                </a:solidFill>
                <a:latin typeface="游ゴシック" pitchFamily="34" charset="0"/>
                <a:ea typeface="游ゴシック" pitchFamily="34" charset="-122"/>
                <a:cs typeface="游ゴシック" pitchFamily="34" charset="-120"/>
              </a:rPr>
              <a:t>この章の流れ</a:t>
            </a:r>
            <a:endParaRPr lang="en-US" sz="1300" dirty="0"/>
          </a:p>
        </p:txBody>
      </p:sp>
      <p:sp>
        <p:nvSpPr>
          <p:cNvPr id="7" name="Shape 5"/>
          <p:cNvSpPr/>
          <p:nvPr/>
        </p:nvSpPr>
        <p:spPr>
          <a:xfrm>
            <a:off x="1737360" y="6217920"/>
            <a:ext cx="3136392" cy="420624"/>
          </a:xfrm>
          <a:prstGeom prst="rect">
            <a:avLst/>
          </a:prstGeom>
          <a:solidFill>
            <a:srgbClr val="FFFFFF"/>
          </a:solidFill>
          <a:ln w="15875">
            <a:solidFill>
              <a:srgbClr val="156082"/>
            </a:solidFill>
            <a:prstDash val="solid"/>
          </a:ln>
        </p:spPr>
        <p:txBody>
          <a:bodyPr/>
          <a:lstStyle/>
          <a:p>
            <a:endParaRPr lang="ja-JP" altLang="en-US"/>
          </a:p>
        </p:txBody>
      </p:sp>
      <p:sp>
        <p:nvSpPr>
          <p:cNvPr id="8" name="Text 6"/>
          <p:cNvSpPr txBox="1"/>
          <p:nvPr/>
        </p:nvSpPr>
        <p:spPr>
          <a:xfrm>
            <a:off x="1783080" y="6217920"/>
            <a:ext cx="30449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2-1 タスクと優先度</a:t>
            </a:r>
            <a:endParaRPr lang="en-US" sz="1400" dirty="0"/>
          </a:p>
        </p:txBody>
      </p:sp>
      <p:sp>
        <p:nvSpPr>
          <p:cNvPr id="9" name="Shape 7"/>
          <p:cNvSpPr/>
          <p:nvPr/>
        </p:nvSpPr>
        <p:spPr>
          <a:xfrm>
            <a:off x="494690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10" name="Shape 8"/>
          <p:cNvSpPr/>
          <p:nvPr/>
        </p:nvSpPr>
        <p:spPr>
          <a:xfrm>
            <a:off x="5166360" y="6217920"/>
            <a:ext cx="3136392" cy="420624"/>
          </a:xfrm>
          <a:prstGeom prst="rect">
            <a:avLst/>
          </a:prstGeom>
          <a:solidFill>
            <a:srgbClr val="FFFFFF"/>
          </a:solidFill>
          <a:ln w="15875">
            <a:solidFill>
              <a:srgbClr val="156082"/>
            </a:solidFill>
            <a:prstDash val="solid"/>
          </a:ln>
        </p:spPr>
        <p:txBody>
          <a:bodyPr/>
          <a:lstStyle/>
          <a:p>
            <a:endParaRPr lang="ja-JP" altLang="en-US"/>
          </a:p>
        </p:txBody>
      </p:sp>
      <p:sp>
        <p:nvSpPr>
          <p:cNvPr id="11" name="Text 9"/>
          <p:cNvSpPr txBox="1"/>
          <p:nvPr/>
        </p:nvSpPr>
        <p:spPr>
          <a:xfrm>
            <a:off x="5212080" y="6217920"/>
            <a:ext cx="30449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2-2 μT-Kernel の機能でつなぐ</a:t>
            </a:r>
            <a:endParaRPr lang="en-US" sz="1400" dirty="0"/>
          </a:p>
        </p:txBody>
      </p:sp>
      <p:sp>
        <p:nvSpPr>
          <p:cNvPr id="12" name="Shape 10"/>
          <p:cNvSpPr/>
          <p:nvPr/>
        </p:nvSpPr>
        <p:spPr>
          <a:xfrm>
            <a:off x="837590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13" name="Shape 11"/>
          <p:cNvSpPr/>
          <p:nvPr/>
        </p:nvSpPr>
        <p:spPr>
          <a:xfrm>
            <a:off x="8595360" y="6217920"/>
            <a:ext cx="3136392" cy="420624"/>
          </a:xfrm>
          <a:prstGeom prst="rect">
            <a:avLst/>
          </a:prstGeom>
          <a:solidFill>
            <a:srgbClr val="FFFFFF"/>
          </a:solidFill>
          <a:ln w="15875">
            <a:solidFill>
              <a:srgbClr val="156082"/>
            </a:solidFill>
            <a:prstDash val="solid"/>
          </a:ln>
        </p:spPr>
        <p:txBody>
          <a:bodyPr/>
          <a:lstStyle/>
          <a:p>
            <a:endParaRPr lang="ja-JP" altLang="en-US"/>
          </a:p>
        </p:txBody>
      </p:sp>
      <p:sp>
        <p:nvSpPr>
          <p:cNvPr id="14" name="Text 12"/>
          <p:cNvSpPr txBox="1"/>
          <p:nvPr/>
        </p:nvSpPr>
        <p:spPr>
          <a:xfrm>
            <a:off x="8641080" y="6217920"/>
            <a:ext cx="30449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2-3 時間と資源の配分</a:t>
            </a:r>
            <a:endParaRPr lang="en-US" sz="1400" dirty="0"/>
          </a:p>
        </p:txBody>
      </p:sp>
      <p:sp>
        <p:nvSpPr>
          <p:cNvPr id="15" name="Shape 13"/>
          <p:cNvSpPr/>
          <p:nvPr/>
        </p:nvSpPr>
        <p:spPr>
          <a:xfrm>
            <a:off x="457200" y="2331720"/>
            <a:ext cx="3410712" cy="1783080"/>
          </a:xfrm>
          <a:prstGeom prst="rect">
            <a:avLst/>
          </a:prstGeom>
          <a:solidFill>
            <a:srgbClr val="DDEBF3"/>
          </a:solidFill>
          <a:ln w="19050">
            <a:solidFill>
              <a:srgbClr val="156082"/>
            </a:solidFill>
            <a:prstDash val="solid"/>
          </a:ln>
        </p:spPr>
        <p:txBody>
          <a:bodyPr/>
          <a:lstStyle/>
          <a:p>
            <a:endParaRPr lang="ja-JP" altLang="en-US"/>
          </a:p>
        </p:txBody>
      </p:sp>
      <p:sp>
        <p:nvSpPr>
          <p:cNvPr id="16" name="Text 14"/>
          <p:cNvSpPr txBox="1"/>
          <p:nvPr/>
        </p:nvSpPr>
        <p:spPr>
          <a:xfrm>
            <a:off x="640080" y="2395728"/>
            <a:ext cx="3044952" cy="502920"/>
          </a:xfrm>
          <a:prstGeom prst="rect">
            <a:avLst/>
          </a:prstGeom>
          <a:noFill/>
          <a:ln/>
        </p:spPr>
        <p:txBody>
          <a:bodyPr wrap="square" lIns="0" tIns="0" rIns="0" bIns="0" rtlCol="0" anchor="ctr"/>
          <a:lstStyle/>
          <a:p>
            <a:pPr marL="0" indent="0">
              <a:buNone/>
            </a:pPr>
            <a:r>
              <a:rPr lang="en-US" sz="2600" b="1" dirty="0">
                <a:solidFill>
                  <a:srgbClr val="156082"/>
                </a:solidFill>
                <a:latin typeface="游ゴシック" pitchFamily="34" charset="0"/>
                <a:ea typeface="游ゴシック" pitchFamily="34" charset="-122"/>
                <a:cs typeface="游ゴシック" pitchFamily="34" charset="-120"/>
              </a:rPr>
              <a:t>① 音</a:t>
            </a:r>
            <a:endParaRPr lang="en-US" sz="2600" dirty="0"/>
          </a:p>
        </p:txBody>
      </p:sp>
      <p:sp>
        <p:nvSpPr>
          <p:cNvPr id="17" name="Text 15"/>
          <p:cNvSpPr txBox="1"/>
          <p:nvPr/>
        </p:nvSpPr>
        <p:spPr>
          <a:xfrm>
            <a:off x="640080" y="2880360"/>
            <a:ext cx="3044952" cy="320040"/>
          </a:xfrm>
          <a:prstGeom prst="rect">
            <a:avLst/>
          </a:prstGeom>
          <a:noFill/>
          <a:ln/>
        </p:spPr>
        <p:txBody>
          <a:bodyPr wrap="square" lIns="0" tIns="0" rIns="0" bIns="0" rtlCol="0" anchor="ctr"/>
          <a:lstStyle/>
          <a:p>
            <a:pPr marL="0" indent="0">
              <a:buNone/>
            </a:pPr>
            <a:r>
              <a:rPr lang="en-US" sz="1500" b="1" dirty="0">
                <a:solidFill>
                  <a:srgbClr val="595959"/>
                </a:solidFill>
                <a:latin typeface="游ゴシック" pitchFamily="34" charset="0"/>
                <a:ea typeface="游ゴシック" pitchFamily="34" charset="-122"/>
                <a:cs typeface="游ゴシック" pitchFamily="34" charset="-120"/>
              </a:rPr>
              <a:t>優先度 5・10</a:t>
            </a:r>
            <a:endParaRPr lang="en-US" sz="1500" dirty="0"/>
          </a:p>
        </p:txBody>
      </p:sp>
      <p:sp>
        <p:nvSpPr>
          <p:cNvPr id="18" name="Text 16"/>
          <p:cNvSpPr txBox="1"/>
          <p:nvPr/>
        </p:nvSpPr>
        <p:spPr>
          <a:xfrm>
            <a:off x="640080" y="3218688"/>
            <a:ext cx="3044952" cy="822960"/>
          </a:xfrm>
          <a:prstGeom prst="rect">
            <a:avLst/>
          </a:prstGeom>
          <a:noFill/>
          <a:ln/>
        </p:spPr>
        <p:txBody>
          <a:bodyPr wrap="square" lIns="0" tIns="0" rIns="0" bIns="0" rtlCol="0" anchor="t"/>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推論の材料</a:t>
            </a:r>
            <a:endParaRPr lang="en-US" sz="1800" dirty="0"/>
          </a:p>
          <a:p>
            <a:pPr marL="0" indent="0">
              <a:buNone/>
            </a:pPr>
            <a:r>
              <a:rPr lang="en-US" sz="1800" b="1" dirty="0">
                <a:solidFill>
                  <a:srgbClr val="000000"/>
                </a:solidFill>
                <a:latin typeface="游ゴシック" pitchFamily="34" charset="0"/>
                <a:ea typeface="游ゴシック" pitchFamily="34" charset="-122"/>
                <a:cs typeface="游ゴシック" pitchFamily="34" charset="-120"/>
              </a:rPr>
              <a:t>絶対に落としてはならない。</a:t>
            </a:r>
            <a:endParaRPr lang="en-US" sz="1800" dirty="0"/>
          </a:p>
        </p:txBody>
      </p:sp>
      <p:sp>
        <p:nvSpPr>
          <p:cNvPr id="19" name="Shape 17"/>
          <p:cNvSpPr/>
          <p:nvPr/>
        </p:nvSpPr>
        <p:spPr>
          <a:xfrm>
            <a:off x="3959352" y="3017520"/>
            <a:ext cx="338328" cy="384048"/>
          </a:xfrm>
          <a:prstGeom prst="rightArrow">
            <a:avLst/>
          </a:prstGeom>
          <a:solidFill>
            <a:srgbClr val="7F7F7F"/>
          </a:solidFill>
          <a:ln w="12700">
            <a:solidFill>
              <a:srgbClr val="7F7F7F"/>
            </a:solidFill>
            <a:prstDash val="solid"/>
          </a:ln>
        </p:spPr>
        <p:txBody>
          <a:bodyPr/>
          <a:lstStyle/>
          <a:p>
            <a:endParaRPr lang="ja-JP" altLang="en-US"/>
          </a:p>
        </p:txBody>
      </p:sp>
      <p:sp>
        <p:nvSpPr>
          <p:cNvPr id="20" name="Shape 18"/>
          <p:cNvSpPr/>
          <p:nvPr/>
        </p:nvSpPr>
        <p:spPr>
          <a:xfrm>
            <a:off x="4389120" y="2331720"/>
            <a:ext cx="3410712" cy="1783080"/>
          </a:xfrm>
          <a:prstGeom prst="rect">
            <a:avLst/>
          </a:prstGeom>
          <a:solidFill>
            <a:srgbClr val="DDF3EA"/>
          </a:solidFill>
          <a:ln w="19050">
            <a:solidFill>
              <a:srgbClr val="008A5E"/>
            </a:solidFill>
            <a:prstDash val="solid"/>
          </a:ln>
        </p:spPr>
        <p:txBody>
          <a:bodyPr/>
          <a:lstStyle/>
          <a:p>
            <a:endParaRPr lang="ja-JP" altLang="en-US"/>
          </a:p>
        </p:txBody>
      </p:sp>
      <p:sp>
        <p:nvSpPr>
          <p:cNvPr id="21" name="Text 19"/>
          <p:cNvSpPr txBox="1"/>
          <p:nvPr/>
        </p:nvSpPr>
        <p:spPr>
          <a:xfrm>
            <a:off x="4572000" y="2395728"/>
            <a:ext cx="3044952" cy="502920"/>
          </a:xfrm>
          <a:prstGeom prst="rect">
            <a:avLst/>
          </a:prstGeom>
          <a:noFill/>
          <a:ln/>
        </p:spPr>
        <p:txBody>
          <a:bodyPr wrap="square" lIns="0" tIns="0" rIns="0" bIns="0" rtlCol="0" anchor="ctr"/>
          <a:lstStyle/>
          <a:p>
            <a:pPr marL="0" indent="0">
              <a:buNone/>
            </a:pPr>
            <a:r>
              <a:rPr lang="en-US" sz="2600" b="1" dirty="0">
                <a:solidFill>
                  <a:srgbClr val="008A5E"/>
                </a:solidFill>
                <a:latin typeface="游ゴシック" pitchFamily="34" charset="0"/>
                <a:ea typeface="游ゴシック" pitchFamily="34" charset="-122"/>
                <a:cs typeface="游ゴシック" pitchFamily="34" charset="-120"/>
              </a:rPr>
              <a:t>② 推論</a:t>
            </a:r>
            <a:endParaRPr lang="en-US" sz="2600" dirty="0"/>
          </a:p>
        </p:txBody>
      </p:sp>
      <p:sp>
        <p:nvSpPr>
          <p:cNvPr id="22" name="Text 20"/>
          <p:cNvSpPr txBox="1"/>
          <p:nvPr/>
        </p:nvSpPr>
        <p:spPr>
          <a:xfrm>
            <a:off x="4572000" y="2880360"/>
            <a:ext cx="3044952" cy="320040"/>
          </a:xfrm>
          <a:prstGeom prst="rect">
            <a:avLst/>
          </a:prstGeom>
          <a:noFill/>
          <a:ln/>
        </p:spPr>
        <p:txBody>
          <a:bodyPr wrap="square" lIns="0" tIns="0" rIns="0" bIns="0" rtlCol="0" anchor="ctr"/>
          <a:lstStyle/>
          <a:p>
            <a:pPr marL="0" indent="0">
              <a:buNone/>
            </a:pPr>
            <a:r>
              <a:rPr lang="en-US" sz="1500" b="1" dirty="0">
                <a:solidFill>
                  <a:srgbClr val="595959"/>
                </a:solidFill>
                <a:latin typeface="游ゴシック" pitchFamily="34" charset="0"/>
                <a:ea typeface="游ゴシック" pitchFamily="34" charset="-122"/>
                <a:cs typeface="游ゴシック" pitchFamily="34" charset="-120"/>
              </a:rPr>
              <a:t>優先度 15</a:t>
            </a:r>
            <a:endParaRPr lang="en-US" sz="1500" dirty="0"/>
          </a:p>
        </p:txBody>
      </p:sp>
      <p:sp>
        <p:nvSpPr>
          <p:cNvPr id="23" name="Text 21"/>
          <p:cNvSpPr txBox="1"/>
          <p:nvPr/>
        </p:nvSpPr>
        <p:spPr>
          <a:xfrm>
            <a:off x="4572000" y="3218688"/>
            <a:ext cx="3044952" cy="822960"/>
          </a:xfrm>
          <a:prstGeom prst="rect">
            <a:avLst/>
          </a:prstGeom>
          <a:noFill/>
          <a:ln/>
        </p:spPr>
        <p:txBody>
          <a:bodyPr wrap="square" lIns="0" tIns="0" rIns="0" bIns="0" rtlCol="0" anchor="t"/>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窓ごとに間に合わせる。</a:t>
            </a:r>
            <a:endParaRPr lang="en-US" sz="1800" dirty="0"/>
          </a:p>
          <a:p>
            <a:pPr marL="0" indent="0">
              <a:buNone/>
            </a:pPr>
            <a:r>
              <a:rPr lang="en-US" sz="1800" b="1" dirty="0">
                <a:solidFill>
                  <a:srgbClr val="000000"/>
                </a:solidFill>
                <a:latin typeface="游ゴシック" pitchFamily="34" charset="0"/>
                <a:ea typeface="游ゴシック" pitchFamily="34" charset="-122"/>
                <a:cs typeface="游ゴシック" pitchFamily="34" charset="-120"/>
              </a:rPr>
              <a:t>遅れは計上</a:t>
            </a:r>
            <a:endParaRPr lang="en-US" sz="1800" dirty="0"/>
          </a:p>
        </p:txBody>
      </p:sp>
      <p:sp>
        <p:nvSpPr>
          <p:cNvPr id="24" name="Shape 22"/>
          <p:cNvSpPr/>
          <p:nvPr/>
        </p:nvSpPr>
        <p:spPr>
          <a:xfrm>
            <a:off x="7891272" y="3017520"/>
            <a:ext cx="338328" cy="384048"/>
          </a:xfrm>
          <a:prstGeom prst="rightArrow">
            <a:avLst/>
          </a:prstGeom>
          <a:solidFill>
            <a:srgbClr val="7F7F7F"/>
          </a:solidFill>
          <a:ln w="12700">
            <a:solidFill>
              <a:srgbClr val="7F7F7F"/>
            </a:solidFill>
            <a:prstDash val="solid"/>
          </a:ln>
        </p:spPr>
        <p:txBody>
          <a:bodyPr/>
          <a:lstStyle/>
          <a:p>
            <a:endParaRPr lang="ja-JP" altLang="en-US"/>
          </a:p>
        </p:txBody>
      </p:sp>
      <p:sp>
        <p:nvSpPr>
          <p:cNvPr id="25" name="Shape 23"/>
          <p:cNvSpPr/>
          <p:nvPr/>
        </p:nvSpPr>
        <p:spPr>
          <a:xfrm>
            <a:off x="8321040" y="2331720"/>
            <a:ext cx="3410712" cy="1783080"/>
          </a:xfrm>
          <a:prstGeom prst="rect">
            <a:avLst/>
          </a:prstGeom>
          <a:solidFill>
            <a:srgbClr val="FBE9D3"/>
          </a:solidFill>
          <a:ln w="19050">
            <a:solidFill>
              <a:srgbClr val="E07B00"/>
            </a:solidFill>
            <a:prstDash val="solid"/>
          </a:ln>
        </p:spPr>
        <p:txBody>
          <a:bodyPr/>
          <a:lstStyle/>
          <a:p>
            <a:endParaRPr lang="ja-JP" altLang="en-US"/>
          </a:p>
        </p:txBody>
      </p:sp>
      <p:sp>
        <p:nvSpPr>
          <p:cNvPr id="26" name="Text 24"/>
          <p:cNvSpPr txBox="1"/>
          <p:nvPr/>
        </p:nvSpPr>
        <p:spPr>
          <a:xfrm>
            <a:off x="8503920" y="2395728"/>
            <a:ext cx="3044952" cy="502920"/>
          </a:xfrm>
          <a:prstGeom prst="rect">
            <a:avLst/>
          </a:prstGeom>
          <a:noFill/>
          <a:ln/>
        </p:spPr>
        <p:txBody>
          <a:bodyPr wrap="square" lIns="0" tIns="0" rIns="0" bIns="0" rtlCol="0" anchor="ctr"/>
          <a:lstStyle/>
          <a:p>
            <a:pPr marL="0" indent="0">
              <a:buNone/>
            </a:pPr>
            <a:r>
              <a:rPr lang="en-US" sz="2600" b="1" dirty="0">
                <a:solidFill>
                  <a:srgbClr val="E07B00"/>
                </a:solidFill>
                <a:latin typeface="游ゴシック" pitchFamily="34" charset="0"/>
                <a:ea typeface="游ゴシック" pitchFamily="34" charset="-122"/>
                <a:cs typeface="游ゴシック" pitchFamily="34" charset="-120"/>
              </a:rPr>
              <a:t>③ 表示・ログ</a:t>
            </a:r>
            <a:endParaRPr lang="en-US" sz="2600" dirty="0"/>
          </a:p>
        </p:txBody>
      </p:sp>
      <p:sp>
        <p:nvSpPr>
          <p:cNvPr id="27" name="Text 25"/>
          <p:cNvSpPr txBox="1"/>
          <p:nvPr/>
        </p:nvSpPr>
        <p:spPr>
          <a:xfrm>
            <a:off x="8503920" y="2880360"/>
            <a:ext cx="3044952" cy="320040"/>
          </a:xfrm>
          <a:prstGeom prst="rect">
            <a:avLst/>
          </a:prstGeom>
          <a:noFill/>
          <a:ln/>
        </p:spPr>
        <p:txBody>
          <a:bodyPr wrap="square" lIns="0" tIns="0" rIns="0" bIns="0" rtlCol="0" anchor="ctr"/>
          <a:lstStyle/>
          <a:p>
            <a:pPr marL="0" indent="0">
              <a:buNone/>
            </a:pPr>
            <a:r>
              <a:rPr lang="en-US" sz="1500" b="1" dirty="0">
                <a:solidFill>
                  <a:srgbClr val="595959"/>
                </a:solidFill>
                <a:latin typeface="游ゴシック" pitchFamily="34" charset="0"/>
                <a:ea typeface="游ゴシック" pitchFamily="34" charset="-122"/>
                <a:cs typeface="游ゴシック" pitchFamily="34" charset="-120"/>
              </a:rPr>
              <a:t>優先度 20・25</a:t>
            </a:r>
            <a:endParaRPr lang="en-US" sz="1500" dirty="0"/>
          </a:p>
        </p:txBody>
      </p:sp>
      <p:sp>
        <p:nvSpPr>
          <p:cNvPr id="28" name="Text 26"/>
          <p:cNvSpPr txBox="1"/>
          <p:nvPr/>
        </p:nvSpPr>
        <p:spPr>
          <a:xfrm>
            <a:off x="8503920" y="3218688"/>
            <a:ext cx="3044952" cy="822960"/>
          </a:xfrm>
          <a:prstGeom prst="rect">
            <a:avLst/>
          </a:prstGeom>
          <a:noFill/>
          <a:ln/>
        </p:spPr>
        <p:txBody>
          <a:bodyPr wrap="square" lIns="0" tIns="0" rIns="0" bIns="0" rtlCol="0" anchor="t"/>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今回は遅れは許容する</a:t>
            </a:r>
            <a:endParaRPr lang="en-US" sz="1800" dirty="0"/>
          </a:p>
        </p:txBody>
      </p:sp>
      <p:sp>
        <p:nvSpPr>
          <p:cNvPr id="31" name="Shape 29"/>
          <p:cNvSpPr/>
          <p:nvPr/>
        </p:nvSpPr>
        <p:spPr>
          <a:xfrm>
            <a:off x="457200" y="4681728"/>
            <a:ext cx="3611880" cy="1325880"/>
          </a:xfrm>
          <a:prstGeom prst="rect">
            <a:avLst/>
          </a:prstGeom>
          <a:solidFill>
            <a:srgbClr val="F2F2F2"/>
          </a:solidFill>
          <a:ln w="12700">
            <a:solidFill>
              <a:srgbClr val="BFBFBF"/>
            </a:solidFill>
            <a:prstDash val="solid"/>
          </a:ln>
        </p:spPr>
        <p:txBody>
          <a:bodyPr/>
          <a:lstStyle/>
          <a:p>
            <a:endParaRPr lang="ja-JP" altLang="en-US"/>
          </a:p>
        </p:txBody>
      </p:sp>
      <p:pic>
        <p:nvPicPr>
          <p:cNvPr id="32" name="Image 0" descr="/home/claude/v4/icons/FaBug_156082.png"/>
          <p:cNvPicPr>
            <a:picLocks noChangeAspect="1"/>
          </p:cNvPicPr>
          <p:nvPr/>
        </p:nvPicPr>
        <p:blipFill>
          <a:blip r:embed="rId3"/>
          <a:stretch>
            <a:fillRect/>
          </a:stretch>
        </p:blipFill>
        <p:spPr>
          <a:xfrm>
            <a:off x="640080" y="5074920"/>
            <a:ext cx="502920" cy="502920"/>
          </a:xfrm>
          <a:prstGeom prst="rect">
            <a:avLst/>
          </a:prstGeom>
        </p:spPr>
      </p:pic>
      <p:sp>
        <p:nvSpPr>
          <p:cNvPr id="33" name="Text 30"/>
          <p:cNvSpPr txBox="1"/>
          <p:nvPr/>
        </p:nvSpPr>
        <p:spPr>
          <a:xfrm>
            <a:off x="1280160" y="4681728"/>
            <a:ext cx="2697480" cy="1325880"/>
          </a:xfrm>
          <a:prstGeom prst="rect">
            <a:avLst/>
          </a:prstGeom>
          <a:noFill/>
          <a:ln/>
        </p:spPr>
        <p:txBody>
          <a:bodyPr wrap="square" lIns="0" tIns="0" rIns="0" bIns="0" rtlCol="0" anchor="ctr"/>
          <a:lstStyle/>
          <a:p>
            <a:pPr marL="0" indent="0">
              <a:buNone/>
            </a:pPr>
            <a:r>
              <a:rPr lang="en-US" sz="1800" b="1" dirty="0">
                <a:solidFill>
                  <a:srgbClr val="FF0000"/>
                </a:solidFill>
                <a:latin typeface="游ゴシック" pitchFamily="34" charset="0"/>
                <a:ea typeface="游ゴシック" pitchFamily="34" charset="-122"/>
                <a:cs typeface="游ゴシック" pitchFamily="34" charset="-120"/>
              </a:rPr>
              <a:t>壊して測った</a:t>
            </a:r>
            <a:r>
              <a:rPr lang="en-US" sz="1800" b="1" dirty="0">
                <a:latin typeface="游ゴシック" pitchFamily="34" charset="0"/>
                <a:ea typeface="游ゴシック" pitchFamily="34" charset="-122"/>
                <a:cs typeface="游ゴシック" pitchFamily="34" charset="-120"/>
              </a:rPr>
              <a:t>（実験 1）</a:t>
            </a:r>
            <a:endParaRPr lang="en-US" sz="1800" dirty="0"/>
          </a:p>
        </p:txBody>
      </p:sp>
      <p:sp>
        <p:nvSpPr>
          <p:cNvPr id="34" name="Shape 31"/>
          <p:cNvSpPr/>
          <p:nvPr/>
        </p:nvSpPr>
        <p:spPr>
          <a:xfrm>
            <a:off x="4288536" y="4681728"/>
            <a:ext cx="3611880" cy="1325880"/>
          </a:xfrm>
          <a:prstGeom prst="rect">
            <a:avLst/>
          </a:prstGeom>
          <a:solidFill>
            <a:srgbClr val="F2F2F2"/>
          </a:solidFill>
          <a:ln w="12700">
            <a:solidFill>
              <a:srgbClr val="BFBFBF"/>
            </a:solidFill>
            <a:prstDash val="solid"/>
          </a:ln>
        </p:spPr>
        <p:txBody>
          <a:bodyPr/>
          <a:lstStyle/>
          <a:p>
            <a:endParaRPr lang="ja-JP" altLang="en-US"/>
          </a:p>
        </p:txBody>
      </p:sp>
      <p:pic>
        <p:nvPicPr>
          <p:cNvPr id="35" name="Image 1" descr="/home/claude/v4/icons/FaHourglassHalf_156082.png"/>
          <p:cNvPicPr>
            <a:picLocks noChangeAspect="1"/>
          </p:cNvPicPr>
          <p:nvPr/>
        </p:nvPicPr>
        <p:blipFill>
          <a:blip r:embed="rId4"/>
          <a:stretch>
            <a:fillRect/>
          </a:stretch>
        </p:blipFill>
        <p:spPr>
          <a:xfrm>
            <a:off x="4471416" y="5074920"/>
            <a:ext cx="502920" cy="502920"/>
          </a:xfrm>
          <a:prstGeom prst="rect">
            <a:avLst/>
          </a:prstGeom>
        </p:spPr>
      </p:pic>
      <p:sp>
        <p:nvSpPr>
          <p:cNvPr id="36" name="Text 32"/>
          <p:cNvSpPr txBox="1"/>
          <p:nvPr/>
        </p:nvSpPr>
        <p:spPr>
          <a:xfrm>
            <a:off x="5111496" y="4681728"/>
            <a:ext cx="2697480" cy="1325880"/>
          </a:xfrm>
          <a:prstGeom prst="rect">
            <a:avLst/>
          </a:prstGeom>
          <a:noFill/>
          <a:ln/>
        </p:spPr>
        <p:txBody>
          <a:bodyPr wrap="square" lIns="0" tIns="0" rIns="0" bIns="0" rtlCol="0" anchor="ctr"/>
          <a:lstStyle/>
          <a:p>
            <a:pPr marL="0" indent="0">
              <a:buNone/>
            </a:pPr>
            <a:r>
              <a:rPr lang="en-US" sz="1800" b="1" dirty="0">
                <a:solidFill>
                  <a:srgbClr val="FF0000"/>
                </a:solidFill>
                <a:latin typeface="游ゴシック" pitchFamily="34" charset="0"/>
                <a:ea typeface="游ゴシック" pitchFamily="34" charset="-122"/>
                <a:cs typeface="游ゴシック" pitchFamily="34" charset="-120"/>
              </a:rPr>
              <a:t>長時間回した</a:t>
            </a:r>
            <a:r>
              <a:rPr lang="en-US" sz="1800" b="1" dirty="0">
                <a:latin typeface="游ゴシック" pitchFamily="34" charset="0"/>
                <a:ea typeface="游ゴシック" pitchFamily="34" charset="-122"/>
                <a:cs typeface="游ゴシック" pitchFamily="34" charset="-120"/>
              </a:rPr>
              <a:t>（実験 2）</a:t>
            </a:r>
            <a:endParaRPr lang="en-US" sz="1800" dirty="0"/>
          </a:p>
        </p:txBody>
      </p:sp>
      <p:sp>
        <p:nvSpPr>
          <p:cNvPr id="37" name="Shape 33"/>
          <p:cNvSpPr/>
          <p:nvPr/>
        </p:nvSpPr>
        <p:spPr>
          <a:xfrm>
            <a:off x="8119872" y="4681728"/>
            <a:ext cx="3611880" cy="1325880"/>
          </a:xfrm>
          <a:prstGeom prst="rect">
            <a:avLst/>
          </a:prstGeom>
          <a:solidFill>
            <a:srgbClr val="F2F2F2"/>
          </a:solidFill>
          <a:ln w="12700">
            <a:solidFill>
              <a:srgbClr val="BFBFBF"/>
            </a:solidFill>
            <a:prstDash val="solid"/>
          </a:ln>
        </p:spPr>
        <p:txBody>
          <a:bodyPr/>
          <a:lstStyle/>
          <a:p>
            <a:endParaRPr lang="ja-JP" altLang="en-US"/>
          </a:p>
        </p:txBody>
      </p:sp>
      <p:pic>
        <p:nvPicPr>
          <p:cNvPr id="38" name="Image 2" descr="/home/claude/v4/icons/FaExchangeAlt_156082.png"/>
          <p:cNvPicPr>
            <a:picLocks noChangeAspect="1"/>
          </p:cNvPicPr>
          <p:nvPr/>
        </p:nvPicPr>
        <p:blipFill>
          <a:blip r:embed="rId5"/>
          <a:stretch>
            <a:fillRect/>
          </a:stretch>
        </p:blipFill>
        <p:spPr>
          <a:xfrm>
            <a:off x="8302752" y="5074920"/>
            <a:ext cx="502920" cy="502920"/>
          </a:xfrm>
          <a:prstGeom prst="rect">
            <a:avLst/>
          </a:prstGeom>
        </p:spPr>
      </p:pic>
      <p:sp>
        <p:nvSpPr>
          <p:cNvPr id="39" name="Text 34"/>
          <p:cNvSpPr txBox="1"/>
          <p:nvPr/>
        </p:nvSpPr>
        <p:spPr>
          <a:xfrm>
            <a:off x="8942832" y="4681728"/>
            <a:ext cx="2697480" cy="1325880"/>
          </a:xfrm>
          <a:prstGeom prst="rect">
            <a:avLst/>
          </a:prstGeom>
          <a:noFill/>
          <a:ln/>
        </p:spPr>
        <p:txBody>
          <a:bodyPr wrap="square" lIns="0" tIns="0" rIns="0" bIns="0" rtlCol="0" anchor="ctr"/>
          <a:lstStyle/>
          <a:p>
            <a:pPr marL="0" indent="0">
              <a:buNone/>
            </a:pPr>
            <a:r>
              <a:rPr lang="en-US" sz="1800" b="1" dirty="0">
                <a:solidFill>
                  <a:srgbClr val="FF0000"/>
                </a:solidFill>
                <a:latin typeface="游ゴシック" pitchFamily="34" charset="0"/>
                <a:ea typeface="游ゴシック" pitchFamily="34" charset="-122"/>
                <a:cs typeface="游ゴシック" pitchFamily="34" charset="-120"/>
              </a:rPr>
              <a:t>モデルを替えて</a:t>
            </a:r>
            <a:r>
              <a:rPr lang="en-US" sz="1800" b="1" dirty="0">
                <a:solidFill>
                  <a:srgbClr val="000000"/>
                </a:solidFill>
                <a:latin typeface="游ゴシック" pitchFamily="34" charset="0"/>
                <a:ea typeface="游ゴシック" pitchFamily="34" charset="-122"/>
                <a:cs typeface="游ゴシック" pitchFamily="34" charset="-120"/>
              </a:rPr>
              <a:t>同じ手順で測った（実験 3）</a:t>
            </a:r>
            <a:endParaRPr lang="en-US" sz="1800" dirty="0"/>
          </a:p>
        </p:txBody>
      </p:sp>
      <p:sp>
        <p:nvSpPr>
          <p:cNvPr id="40" name="テキスト ボックス 39">
            <a:extLst>
              <a:ext uri="{FF2B5EF4-FFF2-40B4-BE49-F238E27FC236}">
                <a16:creationId xmlns:a16="http://schemas.microsoft.com/office/drawing/2014/main" id="{A75E276C-42BB-F0DA-5321-CDCBDCB1A169}"/>
              </a:ext>
            </a:extLst>
          </p:cNvPr>
          <p:cNvSpPr txBox="1"/>
          <p:nvPr/>
        </p:nvSpPr>
        <p:spPr>
          <a:xfrm>
            <a:off x="274320" y="4295894"/>
            <a:ext cx="1838131" cy="369332"/>
          </a:xfrm>
          <a:prstGeom prst="rect">
            <a:avLst/>
          </a:prstGeom>
          <a:noFill/>
        </p:spPr>
        <p:txBody>
          <a:bodyPr wrap="square" rtlCol="0">
            <a:spAutoFit/>
          </a:bodyPr>
          <a:lstStyle/>
          <a:p>
            <a:r>
              <a:rPr kumimoji="1" lang="ja-JP" altLang="en-US" dirty="0"/>
              <a:t>ゆえに</a:t>
            </a:r>
            <a:r>
              <a:rPr kumimoji="1" lang="en-US" altLang="ja-JP" dirty="0"/>
              <a:t>4</a:t>
            </a:r>
            <a:r>
              <a:rPr kumimoji="1" lang="ja-JP" altLang="en-US" dirty="0"/>
              <a:t>章で</a:t>
            </a:r>
            <a:r>
              <a:rPr kumimoji="1" lang="en-US" altLang="ja-JP" dirty="0"/>
              <a:t>…</a:t>
            </a:r>
            <a:endParaRPr kumimoji="1" lang="ja-JP" alt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2-1　タスクと優先度</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612648" y="1252728"/>
            <a:ext cx="11274552" cy="896112"/>
          </a:xfrm>
          <a:prstGeom prst="rect">
            <a:avLst/>
          </a:prstGeom>
          <a:noFill/>
          <a:ln/>
        </p:spPr>
        <p:txBody>
          <a:bodyPr wrap="square" lIns="0" tIns="0" rIns="0" bIns="0" rtlCol="0" anchor="t"/>
          <a:lstStyle/>
          <a:p>
            <a:pPr marL="0" indent="0">
              <a:buNone/>
            </a:pPr>
            <a:r>
              <a:rPr lang="en-US" sz="2800" b="1" u="sng" dirty="0" err="1">
                <a:solidFill>
                  <a:srgbClr val="FF0000"/>
                </a:solidFill>
                <a:latin typeface="游ゴシック" pitchFamily="34" charset="0"/>
                <a:ea typeface="游ゴシック" pitchFamily="34" charset="-122"/>
                <a:cs typeface="游ゴシック" pitchFamily="34" charset="-120"/>
              </a:rPr>
              <a:t>音のタスクが常に</a:t>
            </a:r>
            <a:r>
              <a:rPr lang="ja-JP" altLang="en-US" sz="2800" b="1" u="sng" dirty="0">
                <a:solidFill>
                  <a:srgbClr val="FF0000"/>
                </a:solidFill>
                <a:latin typeface="游ゴシック" pitchFamily="34" charset="0"/>
                <a:ea typeface="游ゴシック" pitchFamily="34" charset="-122"/>
                <a:cs typeface="游ゴシック" pitchFamily="34" charset="-120"/>
              </a:rPr>
              <a:t>最優先</a:t>
            </a:r>
            <a:endParaRPr lang="en-US" sz="2800" b="1" dirty="0">
              <a:solidFill>
                <a:srgbClr val="FF0000"/>
              </a:solidFill>
              <a:latin typeface="游ゴシック" pitchFamily="34" charset="0"/>
              <a:ea typeface="游ゴシック" pitchFamily="34" charset="-122"/>
              <a:cs typeface="游ゴシック" pitchFamily="34" charset="-120"/>
            </a:endParaRPr>
          </a:p>
          <a:p>
            <a:pPr marL="0" indent="0">
              <a:buNone/>
            </a:pPr>
            <a:r>
              <a:rPr lang="en-US" sz="2000" dirty="0" err="1">
                <a:latin typeface="游ゴシック" pitchFamily="34" charset="0"/>
                <a:ea typeface="游ゴシック" pitchFamily="34" charset="-122"/>
                <a:cs typeface="游ゴシック" pitchFamily="34" charset="-120"/>
              </a:rPr>
              <a:t>画面は一番下で、空いた時間に動く</a:t>
            </a:r>
            <a:endParaRPr lang="en-US" sz="2000" dirty="0"/>
          </a:p>
        </p:txBody>
      </p:sp>
      <p:sp>
        <p:nvSpPr>
          <p:cNvPr id="5" name="Shape 3"/>
          <p:cNvSpPr/>
          <p:nvPr/>
        </p:nvSpPr>
        <p:spPr>
          <a:xfrm>
            <a:off x="457200" y="2514600"/>
            <a:ext cx="502920" cy="3611880"/>
          </a:xfrm>
          <a:prstGeom prst="upArrow">
            <a:avLst/>
          </a:prstGeom>
          <a:solidFill>
            <a:srgbClr val="D9D9D9"/>
          </a:solidFill>
          <a:ln w="12700">
            <a:solidFill>
              <a:srgbClr val="D9D9D9"/>
            </a:solidFill>
            <a:prstDash val="solid"/>
          </a:ln>
        </p:spPr>
        <p:txBody>
          <a:bodyPr/>
          <a:lstStyle/>
          <a:p>
            <a:endParaRPr lang="ja-JP" altLang="en-US"/>
          </a:p>
        </p:txBody>
      </p:sp>
      <p:sp>
        <p:nvSpPr>
          <p:cNvPr id="6" name="Text 4"/>
          <p:cNvSpPr txBox="1"/>
          <p:nvPr/>
        </p:nvSpPr>
        <p:spPr>
          <a:xfrm>
            <a:off x="457200" y="2148840"/>
            <a:ext cx="502920" cy="32004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高</a:t>
            </a:r>
            <a:endParaRPr lang="en-US" sz="1600" dirty="0"/>
          </a:p>
        </p:txBody>
      </p:sp>
      <p:sp>
        <p:nvSpPr>
          <p:cNvPr id="7" name="Text 5"/>
          <p:cNvSpPr txBox="1"/>
          <p:nvPr/>
        </p:nvSpPr>
        <p:spPr>
          <a:xfrm>
            <a:off x="457200" y="6172200"/>
            <a:ext cx="502920" cy="32004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低</a:t>
            </a:r>
            <a:endParaRPr lang="en-US" sz="1600" dirty="0"/>
          </a:p>
        </p:txBody>
      </p:sp>
      <p:sp>
        <p:nvSpPr>
          <p:cNvPr id="8" name="Text 6"/>
          <p:cNvSpPr txBox="1"/>
          <p:nvPr/>
        </p:nvSpPr>
        <p:spPr>
          <a:xfrm>
            <a:off x="1143000" y="2148840"/>
            <a:ext cx="2743200" cy="320040"/>
          </a:xfrm>
          <a:prstGeom prst="rect">
            <a:avLst/>
          </a:prstGeom>
          <a:noFill/>
          <a:ln/>
        </p:spPr>
        <p:txBody>
          <a:bodyPr wrap="square" lIns="0" tIns="0" rIns="0" bIns="0" rtlCol="0" anchor="ctr"/>
          <a:lstStyle/>
          <a:p>
            <a:pPr marL="0" indent="0">
              <a:buNone/>
            </a:pPr>
            <a:r>
              <a:rPr lang="en-US" sz="1400" b="1" dirty="0">
                <a:solidFill>
                  <a:srgbClr val="595959"/>
                </a:solidFill>
                <a:latin typeface="游ゴシック" pitchFamily="34" charset="0"/>
                <a:ea typeface="游ゴシック" pitchFamily="34" charset="-122"/>
                <a:cs typeface="游ゴシック" pitchFamily="34" charset="-120"/>
              </a:rPr>
              <a:t>優先度</a:t>
            </a:r>
            <a:endParaRPr lang="en-US" sz="1400" dirty="0"/>
          </a:p>
        </p:txBody>
      </p:sp>
      <p:sp>
        <p:nvSpPr>
          <p:cNvPr id="9" name="Text 7"/>
          <p:cNvSpPr txBox="1"/>
          <p:nvPr/>
        </p:nvSpPr>
        <p:spPr>
          <a:xfrm>
            <a:off x="1920240" y="2148840"/>
            <a:ext cx="2743200" cy="320040"/>
          </a:xfrm>
          <a:prstGeom prst="rect">
            <a:avLst/>
          </a:prstGeom>
          <a:noFill/>
          <a:ln/>
        </p:spPr>
        <p:txBody>
          <a:bodyPr wrap="square" lIns="0" tIns="0" rIns="0" bIns="0" rtlCol="0" anchor="ctr"/>
          <a:lstStyle/>
          <a:p>
            <a:pPr marL="0" indent="0">
              <a:buNone/>
            </a:pPr>
            <a:r>
              <a:rPr lang="en-US" sz="1400" b="1" dirty="0">
                <a:solidFill>
                  <a:srgbClr val="595959"/>
                </a:solidFill>
                <a:latin typeface="游ゴシック" pitchFamily="34" charset="0"/>
                <a:ea typeface="游ゴシック" pitchFamily="34" charset="-122"/>
                <a:cs typeface="游ゴシック" pitchFamily="34" charset="-120"/>
              </a:rPr>
              <a:t>仕事（タスク名）</a:t>
            </a:r>
            <a:endParaRPr lang="en-US" sz="1400" dirty="0"/>
          </a:p>
        </p:txBody>
      </p:sp>
      <p:sp>
        <p:nvSpPr>
          <p:cNvPr id="10" name="Text 8"/>
          <p:cNvSpPr txBox="1"/>
          <p:nvPr/>
        </p:nvSpPr>
        <p:spPr>
          <a:xfrm>
            <a:off x="5989320" y="2148840"/>
            <a:ext cx="2743200" cy="320040"/>
          </a:xfrm>
          <a:prstGeom prst="rect">
            <a:avLst/>
          </a:prstGeom>
          <a:noFill/>
          <a:ln/>
        </p:spPr>
        <p:txBody>
          <a:bodyPr wrap="square" lIns="0" tIns="0" rIns="0" bIns="0" rtlCol="0" anchor="ctr"/>
          <a:lstStyle/>
          <a:p>
            <a:pPr marL="0" indent="0">
              <a:buNone/>
            </a:pPr>
            <a:r>
              <a:rPr lang="en-US" sz="1400" b="1" dirty="0">
                <a:solidFill>
                  <a:srgbClr val="595959"/>
                </a:solidFill>
                <a:latin typeface="游ゴシック" pitchFamily="34" charset="0"/>
                <a:ea typeface="游ゴシック" pitchFamily="34" charset="-122"/>
                <a:cs typeface="游ゴシック" pitchFamily="34" charset="-120"/>
              </a:rPr>
              <a:t>起きるきっかけ</a:t>
            </a:r>
            <a:endParaRPr lang="en-US" sz="1400" dirty="0"/>
          </a:p>
        </p:txBody>
      </p:sp>
      <p:sp>
        <p:nvSpPr>
          <p:cNvPr id="11" name="Text 9"/>
          <p:cNvSpPr txBox="1"/>
          <p:nvPr/>
        </p:nvSpPr>
        <p:spPr>
          <a:xfrm>
            <a:off x="8915400" y="2148840"/>
            <a:ext cx="2743200" cy="320040"/>
          </a:xfrm>
          <a:prstGeom prst="rect">
            <a:avLst/>
          </a:prstGeom>
          <a:noFill/>
          <a:ln/>
        </p:spPr>
        <p:txBody>
          <a:bodyPr wrap="square" lIns="0" tIns="0" rIns="0" bIns="0" rtlCol="0" anchor="ctr"/>
          <a:lstStyle/>
          <a:p>
            <a:pPr marL="0" indent="0">
              <a:buNone/>
            </a:pPr>
            <a:r>
              <a:rPr lang="en-US" sz="1400" b="1" dirty="0">
                <a:solidFill>
                  <a:srgbClr val="595959"/>
                </a:solidFill>
                <a:latin typeface="游ゴシック" pitchFamily="34" charset="0"/>
                <a:ea typeface="游ゴシック" pitchFamily="34" charset="-122"/>
                <a:cs typeface="游ゴシック" pitchFamily="34" charset="-120"/>
              </a:rPr>
              <a:t>周期・時間</a:t>
            </a:r>
            <a:endParaRPr lang="en-US" sz="1400" dirty="0"/>
          </a:p>
        </p:txBody>
      </p:sp>
      <p:sp>
        <p:nvSpPr>
          <p:cNvPr id="12" name="Shape 10"/>
          <p:cNvSpPr/>
          <p:nvPr/>
        </p:nvSpPr>
        <p:spPr>
          <a:xfrm>
            <a:off x="1097280" y="2514600"/>
            <a:ext cx="10634472" cy="603504"/>
          </a:xfrm>
          <a:prstGeom prst="rect">
            <a:avLst/>
          </a:prstGeom>
          <a:solidFill>
            <a:srgbClr val="DDEBF3"/>
          </a:solidFill>
          <a:ln w="12700">
            <a:solidFill>
              <a:srgbClr val="DDEBF3"/>
            </a:solidFill>
            <a:prstDash val="solid"/>
          </a:ln>
        </p:spPr>
        <p:txBody>
          <a:bodyPr/>
          <a:lstStyle/>
          <a:p>
            <a:endParaRPr lang="ja-JP" altLang="en-US"/>
          </a:p>
        </p:txBody>
      </p:sp>
      <p:sp>
        <p:nvSpPr>
          <p:cNvPr id="13" name="Shape 11"/>
          <p:cNvSpPr/>
          <p:nvPr/>
        </p:nvSpPr>
        <p:spPr>
          <a:xfrm>
            <a:off x="1234440" y="2569464"/>
            <a:ext cx="493776" cy="493776"/>
          </a:xfrm>
          <a:prstGeom prst="ellipse">
            <a:avLst/>
          </a:prstGeom>
          <a:solidFill>
            <a:srgbClr val="002060"/>
          </a:solidFill>
          <a:ln w="12700">
            <a:solidFill>
              <a:srgbClr val="156082"/>
            </a:solidFill>
            <a:prstDash val="solid"/>
          </a:ln>
        </p:spPr>
        <p:txBody>
          <a:bodyPr/>
          <a:lstStyle/>
          <a:p>
            <a:endParaRPr lang="ja-JP" altLang="en-US" dirty="0"/>
          </a:p>
        </p:txBody>
      </p:sp>
      <p:sp>
        <p:nvSpPr>
          <p:cNvPr id="14" name="Text 12"/>
          <p:cNvSpPr txBox="1"/>
          <p:nvPr/>
        </p:nvSpPr>
        <p:spPr>
          <a:xfrm>
            <a:off x="1236866" y="2569464"/>
            <a:ext cx="493776" cy="493776"/>
          </a:xfrm>
          <a:prstGeom prst="rect">
            <a:avLst/>
          </a:prstGeom>
          <a:noFill/>
          <a:ln/>
        </p:spPr>
        <p:txBody>
          <a:bodyPr wrap="square" lIns="0" tIns="0" rIns="0" bIns="0" rtlCol="0" anchor="ctr"/>
          <a:lstStyle/>
          <a:p>
            <a:pPr marL="0" indent="0" algn="ctr">
              <a:buNone/>
            </a:pPr>
            <a:r>
              <a:rPr lang="en-US" sz="1800" b="1" dirty="0">
                <a:solidFill>
                  <a:srgbClr val="FFFFFF"/>
                </a:solidFill>
                <a:latin typeface="游ゴシック" pitchFamily="34" charset="0"/>
                <a:ea typeface="游ゴシック" pitchFamily="34" charset="-122"/>
                <a:cs typeface="游ゴシック" pitchFamily="34" charset="-120"/>
              </a:rPr>
              <a:t>5</a:t>
            </a:r>
            <a:endParaRPr lang="en-US" sz="1800" dirty="0"/>
          </a:p>
        </p:txBody>
      </p:sp>
      <p:sp>
        <p:nvSpPr>
          <p:cNvPr id="15" name="Text 13"/>
          <p:cNvSpPr txBox="1"/>
          <p:nvPr/>
        </p:nvSpPr>
        <p:spPr>
          <a:xfrm>
            <a:off x="1920240" y="2514600"/>
            <a:ext cx="2567784" cy="603504"/>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音の取り込み  </a:t>
            </a:r>
            <a:r>
              <a:rPr lang="en-US" sz="1400" dirty="0">
                <a:solidFill>
                  <a:srgbClr val="595959"/>
                </a:solidFill>
                <a:latin typeface="Consolas" pitchFamily="34" charset="0"/>
                <a:ea typeface="Consolas" pitchFamily="34" charset="-122"/>
                <a:cs typeface="Consolas" pitchFamily="34" charset="-120"/>
              </a:rPr>
              <a:t>task_pcm</a:t>
            </a:r>
            <a:endParaRPr lang="en-US" sz="2000" dirty="0"/>
          </a:p>
        </p:txBody>
      </p:sp>
      <p:sp>
        <p:nvSpPr>
          <p:cNvPr id="16" name="Text 14"/>
          <p:cNvSpPr txBox="1"/>
          <p:nvPr/>
        </p:nvSpPr>
        <p:spPr>
          <a:xfrm>
            <a:off x="5989320" y="2514600"/>
            <a:ext cx="2880360" cy="603504"/>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DMA </a:t>
            </a:r>
            <a:r>
              <a:rPr lang="en-US" sz="1600" dirty="0" err="1">
                <a:solidFill>
                  <a:srgbClr val="000000"/>
                </a:solidFill>
                <a:latin typeface="游ゴシック" pitchFamily="34" charset="0"/>
                <a:ea typeface="游ゴシック" pitchFamily="34" charset="-122"/>
                <a:cs typeface="游ゴシック" pitchFamily="34" charset="-120"/>
              </a:rPr>
              <a:t>割込み</a:t>
            </a:r>
            <a:endParaRPr lang="en-US" sz="16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1600" dirty="0">
                <a:solidFill>
                  <a:srgbClr val="000000"/>
                </a:solidFill>
                <a:latin typeface="游ゴシック" pitchFamily="34" charset="0"/>
                <a:ea typeface="游ゴシック" pitchFamily="34" charset="-122"/>
                <a:cs typeface="游ゴシック" pitchFamily="34" charset="-120"/>
              </a:rPr>
              <a:t>（イベントフラグ）</a:t>
            </a:r>
            <a:endParaRPr lang="en-US" sz="1600" dirty="0"/>
          </a:p>
        </p:txBody>
      </p:sp>
      <p:sp>
        <p:nvSpPr>
          <p:cNvPr id="17" name="Text 15"/>
          <p:cNvSpPr txBox="1"/>
          <p:nvPr/>
        </p:nvSpPr>
        <p:spPr>
          <a:xfrm>
            <a:off x="8915400" y="2514600"/>
            <a:ext cx="2743200" cy="603504"/>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16 ms ごと（マイク）</a:t>
            </a:r>
            <a:endParaRPr lang="en-US" sz="1600" dirty="0"/>
          </a:p>
        </p:txBody>
      </p:sp>
      <p:sp>
        <p:nvSpPr>
          <p:cNvPr id="18" name="Shape 16"/>
          <p:cNvSpPr/>
          <p:nvPr/>
        </p:nvSpPr>
        <p:spPr>
          <a:xfrm>
            <a:off x="1097280" y="3172968"/>
            <a:ext cx="10634472" cy="603504"/>
          </a:xfrm>
          <a:prstGeom prst="rect">
            <a:avLst/>
          </a:prstGeom>
          <a:solidFill>
            <a:srgbClr val="DDEBF3"/>
          </a:solidFill>
          <a:ln w="12700">
            <a:solidFill>
              <a:srgbClr val="DDEBF3"/>
            </a:solidFill>
            <a:prstDash val="solid"/>
          </a:ln>
        </p:spPr>
        <p:txBody>
          <a:bodyPr/>
          <a:lstStyle/>
          <a:p>
            <a:endParaRPr lang="ja-JP" altLang="en-US"/>
          </a:p>
        </p:txBody>
      </p:sp>
      <p:sp>
        <p:nvSpPr>
          <p:cNvPr id="19" name="Shape 17"/>
          <p:cNvSpPr/>
          <p:nvPr/>
        </p:nvSpPr>
        <p:spPr>
          <a:xfrm>
            <a:off x="1234440" y="3227832"/>
            <a:ext cx="493776" cy="493776"/>
          </a:xfrm>
          <a:prstGeom prst="ellipse">
            <a:avLst/>
          </a:prstGeom>
          <a:solidFill>
            <a:srgbClr val="156082"/>
          </a:solidFill>
          <a:ln w="12700">
            <a:solidFill>
              <a:srgbClr val="156082"/>
            </a:solidFill>
            <a:prstDash val="solid"/>
          </a:ln>
        </p:spPr>
        <p:txBody>
          <a:bodyPr/>
          <a:lstStyle/>
          <a:p>
            <a:endParaRPr lang="ja-JP" altLang="en-US"/>
          </a:p>
        </p:txBody>
      </p:sp>
      <p:sp>
        <p:nvSpPr>
          <p:cNvPr id="20" name="Text 18"/>
          <p:cNvSpPr txBox="1"/>
          <p:nvPr/>
        </p:nvSpPr>
        <p:spPr>
          <a:xfrm>
            <a:off x="1234440" y="3227832"/>
            <a:ext cx="493776" cy="493776"/>
          </a:xfrm>
          <a:prstGeom prst="rect">
            <a:avLst/>
          </a:prstGeom>
          <a:noFill/>
          <a:ln/>
        </p:spPr>
        <p:txBody>
          <a:bodyPr wrap="square" lIns="0" tIns="0" rIns="0" bIns="0" rtlCol="0" anchor="ctr"/>
          <a:lstStyle/>
          <a:p>
            <a:pPr marL="0" indent="0" algn="ctr">
              <a:buNone/>
            </a:pPr>
            <a:r>
              <a:rPr lang="en-US" sz="1800" b="1" dirty="0">
                <a:solidFill>
                  <a:srgbClr val="FFFFFF"/>
                </a:solidFill>
                <a:latin typeface="游ゴシック" pitchFamily="34" charset="0"/>
                <a:ea typeface="游ゴシック" pitchFamily="34" charset="-122"/>
                <a:cs typeface="游ゴシック" pitchFamily="34" charset="-120"/>
              </a:rPr>
              <a:t>10</a:t>
            </a:r>
            <a:endParaRPr lang="en-US" sz="1800" dirty="0"/>
          </a:p>
        </p:txBody>
      </p:sp>
      <p:sp>
        <p:nvSpPr>
          <p:cNvPr id="21" name="Text 19"/>
          <p:cNvSpPr txBox="1"/>
          <p:nvPr/>
        </p:nvSpPr>
        <p:spPr>
          <a:xfrm>
            <a:off x="1920240" y="3172968"/>
            <a:ext cx="4023360" cy="603504"/>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音の見張り  </a:t>
            </a:r>
            <a:r>
              <a:rPr lang="en-US" sz="1400" dirty="0">
                <a:solidFill>
                  <a:srgbClr val="595959"/>
                </a:solidFill>
                <a:latin typeface="Consolas" pitchFamily="34" charset="0"/>
                <a:ea typeface="Consolas" pitchFamily="34" charset="-122"/>
                <a:cs typeface="Consolas" pitchFamily="34" charset="-120"/>
              </a:rPr>
              <a:t>task_audio</a:t>
            </a:r>
            <a:endParaRPr lang="en-US" sz="2000" dirty="0"/>
          </a:p>
        </p:txBody>
      </p:sp>
      <p:sp>
        <p:nvSpPr>
          <p:cNvPr id="22" name="Text 20"/>
          <p:cNvSpPr txBox="1"/>
          <p:nvPr/>
        </p:nvSpPr>
        <p:spPr>
          <a:xfrm>
            <a:off x="5989320" y="3172968"/>
            <a:ext cx="2880360" cy="603504"/>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500 ms ごとのタイマ</a:t>
            </a:r>
            <a:endParaRPr lang="en-US" sz="1600" dirty="0"/>
          </a:p>
        </p:txBody>
      </p:sp>
      <p:sp>
        <p:nvSpPr>
          <p:cNvPr id="23" name="Text 21"/>
          <p:cNvSpPr txBox="1"/>
          <p:nvPr/>
        </p:nvSpPr>
        <p:spPr>
          <a:xfrm>
            <a:off x="8915400" y="3172968"/>
            <a:ext cx="2743200" cy="603504"/>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取りこぼしの統計を出す</a:t>
            </a:r>
            <a:endParaRPr lang="en-US" sz="1600" dirty="0"/>
          </a:p>
        </p:txBody>
      </p:sp>
      <p:sp>
        <p:nvSpPr>
          <p:cNvPr id="24" name="Shape 22"/>
          <p:cNvSpPr/>
          <p:nvPr/>
        </p:nvSpPr>
        <p:spPr>
          <a:xfrm>
            <a:off x="1097280" y="3831336"/>
            <a:ext cx="10634472" cy="603504"/>
          </a:xfrm>
          <a:prstGeom prst="rect">
            <a:avLst/>
          </a:prstGeom>
          <a:solidFill>
            <a:srgbClr val="DDF3EA"/>
          </a:solidFill>
          <a:ln w="12700">
            <a:solidFill>
              <a:srgbClr val="DDF3EA"/>
            </a:solidFill>
            <a:prstDash val="solid"/>
          </a:ln>
        </p:spPr>
        <p:txBody>
          <a:bodyPr/>
          <a:lstStyle/>
          <a:p>
            <a:endParaRPr lang="ja-JP" altLang="en-US"/>
          </a:p>
        </p:txBody>
      </p:sp>
      <p:sp>
        <p:nvSpPr>
          <p:cNvPr id="25" name="Shape 23"/>
          <p:cNvSpPr/>
          <p:nvPr/>
        </p:nvSpPr>
        <p:spPr>
          <a:xfrm>
            <a:off x="1234440" y="3886200"/>
            <a:ext cx="493776" cy="493776"/>
          </a:xfrm>
          <a:prstGeom prst="ellipse">
            <a:avLst/>
          </a:prstGeom>
          <a:solidFill>
            <a:srgbClr val="008A5E"/>
          </a:solidFill>
          <a:ln w="12700">
            <a:solidFill>
              <a:srgbClr val="008A5E"/>
            </a:solidFill>
            <a:prstDash val="solid"/>
          </a:ln>
        </p:spPr>
        <p:txBody>
          <a:bodyPr/>
          <a:lstStyle/>
          <a:p>
            <a:endParaRPr lang="ja-JP" altLang="en-US"/>
          </a:p>
        </p:txBody>
      </p:sp>
      <p:sp>
        <p:nvSpPr>
          <p:cNvPr id="26" name="Text 24"/>
          <p:cNvSpPr txBox="1"/>
          <p:nvPr/>
        </p:nvSpPr>
        <p:spPr>
          <a:xfrm>
            <a:off x="1234440" y="3886200"/>
            <a:ext cx="493776" cy="493776"/>
          </a:xfrm>
          <a:prstGeom prst="rect">
            <a:avLst/>
          </a:prstGeom>
          <a:noFill/>
          <a:ln/>
        </p:spPr>
        <p:txBody>
          <a:bodyPr wrap="square" lIns="0" tIns="0" rIns="0" bIns="0" rtlCol="0" anchor="ctr"/>
          <a:lstStyle/>
          <a:p>
            <a:pPr marL="0" indent="0" algn="ctr">
              <a:buNone/>
            </a:pPr>
            <a:r>
              <a:rPr lang="en-US" sz="1800" b="1" dirty="0">
                <a:solidFill>
                  <a:srgbClr val="FFFFFF"/>
                </a:solidFill>
                <a:latin typeface="游ゴシック" pitchFamily="34" charset="0"/>
                <a:ea typeface="游ゴシック" pitchFamily="34" charset="-122"/>
                <a:cs typeface="游ゴシック" pitchFamily="34" charset="-120"/>
              </a:rPr>
              <a:t>15</a:t>
            </a:r>
            <a:endParaRPr lang="en-US" sz="1800" dirty="0"/>
          </a:p>
        </p:txBody>
      </p:sp>
      <p:sp>
        <p:nvSpPr>
          <p:cNvPr id="27" name="Text 25"/>
          <p:cNvSpPr txBox="1"/>
          <p:nvPr/>
        </p:nvSpPr>
        <p:spPr>
          <a:xfrm>
            <a:off x="1920240" y="3831336"/>
            <a:ext cx="4023360" cy="603504"/>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推論  </a:t>
            </a:r>
            <a:r>
              <a:rPr lang="en-US" sz="1400" dirty="0">
                <a:solidFill>
                  <a:srgbClr val="595959"/>
                </a:solidFill>
                <a:latin typeface="Consolas" pitchFamily="34" charset="0"/>
                <a:ea typeface="Consolas" pitchFamily="34" charset="-122"/>
                <a:cs typeface="Consolas" pitchFamily="34" charset="-120"/>
              </a:rPr>
              <a:t>task_infer</a:t>
            </a:r>
            <a:endParaRPr lang="en-US" sz="2000" dirty="0"/>
          </a:p>
        </p:txBody>
      </p:sp>
      <p:sp>
        <p:nvSpPr>
          <p:cNvPr id="28" name="Text 26"/>
          <p:cNvSpPr txBox="1"/>
          <p:nvPr/>
        </p:nvSpPr>
        <p:spPr>
          <a:xfrm>
            <a:off x="5989320" y="3831336"/>
            <a:ext cx="2880360" cy="603504"/>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窓が揃ったら</a:t>
            </a:r>
            <a:endParaRPr lang="en-US" sz="1600" dirty="0"/>
          </a:p>
        </p:txBody>
      </p:sp>
      <p:sp>
        <p:nvSpPr>
          <p:cNvPr id="29" name="Text 27"/>
          <p:cNvSpPr txBox="1"/>
          <p:nvPr/>
        </p:nvSpPr>
        <p:spPr>
          <a:xfrm>
            <a:off x="8915400" y="3831336"/>
            <a:ext cx="2743200" cy="603504"/>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960 ms ごとに 112 ms</a:t>
            </a:r>
            <a:endParaRPr lang="en-US" sz="1600" dirty="0"/>
          </a:p>
        </p:txBody>
      </p:sp>
      <p:sp>
        <p:nvSpPr>
          <p:cNvPr id="30" name="Shape 28"/>
          <p:cNvSpPr/>
          <p:nvPr/>
        </p:nvSpPr>
        <p:spPr>
          <a:xfrm>
            <a:off x="1097280" y="4489704"/>
            <a:ext cx="10634472" cy="603504"/>
          </a:xfrm>
          <a:prstGeom prst="rect">
            <a:avLst/>
          </a:prstGeom>
          <a:solidFill>
            <a:srgbClr val="FBE9D3"/>
          </a:solidFill>
          <a:ln w="12700">
            <a:solidFill>
              <a:srgbClr val="FBE9D3"/>
            </a:solidFill>
            <a:prstDash val="solid"/>
          </a:ln>
        </p:spPr>
        <p:txBody>
          <a:bodyPr/>
          <a:lstStyle/>
          <a:p>
            <a:endParaRPr lang="ja-JP" altLang="en-US"/>
          </a:p>
        </p:txBody>
      </p:sp>
      <p:sp>
        <p:nvSpPr>
          <p:cNvPr id="31" name="Shape 29"/>
          <p:cNvSpPr/>
          <p:nvPr/>
        </p:nvSpPr>
        <p:spPr>
          <a:xfrm>
            <a:off x="1234440" y="4544568"/>
            <a:ext cx="493776" cy="493776"/>
          </a:xfrm>
          <a:prstGeom prst="ellipse">
            <a:avLst/>
          </a:prstGeom>
          <a:solidFill>
            <a:srgbClr val="E07B00"/>
          </a:solidFill>
          <a:ln w="12700">
            <a:solidFill>
              <a:srgbClr val="E07B00"/>
            </a:solidFill>
            <a:prstDash val="solid"/>
          </a:ln>
        </p:spPr>
        <p:txBody>
          <a:bodyPr/>
          <a:lstStyle/>
          <a:p>
            <a:endParaRPr lang="ja-JP" altLang="en-US"/>
          </a:p>
        </p:txBody>
      </p:sp>
      <p:sp>
        <p:nvSpPr>
          <p:cNvPr id="32" name="Text 30"/>
          <p:cNvSpPr txBox="1"/>
          <p:nvPr/>
        </p:nvSpPr>
        <p:spPr>
          <a:xfrm>
            <a:off x="1234440" y="4544568"/>
            <a:ext cx="493776" cy="493776"/>
          </a:xfrm>
          <a:prstGeom prst="rect">
            <a:avLst/>
          </a:prstGeom>
          <a:noFill/>
          <a:ln/>
        </p:spPr>
        <p:txBody>
          <a:bodyPr wrap="square" lIns="0" tIns="0" rIns="0" bIns="0" rtlCol="0" anchor="ctr"/>
          <a:lstStyle/>
          <a:p>
            <a:pPr marL="0" indent="0" algn="ctr">
              <a:buNone/>
            </a:pPr>
            <a:r>
              <a:rPr lang="en-US" sz="1800" b="1" dirty="0">
                <a:solidFill>
                  <a:srgbClr val="FFFFFF"/>
                </a:solidFill>
                <a:latin typeface="游ゴシック" pitchFamily="34" charset="0"/>
                <a:ea typeface="游ゴシック" pitchFamily="34" charset="-122"/>
                <a:cs typeface="游ゴシック" pitchFamily="34" charset="-120"/>
              </a:rPr>
              <a:t>20</a:t>
            </a:r>
            <a:endParaRPr lang="en-US" sz="1800" dirty="0"/>
          </a:p>
        </p:txBody>
      </p:sp>
      <p:sp>
        <p:nvSpPr>
          <p:cNvPr id="33" name="Text 31"/>
          <p:cNvSpPr txBox="1"/>
          <p:nvPr/>
        </p:nvSpPr>
        <p:spPr>
          <a:xfrm>
            <a:off x="1920240" y="4489704"/>
            <a:ext cx="4023360" cy="603504"/>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ログ書き出し  </a:t>
            </a:r>
            <a:r>
              <a:rPr lang="en-US" sz="1400" dirty="0">
                <a:solidFill>
                  <a:srgbClr val="595959"/>
                </a:solidFill>
                <a:latin typeface="Consolas" pitchFamily="34" charset="0"/>
                <a:ea typeface="Consolas" pitchFamily="34" charset="-122"/>
                <a:cs typeface="Consolas" pitchFamily="34" charset="-120"/>
              </a:rPr>
              <a:t>reporter</a:t>
            </a:r>
            <a:endParaRPr lang="en-US" sz="2000" dirty="0"/>
          </a:p>
        </p:txBody>
      </p:sp>
      <p:sp>
        <p:nvSpPr>
          <p:cNvPr id="34" name="Text 32"/>
          <p:cNvSpPr txBox="1"/>
          <p:nvPr/>
        </p:nvSpPr>
        <p:spPr>
          <a:xfrm>
            <a:off x="5989320" y="4489704"/>
            <a:ext cx="2880360" cy="603504"/>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ログが届いたら</a:t>
            </a:r>
            <a:endParaRPr lang="en-US" sz="1600" dirty="0"/>
          </a:p>
        </p:txBody>
      </p:sp>
      <p:sp>
        <p:nvSpPr>
          <p:cNvPr id="35" name="Text 33"/>
          <p:cNvSpPr txBox="1"/>
          <p:nvPr/>
        </p:nvSpPr>
        <p:spPr>
          <a:xfrm>
            <a:off x="8915400" y="4489704"/>
            <a:ext cx="2743200" cy="603504"/>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UART に書くのはここだけ</a:t>
            </a:r>
            <a:endParaRPr lang="en-US" sz="1600" dirty="0"/>
          </a:p>
        </p:txBody>
      </p:sp>
      <p:sp>
        <p:nvSpPr>
          <p:cNvPr id="36" name="Shape 34"/>
          <p:cNvSpPr/>
          <p:nvPr/>
        </p:nvSpPr>
        <p:spPr>
          <a:xfrm>
            <a:off x="1097280" y="5148072"/>
            <a:ext cx="10634472" cy="603504"/>
          </a:xfrm>
          <a:prstGeom prst="rect">
            <a:avLst/>
          </a:prstGeom>
          <a:solidFill>
            <a:srgbClr val="FBE9D3"/>
          </a:solidFill>
          <a:ln w="12700">
            <a:solidFill>
              <a:srgbClr val="FBE9D3"/>
            </a:solidFill>
            <a:prstDash val="solid"/>
          </a:ln>
        </p:spPr>
        <p:txBody>
          <a:bodyPr/>
          <a:lstStyle/>
          <a:p>
            <a:endParaRPr lang="ja-JP" altLang="en-US"/>
          </a:p>
        </p:txBody>
      </p:sp>
      <p:sp>
        <p:nvSpPr>
          <p:cNvPr id="37" name="Shape 35"/>
          <p:cNvSpPr/>
          <p:nvPr/>
        </p:nvSpPr>
        <p:spPr>
          <a:xfrm>
            <a:off x="1234440" y="5202936"/>
            <a:ext cx="493776" cy="493776"/>
          </a:xfrm>
          <a:prstGeom prst="ellipse">
            <a:avLst/>
          </a:prstGeom>
          <a:solidFill>
            <a:srgbClr val="FFC000"/>
          </a:solidFill>
          <a:ln w="12700">
            <a:solidFill>
              <a:srgbClr val="FFC000"/>
            </a:solidFill>
            <a:prstDash val="solid"/>
          </a:ln>
        </p:spPr>
        <p:txBody>
          <a:bodyPr/>
          <a:lstStyle/>
          <a:p>
            <a:endParaRPr lang="ja-JP" altLang="en-US"/>
          </a:p>
        </p:txBody>
      </p:sp>
      <p:sp>
        <p:nvSpPr>
          <p:cNvPr id="38" name="Text 36"/>
          <p:cNvSpPr txBox="1"/>
          <p:nvPr/>
        </p:nvSpPr>
        <p:spPr>
          <a:xfrm>
            <a:off x="1226696" y="5230368"/>
            <a:ext cx="493776" cy="493776"/>
          </a:xfrm>
          <a:prstGeom prst="rect">
            <a:avLst/>
          </a:prstGeom>
          <a:noFill/>
          <a:ln/>
        </p:spPr>
        <p:txBody>
          <a:bodyPr wrap="square" lIns="0" tIns="0" rIns="0" bIns="0" rtlCol="0" anchor="ctr"/>
          <a:lstStyle/>
          <a:p>
            <a:pPr marL="0" indent="0" algn="ctr">
              <a:buNone/>
            </a:pPr>
            <a:r>
              <a:rPr lang="en-US" sz="1800" b="1" dirty="0">
                <a:solidFill>
                  <a:srgbClr val="FFFFFF"/>
                </a:solidFill>
                <a:latin typeface="游ゴシック" pitchFamily="34" charset="0"/>
                <a:ea typeface="游ゴシック" pitchFamily="34" charset="-122"/>
                <a:cs typeface="游ゴシック" pitchFamily="34" charset="-120"/>
              </a:rPr>
              <a:t>25</a:t>
            </a:r>
            <a:endParaRPr lang="en-US" sz="1800" dirty="0"/>
          </a:p>
        </p:txBody>
      </p:sp>
      <p:sp>
        <p:nvSpPr>
          <p:cNvPr id="39" name="Text 37"/>
          <p:cNvSpPr txBox="1"/>
          <p:nvPr/>
        </p:nvSpPr>
        <p:spPr>
          <a:xfrm>
            <a:off x="1920240" y="5148072"/>
            <a:ext cx="4023360" cy="603504"/>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画面  </a:t>
            </a:r>
            <a:r>
              <a:rPr lang="en-US" sz="1400" dirty="0">
                <a:solidFill>
                  <a:srgbClr val="595959"/>
                </a:solidFill>
                <a:latin typeface="Consolas" pitchFamily="34" charset="0"/>
                <a:ea typeface="Consolas" pitchFamily="34" charset="-122"/>
                <a:cs typeface="Consolas" pitchFamily="34" charset="-120"/>
              </a:rPr>
              <a:t>task_lcd</a:t>
            </a:r>
            <a:endParaRPr lang="en-US" sz="2000" dirty="0"/>
          </a:p>
        </p:txBody>
      </p:sp>
      <p:sp>
        <p:nvSpPr>
          <p:cNvPr id="40" name="Text 38"/>
          <p:cNvSpPr txBox="1"/>
          <p:nvPr/>
        </p:nvSpPr>
        <p:spPr>
          <a:xfrm>
            <a:off x="5989320" y="5148072"/>
            <a:ext cx="2880360" cy="603504"/>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通知が届いたら</a:t>
            </a:r>
            <a:endParaRPr lang="en-US" sz="1600" dirty="0"/>
          </a:p>
        </p:txBody>
      </p:sp>
      <p:sp>
        <p:nvSpPr>
          <p:cNvPr id="41" name="Text 39"/>
          <p:cNvSpPr txBox="1"/>
          <p:nvPr/>
        </p:nvSpPr>
        <p:spPr>
          <a:xfrm>
            <a:off x="8915400" y="5148072"/>
            <a:ext cx="2743200" cy="603504"/>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通知のときだけ</a:t>
            </a:r>
            <a:endParaRPr lang="en-US" sz="1600" dirty="0"/>
          </a:p>
        </p:txBody>
      </p:sp>
      <p:sp>
        <p:nvSpPr>
          <p:cNvPr id="42" name="Shape 40"/>
          <p:cNvSpPr/>
          <p:nvPr/>
        </p:nvSpPr>
        <p:spPr>
          <a:xfrm>
            <a:off x="1097280" y="5852160"/>
            <a:ext cx="10634472" cy="685800"/>
          </a:xfrm>
          <a:prstGeom prst="rect">
            <a:avLst/>
          </a:prstGeom>
          <a:solidFill>
            <a:srgbClr val="F2F2F2"/>
          </a:solidFill>
          <a:ln w="12700">
            <a:solidFill>
              <a:srgbClr val="BFBFBF"/>
            </a:solidFill>
            <a:prstDash val="solid"/>
          </a:ln>
        </p:spPr>
        <p:txBody>
          <a:bodyPr/>
          <a:lstStyle/>
          <a:p>
            <a:endParaRPr lang="ja-JP" altLang="en-US"/>
          </a:p>
        </p:txBody>
      </p:sp>
      <p:sp>
        <p:nvSpPr>
          <p:cNvPr id="43" name="Text 41"/>
          <p:cNvSpPr txBox="1"/>
          <p:nvPr/>
        </p:nvSpPr>
        <p:spPr>
          <a:xfrm>
            <a:off x="1280160" y="5852160"/>
            <a:ext cx="10332720" cy="685800"/>
          </a:xfrm>
          <a:prstGeom prst="rect">
            <a:avLst/>
          </a:prstGeom>
          <a:noFill/>
          <a:ln/>
        </p:spPr>
        <p:txBody>
          <a:bodyPr wrap="square" lIns="0" tIns="0" rIns="0" bIns="0" rtlCol="0" anchor="ctr"/>
          <a:lstStyle/>
          <a:p>
            <a:pPr marL="0" indent="0">
              <a:buNone/>
            </a:pPr>
            <a:r>
              <a:rPr lang="en-US" sz="1500" b="1" dirty="0">
                <a:solidFill>
                  <a:srgbClr val="156082"/>
                </a:solidFill>
                <a:latin typeface="游ゴシック" pitchFamily="34" charset="0"/>
                <a:ea typeface="游ゴシック" pitchFamily="34" charset="-122"/>
                <a:cs typeface="游ゴシック" pitchFamily="34" charset="-120"/>
              </a:rPr>
              <a:t>その他　</a:t>
            </a:r>
            <a:r>
              <a:rPr lang="en-US" sz="1500" dirty="0">
                <a:solidFill>
                  <a:srgbClr val="000000"/>
                </a:solidFill>
                <a:latin typeface="游ゴシック" pitchFamily="34" charset="0"/>
                <a:ea typeface="游ゴシック" pitchFamily="34" charset="-122"/>
                <a:cs typeface="游ゴシック" pitchFamily="34" charset="-120"/>
              </a:rPr>
              <a:t>生存表示 task_1（10）：緑 LED を 500 ms で点滅　／　トレース出力 dump（32）</a:t>
            </a:r>
            <a:endParaRPr lang="en-US" sz="1500" dirty="0"/>
          </a:p>
          <a:p>
            <a:pPr marL="0" indent="0">
              <a:buNone/>
            </a:pPr>
            <a:r>
              <a:rPr lang="en-US" sz="1500" dirty="0">
                <a:solidFill>
                  <a:srgbClr val="000000"/>
                </a:solidFill>
                <a:latin typeface="游ゴシック" pitchFamily="34" charset="0"/>
                <a:ea typeface="游ゴシック" pitchFamily="34" charset="-122"/>
                <a:cs typeface="游ゴシック" pitchFamily="34" charset="-120"/>
              </a:rPr>
              <a:t>　　　　周期ハンドラ：1 秒ごとに統計を 1 行　／　アラームハンドラ：LED を 1 秒後に消す</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2-2　μT-Kernel の機能でつなぐ</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t"/>
          <a:lstStyle/>
          <a:p>
            <a:pPr marL="0" indent="0">
              <a:buNone/>
            </a:pPr>
            <a:r>
              <a:rPr lang="en-US" sz="2800" b="1" dirty="0" err="1">
                <a:latin typeface="游ゴシック" pitchFamily="34" charset="0"/>
                <a:ea typeface="游ゴシック" pitchFamily="34" charset="-122"/>
                <a:cs typeface="游ゴシック" pitchFamily="34" charset="-120"/>
              </a:rPr>
              <a:t>割込みはフラグで起こし、下流へは待たずに渡す</a:t>
            </a:r>
            <a:r>
              <a:rPr lang="en-US" sz="2800" b="1" dirty="0">
                <a:latin typeface="游ゴシック" pitchFamily="34" charset="0"/>
                <a:ea typeface="游ゴシック" pitchFamily="34" charset="-122"/>
                <a:cs typeface="游ゴシック" pitchFamily="34" charset="-120"/>
              </a:rPr>
              <a:t>。</a:t>
            </a:r>
          </a:p>
          <a:p>
            <a:pPr marL="0" indent="0">
              <a:buNone/>
            </a:pPr>
            <a:r>
              <a:rPr lang="en-US" sz="2000" b="1" dirty="0" err="1">
                <a:latin typeface="游ゴシック" pitchFamily="34" charset="0"/>
                <a:ea typeface="游ゴシック" pitchFamily="34" charset="-122"/>
                <a:cs typeface="游ゴシック" pitchFamily="34" charset="-120"/>
              </a:rPr>
              <a:t>下の仕事は上の仕事を止められない</a:t>
            </a:r>
            <a:endParaRPr lang="en-US" sz="2000" dirty="0"/>
          </a:p>
        </p:txBody>
      </p:sp>
      <p:sp>
        <p:nvSpPr>
          <p:cNvPr id="5" name="Shape 3"/>
          <p:cNvSpPr/>
          <p:nvPr/>
        </p:nvSpPr>
        <p:spPr>
          <a:xfrm>
            <a:off x="457200" y="2697480"/>
            <a:ext cx="1554480" cy="1005840"/>
          </a:xfrm>
          <a:prstGeom prst="rect">
            <a:avLst/>
          </a:prstGeom>
          <a:solidFill>
            <a:srgbClr val="F2F2F2"/>
          </a:solidFill>
          <a:ln w="19050">
            <a:solidFill>
              <a:srgbClr val="7F7F7F"/>
            </a:solidFill>
            <a:prstDash val="solid"/>
          </a:ln>
        </p:spPr>
        <p:txBody>
          <a:bodyPr/>
          <a:lstStyle/>
          <a:p>
            <a:endParaRPr lang="ja-JP" altLang="en-US"/>
          </a:p>
        </p:txBody>
      </p:sp>
      <p:sp>
        <p:nvSpPr>
          <p:cNvPr id="6" name="Text 4"/>
          <p:cNvSpPr txBox="1"/>
          <p:nvPr/>
        </p:nvSpPr>
        <p:spPr>
          <a:xfrm>
            <a:off x="530352" y="2697480"/>
            <a:ext cx="1408176" cy="1005840"/>
          </a:xfrm>
          <a:prstGeom prst="rect">
            <a:avLst/>
          </a:prstGeom>
          <a:noFill/>
          <a:ln/>
        </p:spPr>
        <p:txBody>
          <a:bodyPr wrap="square" lIns="0" tIns="0" rIns="0" bIns="0" rtlCol="0" anchor="ctr"/>
          <a:lstStyle/>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DMA 割込み</a:t>
            </a:r>
            <a:endParaRPr lang="en-US" sz="1700" dirty="0"/>
          </a:p>
        </p:txBody>
      </p:sp>
      <p:sp>
        <p:nvSpPr>
          <p:cNvPr id="7" name="Shape 5"/>
          <p:cNvSpPr/>
          <p:nvPr/>
        </p:nvSpPr>
        <p:spPr>
          <a:xfrm>
            <a:off x="2697480" y="2697480"/>
            <a:ext cx="1737360" cy="1005840"/>
          </a:xfrm>
          <a:prstGeom prst="rect">
            <a:avLst/>
          </a:prstGeom>
          <a:solidFill>
            <a:srgbClr val="DDEBF3"/>
          </a:solidFill>
          <a:ln w="19050">
            <a:solidFill>
              <a:srgbClr val="156082"/>
            </a:solidFill>
            <a:prstDash val="solid"/>
          </a:ln>
        </p:spPr>
        <p:txBody>
          <a:bodyPr/>
          <a:lstStyle/>
          <a:p>
            <a:endParaRPr lang="ja-JP" altLang="en-US"/>
          </a:p>
        </p:txBody>
      </p:sp>
      <p:sp>
        <p:nvSpPr>
          <p:cNvPr id="8" name="Text 6"/>
          <p:cNvSpPr txBox="1"/>
          <p:nvPr/>
        </p:nvSpPr>
        <p:spPr>
          <a:xfrm>
            <a:off x="2770632" y="2697480"/>
            <a:ext cx="1591056" cy="1005840"/>
          </a:xfrm>
          <a:prstGeom prst="rect">
            <a:avLst/>
          </a:prstGeom>
          <a:noFill/>
          <a:ln/>
        </p:spPr>
        <p:txBody>
          <a:bodyPr wrap="square" lIns="0" tIns="0" rIns="0" bIns="0" rtlCol="0" anchor="ctr"/>
          <a:lstStyle/>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音の取り込み</a:t>
            </a:r>
            <a:endParaRPr lang="en-US" sz="1700" dirty="0"/>
          </a:p>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優先度 5</a:t>
            </a:r>
            <a:endParaRPr lang="en-US" sz="1700" dirty="0"/>
          </a:p>
        </p:txBody>
      </p:sp>
      <p:sp>
        <p:nvSpPr>
          <p:cNvPr id="9" name="Shape 7"/>
          <p:cNvSpPr/>
          <p:nvPr/>
        </p:nvSpPr>
        <p:spPr>
          <a:xfrm>
            <a:off x="5120640" y="2697480"/>
            <a:ext cx="1737360" cy="1005840"/>
          </a:xfrm>
          <a:prstGeom prst="rect">
            <a:avLst/>
          </a:prstGeom>
          <a:solidFill>
            <a:srgbClr val="F2F2F2"/>
          </a:solidFill>
          <a:ln w="19050">
            <a:solidFill>
              <a:srgbClr val="A6A6A6"/>
            </a:solidFill>
            <a:prstDash val="solid"/>
          </a:ln>
        </p:spPr>
        <p:txBody>
          <a:bodyPr/>
          <a:lstStyle/>
          <a:p>
            <a:endParaRPr lang="ja-JP" altLang="en-US"/>
          </a:p>
        </p:txBody>
      </p:sp>
      <p:sp>
        <p:nvSpPr>
          <p:cNvPr id="10" name="Text 8"/>
          <p:cNvSpPr txBox="1"/>
          <p:nvPr/>
        </p:nvSpPr>
        <p:spPr>
          <a:xfrm>
            <a:off x="5193792" y="2697480"/>
            <a:ext cx="1591056" cy="1005840"/>
          </a:xfrm>
          <a:prstGeom prst="rect">
            <a:avLst/>
          </a:prstGeom>
          <a:noFill/>
          <a:ln/>
        </p:spPr>
        <p:txBody>
          <a:bodyPr wrap="square" lIns="0" tIns="0" rIns="0" bIns="0" rtlCol="0" anchor="ctr"/>
          <a:lstStyle/>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窓リング</a:t>
            </a:r>
            <a:endParaRPr lang="en-US" sz="1700" dirty="0"/>
          </a:p>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約 2 秒ぶん</a:t>
            </a:r>
            <a:endParaRPr lang="en-US" sz="1700" dirty="0"/>
          </a:p>
        </p:txBody>
      </p:sp>
      <p:sp>
        <p:nvSpPr>
          <p:cNvPr id="11" name="Shape 9"/>
          <p:cNvSpPr/>
          <p:nvPr/>
        </p:nvSpPr>
        <p:spPr>
          <a:xfrm>
            <a:off x="7543800" y="2697480"/>
            <a:ext cx="1737360" cy="1005840"/>
          </a:xfrm>
          <a:prstGeom prst="rect">
            <a:avLst/>
          </a:prstGeom>
          <a:solidFill>
            <a:srgbClr val="DDF3EA"/>
          </a:solidFill>
          <a:ln w="19050">
            <a:solidFill>
              <a:srgbClr val="008A5E"/>
            </a:solidFill>
            <a:prstDash val="solid"/>
          </a:ln>
        </p:spPr>
        <p:txBody>
          <a:bodyPr/>
          <a:lstStyle/>
          <a:p>
            <a:endParaRPr lang="ja-JP" altLang="en-US"/>
          </a:p>
        </p:txBody>
      </p:sp>
      <p:sp>
        <p:nvSpPr>
          <p:cNvPr id="12" name="Text 10"/>
          <p:cNvSpPr txBox="1"/>
          <p:nvPr/>
        </p:nvSpPr>
        <p:spPr>
          <a:xfrm>
            <a:off x="7616952" y="2697480"/>
            <a:ext cx="1591056" cy="1005840"/>
          </a:xfrm>
          <a:prstGeom prst="rect">
            <a:avLst/>
          </a:prstGeom>
          <a:noFill/>
          <a:ln/>
        </p:spPr>
        <p:txBody>
          <a:bodyPr wrap="square" lIns="0" tIns="0" rIns="0" bIns="0" rtlCol="0" anchor="ctr"/>
          <a:lstStyle/>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推論</a:t>
            </a:r>
            <a:endParaRPr lang="en-US" sz="1700" dirty="0"/>
          </a:p>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優先度 15</a:t>
            </a:r>
            <a:endParaRPr lang="en-US" sz="1700" dirty="0"/>
          </a:p>
        </p:txBody>
      </p:sp>
      <p:sp>
        <p:nvSpPr>
          <p:cNvPr id="13" name="Shape 11"/>
          <p:cNvSpPr/>
          <p:nvPr/>
        </p:nvSpPr>
        <p:spPr>
          <a:xfrm>
            <a:off x="9966960" y="2697480"/>
            <a:ext cx="1764792" cy="457200"/>
          </a:xfrm>
          <a:prstGeom prst="rect">
            <a:avLst/>
          </a:prstGeom>
          <a:solidFill>
            <a:srgbClr val="FBE9D3"/>
          </a:solidFill>
          <a:ln w="19050">
            <a:solidFill>
              <a:srgbClr val="E07B00"/>
            </a:solidFill>
            <a:prstDash val="solid"/>
          </a:ln>
        </p:spPr>
        <p:txBody>
          <a:bodyPr/>
          <a:lstStyle/>
          <a:p>
            <a:endParaRPr lang="ja-JP" altLang="en-US"/>
          </a:p>
        </p:txBody>
      </p:sp>
      <p:sp>
        <p:nvSpPr>
          <p:cNvPr id="14" name="Text 12"/>
          <p:cNvSpPr txBox="1"/>
          <p:nvPr/>
        </p:nvSpPr>
        <p:spPr>
          <a:xfrm>
            <a:off x="10040112" y="2697480"/>
            <a:ext cx="1618488" cy="457200"/>
          </a:xfrm>
          <a:prstGeom prst="rect">
            <a:avLst/>
          </a:prstGeom>
          <a:noFill/>
          <a:ln/>
        </p:spPr>
        <p:txBody>
          <a:bodyPr wrap="square" lIns="0" tIns="0" rIns="0" bIns="0" rtlCol="0" anchor="ctr"/>
          <a:lstStyle/>
          <a:p>
            <a:pPr marL="0" indent="0" algn="ctr">
              <a:buNone/>
            </a:pPr>
            <a:r>
              <a:rPr lang="en-US" sz="1500" b="1" dirty="0">
                <a:solidFill>
                  <a:srgbClr val="000000"/>
                </a:solidFill>
                <a:latin typeface="游ゴシック" pitchFamily="34" charset="0"/>
                <a:ea typeface="游ゴシック" pitchFamily="34" charset="-122"/>
                <a:cs typeface="游ゴシック" pitchFamily="34" charset="-120"/>
              </a:rPr>
              <a:t>ログ　優先度 20</a:t>
            </a:r>
            <a:endParaRPr lang="en-US" sz="1500" dirty="0"/>
          </a:p>
        </p:txBody>
      </p:sp>
      <p:sp>
        <p:nvSpPr>
          <p:cNvPr id="15" name="Shape 13"/>
          <p:cNvSpPr/>
          <p:nvPr/>
        </p:nvSpPr>
        <p:spPr>
          <a:xfrm>
            <a:off x="9966960" y="3246120"/>
            <a:ext cx="1764792" cy="457200"/>
          </a:xfrm>
          <a:prstGeom prst="rect">
            <a:avLst/>
          </a:prstGeom>
          <a:solidFill>
            <a:srgbClr val="FBE9D3"/>
          </a:solidFill>
          <a:ln w="19050">
            <a:solidFill>
              <a:srgbClr val="E07B00"/>
            </a:solidFill>
            <a:prstDash val="solid"/>
          </a:ln>
        </p:spPr>
        <p:txBody>
          <a:bodyPr/>
          <a:lstStyle/>
          <a:p>
            <a:endParaRPr lang="ja-JP" altLang="en-US"/>
          </a:p>
        </p:txBody>
      </p:sp>
      <p:sp>
        <p:nvSpPr>
          <p:cNvPr id="16" name="Text 14"/>
          <p:cNvSpPr txBox="1"/>
          <p:nvPr/>
        </p:nvSpPr>
        <p:spPr>
          <a:xfrm>
            <a:off x="10040112" y="3246120"/>
            <a:ext cx="1618488" cy="457200"/>
          </a:xfrm>
          <a:prstGeom prst="rect">
            <a:avLst/>
          </a:prstGeom>
          <a:noFill/>
          <a:ln/>
        </p:spPr>
        <p:txBody>
          <a:bodyPr wrap="square" lIns="0" tIns="0" rIns="0" bIns="0" rtlCol="0" anchor="ctr"/>
          <a:lstStyle/>
          <a:p>
            <a:pPr marL="0" indent="0" algn="ctr">
              <a:buNone/>
            </a:pPr>
            <a:r>
              <a:rPr lang="en-US" sz="1500" b="1" dirty="0">
                <a:solidFill>
                  <a:srgbClr val="000000"/>
                </a:solidFill>
                <a:latin typeface="游ゴシック" pitchFamily="34" charset="0"/>
                <a:ea typeface="游ゴシック" pitchFamily="34" charset="-122"/>
                <a:cs typeface="游ゴシック" pitchFamily="34" charset="-120"/>
              </a:rPr>
              <a:t>画面　優先度 25</a:t>
            </a:r>
            <a:endParaRPr lang="en-US" sz="1500" dirty="0"/>
          </a:p>
        </p:txBody>
      </p:sp>
      <p:sp>
        <p:nvSpPr>
          <p:cNvPr id="17" name="Shape 15"/>
          <p:cNvSpPr/>
          <p:nvPr/>
        </p:nvSpPr>
        <p:spPr>
          <a:xfrm>
            <a:off x="2057400" y="3063240"/>
            <a:ext cx="594360" cy="274320"/>
          </a:xfrm>
          <a:prstGeom prst="rightArrow">
            <a:avLst/>
          </a:prstGeom>
          <a:solidFill>
            <a:srgbClr val="156082"/>
          </a:solidFill>
          <a:ln w="12700">
            <a:solidFill>
              <a:srgbClr val="156082"/>
            </a:solidFill>
            <a:prstDash val="solid"/>
          </a:ln>
        </p:spPr>
        <p:txBody>
          <a:bodyPr/>
          <a:lstStyle/>
          <a:p>
            <a:endParaRPr lang="ja-JP" altLang="en-US"/>
          </a:p>
        </p:txBody>
      </p:sp>
      <p:sp>
        <p:nvSpPr>
          <p:cNvPr id="18" name="Text 16"/>
          <p:cNvSpPr txBox="1"/>
          <p:nvPr/>
        </p:nvSpPr>
        <p:spPr>
          <a:xfrm>
            <a:off x="1645920" y="2148840"/>
            <a:ext cx="1417320" cy="502920"/>
          </a:xfrm>
          <a:prstGeom prst="rect">
            <a:avLst/>
          </a:prstGeom>
          <a:noFill/>
          <a:ln/>
        </p:spPr>
        <p:txBody>
          <a:bodyPr wrap="square" lIns="0" tIns="0" rIns="0" bIns="0" rtlCol="0" anchor="b"/>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イベント</a:t>
            </a:r>
            <a:endParaRPr lang="en-US" sz="1400" dirty="0"/>
          </a:p>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フラグ</a:t>
            </a:r>
            <a:endParaRPr lang="en-US" sz="1400" dirty="0"/>
          </a:p>
        </p:txBody>
      </p:sp>
      <p:sp>
        <p:nvSpPr>
          <p:cNvPr id="19" name="Shape 17"/>
          <p:cNvSpPr/>
          <p:nvPr/>
        </p:nvSpPr>
        <p:spPr>
          <a:xfrm>
            <a:off x="4480560" y="3063240"/>
            <a:ext cx="594360" cy="274320"/>
          </a:xfrm>
          <a:prstGeom prst="rightArrow">
            <a:avLst/>
          </a:prstGeom>
          <a:solidFill>
            <a:srgbClr val="156082"/>
          </a:solidFill>
          <a:ln w="12700">
            <a:solidFill>
              <a:srgbClr val="156082"/>
            </a:solidFill>
            <a:prstDash val="solid"/>
          </a:ln>
        </p:spPr>
        <p:txBody>
          <a:bodyPr/>
          <a:lstStyle/>
          <a:p>
            <a:endParaRPr lang="ja-JP" altLang="en-US"/>
          </a:p>
        </p:txBody>
      </p:sp>
      <p:sp>
        <p:nvSpPr>
          <p:cNvPr id="20" name="Text 18"/>
          <p:cNvSpPr txBox="1"/>
          <p:nvPr/>
        </p:nvSpPr>
        <p:spPr>
          <a:xfrm>
            <a:off x="4069080" y="2148840"/>
            <a:ext cx="1417320" cy="502920"/>
          </a:xfrm>
          <a:prstGeom prst="rect">
            <a:avLst/>
          </a:prstGeom>
          <a:noFill/>
          <a:ln/>
        </p:spPr>
        <p:txBody>
          <a:bodyPr wrap="square" lIns="0" tIns="0" rIns="0" bIns="0" rtlCol="0" anchor="b"/>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書き込み</a:t>
            </a:r>
            <a:endParaRPr lang="en-US" sz="1400" dirty="0"/>
          </a:p>
        </p:txBody>
      </p:sp>
      <p:sp>
        <p:nvSpPr>
          <p:cNvPr id="21" name="Shape 19"/>
          <p:cNvSpPr/>
          <p:nvPr/>
        </p:nvSpPr>
        <p:spPr>
          <a:xfrm>
            <a:off x="6903720" y="3063240"/>
            <a:ext cx="594360" cy="274320"/>
          </a:xfrm>
          <a:prstGeom prst="rightArrow">
            <a:avLst/>
          </a:prstGeom>
          <a:solidFill>
            <a:srgbClr val="156082"/>
          </a:solidFill>
          <a:ln w="12700">
            <a:solidFill>
              <a:srgbClr val="156082"/>
            </a:solidFill>
            <a:prstDash val="solid"/>
          </a:ln>
        </p:spPr>
        <p:txBody>
          <a:bodyPr/>
          <a:lstStyle/>
          <a:p>
            <a:endParaRPr lang="ja-JP" altLang="en-US"/>
          </a:p>
        </p:txBody>
      </p:sp>
      <p:sp>
        <p:nvSpPr>
          <p:cNvPr id="22" name="Text 20"/>
          <p:cNvSpPr txBox="1"/>
          <p:nvPr/>
        </p:nvSpPr>
        <p:spPr>
          <a:xfrm>
            <a:off x="6492240" y="2148840"/>
            <a:ext cx="1417320" cy="502920"/>
          </a:xfrm>
          <a:prstGeom prst="rect">
            <a:avLst/>
          </a:prstGeom>
          <a:noFill/>
          <a:ln/>
        </p:spPr>
        <p:txBody>
          <a:bodyPr wrap="square" lIns="0" tIns="0" rIns="0" bIns="0" rtlCol="0" anchor="b"/>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セマフォ</a:t>
            </a:r>
            <a:endParaRPr lang="en-US" sz="1400" dirty="0"/>
          </a:p>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窓がそろった</a:t>
            </a:r>
            <a:endParaRPr lang="en-US" sz="1400" dirty="0"/>
          </a:p>
        </p:txBody>
      </p:sp>
      <p:sp>
        <p:nvSpPr>
          <p:cNvPr id="23" name="Shape 21"/>
          <p:cNvSpPr/>
          <p:nvPr/>
        </p:nvSpPr>
        <p:spPr>
          <a:xfrm>
            <a:off x="9326880" y="3063240"/>
            <a:ext cx="594360" cy="274320"/>
          </a:xfrm>
          <a:prstGeom prst="rightArrow">
            <a:avLst/>
          </a:prstGeom>
          <a:solidFill>
            <a:srgbClr val="156082"/>
          </a:solidFill>
          <a:ln w="12700">
            <a:solidFill>
              <a:srgbClr val="156082"/>
            </a:solidFill>
            <a:prstDash val="solid"/>
          </a:ln>
        </p:spPr>
        <p:txBody>
          <a:bodyPr/>
          <a:lstStyle/>
          <a:p>
            <a:endParaRPr lang="ja-JP" altLang="en-US"/>
          </a:p>
        </p:txBody>
      </p:sp>
      <p:sp>
        <p:nvSpPr>
          <p:cNvPr id="24" name="Text 22"/>
          <p:cNvSpPr txBox="1"/>
          <p:nvPr/>
        </p:nvSpPr>
        <p:spPr>
          <a:xfrm>
            <a:off x="8915400" y="2148840"/>
            <a:ext cx="1417320" cy="502920"/>
          </a:xfrm>
          <a:prstGeom prst="rect">
            <a:avLst/>
          </a:prstGeom>
          <a:noFill/>
          <a:ln/>
        </p:spPr>
        <p:txBody>
          <a:bodyPr wrap="square" lIns="0" tIns="0" rIns="0" bIns="0" rtlCol="0" anchor="b"/>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メッセージ</a:t>
            </a:r>
            <a:endParaRPr lang="en-US" sz="1400" dirty="0"/>
          </a:p>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バッファ</a:t>
            </a:r>
            <a:endParaRPr lang="en-US" sz="1400" dirty="0"/>
          </a:p>
        </p:txBody>
      </p:sp>
      <p:sp>
        <p:nvSpPr>
          <p:cNvPr id="25" name="Text 23"/>
          <p:cNvSpPr txBox="1"/>
          <p:nvPr/>
        </p:nvSpPr>
        <p:spPr>
          <a:xfrm>
            <a:off x="9144000" y="3749040"/>
            <a:ext cx="960120" cy="274320"/>
          </a:xfrm>
          <a:prstGeom prst="rect">
            <a:avLst/>
          </a:prstGeom>
          <a:noFill/>
          <a:ln/>
        </p:spPr>
        <p:txBody>
          <a:bodyPr wrap="square" lIns="0" tIns="0" rIns="0" bIns="0" rtlCol="0" anchor="ctr"/>
          <a:lstStyle/>
          <a:p>
            <a:pPr marL="0" indent="0" algn="ctr">
              <a:buNone/>
            </a:pPr>
            <a:r>
              <a:rPr lang="en-US" sz="1300" b="1" dirty="0">
                <a:solidFill>
                  <a:srgbClr val="FF0000"/>
                </a:solidFill>
                <a:latin typeface="游ゴシック" pitchFamily="34" charset="0"/>
                <a:ea typeface="游ゴシック" pitchFamily="34" charset="-122"/>
                <a:cs typeface="游ゴシック" pitchFamily="34" charset="-120"/>
              </a:rPr>
              <a:t>待たない</a:t>
            </a:r>
            <a:endParaRPr lang="en-US" sz="1300" dirty="0"/>
          </a:p>
        </p:txBody>
      </p:sp>
      <p:sp>
        <p:nvSpPr>
          <p:cNvPr id="26" name="Shape 24"/>
          <p:cNvSpPr/>
          <p:nvPr/>
        </p:nvSpPr>
        <p:spPr>
          <a:xfrm>
            <a:off x="457200" y="4114800"/>
            <a:ext cx="11274552" cy="566928"/>
          </a:xfrm>
          <a:prstGeom prst="rect">
            <a:avLst/>
          </a:prstGeom>
          <a:solidFill>
            <a:srgbClr val="F2F2F2"/>
          </a:solidFill>
          <a:ln w="12700">
            <a:solidFill>
              <a:srgbClr val="BFBFBF"/>
            </a:solidFill>
            <a:prstDash val="solid"/>
          </a:ln>
        </p:spPr>
        <p:txBody>
          <a:bodyPr/>
          <a:lstStyle/>
          <a:p>
            <a:endParaRPr lang="ja-JP" altLang="en-US"/>
          </a:p>
        </p:txBody>
      </p:sp>
      <p:sp>
        <p:nvSpPr>
          <p:cNvPr id="27" name="Text 25"/>
          <p:cNvSpPr txBox="1"/>
          <p:nvPr/>
        </p:nvSpPr>
        <p:spPr>
          <a:xfrm>
            <a:off x="640080" y="4114800"/>
            <a:ext cx="10972800" cy="566928"/>
          </a:xfrm>
          <a:prstGeom prst="rect">
            <a:avLst/>
          </a:prstGeom>
          <a:noFill/>
          <a:ln/>
        </p:spPr>
        <p:txBody>
          <a:bodyPr wrap="square" lIns="0" tIns="0" rIns="0" bIns="0" rtlCol="0" anchor="ctr"/>
          <a:lstStyle/>
          <a:p>
            <a:pPr marL="0" indent="0">
              <a:buNone/>
            </a:pPr>
            <a:r>
              <a:rPr lang="en-US" sz="1500" b="1" dirty="0">
                <a:solidFill>
                  <a:srgbClr val="000000"/>
                </a:solidFill>
                <a:latin typeface="游ゴシック" pitchFamily="34" charset="0"/>
                <a:ea typeface="游ゴシック" pitchFamily="34" charset="-122"/>
                <a:cs typeface="游ゴシック" pitchFamily="34" charset="-120"/>
              </a:rPr>
              <a:t>周期ハンドラ</a:t>
            </a:r>
            <a:r>
              <a:rPr lang="en-US" sz="1500" dirty="0">
                <a:solidFill>
                  <a:srgbClr val="000000"/>
                </a:solidFill>
                <a:latin typeface="游ゴシック" pitchFamily="34" charset="0"/>
                <a:ea typeface="游ゴシック" pitchFamily="34" charset="-122"/>
                <a:cs typeface="游ゴシック" pitchFamily="34" charset="-120"/>
              </a:rPr>
              <a:t>（1 秒ごと）→ 統計を 1 行　／　</a:t>
            </a:r>
            <a:r>
              <a:rPr lang="en-US" sz="1500" b="1" dirty="0">
                <a:solidFill>
                  <a:srgbClr val="000000"/>
                </a:solidFill>
                <a:latin typeface="游ゴシック" pitchFamily="34" charset="0"/>
                <a:ea typeface="游ゴシック" pitchFamily="34" charset="-122"/>
                <a:cs typeface="游ゴシック" pitchFamily="34" charset="-120"/>
              </a:rPr>
              <a:t>アラームハンドラ</a:t>
            </a:r>
            <a:r>
              <a:rPr lang="en-US" sz="1500" dirty="0">
                <a:solidFill>
                  <a:srgbClr val="000000"/>
                </a:solidFill>
                <a:latin typeface="游ゴシック" pitchFamily="34" charset="0"/>
                <a:ea typeface="游ゴシック" pitchFamily="34" charset="-122"/>
                <a:cs typeface="游ゴシック" pitchFamily="34" charset="-120"/>
              </a:rPr>
              <a:t> → LED を 1 秒後に消す　／　時刻は tk_get_otm</a:t>
            </a:r>
            <a:endParaRPr lang="en-US" sz="1500" dirty="0"/>
          </a:p>
        </p:txBody>
      </p:sp>
      <p:sp>
        <p:nvSpPr>
          <p:cNvPr id="28" name="Shape 26"/>
          <p:cNvSpPr/>
          <p:nvPr/>
        </p:nvSpPr>
        <p:spPr>
          <a:xfrm>
            <a:off x="457200" y="4846320"/>
            <a:ext cx="3611880" cy="1691640"/>
          </a:xfrm>
          <a:prstGeom prst="rect">
            <a:avLst/>
          </a:prstGeom>
          <a:solidFill>
            <a:srgbClr val="FFFFFF"/>
          </a:solidFill>
          <a:ln w="15875">
            <a:solidFill>
              <a:srgbClr val="156082"/>
            </a:solidFill>
            <a:prstDash val="solid"/>
          </a:ln>
        </p:spPr>
        <p:txBody>
          <a:bodyPr/>
          <a:lstStyle/>
          <a:p>
            <a:endParaRPr lang="ja-JP" altLang="en-US"/>
          </a:p>
        </p:txBody>
      </p:sp>
      <p:sp>
        <p:nvSpPr>
          <p:cNvPr id="29" name="Text 27"/>
          <p:cNvSpPr txBox="1"/>
          <p:nvPr/>
        </p:nvSpPr>
        <p:spPr>
          <a:xfrm>
            <a:off x="594360" y="4892040"/>
            <a:ext cx="3337560" cy="411480"/>
          </a:xfrm>
          <a:prstGeom prst="rect">
            <a:avLst/>
          </a:prstGeom>
          <a:noFill/>
          <a:ln/>
        </p:spPr>
        <p:txBody>
          <a:bodyPr wrap="square" lIns="0" tIns="0" rIns="0" bIns="0" rtlCol="0" anchor="ctr"/>
          <a:lstStyle/>
          <a:p>
            <a:pPr marL="0" indent="0">
              <a:buNone/>
            </a:pPr>
            <a:r>
              <a:rPr lang="en-US" sz="1800" b="1" dirty="0">
                <a:solidFill>
                  <a:srgbClr val="156082"/>
                </a:solidFill>
                <a:latin typeface="游ゴシック" pitchFamily="34" charset="0"/>
                <a:ea typeface="游ゴシック" pitchFamily="34" charset="-122"/>
                <a:cs typeface="游ゴシック" pitchFamily="34" charset="-120"/>
              </a:rPr>
              <a:t>固定優先度</a:t>
            </a:r>
            <a:endParaRPr lang="en-US" sz="1800" dirty="0"/>
          </a:p>
        </p:txBody>
      </p:sp>
      <p:sp>
        <p:nvSpPr>
          <p:cNvPr id="30" name="Text 28"/>
          <p:cNvSpPr txBox="1"/>
          <p:nvPr/>
        </p:nvSpPr>
        <p:spPr>
          <a:xfrm>
            <a:off x="594360" y="5303520"/>
            <a:ext cx="3337560" cy="822960"/>
          </a:xfrm>
          <a:prstGeom prst="rect">
            <a:avLst/>
          </a:prstGeom>
          <a:noFill/>
          <a:ln/>
        </p:spPr>
        <p:txBody>
          <a:bodyPr wrap="square" lIns="0" tIns="0" rIns="0" bIns="0" rtlCol="0" anchor="t"/>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推論やログが音を押しのけない。逆にすると音が壊れた（実験 1 ②）</a:t>
            </a:r>
            <a:endParaRPr lang="en-US" sz="1600" dirty="0"/>
          </a:p>
        </p:txBody>
      </p:sp>
      <p:sp>
        <p:nvSpPr>
          <p:cNvPr id="31" name="Text 29"/>
          <p:cNvSpPr txBox="1"/>
          <p:nvPr/>
        </p:nvSpPr>
        <p:spPr>
          <a:xfrm>
            <a:off x="594360" y="6144768"/>
            <a:ext cx="3337560" cy="320040"/>
          </a:xfrm>
          <a:prstGeom prst="rect">
            <a:avLst/>
          </a:prstGeom>
          <a:noFill/>
          <a:ln/>
        </p:spPr>
        <p:txBody>
          <a:bodyPr wrap="square" lIns="0" tIns="0" rIns="0" bIns="0" rtlCol="0" anchor="ctr"/>
          <a:lstStyle/>
          <a:p>
            <a:pPr marL="0" indent="0">
              <a:buNone/>
            </a:pPr>
            <a:r>
              <a:rPr lang="en-US" sz="1200" dirty="0">
                <a:solidFill>
                  <a:srgbClr val="595959"/>
                </a:solidFill>
                <a:latin typeface="Consolas" pitchFamily="34" charset="0"/>
                <a:ea typeface="Consolas" pitchFamily="34" charset="-122"/>
                <a:cs typeface="Consolas" pitchFamily="34" charset="-120"/>
              </a:rPr>
              <a:t>tk_cre_tsk（優先度を指定）</a:t>
            </a:r>
            <a:endParaRPr lang="en-US" sz="1200" dirty="0"/>
          </a:p>
        </p:txBody>
      </p:sp>
      <p:sp>
        <p:nvSpPr>
          <p:cNvPr id="32" name="Shape 30"/>
          <p:cNvSpPr/>
          <p:nvPr/>
        </p:nvSpPr>
        <p:spPr>
          <a:xfrm>
            <a:off x="4288536" y="4846320"/>
            <a:ext cx="3611880" cy="1691640"/>
          </a:xfrm>
          <a:prstGeom prst="rect">
            <a:avLst/>
          </a:prstGeom>
          <a:solidFill>
            <a:srgbClr val="FFFFFF"/>
          </a:solidFill>
          <a:ln w="15875">
            <a:solidFill>
              <a:srgbClr val="156082"/>
            </a:solidFill>
            <a:prstDash val="solid"/>
          </a:ln>
        </p:spPr>
        <p:txBody>
          <a:bodyPr/>
          <a:lstStyle/>
          <a:p>
            <a:endParaRPr lang="ja-JP" altLang="en-US"/>
          </a:p>
        </p:txBody>
      </p:sp>
      <p:sp>
        <p:nvSpPr>
          <p:cNvPr id="33" name="Text 31"/>
          <p:cNvSpPr txBox="1"/>
          <p:nvPr/>
        </p:nvSpPr>
        <p:spPr>
          <a:xfrm>
            <a:off x="4425696" y="4892040"/>
            <a:ext cx="3337560" cy="411480"/>
          </a:xfrm>
          <a:prstGeom prst="rect">
            <a:avLst/>
          </a:prstGeom>
          <a:noFill/>
          <a:ln/>
        </p:spPr>
        <p:txBody>
          <a:bodyPr wrap="square" lIns="0" tIns="0" rIns="0" bIns="0" rtlCol="0" anchor="ctr"/>
          <a:lstStyle/>
          <a:p>
            <a:pPr marL="0" indent="0">
              <a:buNone/>
            </a:pPr>
            <a:r>
              <a:rPr lang="en-US" sz="1800" b="1" dirty="0">
                <a:solidFill>
                  <a:srgbClr val="156082"/>
                </a:solidFill>
                <a:latin typeface="游ゴシック" pitchFamily="34" charset="0"/>
                <a:ea typeface="游ゴシック" pitchFamily="34" charset="-122"/>
                <a:cs typeface="游ゴシック" pitchFamily="34" charset="-120"/>
              </a:rPr>
              <a:t>イベントフラグ</a:t>
            </a:r>
            <a:endParaRPr lang="en-US" sz="1800" dirty="0"/>
          </a:p>
        </p:txBody>
      </p:sp>
      <p:sp>
        <p:nvSpPr>
          <p:cNvPr id="34" name="Text 32"/>
          <p:cNvSpPr txBox="1"/>
          <p:nvPr/>
        </p:nvSpPr>
        <p:spPr>
          <a:xfrm>
            <a:off x="4425696" y="5303520"/>
            <a:ext cx="3337560" cy="822960"/>
          </a:xfrm>
          <a:prstGeom prst="rect">
            <a:avLst/>
          </a:prstGeom>
          <a:noFill/>
          <a:ln/>
        </p:spPr>
        <p:txBody>
          <a:bodyPr wrap="square" lIns="0" tIns="0" rIns="0" bIns="0" rtlCol="0" anchor="t"/>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割込みは起こすだけ。処理はタスクで行うので、割込みが短い</a:t>
            </a:r>
            <a:endParaRPr lang="en-US" sz="1600" dirty="0"/>
          </a:p>
        </p:txBody>
      </p:sp>
      <p:sp>
        <p:nvSpPr>
          <p:cNvPr id="35" name="Text 33"/>
          <p:cNvSpPr txBox="1"/>
          <p:nvPr/>
        </p:nvSpPr>
        <p:spPr>
          <a:xfrm>
            <a:off x="4425696" y="6144768"/>
            <a:ext cx="3337560" cy="320040"/>
          </a:xfrm>
          <a:prstGeom prst="rect">
            <a:avLst/>
          </a:prstGeom>
          <a:noFill/>
          <a:ln/>
        </p:spPr>
        <p:txBody>
          <a:bodyPr wrap="square" lIns="0" tIns="0" rIns="0" bIns="0" rtlCol="0" anchor="ctr"/>
          <a:lstStyle/>
          <a:p>
            <a:pPr marL="0" indent="0">
              <a:buNone/>
            </a:pPr>
            <a:r>
              <a:rPr lang="en-US" sz="1200" dirty="0">
                <a:solidFill>
                  <a:srgbClr val="595959"/>
                </a:solidFill>
                <a:latin typeface="Consolas" pitchFamily="34" charset="0"/>
                <a:ea typeface="Consolas" pitchFamily="34" charset="-122"/>
                <a:cs typeface="Consolas" pitchFamily="34" charset="-120"/>
              </a:rPr>
              <a:t>tk_set_flg / tk_wai_flg</a:t>
            </a:r>
            <a:endParaRPr lang="en-US" sz="1200" dirty="0"/>
          </a:p>
        </p:txBody>
      </p:sp>
      <p:sp>
        <p:nvSpPr>
          <p:cNvPr id="36" name="Shape 34"/>
          <p:cNvSpPr/>
          <p:nvPr/>
        </p:nvSpPr>
        <p:spPr>
          <a:xfrm>
            <a:off x="8119872" y="4846320"/>
            <a:ext cx="3611880" cy="1691640"/>
          </a:xfrm>
          <a:prstGeom prst="rect">
            <a:avLst/>
          </a:prstGeom>
          <a:solidFill>
            <a:srgbClr val="FFFFFF"/>
          </a:solidFill>
          <a:ln w="15875">
            <a:solidFill>
              <a:srgbClr val="156082"/>
            </a:solidFill>
            <a:prstDash val="solid"/>
          </a:ln>
        </p:spPr>
        <p:txBody>
          <a:bodyPr/>
          <a:lstStyle/>
          <a:p>
            <a:endParaRPr lang="ja-JP" altLang="en-US"/>
          </a:p>
        </p:txBody>
      </p:sp>
      <p:sp>
        <p:nvSpPr>
          <p:cNvPr id="37" name="Text 35"/>
          <p:cNvSpPr txBox="1"/>
          <p:nvPr/>
        </p:nvSpPr>
        <p:spPr>
          <a:xfrm>
            <a:off x="8257032" y="4892040"/>
            <a:ext cx="3337560" cy="411480"/>
          </a:xfrm>
          <a:prstGeom prst="rect">
            <a:avLst/>
          </a:prstGeom>
          <a:noFill/>
          <a:ln/>
        </p:spPr>
        <p:txBody>
          <a:bodyPr wrap="square" lIns="0" tIns="0" rIns="0" bIns="0" rtlCol="0" anchor="ctr"/>
          <a:lstStyle/>
          <a:p>
            <a:pPr marL="0" indent="0">
              <a:buNone/>
            </a:pPr>
            <a:r>
              <a:rPr lang="en-US" sz="1800" b="1" dirty="0">
                <a:solidFill>
                  <a:srgbClr val="156082"/>
                </a:solidFill>
                <a:latin typeface="游ゴシック" pitchFamily="34" charset="0"/>
                <a:ea typeface="游ゴシック" pitchFamily="34" charset="-122"/>
                <a:cs typeface="游ゴシック" pitchFamily="34" charset="-120"/>
              </a:rPr>
              <a:t>待たないメッセージバッファ</a:t>
            </a:r>
            <a:endParaRPr lang="en-US" sz="1800" dirty="0"/>
          </a:p>
        </p:txBody>
      </p:sp>
      <p:sp>
        <p:nvSpPr>
          <p:cNvPr id="38" name="Text 36"/>
          <p:cNvSpPr txBox="1"/>
          <p:nvPr/>
        </p:nvSpPr>
        <p:spPr>
          <a:xfrm>
            <a:off x="8257032" y="5303520"/>
            <a:ext cx="3337560" cy="822960"/>
          </a:xfrm>
          <a:prstGeom prst="rect">
            <a:avLst/>
          </a:prstGeom>
          <a:noFill/>
          <a:ln/>
        </p:spPr>
        <p:txBody>
          <a:bodyPr wrap="square" lIns="0" tIns="0" rIns="0" bIns="0" rtlCol="0" anchor="t"/>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受け側が満杯なら捨てて数える。送り側は待たされない</a:t>
            </a:r>
            <a:endParaRPr lang="en-US" sz="1600" dirty="0"/>
          </a:p>
        </p:txBody>
      </p:sp>
      <p:sp>
        <p:nvSpPr>
          <p:cNvPr id="39" name="Text 37"/>
          <p:cNvSpPr txBox="1"/>
          <p:nvPr/>
        </p:nvSpPr>
        <p:spPr>
          <a:xfrm>
            <a:off x="8257032" y="6144768"/>
            <a:ext cx="3337560" cy="320040"/>
          </a:xfrm>
          <a:prstGeom prst="rect">
            <a:avLst/>
          </a:prstGeom>
          <a:noFill/>
          <a:ln/>
        </p:spPr>
        <p:txBody>
          <a:bodyPr wrap="square" lIns="0" tIns="0" rIns="0" bIns="0" rtlCol="0" anchor="ctr"/>
          <a:lstStyle/>
          <a:p>
            <a:pPr marL="0" indent="0">
              <a:buNone/>
            </a:pPr>
            <a:r>
              <a:rPr lang="en-US" sz="1200" dirty="0">
                <a:solidFill>
                  <a:srgbClr val="595959"/>
                </a:solidFill>
                <a:latin typeface="Consolas" pitchFamily="34" charset="0"/>
                <a:ea typeface="Consolas" pitchFamily="34" charset="-122"/>
                <a:cs typeface="Consolas" pitchFamily="34" charset="-120"/>
              </a:rPr>
              <a:t>tk_snd_mbf（TMO_POL）/ tk_rcv_mbf</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2-3　</a:t>
            </a:r>
            <a:r>
              <a:rPr lang="en-US" sz="3000" b="1" dirty="0" err="1">
                <a:solidFill>
                  <a:srgbClr val="000000"/>
                </a:solidFill>
                <a:latin typeface="游ゴシック" pitchFamily="34" charset="0"/>
                <a:ea typeface="游ゴシック" pitchFamily="34" charset="-122"/>
                <a:cs typeface="游ゴシック" pitchFamily="34" charset="-120"/>
              </a:rPr>
              <a:t>時間と</a:t>
            </a:r>
            <a:r>
              <a:rPr lang="ja-JP" altLang="en-US" sz="3000" b="1" dirty="0">
                <a:solidFill>
                  <a:srgbClr val="000000"/>
                </a:solidFill>
                <a:latin typeface="游ゴシック" pitchFamily="34" charset="0"/>
                <a:ea typeface="游ゴシック" pitchFamily="34" charset="-122"/>
                <a:cs typeface="游ゴシック" pitchFamily="34" charset="-120"/>
              </a:rPr>
              <a:t>リソース</a:t>
            </a:r>
            <a:r>
              <a:rPr lang="en-US" sz="3000" b="1" dirty="0" err="1">
                <a:solidFill>
                  <a:srgbClr val="000000"/>
                </a:solidFill>
                <a:latin typeface="游ゴシック" pitchFamily="34" charset="0"/>
                <a:ea typeface="游ゴシック" pitchFamily="34" charset="-122"/>
                <a:cs typeface="游ゴシック" pitchFamily="34" charset="-120"/>
              </a:rPr>
              <a:t>の配分</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300090"/>
            <a:ext cx="11274552" cy="896112"/>
          </a:xfrm>
          <a:prstGeom prst="rect">
            <a:avLst/>
          </a:prstGeom>
          <a:noFill/>
          <a:ln/>
        </p:spPr>
        <p:txBody>
          <a:bodyPr wrap="square" lIns="0" tIns="0" rIns="0" bIns="0" rtlCol="0" anchor="ctr"/>
          <a:lstStyle/>
          <a:p>
            <a:pPr marL="0" indent="0" algn="ctr">
              <a:buNone/>
            </a:pPr>
            <a:r>
              <a:rPr lang="en-US" sz="2800" b="1" dirty="0">
                <a:solidFill>
                  <a:srgbClr val="FF0000"/>
                </a:solidFill>
                <a:latin typeface="游ゴシック" pitchFamily="34" charset="0"/>
                <a:ea typeface="游ゴシック" pitchFamily="34" charset="-122"/>
                <a:cs typeface="游ゴシック" pitchFamily="34" charset="-120"/>
              </a:rPr>
              <a:t>推論は周期 960 ms の 12%。残り 88% の時間が音と表示に回る</a:t>
            </a:r>
            <a:endParaRPr lang="en-US" sz="2800" dirty="0"/>
          </a:p>
        </p:txBody>
      </p:sp>
      <p:sp>
        <p:nvSpPr>
          <p:cNvPr id="5" name="Text 3"/>
          <p:cNvSpPr txBox="1"/>
          <p:nvPr/>
        </p:nvSpPr>
        <p:spPr>
          <a:xfrm>
            <a:off x="457200" y="2148840"/>
            <a:ext cx="6675120" cy="365760"/>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1 周期 960 ms の使い方</a:t>
            </a:r>
            <a:endParaRPr lang="en-US" sz="1800" dirty="0"/>
          </a:p>
        </p:txBody>
      </p:sp>
      <p:sp>
        <p:nvSpPr>
          <p:cNvPr id="6" name="Shape 4"/>
          <p:cNvSpPr/>
          <p:nvPr/>
        </p:nvSpPr>
        <p:spPr>
          <a:xfrm>
            <a:off x="457200" y="2926080"/>
            <a:ext cx="479774" cy="548640"/>
          </a:xfrm>
          <a:prstGeom prst="rect">
            <a:avLst/>
          </a:prstGeom>
          <a:solidFill>
            <a:srgbClr val="156082"/>
          </a:solidFill>
          <a:ln w="12700">
            <a:solidFill>
              <a:srgbClr val="156082"/>
            </a:solidFill>
            <a:prstDash val="solid"/>
          </a:ln>
        </p:spPr>
        <p:txBody>
          <a:bodyPr/>
          <a:lstStyle/>
          <a:p>
            <a:endParaRPr lang="ja-JP" altLang="en-US"/>
          </a:p>
        </p:txBody>
      </p:sp>
      <p:sp>
        <p:nvSpPr>
          <p:cNvPr id="7" name="Shape 5"/>
          <p:cNvSpPr/>
          <p:nvPr/>
        </p:nvSpPr>
        <p:spPr>
          <a:xfrm>
            <a:off x="936974" y="2926080"/>
            <a:ext cx="285083" cy="548640"/>
          </a:xfrm>
          <a:prstGeom prst="rect">
            <a:avLst/>
          </a:prstGeom>
          <a:solidFill>
            <a:srgbClr val="008A5E"/>
          </a:solidFill>
          <a:ln w="12700">
            <a:solidFill>
              <a:srgbClr val="008A5E"/>
            </a:solidFill>
            <a:prstDash val="solid"/>
          </a:ln>
        </p:spPr>
        <p:txBody>
          <a:bodyPr/>
          <a:lstStyle/>
          <a:p>
            <a:endParaRPr lang="ja-JP" altLang="en-US"/>
          </a:p>
        </p:txBody>
      </p:sp>
      <p:sp>
        <p:nvSpPr>
          <p:cNvPr id="8" name="Shape 6"/>
          <p:cNvSpPr/>
          <p:nvPr/>
        </p:nvSpPr>
        <p:spPr>
          <a:xfrm>
            <a:off x="1222058" y="2926080"/>
            <a:ext cx="5910262" cy="548640"/>
          </a:xfrm>
          <a:prstGeom prst="rect">
            <a:avLst/>
          </a:prstGeom>
          <a:solidFill>
            <a:srgbClr val="E7E6E6"/>
          </a:solidFill>
          <a:ln w="12700">
            <a:solidFill>
              <a:srgbClr val="BFBFBF"/>
            </a:solidFill>
            <a:prstDash val="solid"/>
          </a:ln>
        </p:spPr>
        <p:txBody>
          <a:bodyPr/>
          <a:lstStyle/>
          <a:p>
            <a:endParaRPr lang="ja-JP" altLang="en-US"/>
          </a:p>
        </p:txBody>
      </p:sp>
      <p:sp>
        <p:nvSpPr>
          <p:cNvPr id="9" name="Text 7"/>
          <p:cNvSpPr txBox="1"/>
          <p:nvPr/>
        </p:nvSpPr>
        <p:spPr>
          <a:xfrm>
            <a:off x="411480" y="2560320"/>
            <a:ext cx="1463040" cy="320040"/>
          </a:xfrm>
          <a:prstGeom prst="rect">
            <a:avLst/>
          </a:prstGeom>
          <a:noFill/>
          <a:ln/>
        </p:spPr>
        <p:txBody>
          <a:bodyPr wrap="square" lIns="0" tIns="0" rIns="0" bIns="0" rtlCol="0" anchor="ctr"/>
          <a:lstStyle/>
          <a:p>
            <a:pPr marL="0" indent="0">
              <a:buNone/>
            </a:pPr>
            <a:r>
              <a:rPr lang="en-US" sz="1400" b="1" dirty="0">
                <a:solidFill>
                  <a:srgbClr val="156082"/>
                </a:solidFill>
                <a:latin typeface="游ゴシック" pitchFamily="34" charset="0"/>
                <a:ea typeface="游ゴシック" pitchFamily="34" charset="-122"/>
                <a:cs typeface="游ゴシック" pitchFamily="34" charset="-120"/>
              </a:rPr>
              <a:t>前処理 69 ms</a:t>
            </a:r>
            <a:endParaRPr lang="en-US" sz="1400" dirty="0"/>
          </a:p>
        </p:txBody>
      </p:sp>
      <p:sp>
        <p:nvSpPr>
          <p:cNvPr id="10" name="Text 8"/>
          <p:cNvSpPr txBox="1"/>
          <p:nvPr/>
        </p:nvSpPr>
        <p:spPr>
          <a:xfrm>
            <a:off x="891254" y="3520440"/>
            <a:ext cx="4572000" cy="320040"/>
          </a:xfrm>
          <a:prstGeom prst="rect">
            <a:avLst/>
          </a:prstGeom>
          <a:noFill/>
          <a:ln/>
        </p:spPr>
        <p:txBody>
          <a:bodyPr wrap="square" lIns="0" tIns="0" rIns="0" bIns="0" rtlCol="0" anchor="ctr"/>
          <a:lstStyle/>
          <a:p>
            <a:pPr marL="0" indent="0">
              <a:buNone/>
            </a:pPr>
            <a:r>
              <a:rPr lang="en-US" sz="1400" b="1" dirty="0">
                <a:solidFill>
                  <a:srgbClr val="008A5E"/>
                </a:solidFill>
                <a:latin typeface="游ゴシック" pitchFamily="34" charset="0"/>
                <a:ea typeface="游ゴシック" pitchFamily="34" charset="-122"/>
                <a:cs typeface="游ゴシック" pitchFamily="34" charset="-120"/>
              </a:rPr>
              <a:t>推論 41 ms（計算 9 ＋ 重みの読み出し 32）</a:t>
            </a:r>
            <a:endParaRPr lang="en-US" sz="1400" dirty="0"/>
          </a:p>
        </p:txBody>
      </p:sp>
      <p:sp>
        <p:nvSpPr>
          <p:cNvPr id="11" name="Text 9"/>
          <p:cNvSpPr txBox="1"/>
          <p:nvPr/>
        </p:nvSpPr>
        <p:spPr>
          <a:xfrm>
            <a:off x="1404938" y="2926080"/>
            <a:ext cx="5486400" cy="548640"/>
          </a:xfrm>
          <a:prstGeom prst="rect">
            <a:avLst/>
          </a:prstGeom>
          <a:noFill/>
          <a:ln/>
        </p:spPr>
        <p:txBody>
          <a:bodyPr wrap="square" lIns="0" tIns="0" rIns="0" bIns="0" rtlCol="0" anchor="ctr"/>
          <a:lstStyle/>
          <a:p>
            <a:pPr marL="0" indent="0">
              <a:buNone/>
            </a:pPr>
            <a:r>
              <a:rPr lang="en-US" sz="1600" dirty="0">
                <a:solidFill>
                  <a:srgbClr val="404040"/>
                </a:solidFill>
                <a:latin typeface="游ゴシック" pitchFamily="34" charset="0"/>
                <a:ea typeface="游ゴシック" pitchFamily="34" charset="-122"/>
                <a:cs typeface="游ゴシック" pitchFamily="34" charset="-120"/>
              </a:rPr>
              <a:t>空き 850 ms（音の取り込み・表示・ログ）</a:t>
            </a:r>
            <a:endParaRPr lang="en-US" sz="1600" dirty="0"/>
          </a:p>
        </p:txBody>
      </p:sp>
      <p:sp>
        <p:nvSpPr>
          <p:cNvPr id="12" name="Text 10"/>
          <p:cNvSpPr txBox="1"/>
          <p:nvPr/>
        </p:nvSpPr>
        <p:spPr>
          <a:xfrm>
            <a:off x="457200" y="3977640"/>
            <a:ext cx="6675120" cy="365760"/>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音が鳴ってから知らせるまで：1.1〜1.9 秒（実測）</a:t>
            </a:r>
            <a:endParaRPr lang="en-US" sz="1800" dirty="0"/>
          </a:p>
        </p:txBody>
      </p:sp>
      <p:sp>
        <p:nvSpPr>
          <p:cNvPr id="13" name="Shape 11"/>
          <p:cNvSpPr/>
          <p:nvPr/>
        </p:nvSpPr>
        <p:spPr>
          <a:xfrm>
            <a:off x="457200" y="4434840"/>
            <a:ext cx="3125910" cy="548640"/>
          </a:xfrm>
          <a:prstGeom prst="rect">
            <a:avLst/>
          </a:prstGeom>
          <a:solidFill>
            <a:srgbClr val="F2F2F2"/>
          </a:solidFill>
          <a:ln w="12700">
            <a:solidFill>
              <a:srgbClr val="7F7F7F"/>
            </a:solidFill>
            <a:prstDash val="dash"/>
          </a:ln>
        </p:spPr>
        <p:txBody>
          <a:bodyPr/>
          <a:lstStyle/>
          <a:p>
            <a:endParaRPr lang="ja-JP" altLang="en-US"/>
          </a:p>
        </p:txBody>
      </p:sp>
      <p:sp>
        <p:nvSpPr>
          <p:cNvPr id="14" name="Shape 12"/>
          <p:cNvSpPr/>
          <p:nvPr/>
        </p:nvSpPr>
        <p:spPr>
          <a:xfrm>
            <a:off x="3583110" y="4434840"/>
            <a:ext cx="3174752" cy="548640"/>
          </a:xfrm>
          <a:prstGeom prst="rect">
            <a:avLst/>
          </a:prstGeom>
          <a:solidFill>
            <a:srgbClr val="156082"/>
          </a:solidFill>
          <a:ln w="12700">
            <a:solidFill>
              <a:srgbClr val="156082"/>
            </a:solidFill>
            <a:prstDash val="solid"/>
          </a:ln>
        </p:spPr>
        <p:txBody>
          <a:bodyPr/>
          <a:lstStyle/>
          <a:p>
            <a:endParaRPr lang="ja-JP" altLang="en-US"/>
          </a:p>
        </p:txBody>
      </p:sp>
      <p:sp>
        <p:nvSpPr>
          <p:cNvPr id="15" name="Shape 13"/>
          <p:cNvSpPr/>
          <p:nvPr/>
        </p:nvSpPr>
        <p:spPr>
          <a:xfrm>
            <a:off x="6757862" y="4434840"/>
            <a:ext cx="382977" cy="548640"/>
          </a:xfrm>
          <a:prstGeom prst="rect">
            <a:avLst/>
          </a:prstGeom>
          <a:solidFill>
            <a:srgbClr val="008A5E"/>
          </a:solidFill>
          <a:ln w="12700">
            <a:solidFill>
              <a:srgbClr val="008A5E"/>
            </a:solidFill>
            <a:prstDash val="solid"/>
          </a:ln>
        </p:spPr>
        <p:txBody>
          <a:bodyPr/>
          <a:lstStyle/>
          <a:p>
            <a:endParaRPr lang="ja-JP" altLang="en-US"/>
          </a:p>
        </p:txBody>
      </p:sp>
      <p:sp>
        <p:nvSpPr>
          <p:cNvPr id="16" name="Text 14"/>
          <p:cNvSpPr txBox="1"/>
          <p:nvPr/>
        </p:nvSpPr>
        <p:spPr>
          <a:xfrm>
            <a:off x="457200" y="4434840"/>
            <a:ext cx="3125910" cy="548640"/>
          </a:xfrm>
          <a:prstGeom prst="rect">
            <a:avLst/>
          </a:prstGeom>
          <a:noFill/>
          <a:ln/>
        </p:spPr>
        <p:txBody>
          <a:bodyPr wrap="square" lIns="0" tIns="0" rIns="0" bIns="0" rtlCol="0" anchor="ctr"/>
          <a:lstStyle/>
          <a:p>
            <a:pPr marL="0" indent="0" algn="ctr">
              <a:buNone/>
            </a:pPr>
            <a:r>
              <a:rPr lang="en-US" sz="1400" b="1" dirty="0">
                <a:solidFill>
                  <a:srgbClr val="000000"/>
                </a:solidFill>
                <a:latin typeface="游ゴシック" pitchFamily="34" charset="0"/>
                <a:ea typeface="游ゴシック" pitchFamily="34" charset="-122"/>
                <a:cs typeface="游ゴシック" pitchFamily="34" charset="-120"/>
              </a:rPr>
              <a:t>窓の区切りを待つ 0〜0.96 s</a:t>
            </a:r>
            <a:endParaRPr lang="en-US" sz="1400" dirty="0"/>
          </a:p>
        </p:txBody>
      </p:sp>
      <p:sp>
        <p:nvSpPr>
          <p:cNvPr id="17" name="Text 15"/>
          <p:cNvSpPr txBox="1"/>
          <p:nvPr/>
        </p:nvSpPr>
        <p:spPr>
          <a:xfrm>
            <a:off x="3583110" y="4434840"/>
            <a:ext cx="3174752" cy="548640"/>
          </a:xfrm>
          <a:prstGeom prst="rect">
            <a:avLst/>
          </a:prstGeom>
          <a:noFill/>
          <a:ln/>
        </p:spPr>
        <p:txBody>
          <a:bodyPr wrap="square" lIns="0" tIns="0" rIns="0" bIns="0" rtlCol="0" anchor="ctr"/>
          <a:lstStyle/>
          <a:p>
            <a:pPr marL="0" indent="0" algn="ctr">
              <a:buNone/>
            </a:pPr>
            <a:r>
              <a:rPr lang="en-US" sz="1500" b="1" dirty="0">
                <a:solidFill>
                  <a:srgbClr val="FFFFFF"/>
                </a:solidFill>
                <a:latin typeface="游ゴシック" pitchFamily="34" charset="0"/>
                <a:ea typeface="游ゴシック" pitchFamily="34" charset="-122"/>
                <a:cs typeface="游ゴシック" pitchFamily="34" charset="-120"/>
              </a:rPr>
              <a:t>窓 0.975 s</a:t>
            </a:r>
            <a:endParaRPr lang="en-US" sz="1500" dirty="0"/>
          </a:p>
        </p:txBody>
      </p:sp>
      <p:sp>
        <p:nvSpPr>
          <p:cNvPr id="18" name="Text 16"/>
          <p:cNvSpPr txBox="1"/>
          <p:nvPr/>
        </p:nvSpPr>
        <p:spPr>
          <a:xfrm>
            <a:off x="5569142" y="5029200"/>
            <a:ext cx="1600200" cy="292608"/>
          </a:xfrm>
          <a:prstGeom prst="rect">
            <a:avLst/>
          </a:prstGeom>
          <a:noFill/>
          <a:ln/>
        </p:spPr>
        <p:txBody>
          <a:bodyPr wrap="square" lIns="0" tIns="0" rIns="0" bIns="0" rtlCol="0" anchor="ctr"/>
          <a:lstStyle/>
          <a:p>
            <a:pPr marL="0" indent="0" algn="r">
              <a:buNone/>
            </a:pPr>
            <a:r>
              <a:rPr lang="en-US" sz="1400" b="1" dirty="0">
                <a:solidFill>
                  <a:srgbClr val="008A5E"/>
                </a:solidFill>
                <a:latin typeface="游ゴシック" pitchFamily="34" charset="0"/>
                <a:ea typeface="游ゴシック" pitchFamily="34" charset="-122"/>
                <a:cs typeface="游ゴシック" pitchFamily="34" charset="-120"/>
              </a:rPr>
              <a:t>処理 0.112 s</a:t>
            </a:r>
            <a:endParaRPr lang="en-US" sz="1400" dirty="0"/>
          </a:p>
        </p:txBody>
      </p:sp>
      <p:sp>
        <p:nvSpPr>
          <p:cNvPr id="19" name="Text 17"/>
          <p:cNvSpPr txBox="1"/>
          <p:nvPr/>
        </p:nvSpPr>
        <p:spPr>
          <a:xfrm>
            <a:off x="457200" y="5349240"/>
            <a:ext cx="6675120" cy="365760"/>
          </a:xfrm>
          <a:prstGeom prst="rect">
            <a:avLst/>
          </a:prstGeom>
          <a:noFill/>
          <a:ln/>
        </p:spPr>
        <p:txBody>
          <a:bodyPr wrap="square" lIns="0" tIns="0" rIns="0" bIns="0" rtlCol="0" anchor="ct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遅れの大半は窓の長さと区切り待ちで決まる（理論 1.07〜2.03 s）。RTOS 側の処理は 0.112 s</a:t>
            </a:r>
            <a:endParaRPr lang="en-US" sz="1500" dirty="0"/>
          </a:p>
        </p:txBody>
      </p:sp>
      <p:sp>
        <p:nvSpPr>
          <p:cNvPr id="20" name="Text 18"/>
          <p:cNvSpPr txBox="1"/>
          <p:nvPr/>
        </p:nvSpPr>
        <p:spPr>
          <a:xfrm>
            <a:off x="7406640" y="2148840"/>
            <a:ext cx="4325112" cy="365760"/>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メモリの置き場所</a:t>
            </a:r>
            <a:endParaRPr lang="en-US" sz="1800" dirty="0"/>
          </a:p>
        </p:txBody>
      </p:sp>
      <p:sp>
        <p:nvSpPr>
          <p:cNvPr id="21" name="Shape 19"/>
          <p:cNvSpPr/>
          <p:nvPr/>
        </p:nvSpPr>
        <p:spPr>
          <a:xfrm>
            <a:off x="7406640" y="2606040"/>
            <a:ext cx="4325112" cy="548640"/>
          </a:xfrm>
          <a:prstGeom prst="rect">
            <a:avLst/>
          </a:prstGeom>
          <a:solidFill>
            <a:srgbClr val="DDEBF3"/>
          </a:solidFill>
          <a:ln w="12700">
            <a:solidFill>
              <a:srgbClr val="156082"/>
            </a:solidFill>
            <a:prstDash val="solid"/>
          </a:ln>
        </p:spPr>
        <p:txBody>
          <a:bodyPr/>
          <a:lstStyle/>
          <a:p>
            <a:endParaRPr lang="ja-JP" altLang="en-US"/>
          </a:p>
        </p:txBody>
      </p:sp>
      <p:sp>
        <p:nvSpPr>
          <p:cNvPr id="22" name="Text 20"/>
          <p:cNvSpPr txBox="1"/>
          <p:nvPr/>
        </p:nvSpPr>
        <p:spPr>
          <a:xfrm>
            <a:off x="7516368" y="2606040"/>
            <a:ext cx="1508760" cy="548640"/>
          </a:xfrm>
          <a:prstGeom prst="rect">
            <a:avLst/>
          </a:prstGeom>
          <a:noFill/>
          <a:ln/>
        </p:spPr>
        <p:txBody>
          <a:bodyPr wrap="square" lIns="0" tIns="0" rIns="0" bIns="0" rtlCol="0" anchor="ctr"/>
          <a:lstStyle/>
          <a:p>
            <a:pPr marL="0" indent="0">
              <a:buNone/>
            </a:pPr>
            <a:r>
              <a:rPr lang="en-US" sz="1400" b="1" dirty="0">
                <a:solidFill>
                  <a:srgbClr val="000000"/>
                </a:solidFill>
                <a:latin typeface="游ゴシック" pitchFamily="34" charset="0"/>
                <a:ea typeface="游ゴシック" pitchFamily="34" charset="-122"/>
                <a:cs typeface="游ゴシック" pitchFamily="34" charset="-120"/>
              </a:rPr>
              <a:t>AXISRAM1・2</a:t>
            </a:r>
            <a:endParaRPr lang="en-US" sz="1400" dirty="0"/>
          </a:p>
        </p:txBody>
      </p:sp>
      <p:sp>
        <p:nvSpPr>
          <p:cNvPr id="23" name="Text 21"/>
          <p:cNvSpPr txBox="1"/>
          <p:nvPr/>
        </p:nvSpPr>
        <p:spPr>
          <a:xfrm>
            <a:off x="9052560" y="2606040"/>
            <a:ext cx="2587752" cy="548640"/>
          </a:xfrm>
          <a:prstGeom prst="rect">
            <a:avLst/>
          </a:prstGeom>
          <a:noFill/>
          <a:ln/>
        </p:spPr>
        <p:txBody>
          <a:bodyPr wrap="square" lIns="0" tIns="0" rIns="0" bIns="0" rtlCol="0" anchor="ct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1 MB　プログラムと作業領域</a:t>
            </a:r>
            <a:endParaRPr lang="en-US" sz="1400" dirty="0"/>
          </a:p>
        </p:txBody>
      </p:sp>
      <p:sp>
        <p:nvSpPr>
          <p:cNvPr id="24" name="Shape 22"/>
          <p:cNvSpPr/>
          <p:nvPr/>
        </p:nvSpPr>
        <p:spPr>
          <a:xfrm>
            <a:off x="7406640" y="3209544"/>
            <a:ext cx="4325112" cy="548640"/>
          </a:xfrm>
          <a:prstGeom prst="rect">
            <a:avLst/>
          </a:prstGeom>
          <a:solidFill>
            <a:srgbClr val="DDEBF3"/>
          </a:solidFill>
          <a:ln w="12700">
            <a:solidFill>
              <a:srgbClr val="156082"/>
            </a:solidFill>
            <a:prstDash val="solid"/>
          </a:ln>
        </p:spPr>
        <p:txBody>
          <a:bodyPr/>
          <a:lstStyle/>
          <a:p>
            <a:endParaRPr lang="ja-JP" altLang="en-US"/>
          </a:p>
        </p:txBody>
      </p:sp>
      <p:sp>
        <p:nvSpPr>
          <p:cNvPr id="25" name="Text 23"/>
          <p:cNvSpPr txBox="1"/>
          <p:nvPr/>
        </p:nvSpPr>
        <p:spPr>
          <a:xfrm>
            <a:off x="7516368" y="3209544"/>
            <a:ext cx="1508760" cy="548640"/>
          </a:xfrm>
          <a:prstGeom prst="rect">
            <a:avLst/>
          </a:prstGeom>
          <a:noFill/>
          <a:ln/>
        </p:spPr>
        <p:txBody>
          <a:bodyPr wrap="square" lIns="0" tIns="0" rIns="0" bIns="0" rtlCol="0" anchor="ctr"/>
          <a:lstStyle/>
          <a:p>
            <a:pPr marL="0" indent="0">
              <a:buNone/>
            </a:pPr>
            <a:r>
              <a:rPr lang="en-US" sz="1400" b="1" dirty="0">
                <a:solidFill>
                  <a:srgbClr val="000000"/>
                </a:solidFill>
                <a:latin typeface="游ゴシック" pitchFamily="34" charset="0"/>
                <a:ea typeface="游ゴシック" pitchFamily="34" charset="-122"/>
                <a:cs typeface="游ゴシック" pitchFamily="34" charset="-120"/>
              </a:rPr>
              <a:t>AXISRAM3</a:t>
            </a:r>
            <a:endParaRPr lang="en-US" sz="1400" dirty="0"/>
          </a:p>
        </p:txBody>
      </p:sp>
      <p:sp>
        <p:nvSpPr>
          <p:cNvPr id="26" name="Text 24"/>
          <p:cNvSpPr txBox="1"/>
          <p:nvPr/>
        </p:nvSpPr>
        <p:spPr>
          <a:xfrm>
            <a:off x="9052560" y="3209544"/>
            <a:ext cx="2587752" cy="548640"/>
          </a:xfrm>
          <a:prstGeom prst="rect">
            <a:avLst/>
          </a:prstGeom>
          <a:noFill/>
          <a:ln/>
        </p:spPr>
        <p:txBody>
          <a:bodyPr wrap="square" lIns="0" tIns="0" rIns="0" bIns="0" rtlCol="0" anchor="ct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384 KB　LCD の画面</a:t>
            </a:r>
            <a:endParaRPr lang="en-US" sz="1400" dirty="0"/>
          </a:p>
        </p:txBody>
      </p:sp>
      <p:sp>
        <p:nvSpPr>
          <p:cNvPr id="27" name="Shape 25"/>
          <p:cNvSpPr/>
          <p:nvPr/>
        </p:nvSpPr>
        <p:spPr>
          <a:xfrm>
            <a:off x="7406640" y="3813048"/>
            <a:ext cx="4325112" cy="548640"/>
          </a:xfrm>
          <a:prstGeom prst="rect">
            <a:avLst/>
          </a:prstGeom>
          <a:solidFill>
            <a:srgbClr val="DDEBF3"/>
          </a:solidFill>
          <a:ln w="12700">
            <a:solidFill>
              <a:srgbClr val="156082"/>
            </a:solidFill>
            <a:prstDash val="solid"/>
          </a:ln>
        </p:spPr>
        <p:txBody>
          <a:bodyPr/>
          <a:lstStyle/>
          <a:p>
            <a:endParaRPr lang="ja-JP" altLang="en-US"/>
          </a:p>
        </p:txBody>
      </p:sp>
      <p:sp>
        <p:nvSpPr>
          <p:cNvPr id="28" name="Text 26"/>
          <p:cNvSpPr txBox="1"/>
          <p:nvPr/>
        </p:nvSpPr>
        <p:spPr>
          <a:xfrm>
            <a:off x="7516368" y="3813048"/>
            <a:ext cx="1508760" cy="548640"/>
          </a:xfrm>
          <a:prstGeom prst="rect">
            <a:avLst/>
          </a:prstGeom>
          <a:noFill/>
          <a:ln/>
        </p:spPr>
        <p:txBody>
          <a:bodyPr wrap="square" lIns="0" tIns="0" rIns="0" bIns="0" rtlCol="0" anchor="ctr"/>
          <a:lstStyle/>
          <a:p>
            <a:pPr marL="0" indent="0">
              <a:buNone/>
            </a:pPr>
            <a:r>
              <a:rPr lang="en-US" sz="1400" b="1" dirty="0">
                <a:solidFill>
                  <a:srgbClr val="000000"/>
                </a:solidFill>
                <a:latin typeface="游ゴシック" pitchFamily="34" charset="0"/>
                <a:ea typeface="游ゴシック" pitchFamily="34" charset="-122"/>
                <a:cs typeface="游ゴシック" pitchFamily="34" charset="-120"/>
              </a:rPr>
              <a:t>AXISRAM4</a:t>
            </a:r>
            <a:endParaRPr lang="en-US" sz="1400" dirty="0"/>
          </a:p>
        </p:txBody>
      </p:sp>
      <p:sp>
        <p:nvSpPr>
          <p:cNvPr id="29" name="Text 27"/>
          <p:cNvSpPr txBox="1"/>
          <p:nvPr/>
        </p:nvSpPr>
        <p:spPr>
          <a:xfrm>
            <a:off x="9052560" y="3813048"/>
            <a:ext cx="2587752" cy="548640"/>
          </a:xfrm>
          <a:prstGeom prst="rect">
            <a:avLst/>
          </a:prstGeom>
          <a:noFill/>
          <a:ln/>
        </p:spPr>
        <p:txBody>
          <a:bodyPr wrap="square" lIns="0" tIns="0" rIns="0" bIns="0" rtlCol="0" anchor="ct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148 KB　FSD50K 版の重み</a:t>
            </a:r>
            <a:endParaRPr lang="en-US" sz="1400" dirty="0"/>
          </a:p>
        </p:txBody>
      </p:sp>
      <p:sp>
        <p:nvSpPr>
          <p:cNvPr id="30" name="Shape 28"/>
          <p:cNvSpPr/>
          <p:nvPr/>
        </p:nvSpPr>
        <p:spPr>
          <a:xfrm>
            <a:off x="7406640" y="4416552"/>
            <a:ext cx="4325112" cy="548640"/>
          </a:xfrm>
          <a:prstGeom prst="rect">
            <a:avLst/>
          </a:prstGeom>
          <a:solidFill>
            <a:srgbClr val="DDEBF3"/>
          </a:solidFill>
          <a:ln w="12700">
            <a:solidFill>
              <a:srgbClr val="156082"/>
            </a:solidFill>
            <a:prstDash val="solid"/>
          </a:ln>
        </p:spPr>
        <p:txBody>
          <a:bodyPr/>
          <a:lstStyle/>
          <a:p>
            <a:endParaRPr lang="ja-JP" altLang="en-US"/>
          </a:p>
        </p:txBody>
      </p:sp>
      <p:sp>
        <p:nvSpPr>
          <p:cNvPr id="31" name="Text 29"/>
          <p:cNvSpPr txBox="1"/>
          <p:nvPr/>
        </p:nvSpPr>
        <p:spPr>
          <a:xfrm>
            <a:off x="7516368" y="4416552"/>
            <a:ext cx="1508760" cy="548640"/>
          </a:xfrm>
          <a:prstGeom prst="rect">
            <a:avLst/>
          </a:prstGeom>
          <a:noFill/>
          <a:ln/>
        </p:spPr>
        <p:txBody>
          <a:bodyPr wrap="square" lIns="0" tIns="0" rIns="0" bIns="0" rtlCol="0" anchor="ctr"/>
          <a:lstStyle/>
          <a:p>
            <a:pPr marL="0" indent="0">
              <a:buNone/>
            </a:pPr>
            <a:r>
              <a:rPr lang="en-US" sz="1400" b="1" dirty="0">
                <a:solidFill>
                  <a:srgbClr val="000000"/>
                </a:solidFill>
                <a:latin typeface="游ゴシック" pitchFamily="34" charset="0"/>
                <a:ea typeface="游ゴシック" pitchFamily="34" charset="-122"/>
                <a:cs typeface="游ゴシック" pitchFamily="34" charset="-120"/>
              </a:rPr>
              <a:t>AXISRAM6</a:t>
            </a:r>
            <a:endParaRPr lang="en-US" sz="1400" dirty="0"/>
          </a:p>
        </p:txBody>
      </p:sp>
      <p:sp>
        <p:nvSpPr>
          <p:cNvPr id="32" name="Text 30"/>
          <p:cNvSpPr txBox="1"/>
          <p:nvPr/>
        </p:nvSpPr>
        <p:spPr>
          <a:xfrm>
            <a:off x="9052560" y="4416552"/>
            <a:ext cx="2587752" cy="548640"/>
          </a:xfrm>
          <a:prstGeom prst="rect">
            <a:avLst/>
          </a:prstGeom>
          <a:noFill/>
          <a:ln/>
        </p:spPr>
        <p:txBody>
          <a:bodyPr wrap="square" lIns="0" tIns="0" rIns="0" bIns="0" rtlCol="0" anchor="ct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144 KB　NPU の作業域</a:t>
            </a:r>
            <a:endParaRPr lang="en-US" sz="1400" dirty="0"/>
          </a:p>
        </p:txBody>
      </p:sp>
      <p:sp>
        <p:nvSpPr>
          <p:cNvPr id="33" name="Shape 31"/>
          <p:cNvSpPr/>
          <p:nvPr/>
        </p:nvSpPr>
        <p:spPr>
          <a:xfrm>
            <a:off x="7406640" y="5020056"/>
            <a:ext cx="4325112" cy="548640"/>
          </a:xfrm>
          <a:prstGeom prst="rect">
            <a:avLst/>
          </a:prstGeom>
          <a:solidFill>
            <a:srgbClr val="FBE9D3"/>
          </a:solidFill>
          <a:ln w="12700">
            <a:solidFill>
              <a:srgbClr val="E07B00"/>
            </a:solidFill>
            <a:prstDash val="solid"/>
          </a:ln>
        </p:spPr>
        <p:txBody>
          <a:bodyPr/>
          <a:lstStyle/>
          <a:p>
            <a:endParaRPr lang="ja-JP" altLang="en-US"/>
          </a:p>
        </p:txBody>
      </p:sp>
      <p:sp>
        <p:nvSpPr>
          <p:cNvPr id="34" name="Text 32"/>
          <p:cNvSpPr txBox="1"/>
          <p:nvPr/>
        </p:nvSpPr>
        <p:spPr>
          <a:xfrm>
            <a:off x="7516368" y="5020056"/>
            <a:ext cx="1508760" cy="548640"/>
          </a:xfrm>
          <a:prstGeom prst="rect">
            <a:avLst/>
          </a:prstGeom>
          <a:noFill/>
          <a:ln/>
        </p:spPr>
        <p:txBody>
          <a:bodyPr wrap="square" lIns="0" tIns="0" rIns="0" bIns="0" rtlCol="0" anchor="ctr"/>
          <a:lstStyle/>
          <a:p>
            <a:pPr marL="0" indent="0">
              <a:buNone/>
            </a:pPr>
            <a:r>
              <a:rPr lang="en-US" sz="1400" b="1" dirty="0">
                <a:solidFill>
                  <a:srgbClr val="000000"/>
                </a:solidFill>
                <a:latin typeface="游ゴシック" pitchFamily="34" charset="0"/>
                <a:ea typeface="游ゴシック" pitchFamily="34" charset="-122"/>
                <a:cs typeface="游ゴシック" pitchFamily="34" charset="-120"/>
              </a:rPr>
              <a:t>外部フラッシュ</a:t>
            </a:r>
            <a:endParaRPr lang="en-US" sz="1400" dirty="0"/>
          </a:p>
        </p:txBody>
      </p:sp>
      <p:sp>
        <p:nvSpPr>
          <p:cNvPr id="35" name="Text 33"/>
          <p:cNvSpPr txBox="1"/>
          <p:nvPr/>
        </p:nvSpPr>
        <p:spPr>
          <a:xfrm>
            <a:off x="9052560" y="5020056"/>
            <a:ext cx="2587752" cy="548640"/>
          </a:xfrm>
          <a:prstGeom prst="rect">
            <a:avLst/>
          </a:prstGeom>
          <a:noFill/>
          <a:ln/>
        </p:spPr>
        <p:txBody>
          <a:bodyPr wrap="square" lIns="0" tIns="0" rIns="0" bIns="0" rtlCol="0" anchor="ct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3.1 MiB　ESC-10 版の重み</a:t>
            </a:r>
            <a:endParaRPr lang="en-US" sz="1400" dirty="0"/>
          </a:p>
        </p:txBody>
      </p:sp>
      <p:sp>
        <p:nvSpPr>
          <p:cNvPr id="36" name="Text 34"/>
          <p:cNvSpPr txBox="1"/>
          <p:nvPr/>
        </p:nvSpPr>
        <p:spPr>
          <a:xfrm>
            <a:off x="7406640" y="5669280"/>
            <a:ext cx="4325112" cy="320040"/>
          </a:xfrm>
          <a:prstGeom prst="rect">
            <a:avLst/>
          </a:prstGeom>
          <a:noFill/>
          <a:ln/>
        </p:spPr>
        <p:txBody>
          <a:bodyPr wrap="square" lIns="0" tIns="0" rIns="0" bIns="0" rtlCol="0" anchor="ctr"/>
          <a:lstStyle/>
          <a:p>
            <a:pPr marL="0" indent="0">
              <a:buNone/>
            </a:pPr>
            <a:r>
              <a:rPr lang="en-US" sz="1500" b="1" dirty="0">
                <a:solidFill>
                  <a:srgbClr val="000000"/>
                </a:solidFill>
                <a:latin typeface="游ゴシック" pitchFamily="34" charset="0"/>
                <a:ea typeface="游ゴシック" pitchFamily="34" charset="-122"/>
                <a:cs typeface="游ゴシック" pitchFamily="34" charset="-120"/>
              </a:rPr>
              <a:t>プログラム 372 KB（ESC-10 版）</a:t>
            </a:r>
            <a:endParaRPr lang="en-US" sz="1500" dirty="0"/>
          </a:p>
        </p:txBody>
      </p:sp>
      <p:sp>
        <p:nvSpPr>
          <p:cNvPr id="37" name="Text 35"/>
          <p:cNvSpPr txBox="1"/>
          <p:nvPr/>
        </p:nvSpPr>
        <p:spPr>
          <a:xfrm>
            <a:off x="457200" y="6379899"/>
            <a:ext cx="11274552" cy="411480"/>
          </a:xfrm>
          <a:prstGeom prst="rect">
            <a:avLst/>
          </a:prstGeom>
          <a:noFill/>
          <a:ln/>
        </p:spPr>
        <p:txBody>
          <a:bodyPr wrap="square" lIns="0" tIns="0" rIns="0" bIns="0" rtlCol="0" anchor="ctr"/>
          <a:lstStyle/>
          <a:p>
            <a:pPr marL="0" indent="0">
              <a:buNone/>
            </a:pPr>
            <a:r>
              <a:rPr lang="ja-JP" altLang="en-US" sz="2000" b="1" dirty="0">
                <a:solidFill>
                  <a:srgbClr val="595959"/>
                </a:solidFill>
                <a:latin typeface="游ゴシック" pitchFamily="34" charset="0"/>
                <a:ea typeface="游ゴシック" pitchFamily="34" charset="-122"/>
                <a:cs typeface="游ゴシック" pitchFamily="34" charset="-120"/>
              </a:rPr>
              <a:t>→</a:t>
            </a:r>
            <a:r>
              <a:rPr lang="en-US" sz="2000" b="1" dirty="0" err="1">
                <a:solidFill>
                  <a:srgbClr val="595959"/>
                </a:solidFill>
                <a:latin typeface="游ゴシック" pitchFamily="34" charset="0"/>
                <a:ea typeface="游ゴシック" pitchFamily="34" charset="-122"/>
                <a:cs typeface="游ゴシック" pitchFamily="34" charset="-120"/>
              </a:rPr>
              <a:t>省電力は未計測。空いている</a:t>
            </a:r>
            <a:r>
              <a:rPr lang="en-US" sz="2000" b="1" dirty="0">
                <a:solidFill>
                  <a:srgbClr val="595959"/>
                </a:solidFill>
                <a:latin typeface="游ゴシック" pitchFamily="34" charset="0"/>
                <a:ea typeface="游ゴシック" pitchFamily="34" charset="-122"/>
                <a:cs typeface="游ゴシック" pitchFamily="34" charset="-120"/>
              </a:rPr>
              <a:t> 88% の時間に待機命令（WFI）を入れるのが次の一手（9 章）</a:t>
            </a:r>
            <a:endParaRPr lang="en-US" sz="2000" b="1"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3　工夫：無いものは作り、作ったものは確かめる</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Shape 2"/>
          <p:cNvSpPr/>
          <p:nvPr/>
        </p:nvSpPr>
        <p:spPr>
          <a:xfrm>
            <a:off x="0" y="1051560"/>
            <a:ext cx="12191695" cy="1097280"/>
          </a:xfrm>
          <a:prstGeom prst="rect">
            <a:avLst/>
          </a:prstGeom>
          <a:solidFill>
            <a:srgbClr val="DDEBF3"/>
          </a:solidFill>
          <a:ln w="12700">
            <a:solidFill>
              <a:srgbClr val="DDEBF3"/>
            </a:solidFill>
            <a:prstDash val="solid"/>
          </a:ln>
        </p:spPr>
        <p:txBody>
          <a:bodyPr/>
          <a:lstStyle/>
          <a:p>
            <a:endParaRPr lang="ja-JP" altLang="en-US"/>
          </a:p>
        </p:txBody>
      </p:sp>
      <p:sp>
        <p:nvSpPr>
          <p:cNvPr id="5" name="Text 3"/>
          <p:cNvSpPr txBox="1"/>
          <p:nvPr/>
        </p:nvSpPr>
        <p:spPr>
          <a:xfrm>
            <a:off x="457200" y="1097280"/>
            <a:ext cx="11274552" cy="1005840"/>
          </a:xfrm>
          <a:prstGeom prst="rect">
            <a:avLst/>
          </a:prstGeom>
          <a:noFill/>
          <a:ln/>
        </p:spPr>
        <p:txBody>
          <a:bodyPr wrap="square" lIns="0" tIns="0" rIns="0" bIns="0" rtlCol="0" anchor="ctr"/>
          <a:lstStyle/>
          <a:p>
            <a:pPr marL="0" indent="0">
              <a:buNone/>
            </a:pPr>
            <a:r>
              <a:rPr lang="en-US" sz="2800" b="1" dirty="0">
                <a:solidFill>
                  <a:srgbClr val="FF0000"/>
                </a:solidFill>
                <a:latin typeface="游ゴシック" pitchFamily="34" charset="0"/>
                <a:ea typeface="游ゴシック" pitchFamily="34" charset="-122"/>
                <a:cs typeface="游ゴシック" pitchFamily="34" charset="-120"/>
              </a:rPr>
              <a:t>BSP2 </a:t>
            </a:r>
            <a:r>
              <a:rPr lang="en-US" sz="2800" b="1" dirty="0" err="1">
                <a:solidFill>
                  <a:srgbClr val="FF0000"/>
                </a:solidFill>
                <a:latin typeface="游ゴシック" pitchFamily="34" charset="0"/>
                <a:ea typeface="游ゴシック" pitchFamily="34" charset="-122"/>
                <a:cs typeface="游ゴシック" pitchFamily="34" charset="-120"/>
              </a:rPr>
              <a:t>に無かった初期化と前処理を自作し</a:t>
            </a:r>
            <a:r>
              <a:rPr lang="en-US" sz="2800" b="1" dirty="0">
                <a:solidFill>
                  <a:srgbClr val="FF0000"/>
                </a:solidFill>
                <a:latin typeface="游ゴシック" pitchFamily="34" charset="0"/>
                <a:ea typeface="游ゴシック" pitchFamily="34" charset="-122"/>
                <a:cs typeface="游ゴシック" pitchFamily="34" charset="-120"/>
              </a:rPr>
              <a:t>、</a:t>
            </a:r>
          </a:p>
          <a:p>
            <a:pPr marL="0" indent="0">
              <a:buNone/>
            </a:pPr>
            <a:r>
              <a:rPr lang="en-US" sz="2800" b="1" dirty="0" err="1">
                <a:solidFill>
                  <a:srgbClr val="FF0000"/>
                </a:solidFill>
                <a:latin typeface="游ゴシック" pitchFamily="34" charset="0"/>
                <a:ea typeface="游ゴシック" pitchFamily="34" charset="-122"/>
                <a:cs typeface="游ゴシック" pitchFamily="34" charset="-120"/>
              </a:rPr>
              <a:t>起動のたびに正しさを確かめる</a:t>
            </a:r>
            <a:endParaRPr lang="en-US" sz="2800" dirty="0"/>
          </a:p>
        </p:txBody>
      </p:sp>
      <p:sp>
        <p:nvSpPr>
          <p:cNvPr id="6" name="Text 4"/>
          <p:cNvSpPr txBox="1"/>
          <p:nvPr/>
        </p:nvSpPr>
        <p:spPr>
          <a:xfrm>
            <a:off x="457200" y="6217920"/>
            <a:ext cx="1234440" cy="420624"/>
          </a:xfrm>
          <a:prstGeom prst="rect">
            <a:avLst/>
          </a:prstGeom>
          <a:noFill/>
          <a:ln/>
        </p:spPr>
        <p:txBody>
          <a:bodyPr wrap="square" lIns="0" tIns="0" rIns="0" bIns="0" rtlCol="0" anchor="ctr"/>
          <a:lstStyle/>
          <a:p>
            <a:pPr marL="0" indent="0">
              <a:buNone/>
            </a:pPr>
            <a:r>
              <a:rPr lang="en-US" sz="1300" dirty="0">
                <a:solidFill>
                  <a:srgbClr val="595959"/>
                </a:solidFill>
                <a:latin typeface="游ゴシック" pitchFamily="34" charset="0"/>
                <a:ea typeface="游ゴシック" pitchFamily="34" charset="-122"/>
                <a:cs typeface="游ゴシック" pitchFamily="34" charset="-120"/>
              </a:rPr>
              <a:t>この章の流れ</a:t>
            </a:r>
            <a:endParaRPr lang="en-US" sz="1300" dirty="0"/>
          </a:p>
        </p:txBody>
      </p:sp>
      <p:sp>
        <p:nvSpPr>
          <p:cNvPr id="7" name="Shape 5"/>
          <p:cNvSpPr/>
          <p:nvPr/>
        </p:nvSpPr>
        <p:spPr>
          <a:xfrm>
            <a:off x="1737360" y="6217920"/>
            <a:ext cx="4850892" cy="420624"/>
          </a:xfrm>
          <a:prstGeom prst="rect">
            <a:avLst/>
          </a:prstGeom>
          <a:solidFill>
            <a:srgbClr val="FFFFFF"/>
          </a:solidFill>
          <a:ln w="15875">
            <a:solidFill>
              <a:srgbClr val="156082"/>
            </a:solidFill>
            <a:prstDash val="solid"/>
          </a:ln>
        </p:spPr>
        <p:txBody>
          <a:bodyPr/>
          <a:lstStyle/>
          <a:p>
            <a:endParaRPr lang="ja-JP" altLang="en-US"/>
          </a:p>
        </p:txBody>
      </p:sp>
      <p:sp>
        <p:nvSpPr>
          <p:cNvPr id="8" name="Text 6"/>
          <p:cNvSpPr txBox="1"/>
          <p:nvPr/>
        </p:nvSpPr>
        <p:spPr>
          <a:xfrm>
            <a:off x="1783080" y="6217920"/>
            <a:ext cx="47594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3-1 BSP2 に無かった初期化</a:t>
            </a:r>
            <a:endParaRPr lang="en-US" sz="1400" dirty="0"/>
          </a:p>
        </p:txBody>
      </p:sp>
      <p:sp>
        <p:nvSpPr>
          <p:cNvPr id="9" name="Shape 7"/>
          <p:cNvSpPr/>
          <p:nvPr/>
        </p:nvSpPr>
        <p:spPr>
          <a:xfrm>
            <a:off x="666140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10" name="Shape 8"/>
          <p:cNvSpPr/>
          <p:nvPr/>
        </p:nvSpPr>
        <p:spPr>
          <a:xfrm>
            <a:off x="6880860" y="6217920"/>
            <a:ext cx="4850892" cy="420624"/>
          </a:xfrm>
          <a:prstGeom prst="rect">
            <a:avLst/>
          </a:prstGeom>
          <a:solidFill>
            <a:srgbClr val="FFFFFF"/>
          </a:solidFill>
          <a:ln w="15875">
            <a:solidFill>
              <a:srgbClr val="156082"/>
            </a:solidFill>
            <a:prstDash val="solid"/>
          </a:ln>
        </p:spPr>
        <p:txBody>
          <a:bodyPr/>
          <a:lstStyle/>
          <a:p>
            <a:endParaRPr lang="ja-JP" altLang="en-US"/>
          </a:p>
        </p:txBody>
      </p:sp>
      <p:sp>
        <p:nvSpPr>
          <p:cNvPr id="11" name="Text 9"/>
          <p:cNvSpPr txBox="1"/>
          <p:nvPr/>
        </p:nvSpPr>
        <p:spPr>
          <a:xfrm>
            <a:off x="6926580" y="6217920"/>
            <a:ext cx="47594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3-2 前処理の自作</a:t>
            </a:r>
            <a:endParaRPr lang="en-US" sz="1400" dirty="0"/>
          </a:p>
        </p:txBody>
      </p:sp>
      <p:sp>
        <p:nvSpPr>
          <p:cNvPr id="12" name="Shape 10"/>
          <p:cNvSpPr/>
          <p:nvPr/>
        </p:nvSpPr>
        <p:spPr>
          <a:xfrm>
            <a:off x="457200" y="2331720"/>
            <a:ext cx="5532120" cy="3657600"/>
          </a:xfrm>
          <a:prstGeom prst="rect">
            <a:avLst/>
          </a:prstGeom>
          <a:solidFill>
            <a:srgbClr val="F2F2F2"/>
          </a:solidFill>
          <a:ln w="12700">
            <a:solidFill>
              <a:srgbClr val="BFBFBF"/>
            </a:solidFill>
            <a:prstDash val="solid"/>
          </a:ln>
        </p:spPr>
        <p:txBody>
          <a:bodyPr/>
          <a:lstStyle/>
          <a:p>
            <a:endParaRPr lang="ja-JP" altLang="en-US"/>
          </a:p>
        </p:txBody>
      </p:sp>
      <p:sp>
        <p:nvSpPr>
          <p:cNvPr id="13" name="Shape 11"/>
          <p:cNvSpPr/>
          <p:nvPr/>
        </p:nvSpPr>
        <p:spPr>
          <a:xfrm>
            <a:off x="685800" y="2560320"/>
            <a:ext cx="731520" cy="731520"/>
          </a:xfrm>
          <a:prstGeom prst="ellipse">
            <a:avLst/>
          </a:prstGeom>
          <a:solidFill>
            <a:srgbClr val="156082"/>
          </a:solidFill>
          <a:ln w="12700">
            <a:solidFill>
              <a:srgbClr val="156082"/>
            </a:solidFill>
            <a:prstDash val="solid"/>
          </a:ln>
        </p:spPr>
        <p:txBody>
          <a:bodyPr/>
          <a:lstStyle/>
          <a:p>
            <a:endParaRPr lang="ja-JP" altLang="en-US"/>
          </a:p>
        </p:txBody>
      </p:sp>
      <p:pic>
        <p:nvPicPr>
          <p:cNvPr id="14" name="Image 0" descr="/home/claude/v4/icons/FaCogs_FFFFFF.png"/>
          <p:cNvPicPr>
            <a:picLocks noChangeAspect="1"/>
          </p:cNvPicPr>
          <p:nvPr/>
        </p:nvPicPr>
        <p:blipFill>
          <a:blip r:embed="rId3"/>
          <a:stretch>
            <a:fillRect/>
          </a:stretch>
        </p:blipFill>
        <p:spPr>
          <a:xfrm>
            <a:off x="822960" y="2697480"/>
            <a:ext cx="457200" cy="457200"/>
          </a:xfrm>
          <a:prstGeom prst="rect">
            <a:avLst/>
          </a:prstGeom>
        </p:spPr>
      </p:pic>
      <p:sp>
        <p:nvSpPr>
          <p:cNvPr id="15" name="Text 12"/>
          <p:cNvSpPr txBox="1"/>
          <p:nvPr/>
        </p:nvSpPr>
        <p:spPr>
          <a:xfrm>
            <a:off x="1554480" y="2560320"/>
            <a:ext cx="4297680" cy="731520"/>
          </a:xfrm>
          <a:prstGeom prst="rect">
            <a:avLst/>
          </a:prstGeom>
          <a:noFill/>
          <a:ln/>
        </p:spPr>
        <p:txBody>
          <a:bodyPr wrap="square" lIns="0" tIns="0" rIns="0" bIns="0" rtlCol="0" anchor="ctr"/>
          <a:lstStyle/>
          <a:p>
            <a:pPr marL="0" indent="0">
              <a:buNone/>
            </a:pPr>
            <a:r>
              <a:rPr lang="en-US" sz="2200" b="1" dirty="0">
                <a:solidFill>
                  <a:srgbClr val="000000"/>
                </a:solidFill>
                <a:latin typeface="游ゴシック" pitchFamily="34" charset="0"/>
                <a:ea typeface="游ゴシック" pitchFamily="34" charset="-122"/>
                <a:cs typeface="游ゴシック" pitchFamily="34" charset="-120"/>
              </a:rPr>
              <a:t>NPU・外部フラッシュ・LCD の初期化</a:t>
            </a:r>
            <a:endParaRPr lang="en-US" sz="2200" dirty="0"/>
          </a:p>
        </p:txBody>
      </p:sp>
      <p:sp>
        <p:nvSpPr>
          <p:cNvPr id="16" name="Text 13"/>
          <p:cNvSpPr txBox="1"/>
          <p:nvPr/>
        </p:nvSpPr>
        <p:spPr>
          <a:xfrm>
            <a:off x="731520" y="3520440"/>
            <a:ext cx="4983480" cy="914400"/>
          </a:xfrm>
          <a:prstGeom prst="rect">
            <a:avLst/>
          </a:prstGeom>
          <a:noFill/>
          <a:ln/>
        </p:spPr>
        <p:txBody>
          <a:bodyPr wrap="square" lIns="0" tIns="0" rIns="0" bIns="0" rtlCol="0" anchor="ctr"/>
          <a:lstStyle/>
          <a:p>
            <a:pPr marL="0" indent="0" algn="ctr">
              <a:buNone/>
            </a:pPr>
            <a:r>
              <a:rPr lang="en-US" sz="4800" b="1" dirty="0">
                <a:solidFill>
                  <a:srgbClr val="156082"/>
                </a:solidFill>
                <a:latin typeface="游ゴシック" pitchFamily="34" charset="0"/>
                <a:ea typeface="游ゴシック" pitchFamily="34" charset="-122"/>
                <a:cs typeface="游ゴシック" pitchFamily="34" charset="-120"/>
              </a:rPr>
              <a:t>4 段</a:t>
            </a:r>
            <a:endParaRPr lang="en-US" sz="4800" dirty="0"/>
          </a:p>
        </p:txBody>
      </p:sp>
      <p:sp>
        <p:nvSpPr>
          <p:cNvPr id="17" name="Text 14"/>
          <p:cNvSpPr txBox="1"/>
          <p:nvPr/>
        </p:nvSpPr>
        <p:spPr>
          <a:xfrm>
            <a:off x="731520" y="4480560"/>
            <a:ext cx="4983480" cy="457200"/>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すべてレジスタを読み戻して一致を確認</a:t>
            </a:r>
            <a:endParaRPr lang="en-US" sz="2000" dirty="0"/>
          </a:p>
        </p:txBody>
      </p:sp>
      <p:sp>
        <p:nvSpPr>
          <p:cNvPr id="18" name="Text 15"/>
          <p:cNvSpPr txBox="1"/>
          <p:nvPr/>
        </p:nvSpPr>
        <p:spPr>
          <a:xfrm>
            <a:off x="731520" y="5074920"/>
            <a:ext cx="4983480" cy="731520"/>
          </a:xfrm>
          <a:prstGeom prst="rect">
            <a:avLst/>
          </a:prstGeom>
          <a:noFill/>
          <a:ln/>
        </p:spPr>
        <p:txBody>
          <a:bodyPr wrap="square" lIns="0" tIns="0" rIns="0" bIns="0" rtlCol="0" anchor="t"/>
          <a:lstStyle/>
          <a:p>
            <a:pPr marL="0" indent="0">
              <a:buNone/>
            </a:pPr>
            <a:r>
              <a:rPr lang="en-US" sz="1600" dirty="0">
                <a:solidFill>
                  <a:srgbClr val="595959"/>
                </a:solidFill>
                <a:latin typeface="游ゴシック" pitchFamily="34" charset="0"/>
                <a:ea typeface="游ゴシック" pitchFamily="34" charset="-122"/>
                <a:cs typeface="游ゴシック" pitchFamily="34" charset="-120"/>
              </a:rPr>
              <a:t>外部フラッシュ → NPU → LCD → フォールト基盤</a:t>
            </a:r>
            <a:endParaRPr lang="en-US" sz="1600" dirty="0"/>
          </a:p>
        </p:txBody>
      </p:sp>
      <p:sp>
        <p:nvSpPr>
          <p:cNvPr id="19" name="Shape 16"/>
          <p:cNvSpPr/>
          <p:nvPr/>
        </p:nvSpPr>
        <p:spPr>
          <a:xfrm>
            <a:off x="6199632" y="2331720"/>
            <a:ext cx="5532120" cy="3657600"/>
          </a:xfrm>
          <a:prstGeom prst="rect">
            <a:avLst/>
          </a:prstGeom>
          <a:solidFill>
            <a:srgbClr val="F2F2F2"/>
          </a:solidFill>
          <a:ln w="12700">
            <a:solidFill>
              <a:srgbClr val="BFBFBF"/>
            </a:solidFill>
            <a:prstDash val="solid"/>
          </a:ln>
        </p:spPr>
        <p:txBody>
          <a:bodyPr/>
          <a:lstStyle/>
          <a:p>
            <a:endParaRPr lang="ja-JP" altLang="en-US"/>
          </a:p>
        </p:txBody>
      </p:sp>
      <p:sp>
        <p:nvSpPr>
          <p:cNvPr id="20" name="Shape 17"/>
          <p:cNvSpPr/>
          <p:nvPr/>
        </p:nvSpPr>
        <p:spPr>
          <a:xfrm>
            <a:off x="6428232" y="2560320"/>
            <a:ext cx="731520" cy="731520"/>
          </a:xfrm>
          <a:prstGeom prst="ellipse">
            <a:avLst/>
          </a:prstGeom>
          <a:solidFill>
            <a:srgbClr val="156082"/>
          </a:solidFill>
          <a:ln w="12700">
            <a:solidFill>
              <a:srgbClr val="156082"/>
            </a:solidFill>
            <a:prstDash val="solid"/>
          </a:ln>
        </p:spPr>
        <p:txBody>
          <a:bodyPr/>
          <a:lstStyle/>
          <a:p>
            <a:endParaRPr lang="ja-JP" altLang="en-US"/>
          </a:p>
        </p:txBody>
      </p:sp>
      <p:pic>
        <p:nvPicPr>
          <p:cNvPr id="21" name="Image 1" descr="/home/claude/v4/icons/FaWaveSquare_FFFFFF.png"/>
          <p:cNvPicPr>
            <a:picLocks noChangeAspect="1"/>
          </p:cNvPicPr>
          <p:nvPr/>
        </p:nvPicPr>
        <p:blipFill>
          <a:blip r:embed="rId4"/>
          <a:stretch>
            <a:fillRect/>
          </a:stretch>
        </p:blipFill>
        <p:spPr>
          <a:xfrm>
            <a:off x="6565392" y="2697480"/>
            <a:ext cx="457200" cy="457200"/>
          </a:xfrm>
          <a:prstGeom prst="rect">
            <a:avLst/>
          </a:prstGeom>
        </p:spPr>
      </p:pic>
      <p:sp>
        <p:nvSpPr>
          <p:cNvPr id="22" name="Text 18"/>
          <p:cNvSpPr txBox="1"/>
          <p:nvPr/>
        </p:nvSpPr>
        <p:spPr>
          <a:xfrm>
            <a:off x="7296912" y="2560320"/>
            <a:ext cx="4297680" cy="731520"/>
          </a:xfrm>
          <a:prstGeom prst="rect">
            <a:avLst/>
          </a:prstGeom>
          <a:noFill/>
          <a:ln/>
        </p:spPr>
        <p:txBody>
          <a:bodyPr wrap="square" lIns="0" tIns="0" rIns="0" bIns="0" rtlCol="0" anchor="ctr"/>
          <a:lstStyle/>
          <a:p>
            <a:pPr marL="0" indent="0">
              <a:buNone/>
            </a:pPr>
            <a:r>
              <a:rPr lang="en-US" sz="2200" b="1" dirty="0">
                <a:solidFill>
                  <a:srgbClr val="000000"/>
                </a:solidFill>
                <a:latin typeface="游ゴシック" pitchFamily="34" charset="0"/>
                <a:ea typeface="游ゴシック" pitchFamily="34" charset="-122"/>
                <a:cs typeface="游ゴシック" pitchFamily="34" charset="-120"/>
              </a:rPr>
              <a:t>音を画像にする前処理</a:t>
            </a:r>
            <a:endParaRPr lang="en-US" sz="2200" dirty="0"/>
          </a:p>
        </p:txBody>
      </p:sp>
      <p:sp>
        <p:nvSpPr>
          <p:cNvPr id="23" name="Text 19"/>
          <p:cNvSpPr txBox="1"/>
          <p:nvPr/>
        </p:nvSpPr>
        <p:spPr>
          <a:xfrm>
            <a:off x="6473952" y="3520440"/>
            <a:ext cx="4983480" cy="914400"/>
          </a:xfrm>
          <a:prstGeom prst="rect">
            <a:avLst/>
          </a:prstGeom>
          <a:noFill/>
          <a:ln/>
        </p:spPr>
        <p:txBody>
          <a:bodyPr wrap="square" lIns="0" tIns="0" rIns="0" bIns="0" rtlCol="0" anchor="ctr"/>
          <a:lstStyle/>
          <a:p>
            <a:pPr marL="0" indent="0" algn="ctr">
              <a:buNone/>
            </a:pPr>
            <a:r>
              <a:rPr lang="en-US" sz="4800" b="1" dirty="0">
                <a:solidFill>
                  <a:srgbClr val="008A5E"/>
                </a:solidFill>
                <a:latin typeface="游ゴシック" pitchFamily="34" charset="0"/>
                <a:ea typeface="游ゴシック" pitchFamily="34" charset="-122"/>
                <a:cs typeface="游ゴシック" pitchFamily="34" charset="-120"/>
              </a:rPr>
              <a:t>差 0 / 12,288</a:t>
            </a:r>
            <a:endParaRPr lang="en-US" sz="4800" dirty="0"/>
          </a:p>
        </p:txBody>
      </p:sp>
      <p:sp>
        <p:nvSpPr>
          <p:cNvPr id="24" name="Text 20"/>
          <p:cNvSpPr txBox="1"/>
          <p:nvPr/>
        </p:nvSpPr>
        <p:spPr>
          <a:xfrm>
            <a:off x="6473952" y="4480560"/>
            <a:ext cx="4983480" cy="457200"/>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板と PC の出力が 1 ビットも違わない</a:t>
            </a:r>
            <a:endParaRPr lang="en-US" sz="2000" dirty="0"/>
          </a:p>
        </p:txBody>
      </p:sp>
      <p:sp>
        <p:nvSpPr>
          <p:cNvPr id="25" name="Text 21"/>
          <p:cNvSpPr txBox="1"/>
          <p:nvPr/>
        </p:nvSpPr>
        <p:spPr>
          <a:xfrm>
            <a:off x="6473952" y="5074920"/>
            <a:ext cx="4983480" cy="731520"/>
          </a:xfrm>
          <a:prstGeom prst="rect">
            <a:avLst/>
          </a:prstGeom>
          <a:noFill/>
          <a:ln/>
        </p:spPr>
        <p:txBody>
          <a:bodyPr wrap="square" lIns="0" tIns="0" rIns="0" bIns="0" rtlCol="0" anchor="t"/>
          <a:lstStyle/>
          <a:p>
            <a:pPr marL="0" indent="0">
              <a:buNone/>
            </a:pPr>
            <a:r>
              <a:rPr lang="en-US" sz="1600" dirty="0">
                <a:solidFill>
                  <a:srgbClr val="595959"/>
                </a:solidFill>
                <a:latin typeface="游ゴシック" pitchFamily="34" charset="0"/>
                <a:ea typeface="游ゴシック" pitchFamily="34" charset="-122"/>
                <a:cs typeface="游ゴシック" pitchFamily="34" charset="-120"/>
              </a:rPr>
              <a:t>64 mel × 96 フレーム、int8 まで比較</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3-1　BSP2 に無かった 4 段の初期化</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417320"/>
            <a:ext cx="11274552" cy="548640"/>
          </a:xfrm>
          <a:prstGeom prst="rect">
            <a:avLst/>
          </a:prstGeom>
          <a:noFill/>
          <a:ln/>
        </p:spPr>
        <p:txBody>
          <a:bodyPr wrap="square" lIns="0" tIns="0" rIns="0" bIns="0" rtlCol="0" anchor="t"/>
          <a:lstStyle/>
          <a:p>
            <a:pPr marL="0" indent="0" algn="ctr">
              <a:buNone/>
            </a:pPr>
            <a:r>
              <a:rPr lang="en-US" sz="2800" b="1" dirty="0">
                <a:solidFill>
                  <a:srgbClr val="FF0000"/>
                </a:solidFill>
                <a:latin typeface="游ゴシック" pitchFamily="34" charset="0"/>
                <a:ea typeface="游ゴシック" pitchFamily="34" charset="-122"/>
                <a:cs typeface="游ゴシック" pitchFamily="34" charset="-120"/>
              </a:rPr>
              <a:t>初期化は 4 段。権限（RIF）を入れないと、黙って 0 が返る</a:t>
            </a:r>
            <a:endParaRPr lang="en-US" sz="2800" dirty="0"/>
          </a:p>
        </p:txBody>
      </p:sp>
      <p:sp>
        <p:nvSpPr>
          <p:cNvPr id="5" name="Shape 3"/>
          <p:cNvSpPr/>
          <p:nvPr/>
        </p:nvSpPr>
        <p:spPr>
          <a:xfrm>
            <a:off x="457200" y="2194560"/>
            <a:ext cx="2606040" cy="685800"/>
          </a:xfrm>
          <a:prstGeom prst="rect">
            <a:avLst/>
          </a:prstGeom>
          <a:solidFill>
            <a:srgbClr val="DDEBF3"/>
          </a:solidFill>
          <a:ln w="19050">
            <a:solidFill>
              <a:srgbClr val="156082"/>
            </a:solidFill>
            <a:prstDash val="solid"/>
          </a:ln>
        </p:spPr>
        <p:txBody>
          <a:bodyPr/>
          <a:lstStyle/>
          <a:p>
            <a:endParaRPr lang="ja-JP" altLang="en-US"/>
          </a:p>
        </p:txBody>
      </p:sp>
      <p:pic>
        <p:nvPicPr>
          <p:cNvPr id="6" name="Image 0" descr="/home/claude/v4/icons/FaBolt_156082.png"/>
          <p:cNvPicPr>
            <a:picLocks noChangeAspect="1"/>
          </p:cNvPicPr>
          <p:nvPr/>
        </p:nvPicPr>
        <p:blipFill>
          <a:blip r:embed="rId3"/>
          <a:stretch>
            <a:fillRect/>
          </a:stretch>
        </p:blipFill>
        <p:spPr>
          <a:xfrm>
            <a:off x="566928" y="2304288"/>
            <a:ext cx="457200" cy="457200"/>
          </a:xfrm>
          <a:prstGeom prst="rect">
            <a:avLst/>
          </a:prstGeom>
        </p:spPr>
      </p:pic>
      <p:sp>
        <p:nvSpPr>
          <p:cNvPr id="7" name="Text 4"/>
          <p:cNvSpPr txBox="1"/>
          <p:nvPr/>
        </p:nvSpPr>
        <p:spPr>
          <a:xfrm>
            <a:off x="1097280" y="2194560"/>
            <a:ext cx="1920240" cy="685800"/>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外部フラッシュ</a:t>
            </a:r>
            <a:endParaRPr lang="en-US" sz="1700" dirty="0"/>
          </a:p>
        </p:txBody>
      </p:sp>
      <p:sp>
        <p:nvSpPr>
          <p:cNvPr id="8" name="Shape 5"/>
          <p:cNvSpPr/>
          <p:nvPr/>
        </p:nvSpPr>
        <p:spPr>
          <a:xfrm>
            <a:off x="3090672" y="2395728"/>
            <a:ext cx="201168" cy="274320"/>
          </a:xfrm>
          <a:prstGeom prst="rightArrow">
            <a:avLst/>
          </a:prstGeom>
          <a:solidFill>
            <a:srgbClr val="156082"/>
          </a:solidFill>
          <a:ln w="12700">
            <a:solidFill>
              <a:srgbClr val="156082"/>
            </a:solidFill>
            <a:prstDash val="solid"/>
          </a:ln>
        </p:spPr>
        <p:txBody>
          <a:bodyPr/>
          <a:lstStyle/>
          <a:p>
            <a:endParaRPr lang="ja-JP" altLang="en-US"/>
          </a:p>
        </p:txBody>
      </p:sp>
      <p:sp>
        <p:nvSpPr>
          <p:cNvPr id="9" name="Text 6"/>
          <p:cNvSpPr txBox="1"/>
          <p:nvPr/>
        </p:nvSpPr>
        <p:spPr>
          <a:xfrm>
            <a:off x="502920" y="3017520"/>
            <a:ext cx="2514600" cy="1234440"/>
          </a:xfrm>
          <a:prstGeom prst="rect">
            <a:avLst/>
          </a:prstGeom>
          <a:noFill/>
          <a:ln/>
        </p:spPr>
        <p:txBody>
          <a:bodyPr wrap="square" lIns="0" tIns="0" rIns="0" bIns="0" rtlCol="0" anchor="t"/>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XSPI2 を 50 MHz の DTR-OPI で動かし、メモリとして読めるようにした</a:t>
            </a:r>
            <a:endParaRPr lang="en-US" sz="1600" dirty="0"/>
          </a:p>
        </p:txBody>
      </p:sp>
      <p:sp>
        <p:nvSpPr>
          <p:cNvPr id="10" name="Text 7"/>
          <p:cNvSpPr txBox="1"/>
          <p:nvPr/>
        </p:nvSpPr>
        <p:spPr>
          <a:xfrm>
            <a:off x="502920" y="4251960"/>
            <a:ext cx="2514600" cy="868680"/>
          </a:xfrm>
          <a:prstGeom prst="rect">
            <a:avLst/>
          </a:prstGeom>
          <a:noFill/>
          <a:ln/>
        </p:spPr>
        <p:txBody>
          <a:bodyPr wrap="square" lIns="0" tIns="0" rIns="0" bIns="0" rtlCol="0" anchor="t"/>
          <a:lstStyle/>
          <a:p>
            <a:pPr marL="0" indent="0">
              <a:buNone/>
            </a:pPr>
            <a:r>
              <a:rPr lang="en-US" sz="1500" b="1" dirty="0" err="1">
                <a:solidFill>
                  <a:srgbClr val="156082"/>
                </a:solidFill>
                <a:latin typeface="游ゴシック" pitchFamily="34" charset="0"/>
                <a:ea typeface="游ゴシック" pitchFamily="34" charset="-122"/>
                <a:cs typeface="游ゴシック" pitchFamily="34" charset="-120"/>
              </a:rPr>
              <a:t>確かめ方</a:t>
            </a:r>
            <a:r>
              <a:rPr lang="en-US" sz="1500" b="1" dirty="0">
                <a:solidFill>
                  <a:srgbClr val="156082"/>
                </a:solidFill>
                <a:latin typeface="游ゴシック" pitchFamily="34" charset="0"/>
                <a:ea typeface="游ゴシック" pitchFamily="34" charset="-122"/>
                <a:cs typeface="游ゴシック" pitchFamily="34" charset="-120"/>
              </a:rPr>
              <a:t>　</a:t>
            </a:r>
          </a:p>
          <a:p>
            <a:pPr marL="0" indent="0">
              <a:buNone/>
            </a:pPr>
            <a:r>
              <a:rPr lang="en-US" sz="1500" dirty="0">
                <a:solidFill>
                  <a:srgbClr val="000000"/>
                </a:solidFill>
                <a:latin typeface="游ゴシック" pitchFamily="34" charset="0"/>
                <a:ea typeface="游ゴシック" pitchFamily="34" charset="-122"/>
                <a:cs typeface="游ゴシック" pitchFamily="34" charset="-120"/>
              </a:rPr>
              <a:t>ID </a:t>
            </a:r>
            <a:r>
              <a:rPr lang="en-US" sz="1500" dirty="0" err="1">
                <a:solidFill>
                  <a:srgbClr val="000000"/>
                </a:solidFill>
                <a:latin typeface="游ゴシック" pitchFamily="34" charset="0"/>
                <a:ea typeface="游ゴシック" pitchFamily="34" charset="-122"/>
                <a:cs typeface="游ゴシック" pitchFamily="34" charset="-120"/>
              </a:rPr>
              <a:t>と設定の読み戻し</a:t>
            </a:r>
            <a:r>
              <a:rPr lang="en-US" sz="1500" dirty="0">
                <a:solidFill>
                  <a:srgbClr val="000000"/>
                </a:solidFill>
                <a:latin typeface="游ゴシック" pitchFamily="34" charset="0"/>
                <a:ea typeface="游ゴシック" pitchFamily="34" charset="-122"/>
                <a:cs typeface="游ゴシック" pitchFamily="34" charset="-120"/>
              </a:rPr>
              <a:t>、</a:t>
            </a:r>
          </a:p>
          <a:p>
            <a:pPr marL="0" indent="0">
              <a:buNone/>
            </a:pPr>
            <a:r>
              <a:rPr lang="en-US" sz="1500" dirty="0" err="1">
                <a:solidFill>
                  <a:srgbClr val="000000"/>
                </a:solidFill>
                <a:latin typeface="游ゴシック" pitchFamily="34" charset="0"/>
                <a:ea typeface="游ゴシック" pitchFamily="34" charset="-122"/>
                <a:cs typeface="游ゴシック" pitchFamily="34" charset="-120"/>
              </a:rPr>
              <a:t>既知データのハッシュ一致</a:t>
            </a:r>
            <a:endParaRPr lang="en-US" sz="1500" dirty="0"/>
          </a:p>
        </p:txBody>
      </p:sp>
      <p:sp>
        <p:nvSpPr>
          <p:cNvPr id="11" name="Shape 8"/>
          <p:cNvSpPr/>
          <p:nvPr/>
        </p:nvSpPr>
        <p:spPr>
          <a:xfrm>
            <a:off x="3310128" y="2194560"/>
            <a:ext cx="2606040" cy="685800"/>
          </a:xfrm>
          <a:prstGeom prst="rect">
            <a:avLst/>
          </a:prstGeom>
          <a:solidFill>
            <a:srgbClr val="DDEBF3"/>
          </a:solidFill>
          <a:ln w="19050">
            <a:solidFill>
              <a:srgbClr val="156082"/>
            </a:solidFill>
            <a:prstDash val="solid"/>
          </a:ln>
        </p:spPr>
        <p:txBody>
          <a:bodyPr/>
          <a:lstStyle/>
          <a:p>
            <a:endParaRPr lang="ja-JP" altLang="en-US"/>
          </a:p>
        </p:txBody>
      </p:sp>
      <p:pic>
        <p:nvPicPr>
          <p:cNvPr id="12" name="Image 1" descr="/home/claude/v4/icons/FaMicrochip_156082.png"/>
          <p:cNvPicPr>
            <a:picLocks noChangeAspect="1"/>
          </p:cNvPicPr>
          <p:nvPr/>
        </p:nvPicPr>
        <p:blipFill>
          <a:blip r:embed="rId4"/>
          <a:stretch>
            <a:fillRect/>
          </a:stretch>
        </p:blipFill>
        <p:spPr>
          <a:xfrm>
            <a:off x="3419856" y="2304288"/>
            <a:ext cx="457200" cy="457200"/>
          </a:xfrm>
          <a:prstGeom prst="rect">
            <a:avLst/>
          </a:prstGeom>
        </p:spPr>
      </p:pic>
      <p:sp>
        <p:nvSpPr>
          <p:cNvPr id="13" name="Text 9"/>
          <p:cNvSpPr txBox="1"/>
          <p:nvPr/>
        </p:nvSpPr>
        <p:spPr>
          <a:xfrm>
            <a:off x="3950208" y="2194560"/>
            <a:ext cx="1920240" cy="685800"/>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NPU</a:t>
            </a:r>
            <a:endParaRPr lang="en-US" sz="1700" dirty="0"/>
          </a:p>
        </p:txBody>
      </p:sp>
      <p:sp>
        <p:nvSpPr>
          <p:cNvPr id="14" name="Shape 10"/>
          <p:cNvSpPr/>
          <p:nvPr/>
        </p:nvSpPr>
        <p:spPr>
          <a:xfrm>
            <a:off x="5943600" y="2395728"/>
            <a:ext cx="201168" cy="274320"/>
          </a:xfrm>
          <a:prstGeom prst="rightArrow">
            <a:avLst/>
          </a:prstGeom>
          <a:solidFill>
            <a:srgbClr val="156082"/>
          </a:solidFill>
          <a:ln w="12700">
            <a:solidFill>
              <a:srgbClr val="156082"/>
            </a:solidFill>
            <a:prstDash val="solid"/>
          </a:ln>
        </p:spPr>
        <p:txBody>
          <a:bodyPr/>
          <a:lstStyle/>
          <a:p>
            <a:endParaRPr lang="ja-JP" altLang="en-US"/>
          </a:p>
        </p:txBody>
      </p:sp>
      <p:sp>
        <p:nvSpPr>
          <p:cNvPr id="15" name="Text 11"/>
          <p:cNvSpPr txBox="1"/>
          <p:nvPr/>
        </p:nvSpPr>
        <p:spPr>
          <a:xfrm>
            <a:off x="3355847" y="3017520"/>
            <a:ext cx="2740153" cy="1234440"/>
          </a:xfrm>
          <a:prstGeom prst="rect">
            <a:avLst/>
          </a:prstGeom>
          <a:noFill/>
          <a:ln/>
        </p:spPr>
        <p:txBody>
          <a:bodyPr wrap="square" lIns="0" tIns="0" rIns="0" bIns="0" rtlCol="0" anchor="t"/>
          <a:lstStyle/>
          <a:p>
            <a:pPr marL="0" indent="0">
              <a:buNone/>
            </a:pPr>
            <a:r>
              <a:rPr lang="ja-JP" altLang="en-US" sz="1600" dirty="0">
                <a:solidFill>
                  <a:srgbClr val="000000"/>
                </a:solidFill>
                <a:latin typeface="游ゴシック" pitchFamily="34" charset="0"/>
                <a:ea typeface="游ゴシック" pitchFamily="34" charset="-122"/>
                <a:cs typeface="游ゴシック" pitchFamily="34" charset="-120"/>
              </a:rPr>
              <a:t>・</a:t>
            </a:r>
            <a:r>
              <a:rPr lang="en-US" sz="1600" dirty="0" err="1">
                <a:solidFill>
                  <a:srgbClr val="000000"/>
                </a:solidFill>
                <a:latin typeface="游ゴシック" pitchFamily="34" charset="0"/>
                <a:ea typeface="游ゴシック" pitchFamily="34" charset="-122"/>
                <a:cs typeface="游ゴシック" pitchFamily="34" charset="-120"/>
              </a:rPr>
              <a:t>作業用</a:t>
            </a:r>
            <a:r>
              <a:rPr lang="en-US" sz="1600" dirty="0">
                <a:solidFill>
                  <a:srgbClr val="000000"/>
                </a:solidFill>
                <a:latin typeface="游ゴシック" pitchFamily="34" charset="0"/>
                <a:ea typeface="游ゴシック" pitchFamily="34" charset="-122"/>
                <a:cs typeface="游ゴシック" pitchFamily="34" charset="-120"/>
              </a:rPr>
              <a:t> RAM</a:t>
            </a:r>
            <a:br>
              <a:rPr lang="en-US" sz="1600" dirty="0">
                <a:solidFill>
                  <a:srgbClr val="000000"/>
                </a:solidFill>
                <a:latin typeface="游ゴシック" pitchFamily="34" charset="0"/>
                <a:ea typeface="游ゴシック" pitchFamily="34" charset="-122"/>
                <a:cs typeface="游ゴシック" pitchFamily="34" charset="-120"/>
              </a:rPr>
            </a:br>
            <a:r>
              <a:rPr lang="en-US" sz="1600" dirty="0">
                <a:solidFill>
                  <a:srgbClr val="000000"/>
                </a:solidFill>
                <a:latin typeface="游ゴシック" pitchFamily="34" charset="0"/>
                <a:ea typeface="游ゴシック" pitchFamily="34" charset="-122"/>
                <a:cs typeface="游ゴシック" pitchFamily="34" charset="-120"/>
              </a:rPr>
              <a:t>（AXISRAM3〜6）</a:t>
            </a:r>
            <a:endParaRPr lang="en-US" altLang="ja-JP" sz="1600" dirty="0">
              <a:solidFill>
                <a:srgbClr val="000000"/>
              </a:solidFill>
              <a:latin typeface="游ゴシック" pitchFamily="34" charset="0"/>
              <a:ea typeface="游ゴシック" pitchFamily="34" charset="-122"/>
              <a:cs typeface="游ゴシック" pitchFamily="34" charset="-120"/>
            </a:endParaRPr>
          </a:p>
          <a:p>
            <a:pPr marL="0" indent="0">
              <a:buNone/>
            </a:pPr>
            <a:r>
              <a:rPr lang="ja-JP" altLang="en-US" sz="1600" dirty="0">
                <a:solidFill>
                  <a:srgbClr val="000000"/>
                </a:solidFill>
                <a:latin typeface="游ゴシック" pitchFamily="34" charset="0"/>
                <a:ea typeface="游ゴシック" pitchFamily="34" charset="-122"/>
                <a:cs typeface="游ゴシック" pitchFamily="34" charset="-120"/>
              </a:rPr>
              <a:t>・</a:t>
            </a:r>
            <a:r>
              <a:rPr lang="en-US" sz="1600" dirty="0">
                <a:solidFill>
                  <a:srgbClr val="000000"/>
                </a:solidFill>
                <a:latin typeface="游ゴシック" pitchFamily="34" charset="0"/>
                <a:ea typeface="游ゴシック" pitchFamily="34" charset="-122"/>
                <a:cs typeface="游ゴシック" pitchFamily="34" charset="-120"/>
              </a:rPr>
              <a:t>NPU </a:t>
            </a:r>
            <a:r>
              <a:rPr lang="en-US" sz="1600" dirty="0" err="1">
                <a:solidFill>
                  <a:srgbClr val="000000"/>
                </a:solidFill>
                <a:latin typeface="游ゴシック" pitchFamily="34" charset="0"/>
                <a:ea typeface="游ゴシック" pitchFamily="34" charset="-122"/>
                <a:cs typeface="游ゴシック" pitchFamily="34" charset="-120"/>
              </a:rPr>
              <a:t>のクロックとリセット</a:t>
            </a:r>
            <a:endParaRPr lang="en-US" sz="1600" dirty="0">
              <a:solidFill>
                <a:srgbClr val="000000"/>
              </a:solidFill>
              <a:latin typeface="游ゴシック" pitchFamily="34" charset="0"/>
              <a:ea typeface="游ゴシック" pitchFamily="34" charset="-122"/>
              <a:cs typeface="游ゴシック" pitchFamily="34" charset="-120"/>
            </a:endParaRPr>
          </a:p>
          <a:p>
            <a:pPr marL="0" indent="0">
              <a:buNone/>
            </a:pPr>
            <a:r>
              <a:rPr lang="ja-JP" altLang="en-US" sz="1600" dirty="0">
                <a:solidFill>
                  <a:srgbClr val="000000"/>
                </a:solidFill>
                <a:latin typeface="游ゴシック" pitchFamily="34" charset="0"/>
                <a:ea typeface="游ゴシック" pitchFamily="34" charset="-122"/>
                <a:cs typeface="游ゴシック" pitchFamily="34" charset="-120"/>
              </a:rPr>
              <a:t>・</a:t>
            </a:r>
            <a:r>
              <a:rPr lang="en-US" sz="1600" dirty="0" err="1">
                <a:solidFill>
                  <a:srgbClr val="000000"/>
                </a:solidFill>
                <a:latin typeface="游ゴシック" pitchFamily="34" charset="0"/>
                <a:ea typeface="游ゴシック" pitchFamily="34" charset="-122"/>
                <a:cs typeface="游ゴシック" pitchFamily="34" charset="-120"/>
              </a:rPr>
              <a:t>バス権限（RIF</a:t>
            </a:r>
            <a:r>
              <a:rPr lang="en-US" sz="1600" dirty="0">
                <a:solidFill>
                  <a:srgbClr val="000000"/>
                </a:solidFill>
                <a:latin typeface="游ゴシック" pitchFamily="34" charset="0"/>
                <a:ea typeface="游ゴシック" pitchFamily="34" charset="-122"/>
                <a:cs typeface="游ゴシック" pitchFamily="34" charset="-120"/>
              </a:rPr>
              <a:t>）</a:t>
            </a:r>
            <a:endParaRPr lang="en-US" sz="1600" dirty="0"/>
          </a:p>
        </p:txBody>
      </p:sp>
      <p:sp>
        <p:nvSpPr>
          <p:cNvPr id="16" name="Text 12"/>
          <p:cNvSpPr txBox="1"/>
          <p:nvPr/>
        </p:nvSpPr>
        <p:spPr>
          <a:xfrm>
            <a:off x="3355847" y="4251960"/>
            <a:ext cx="2627377" cy="868680"/>
          </a:xfrm>
          <a:prstGeom prst="rect">
            <a:avLst/>
          </a:prstGeom>
          <a:noFill/>
          <a:ln/>
        </p:spPr>
        <p:txBody>
          <a:bodyPr wrap="square" lIns="0" tIns="0" rIns="0" bIns="0" rtlCol="0" anchor="t"/>
          <a:lstStyle/>
          <a:p>
            <a:pPr marL="0" indent="0">
              <a:buNone/>
            </a:pPr>
            <a:r>
              <a:rPr lang="en-US" sz="1500" b="1" dirty="0" err="1">
                <a:solidFill>
                  <a:srgbClr val="156082"/>
                </a:solidFill>
                <a:latin typeface="游ゴシック" pitchFamily="34" charset="0"/>
                <a:ea typeface="游ゴシック" pitchFamily="34" charset="-122"/>
                <a:cs typeface="游ゴシック" pitchFamily="34" charset="-120"/>
              </a:rPr>
              <a:t>確かめ方</a:t>
            </a:r>
            <a:r>
              <a:rPr lang="en-US" sz="1500" b="1" dirty="0">
                <a:solidFill>
                  <a:srgbClr val="156082"/>
                </a:solidFill>
                <a:latin typeface="游ゴシック" pitchFamily="34" charset="0"/>
                <a:ea typeface="游ゴシック" pitchFamily="34" charset="-122"/>
                <a:cs typeface="游ゴシック" pitchFamily="34" charset="-120"/>
              </a:rPr>
              <a:t>　</a:t>
            </a:r>
          </a:p>
          <a:p>
            <a:pPr marL="0" indent="0">
              <a:buNone/>
            </a:pPr>
            <a:r>
              <a:rPr lang="en-US" sz="1500" dirty="0">
                <a:solidFill>
                  <a:srgbClr val="000000"/>
                </a:solidFill>
                <a:latin typeface="游ゴシック" pitchFamily="34" charset="0"/>
                <a:ea typeface="游ゴシック" pitchFamily="34" charset="-122"/>
                <a:cs typeface="游ゴシック" pitchFamily="34" charset="-120"/>
              </a:rPr>
              <a:t>RAM </a:t>
            </a:r>
            <a:r>
              <a:rPr lang="en-US" sz="1500" dirty="0" err="1">
                <a:solidFill>
                  <a:srgbClr val="000000"/>
                </a:solidFill>
                <a:latin typeface="游ゴシック" pitchFamily="34" charset="0"/>
                <a:ea typeface="游ゴシック" pitchFamily="34" charset="-122"/>
                <a:cs typeface="游ゴシック" pitchFamily="34" charset="-120"/>
              </a:rPr>
              <a:t>のR</a:t>
            </a:r>
            <a:r>
              <a:rPr lang="en-US" sz="1500" dirty="0">
                <a:solidFill>
                  <a:srgbClr val="000000"/>
                </a:solidFill>
                <a:latin typeface="游ゴシック" pitchFamily="34" charset="0"/>
                <a:ea typeface="游ゴシック" pitchFamily="34" charset="-122"/>
                <a:cs typeface="游ゴシック" pitchFamily="34" charset="-120"/>
              </a:rPr>
              <a:t>/W</a:t>
            </a:r>
          </a:p>
          <a:p>
            <a:pPr marL="0" indent="0">
              <a:buNone/>
            </a:pPr>
            <a:r>
              <a:rPr lang="en-US" sz="1500" dirty="0">
                <a:solidFill>
                  <a:srgbClr val="000000"/>
                </a:solidFill>
                <a:latin typeface="游ゴシック" pitchFamily="34" charset="0"/>
                <a:ea typeface="游ゴシック" pitchFamily="34" charset="-122"/>
                <a:cs typeface="游ゴシック" pitchFamily="34" charset="-120"/>
              </a:rPr>
              <a:t>NPU の版番号レジスタの一致</a:t>
            </a:r>
            <a:endParaRPr lang="en-US" sz="1500" dirty="0"/>
          </a:p>
        </p:txBody>
      </p:sp>
      <p:sp>
        <p:nvSpPr>
          <p:cNvPr id="17" name="Shape 13"/>
          <p:cNvSpPr/>
          <p:nvPr/>
        </p:nvSpPr>
        <p:spPr>
          <a:xfrm>
            <a:off x="6163056" y="2194560"/>
            <a:ext cx="2606040" cy="685800"/>
          </a:xfrm>
          <a:prstGeom prst="rect">
            <a:avLst/>
          </a:prstGeom>
          <a:solidFill>
            <a:srgbClr val="DDEBF3"/>
          </a:solidFill>
          <a:ln w="19050">
            <a:solidFill>
              <a:srgbClr val="156082"/>
            </a:solidFill>
            <a:prstDash val="solid"/>
          </a:ln>
        </p:spPr>
        <p:txBody>
          <a:bodyPr/>
          <a:lstStyle/>
          <a:p>
            <a:endParaRPr lang="ja-JP" altLang="en-US"/>
          </a:p>
        </p:txBody>
      </p:sp>
      <p:pic>
        <p:nvPicPr>
          <p:cNvPr id="18" name="Image 2" descr="/home/claude/v4/icons/FaDesktop_156082.png"/>
          <p:cNvPicPr>
            <a:picLocks noChangeAspect="1"/>
          </p:cNvPicPr>
          <p:nvPr/>
        </p:nvPicPr>
        <p:blipFill>
          <a:blip r:embed="rId5"/>
          <a:stretch>
            <a:fillRect/>
          </a:stretch>
        </p:blipFill>
        <p:spPr>
          <a:xfrm>
            <a:off x="6272784" y="2304288"/>
            <a:ext cx="457200" cy="457200"/>
          </a:xfrm>
          <a:prstGeom prst="rect">
            <a:avLst/>
          </a:prstGeom>
        </p:spPr>
      </p:pic>
      <p:sp>
        <p:nvSpPr>
          <p:cNvPr id="19" name="Text 14"/>
          <p:cNvSpPr txBox="1"/>
          <p:nvPr/>
        </p:nvSpPr>
        <p:spPr>
          <a:xfrm>
            <a:off x="6803136" y="2194560"/>
            <a:ext cx="1920240" cy="685800"/>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LCD（LTDC 直結）</a:t>
            </a:r>
            <a:endParaRPr lang="en-US" sz="1700" dirty="0"/>
          </a:p>
        </p:txBody>
      </p:sp>
      <p:sp>
        <p:nvSpPr>
          <p:cNvPr id="20" name="Shape 15"/>
          <p:cNvSpPr/>
          <p:nvPr/>
        </p:nvSpPr>
        <p:spPr>
          <a:xfrm>
            <a:off x="8796528" y="2395728"/>
            <a:ext cx="201168" cy="274320"/>
          </a:xfrm>
          <a:prstGeom prst="rightArrow">
            <a:avLst/>
          </a:prstGeom>
          <a:solidFill>
            <a:srgbClr val="156082"/>
          </a:solidFill>
          <a:ln w="12700">
            <a:solidFill>
              <a:srgbClr val="156082"/>
            </a:solidFill>
            <a:prstDash val="solid"/>
          </a:ln>
        </p:spPr>
        <p:txBody>
          <a:bodyPr/>
          <a:lstStyle/>
          <a:p>
            <a:endParaRPr lang="ja-JP" altLang="en-US"/>
          </a:p>
        </p:txBody>
      </p:sp>
      <p:sp>
        <p:nvSpPr>
          <p:cNvPr id="21" name="Text 16"/>
          <p:cNvSpPr txBox="1"/>
          <p:nvPr/>
        </p:nvSpPr>
        <p:spPr>
          <a:xfrm>
            <a:off x="6208776" y="3017520"/>
            <a:ext cx="2514600" cy="1234440"/>
          </a:xfrm>
          <a:prstGeom prst="rect">
            <a:avLst/>
          </a:prstGeom>
          <a:noFill/>
          <a:ln/>
        </p:spPr>
        <p:txBody>
          <a:bodyPr wrap="square" lIns="0" tIns="0" rIns="0" bIns="0" rtlCol="0" anchor="t"/>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25 MHz のクロック、800×480 の画面メモリと 16 色の色表</a:t>
            </a:r>
            <a:endParaRPr lang="en-US" sz="1600" dirty="0"/>
          </a:p>
        </p:txBody>
      </p:sp>
      <p:sp>
        <p:nvSpPr>
          <p:cNvPr id="22" name="Text 17"/>
          <p:cNvSpPr txBox="1"/>
          <p:nvPr/>
        </p:nvSpPr>
        <p:spPr>
          <a:xfrm>
            <a:off x="6208776" y="4251960"/>
            <a:ext cx="2740152" cy="868680"/>
          </a:xfrm>
          <a:prstGeom prst="rect">
            <a:avLst/>
          </a:prstGeom>
          <a:noFill/>
          <a:ln/>
        </p:spPr>
        <p:txBody>
          <a:bodyPr wrap="square" lIns="0" tIns="0" rIns="0" bIns="0" rtlCol="0" anchor="t"/>
          <a:lstStyle/>
          <a:p>
            <a:pPr marL="0" indent="0">
              <a:buNone/>
            </a:pPr>
            <a:r>
              <a:rPr lang="en-US" sz="1500" b="1" dirty="0" err="1">
                <a:solidFill>
                  <a:srgbClr val="156082"/>
                </a:solidFill>
                <a:latin typeface="游ゴシック" pitchFamily="34" charset="0"/>
                <a:ea typeface="游ゴシック" pitchFamily="34" charset="-122"/>
                <a:cs typeface="游ゴシック" pitchFamily="34" charset="-120"/>
              </a:rPr>
              <a:t>確かめ方</a:t>
            </a:r>
            <a:r>
              <a:rPr lang="en-US" sz="1500" b="1" dirty="0">
                <a:solidFill>
                  <a:srgbClr val="156082"/>
                </a:solidFill>
                <a:latin typeface="游ゴシック" pitchFamily="34" charset="0"/>
                <a:ea typeface="游ゴシック" pitchFamily="34" charset="-122"/>
                <a:cs typeface="游ゴシック" pitchFamily="34" charset="-120"/>
              </a:rPr>
              <a:t>　</a:t>
            </a:r>
          </a:p>
          <a:p>
            <a:pPr marL="0" indent="0">
              <a:buNone/>
            </a:pPr>
            <a:r>
              <a:rPr lang="en-US" sz="1500" dirty="0" err="1">
                <a:solidFill>
                  <a:srgbClr val="000000"/>
                </a:solidFill>
                <a:latin typeface="游ゴシック" pitchFamily="34" charset="0"/>
                <a:ea typeface="游ゴシック" pitchFamily="34" charset="-122"/>
                <a:cs typeface="游ゴシック" pitchFamily="34" charset="-120"/>
              </a:rPr>
              <a:t>アクセス違反レジスタを</a:t>
            </a:r>
            <a:r>
              <a:rPr lang="ja-JP" altLang="en-US" sz="1500" dirty="0">
                <a:solidFill>
                  <a:srgbClr val="000000"/>
                </a:solidFill>
                <a:latin typeface="游ゴシック" pitchFamily="34" charset="0"/>
                <a:ea typeface="游ゴシック" pitchFamily="34" charset="-122"/>
                <a:cs typeface="游ゴシック" pitchFamily="34" charset="-120"/>
              </a:rPr>
              <a:t>監視</a:t>
            </a:r>
            <a:endParaRPr lang="en-US" altLang="ja-JP" sz="15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1500" dirty="0" err="1">
                <a:solidFill>
                  <a:srgbClr val="000000"/>
                </a:solidFill>
                <a:latin typeface="游ゴシック" pitchFamily="34" charset="0"/>
                <a:ea typeface="游ゴシック" pitchFamily="34" charset="-122"/>
                <a:cs typeface="游ゴシック" pitchFamily="34" charset="-120"/>
              </a:rPr>
              <a:t>行ごとにキャッシュを掃き出す</a:t>
            </a:r>
            <a:endParaRPr lang="en-US" sz="1500" dirty="0"/>
          </a:p>
        </p:txBody>
      </p:sp>
      <p:sp>
        <p:nvSpPr>
          <p:cNvPr id="23" name="Shape 18"/>
          <p:cNvSpPr/>
          <p:nvPr/>
        </p:nvSpPr>
        <p:spPr>
          <a:xfrm>
            <a:off x="9015984" y="2194560"/>
            <a:ext cx="2606040" cy="685800"/>
          </a:xfrm>
          <a:prstGeom prst="rect">
            <a:avLst/>
          </a:prstGeom>
          <a:solidFill>
            <a:srgbClr val="DDEBF3"/>
          </a:solidFill>
          <a:ln w="19050">
            <a:solidFill>
              <a:srgbClr val="156082"/>
            </a:solidFill>
            <a:prstDash val="solid"/>
          </a:ln>
        </p:spPr>
        <p:txBody>
          <a:bodyPr/>
          <a:lstStyle/>
          <a:p>
            <a:endParaRPr lang="ja-JP" altLang="en-US"/>
          </a:p>
        </p:txBody>
      </p:sp>
      <p:pic>
        <p:nvPicPr>
          <p:cNvPr id="24" name="Image 3" descr="/home/claude/v4/icons/FaExclamationTriangle_C00000.png"/>
          <p:cNvPicPr>
            <a:picLocks noChangeAspect="1"/>
          </p:cNvPicPr>
          <p:nvPr/>
        </p:nvPicPr>
        <p:blipFill>
          <a:blip r:embed="rId6"/>
          <a:stretch>
            <a:fillRect/>
          </a:stretch>
        </p:blipFill>
        <p:spPr>
          <a:xfrm>
            <a:off x="9125712" y="2304288"/>
            <a:ext cx="457200" cy="457200"/>
          </a:xfrm>
          <a:prstGeom prst="rect">
            <a:avLst/>
          </a:prstGeom>
        </p:spPr>
      </p:pic>
      <p:sp>
        <p:nvSpPr>
          <p:cNvPr id="25" name="Text 19"/>
          <p:cNvSpPr txBox="1"/>
          <p:nvPr/>
        </p:nvSpPr>
        <p:spPr>
          <a:xfrm>
            <a:off x="9656064" y="2194560"/>
            <a:ext cx="1920240" cy="685800"/>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フォールト基盤</a:t>
            </a:r>
            <a:endParaRPr lang="en-US" sz="1700" dirty="0"/>
          </a:p>
        </p:txBody>
      </p:sp>
      <p:sp>
        <p:nvSpPr>
          <p:cNvPr id="26" name="Text 20"/>
          <p:cNvSpPr txBox="1"/>
          <p:nvPr/>
        </p:nvSpPr>
        <p:spPr>
          <a:xfrm>
            <a:off x="9061704" y="3017520"/>
            <a:ext cx="2514600" cy="1234440"/>
          </a:xfrm>
          <a:prstGeom prst="rect">
            <a:avLst/>
          </a:prstGeom>
          <a:noFill/>
          <a:ln/>
        </p:spPr>
        <p:txBody>
          <a:bodyPr wrap="square" lIns="0" tIns="0" rIns="0" bIns="0" rtlCol="0" anchor="t"/>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256 本の割込み表を張り替え、処理の無い割込みも必ずログに出す</a:t>
            </a:r>
            <a:endParaRPr lang="en-US" sz="1600" dirty="0"/>
          </a:p>
        </p:txBody>
      </p:sp>
      <p:sp>
        <p:nvSpPr>
          <p:cNvPr id="27" name="Text 21"/>
          <p:cNvSpPr txBox="1"/>
          <p:nvPr/>
        </p:nvSpPr>
        <p:spPr>
          <a:xfrm>
            <a:off x="9061704" y="4251960"/>
            <a:ext cx="2514600" cy="868680"/>
          </a:xfrm>
          <a:prstGeom prst="rect">
            <a:avLst/>
          </a:prstGeom>
          <a:noFill/>
          <a:ln/>
        </p:spPr>
        <p:txBody>
          <a:bodyPr wrap="square" lIns="0" tIns="0" rIns="0" bIns="0" rtlCol="0" anchor="t"/>
          <a:lstStyle/>
          <a:p>
            <a:pPr marL="0" indent="0">
              <a:buNone/>
            </a:pPr>
            <a:r>
              <a:rPr lang="en-US" sz="1500" b="1" dirty="0" err="1">
                <a:solidFill>
                  <a:srgbClr val="156082"/>
                </a:solidFill>
                <a:latin typeface="游ゴシック" pitchFamily="34" charset="0"/>
                <a:ea typeface="游ゴシック" pitchFamily="34" charset="-122"/>
                <a:cs typeface="游ゴシック" pitchFamily="34" charset="-120"/>
              </a:rPr>
              <a:t>確かめ方</a:t>
            </a:r>
            <a:r>
              <a:rPr lang="en-US" sz="1500" b="1" dirty="0">
                <a:solidFill>
                  <a:srgbClr val="156082"/>
                </a:solidFill>
                <a:latin typeface="游ゴシック" pitchFamily="34" charset="0"/>
                <a:ea typeface="游ゴシック" pitchFamily="34" charset="-122"/>
                <a:cs typeface="游ゴシック" pitchFamily="34" charset="-120"/>
              </a:rPr>
              <a:t>　</a:t>
            </a:r>
          </a:p>
          <a:p>
            <a:pPr marL="0" indent="0">
              <a:buNone/>
            </a:pPr>
            <a:r>
              <a:rPr lang="en-US" sz="1500" dirty="0" err="1">
                <a:solidFill>
                  <a:srgbClr val="000000"/>
                </a:solidFill>
                <a:latin typeface="游ゴシック" pitchFamily="34" charset="0"/>
                <a:ea typeface="游ゴシック" pitchFamily="34" charset="-122"/>
                <a:cs typeface="游ゴシック" pitchFamily="34" charset="-120"/>
              </a:rPr>
              <a:t>未処理の割込みで</a:t>
            </a:r>
            <a:endParaRPr lang="en-US" sz="15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1500" dirty="0" err="1">
                <a:solidFill>
                  <a:srgbClr val="000000"/>
                </a:solidFill>
                <a:latin typeface="游ゴシック" pitchFamily="34" charset="0"/>
                <a:ea typeface="游ゴシック" pitchFamily="34" charset="-122"/>
                <a:cs typeface="游ゴシック" pitchFamily="34" charset="-120"/>
              </a:rPr>
              <a:t>黙って止まらない</a:t>
            </a:r>
            <a:endParaRPr lang="en-US" sz="1500" dirty="0"/>
          </a:p>
        </p:txBody>
      </p:sp>
      <p:sp>
        <p:nvSpPr>
          <p:cNvPr id="28" name="Shape 22"/>
          <p:cNvSpPr/>
          <p:nvPr/>
        </p:nvSpPr>
        <p:spPr>
          <a:xfrm>
            <a:off x="457200" y="5257800"/>
            <a:ext cx="11274552" cy="1234440"/>
          </a:xfrm>
          <a:prstGeom prst="rect">
            <a:avLst/>
          </a:prstGeom>
          <a:solidFill>
            <a:srgbClr val="FDECEC"/>
          </a:solidFill>
          <a:ln w="25400">
            <a:solidFill>
              <a:srgbClr val="C00000"/>
            </a:solidFill>
            <a:prstDash val="solid"/>
          </a:ln>
        </p:spPr>
        <p:txBody>
          <a:bodyPr/>
          <a:lstStyle/>
          <a:p>
            <a:endParaRPr lang="ja-JP" altLang="en-US"/>
          </a:p>
        </p:txBody>
      </p:sp>
      <p:pic>
        <p:nvPicPr>
          <p:cNvPr id="29" name="Image 4" descr="/home/claude/v4/icons/FaExclamationTriangle_C00000.png"/>
          <p:cNvPicPr>
            <a:picLocks noChangeAspect="1"/>
          </p:cNvPicPr>
          <p:nvPr/>
        </p:nvPicPr>
        <p:blipFill>
          <a:blip r:embed="rId6"/>
          <a:stretch>
            <a:fillRect/>
          </a:stretch>
        </p:blipFill>
        <p:spPr>
          <a:xfrm>
            <a:off x="640080" y="5577840"/>
            <a:ext cx="594360" cy="594360"/>
          </a:xfrm>
          <a:prstGeom prst="rect">
            <a:avLst/>
          </a:prstGeom>
        </p:spPr>
      </p:pic>
      <p:sp>
        <p:nvSpPr>
          <p:cNvPr id="30" name="Text 23"/>
          <p:cNvSpPr txBox="1"/>
          <p:nvPr/>
        </p:nvSpPr>
        <p:spPr>
          <a:xfrm>
            <a:off x="1417320" y="5257800"/>
            <a:ext cx="10149840" cy="1234440"/>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罠：バス権限（RIF）が無いと、読み出しは黙って 0 </a:t>
            </a:r>
            <a:r>
              <a:rPr lang="en-US" sz="1800" b="1" dirty="0" err="1">
                <a:solidFill>
                  <a:srgbClr val="000000"/>
                </a:solidFill>
                <a:latin typeface="游ゴシック" pitchFamily="34" charset="0"/>
                <a:ea typeface="游ゴシック" pitchFamily="34" charset="-122"/>
                <a:cs typeface="游ゴシック" pitchFamily="34" charset="-120"/>
              </a:rPr>
              <a:t>になり、フォルトも出ない</a:t>
            </a:r>
            <a:r>
              <a:rPr lang="en-US" sz="1800" b="1" dirty="0">
                <a:solidFill>
                  <a:srgbClr val="000000"/>
                </a:solidFill>
                <a:latin typeface="游ゴシック" pitchFamily="34" charset="0"/>
                <a:ea typeface="游ゴシック" pitchFamily="34" charset="-122"/>
                <a:cs typeface="游ゴシック" pitchFamily="34" charset="-120"/>
              </a:rPr>
              <a:t>。</a:t>
            </a:r>
          </a:p>
          <a:p>
            <a:pPr marL="0" indent="0">
              <a:buNone/>
            </a:pPr>
            <a:r>
              <a:rPr lang="en-US" sz="1800" b="1" dirty="0" err="1">
                <a:solidFill>
                  <a:srgbClr val="000000"/>
                </a:solidFill>
                <a:latin typeface="游ゴシック" pitchFamily="34" charset="0"/>
                <a:ea typeface="游ゴシック" pitchFamily="34" charset="-122"/>
                <a:cs typeface="游ゴシック" pitchFamily="34" charset="-120"/>
              </a:rPr>
              <a:t>アクセス違反レジスタ（RISAF</a:t>
            </a:r>
            <a:r>
              <a:rPr lang="en-US" sz="1800" b="1" dirty="0">
                <a:solidFill>
                  <a:srgbClr val="000000"/>
                </a:solidFill>
                <a:latin typeface="游ゴシック" pitchFamily="34" charset="0"/>
                <a:ea typeface="游ゴシック" pitchFamily="34" charset="-122"/>
                <a:cs typeface="游ゴシック" pitchFamily="34" charset="-120"/>
              </a:rPr>
              <a:t> の IASR＝0x2）を見つけるまで、LCD は真っ黒だった</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3-2　前処理を自作し、PC と 1 ビットも違わなくした</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t"/>
          <a:lstStyle/>
          <a:p>
            <a:pPr marL="0" indent="0">
              <a:buNone/>
            </a:pPr>
            <a:r>
              <a:rPr lang="en-US" sz="3200" b="1" dirty="0">
                <a:solidFill>
                  <a:srgbClr val="FF0000"/>
                </a:solidFill>
                <a:latin typeface="游ゴシック" pitchFamily="34" charset="0"/>
                <a:ea typeface="游ゴシック" pitchFamily="34" charset="-122"/>
                <a:cs typeface="游ゴシック" pitchFamily="34" charset="-120"/>
              </a:rPr>
              <a:t>板の前処理は PC と 12,288 </a:t>
            </a:r>
            <a:r>
              <a:rPr lang="en-US" sz="3200" b="1" dirty="0" err="1">
                <a:solidFill>
                  <a:srgbClr val="FF0000"/>
                </a:solidFill>
                <a:latin typeface="游ゴシック" pitchFamily="34" charset="0"/>
                <a:ea typeface="游ゴシック" pitchFamily="34" charset="-122"/>
                <a:cs typeface="游ゴシック" pitchFamily="34" charset="-120"/>
              </a:rPr>
              <a:t>個すべて一致</a:t>
            </a:r>
            <a:r>
              <a:rPr lang="en-US" sz="3200" b="1" dirty="0">
                <a:solidFill>
                  <a:srgbClr val="FF0000"/>
                </a:solidFill>
                <a:latin typeface="游ゴシック" pitchFamily="34" charset="0"/>
                <a:ea typeface="游ゴシック" pitchFamily="34" charset="-122"/>
                <a:cs typeface="游ゴシック" pitchFamily="34" charset="-120"/>
              </a:rPr>
              <a:t>。</a:t>
            </a:r>
          </a:p>
          <a:p>
            <a:pPr marL="0" indent="0">
              <a:buNone/>
            </a:pPr>
            <a:r>
              <a:rPr lang="en-US" sz="2000" b="1" dirty="0" err="1">
                <a:latin typeface="游ゴシック" pitchFamily="34" charset="0"/>
                <a:ea typeface="游ゴシック" pitchFamily="34" charset="-122"/>
                <a:cs typeface="游ゴシック" pitchFamily="34" charset="-120"/>
              </a:rPr>
              <a:t>入力を疑わなくてよい</a:t>
            </a:r>
            <a:endParaRPr lang="en-US" sz="2000" dirty="0"/>
          </a:p>
        </p:txBody>
      </p:sp>
      <p:sp>
        <p:nvSpPr>
          <p:cNvPr id="5" name="Shape 3"/>
          <p:cNvSpPr/>
          <p:nvPr/>
        </p:nvSpPr>
        <p:spPr>
          <a:xfrm>
            <a:off x="457200" y="2194560"/>
            <a:ext cx="2011680" cy="914400"/>
          </a:xfrm>
          <a:prstGeom prst="rect">
            <a:avLst/>
          </a:prstGeom>
          <a:solidFill>
            <a:srgbClr val="DDEBF3"/>
          </a:solidFill>
          <a:ln w="19050">
            <a:solidFill>
              <a:srgbClr val="156082"/>
            </a:solidFill>
            <a:prstDash val="solid"/>
          </a:ln>
        </p:spPr>
        <p:txBody>
          <a:bodyPr/>
          <a:lstStyle/>
          <a:p>
            <a:endParaRPr lang="ja-JP" altLang="en-US"/>
          </a:p>
        </p:txBody>
      </p:sp>
      <p:sp>
        <p:nvSpPr>
          <p:cNvPr id="6" name="Text 4"/>
          <p:cNvSpPr txBox="1"/>
          <p:nvPr/>
        </p:nvSpPr>
        <p:spPr>
          <a:xfrm>
            <a:off x="530352" y="2194560"/>
            <a:ext cx="1865376" cy="914400"/>
          </a:xfrm>
          <a:prstGeom prst="rect">
            <a:avLst/>
          </a:prstGeom>
          <a:noFill/>
          <a:ln/>
        </p:spPr>
        <p:txBody>
          <a:bodyPr wrap="square" lIns="0" tIns="0" rIns="0" bIns="0" rtlCol="0" anchor="ctr"/>
          <a:lstStyle/>
          <a:p>
            <a:pPr marL="0" indent="0" algn="ctr">
              <a:buNone/>
            </a:pPr>
            <a:r>
              <a:rPr lang="en-US" sz="1500" b="1" dirty="0">
                <a:solidFill>
                  <a:srgbClr val="000000"/>
                </a:solidFill>
                <a:latin typeface="游ゴシック" pitchFamily="34" charset="0"/>
                <a:ea typeface="游ゴシック" pitchFamily="34" charset="-122"/>
                <a:cs typeface="游ゴシック" pitchFamily="34" charset="-120"/>
              </a:rPr>
              <a:t>音 15,600 サンプル（0.975 秒）</a:t>
            </a:r>
            <a:endParaRPr lang="en-US" sz="1500" dirty="0"/>
          </a:p>
        </p:txBody>
      </p:sp>
      <p:sp>
        <p:nvSpPr>
          <p:cNvPr id="7" name="Shape 5"/>
          <p:cNvSpPr/>
          <p:nvPr/>
        </p:nvSpPr>
        <p:spPr>
          <a:xfrm>
            <a:off x="2505456" y="2514600"/>
            <a:ext cx="219456" cy="274320"/>
          </a:xfrm>
          <a:prstGeom prst="rightArrow">
            <a:avLst/>
          </a:prstGeom>
          <a:solidFill>
            <a:srgbClr val="156082"/>
          </a:solidFill>
          <a:ln w="12700">
            <a:solidFill>
              <a:srgbClr val="156082"/>
            </a:solidFill>
            <a:prstDash val="solid"/>
          </a:ln>
        </p:spPr>
        <p:txBody>
          <a:bodyPr/>
          <a:lstStyle/>
          <a:p>
            <a:endParaRPr lang="ja-JP" altLang="en-US"/>
          </a:p>
        </p:txBody>
      </p:sp>
      <p:sp>
        <p:nvSpPr>
          <p:cNvPr id="8" name="Shape 6"/>
          <p:cNvSpPr/>
          <p:nvPr/>
        </p:nvSpPr>
        <p:spPr>
          <a:xfrm>
            <a:off x="2761488" y="2194560"/>
            <a:ext cx="2011680" cy="914400"/>
          </a:xfrm>
          <a:prstGeom prst="rect">
            <a:avLst/>
          </a:prstGeom>
          <a:solidFill>
            <a:srgbClr val="DDEBF3"/>
          </a:solidFill>
          <a:ln w="19050">
            <a:solidFill>
              <a:srgbClr val="156082"/>
            </a:solidFill>
            <a:prstDash val="solid"/>
          </a:ln>
        </p:spPr>
        <p:txBody>
          <a:bodyPr/>
          <a:lstStyle/>
          <a:p>
            <a:endParaRPr lang="ja-JP" altLang="en-US"/>
          </a:p>
        </p:txBody>
      </p:sp>
      <p:sp>
        <p:nvSpPr>
          <p:cNvPr id="9" name="Text 7"/>
          <p:cNvSpPr txBox="1"/>
          <p:nvPr/>
        </p:nvSpPr>
        <p:spPr>
          <a:xfrm>
            <a:off x="2834640" y="2194560"/>
            <a:ext cx="1865376" cy="914400"/>
          </a:xfrm>
          <a:prstGeom prst="rect">
            <a:avLst/>
          </a:prstGeom>
          <a:noFill/>
          <a:ln/>
        </p:spPr>
        <p:txBody>
          <a:bodyPr wrap="square" lIns="0" tIns="0" rIns="0" bIns="0" rtlCol="0" anchor="ctr"/>
          <a:lstStyle/>
          <a:p>
            <a:pPr marL="0" indent="0" algn="ctr">
              <a:buNone/>
            </a:pPr>
            <a:r>
              <a:rPr lang="en-US" sz="1500" b="1" dirty="0">
                <a:solidFill>
                  <a:srgbClr val="000000"/>
                </a:solidFill>
                <a:latin typeface="游ゴシック" pitchFamily="34" charset="0"/>
                <a:ea typeface="游ゴシック" pitchFamily="34" charset="-122"/>
                <a:cs typeface="游ゴシック" pitchFamily="34" charset="-120"/>
              </a:rPr>
              <a:t>FFT 512 点（Hann 400・hop 160）</a:t>
            </a:r>
            <a:endParaRPr lang="en-US" sz="1500" dirty="0"/>
          </a:p>
        </p:txBody>
      </p:sp>
      <p:sp>
        <p:nvSpPr>
          <p:cNvPr id="10" name="Shape 8"/>
          <p:cNvSpPr/>
          <p:nvPr/>
        </p:nvSpPr>
        <p:spPr>
          <a:xfrm>
            <a:off x="4809744" y="2514600"/>
            <a:ext cx="219456" cy="274320"/>
          </a:xfrm>
          <a:prstGeom prst="rightArrow">
            <a:avLst/>
          </a:prstGeom>
          <a:solidFill>
            <a:srgbClr val="156082"/>
          </a:solidFill>
          <a:ln w="12700">
            <a:solidFill>
              <a:srgbClr val="156082"/>
            </a:solidFill>
            <a:prstDash val="solid"/>
          </a:ln>
        </p:spPr>
        <p:txBody>
          <a:bodyPr/>
          <a:lstStyle/>
          <a:p>
            <a:endParaRPr lang="ja-JP" altLang="en-US"/>
          </a:p>
        </p:txBody>
      </p:sp>
      <p:sp>
        <p:nvSpPr>
          <p:cNvPr id="11" name="Shape 9"/>
          <p:cNvSpPr/>
          <p:nvPr/>
        </p:nvSpPr>
        <p:spPr>
          <a:xfrm>
            <a:off x="5065776" y="2194560"/>
            <a:ext cx="2011680" cy="914400"/>
          </a:xfrm>
          <a:prstGeom prst="rect">
            <a:avLst/>
          </a:prstGeom>
          <a:solidFill>
            <a:srgbClr val="DDEBF3"/>
          </a:solidFill>
          <a:ln w="19050">
            <a:solidFill>
              <a:srgbClr val="156082"/>
            </a:solidFill>
            <a:prstDash val="solid"/>
          </a:ln>
        </p:spPr>
        <p:txBody>
          <a:bodyPr/>
          <a:lstStyle/>
          <a:p>
            <a:endParaRPr lang="ja-JP" altLang="en-US"/>
          </a:p>
        </p:txBody>
      </p:sp>
      <p:sp>
        <p:nvSpPr>
          <p:cNvPr id="12" name="Text 10"/>
          <p:cNvSpPr txBox="1"/>
          <p:nvPr/>
        </p:nvSpPr>
        <p:spPr>
          <a:xfrm>
            <a:off x="5138928" y="2194560"/>
            <a:ext cx="1865376" cy="914400"/>
          </a:xfrm>
          <a:prstGeom prst="rect">
            <a:avLst/>
          </a:prstGeom>
          <a:noFill/>
          <a:ln/>
        </p:spPr>
        <p:txBody>
          <a:bodyPr wrap="square" lIns="0" tIns="0" rIns="0" bIns="0" rtlCol="0" anchor="ctr"/>
          <a:lstStyle/>
          <a:p>
            <a:pPr marL="0" indent="0" algn="ctr">
              <a:buNone/>
            </a:pPr>
            <a:r>
              <a:rPr lang="en-US" sz="1500" b="1" dirty="0">
                <a:solidFill>
                  <a:srgbClr val="000000"/>
                </a:solidFill>
                <a:latin typeface="游ゴシック" pitchFamily="34" charset="0"/>
                <a:ea typeface="游ゴシック" pitchFamily="34" charset="-122"/>
                <a:cs typeface="游ゴシック" pitchFamily="34" charset="-120"/>
              </a:rPr>
              <a:t>mel 64 本 × 96 フレーム</a:t>
            </a:r>
            <a:endParaRPr lang="en-US" sz="1500" dirty="0"/>
          </a:p>
        </p:txBody>
      </p:sp>
      <p:sp>
        <p:nvSpPr>
          <p:cNvPr id="13" name="Shape 11"/>
          <p:cNvSpPr/>
          <p:nvPr/>
        </p:nvSpPr>
        <p:spPr>
          <a:xfrm>
            <a:off x="7114032" y="2514600"/>
            <a:ext cx="219456" cy="274320"/>
          </a:xfrm>
          <a:prstGeom prst="rightArrow">
            <a:avLst/>
          </a:prstGeom>
          <a:solidFill>
            <a:srgbClr val="156082"/>
          </a:solidFill>
          <a:ln w="12700">
            <a:solidFill>
              <a:srgbClr val="156082"/>
            </a:solidFill>
            <a:prstDash val="solid"/>
          </a:ln>
        </p:spPr>
        <p:txBody>
          <a:bodyPr/>
          <a:lstStyle/>
          <a:p>
            <a:endParaRPr lang="ja-JP" altLang="en-US"/>
          </a:p>
        </p:txBody>
      </p:sp>
      <p:sp>
        <p:nvSpPr>
          <p:cNvPr id="14" name="Shape 12"/>
          <p:cNvSpPr/>
          <p:nvPr/>
        </p:nvSpPr>
        <p:spPr>
          <a:xfrm>
            <a:off x="7370064" y="2194560"/>
            <a:ext cx="2011680" cy="914400"/>
          </a:xfrm>
          <a:prstGeom prst="rect">
            <a:avLst/>
          </a:prstGeom>
          <a:solidFill>
            <a:srgbClr val="DDEBF3"/>
          </a:solidFill>
          <a:ln w="19050">
            <a:solidFill>
              <a:srgbClr val="156082"/>
            </a:solidFill>
            <a:prstDash val="solid"/>
          </a:ln>
        </p:spPr>
        <p:txBody>
          <a:bodyPr/>
          <a:lstStyle/>
          <a:p>
            <a:endParaRPr lang="ja-JP" altLang="en-US"/>
          </a:p>
        </p:txBody>
      </p:sp>
      <p:sp>
        <p:nvSpPr>
          <p:cNvPr id="15" name="Text 13"/>
          <p:cNvSpPr txBox="1"/>
          <p:nvPr/>
        </p:nvSpPr>
        <p:spPr>
          <a:xfrm>
            <a:off x="7443216" y="2194560"/>
            <a:ext cx="1865376" cy="914400"/>
          </a:xfrm>
          <a:prstGeom prst="rect">
            <a:avLst/>
          </a:prstGeom>
          <a:noFill/>
          <a:ln/>
        </p:spPr>
        <p:txBody>
          <a:bodyPr wrap="square" lIns="0" tIns="0" rIns="0" bIns="0" rtlCol="0" anchor="ctr"/>
          <a:lstStyle/>
          <a:p>
            <a:pPr marL="0" indent="0" algn="ctr">
              <a:buNone/>
            </a:pPr>
            <a:r>
              <a:rPr lang="en-US" sz="1500" b="1" dirty="0">
                <a:solidFill>
                  <a:srgbClr val="000000"/>
                </a:solidFill>
                <a:latin typeface="游ゴシック" pitchFamily="34" charset="0"/>
                <a:ea typeface="游ゴシック" pitchFamily="34" charset="-122"/>
                <a:cs typeface="游ゴシック" pitchFamily="34" charset="-120"/>
              </a:rPr>
              <a:t>対数をとって int8 へ</a:t>
            </a:r>
            <a:endParaRPr lang="en-US" sz="1500" dirty="0"/>
          </a:p>
        </p:txBody>
      </p:sp>
      <p:sp>
        <p:nvSpPr>
          <p:cNvPr id="16" name="Shape 14"/>
          <p:cNvSpPr/>
          <p:nvPr/>
        </p:nvSpPr>
        <p:spPr>
          <a:xfrm>
            <a:off x="9418320" y="2514600"/>
            <a:ext cx="219456" cy="274320"/>
          </a:xfrm>
          <a:prstGeom prst="rightArrow">
            <a:avLst/>
          </a:prstGeom>
          <a:solidFill>
            <a:srgbClr val="156082"/>
          </a:solidFill>
          <a:ln w="12700">
            <a:solidFill>
              <a:srgbClr val="156082"/>
            </a:solidFill>
            <a:prstDash val="solid"/>
          </a:ln>
        </p:spPr>
        <p:txBody>
          <a:bodyPr/>
          <a:lstStyle/>
          <a:p>
            <a:endParaRPr lang="ja-JP" altLang="en-US"/>
          </a:p>
        </p:txBody>
      </p:sp>
      <p:sp>
        <p:nvSpPr>
          <p:cNvPr id="17" name="Shape 15"/>
          <p:cNvSpPr/>
          <p:nvPr/>
        </p:nvSpPr>
        <p:spPr>
          <a:xfrm>
            <a:off x="9674352" y="2194560"/>
            <a:ext cx="2011680" cy="914400"/>
          </a:xfrm>
          <a:prstGeom prst="rect">
            <a:avLst/>
          </a:prstGeom>
          <a:solidFill>
            <a:srgbClr val="F2F2F2"/>
          </a:solidFill>
          <a:ln w="19050">
            <a:solidFill>
              <a:srgbClr val="A6A6A6"/>
            </a:solidFill>
            <a:prstDash val="solid"/>
          </a:ln>
        </p:spPr>
        <p:txBody>
          <a:bodyPr/>
          <a:lstStyle/>
          <a:p>
            <a:endParaRPr lang="ja-JP" altLang="en-US"/>
          </a:p>
        </p:txBody>
      </p:sp>
      <p:sp>
        <p:nvSpPr>
          <p:cNvPr id="18" name="Text 16"/>
          <p:cNvSpPr txBox="1"/>
          <p:nvPr/>
        </p:nvSpPr>
        <p:spPr>
          <a:xfrm>
            <a:off x="9747504" y="2194560"/>
            <a:ext cx="1865376" cy="914400"/>
          </a:xfrm>
          <a:prstGeom prst="rect">
            <a:avLst/>
          </a:prstGeom>
          <a:noFill/>
          <a:ln/>
        </p:spPr>
        <p:txBody>
          <a:bodyPr wrap="square" lIns="0" tIns="0" rIns="0" bIns="0" rtlCol="0" anchor="ctr"/>
          <a:lstStyle/>
          <a:p>
            <a:pPr marL="0" indent="0" algn="ctr">
              <a:buNone/>
            </a:pPr>
            <a:r>
              <a:rPr lang="en-US" sz="1500" b="1" dirty="0">
                <a:solidFill>
                  <a:srgbClr val="000000"/>
                </a:solidFill>
                <a:latin typeface="游ゴシック" pitchFamily="34" charset="0"/>
                <a:ea typeface="游ゴシック" pitchFamily="34" charset="-122"/>
                <a:cs typeface="游ゴシック" pitchFamily="34" charset="-120"/>
              </a:rPr>
              <a:t>NPU へ</a:t>
            </a:r>
            <a:endParaRPr lang="en-US" sz="1500" dirty="0"/>
          </a:p>
        </p:txBody>
      </p:sp>
      <p:sp>
        <p:nvSpPr>
          <p:cNvPr id="19" name="Text 17"/>
          <p:cNvSpPr txBox="1"/>
          <p:nvPr/>
        </p:nvSpPr>
        <p:spPr>
          <a:xfrm>
            <a:off x="457200" y="3337560"/>
            <a:ext cx="4206240" cy="320040"/>
          </a:xfrm>
          <a:prstGeom prst="rect">
            <a:avLst/>
          </a:prstGeom>
          <a:noFill/>
          <a:ln/>
        </p:spPr>
        <p:txBody>
          <a:bodyPr wrap="square" lIns="0" tIns="0" rIns="0" bIns="0" rtlCol="0" anchor="ctr"/>
          <a:lstStyle/>
          <a:p>
            <a:pPr marL="0" indent="0">
              <a:buNone/>
            </a:pPr>
            <a:r>
              <a:rPr lang="en-US" sz="1500" b="1" dirty="0">
                <a:solidFill>
                  <a:srgbClr val="595959"/>
                </a:solidFill>
                <a:latin typeface="游ゴシック" pitchFamily="34" charset="0"/>
                <a:ea typeface="游ゴシック" pitchFamily="34" charset="-122"/>
                <a:cs typeface="游ゴシック" pitchFamily="34" charset="-120"/>
              </a:rPr>
              <a:t>同じ音クリップ 2 本（ESC-50）</a:t>
            </a:r>
            <a:endParaRPr lang="en-US" sz="1500" dirty="0"/>
          </a:p>
        </p:txBody>
      </p:sp>
      <p:sp>
        <p:nvSpPr>
          <p:cNvPr id="20" name="Shape 18"/>
          <p:cNvSpPr/>
          <p:nvPr/>
        </p:nvSpPr>
        <p:spPr>
          <a:xfrm>
            <a:off x="457200" y="3703320"/>
            <a:ext cx="4206240" cy="777240"/>
          </a:xfrm>
          <a:prstGeom prst="rect">
            <a:avLst/>
          </a:prstGeom>
          <a:solidFill>
            <a:srgbClr val="DDEBF3"/>
          </a:solidFill>
          <a:ln w="19050">
            <a:solidFill>
              <a:srgbClr val="156082"/>
            </a:solidFill>
            <a:prstDash val="solid"/>
          </a:ln>
        </p:spPr>
        <p:txBody>
          <a:bodyPr/>
          <a:lstStyle/>
          <a:p>
            <a:endParaRPr lang="ja-JP" altLang="en-US"/>
          </a:p>
        </p:txBody>
      </p:sp>
      <p:sp>
        <p:nvSpPr>
          <p:cNvPr id="21" name="Text 19"/>
          <p:cNvSpPr txBox="1"/>
          <p:nvPr/>
        </p:nvSpPr>
        <p:spPr>
          <a:xfrm>
            <a:off x="530352" y="3703320"/>
            <a:ext cx="4059936" cy="777240"/>
          </a:xfrm>
          <a:prstGeom prst="rect">
            <a:avLst/>
          </a:prstGeom>
          <a:noFill/>
          <a:ln/>
        </p:spPr>
        <p:txBody>
          <a:bodyPr wrap="square" lIns="0" tIns="0" rIns="0" bIns="0" rtlCol="0" anchor="ctr"/>
          <a:lstStyle/>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板：C で自作（preproc.c）</a:t>
            </a:r>
            <a:endParaRPr lang="en-US" sz="1700" dirty="0"/>
          </a:p>
        </p:txBody>
      </p:sp>
      <p:sp>
        <p:nvSpPr>
          <p:cNvPr id="22" name="Shape 20"/>
          <p:cNvSpPr/>
          <p:nvPr/>
        </p:nvSpPr>
        <p:spPr>
          <a:xfrm>
            <a:off x="457200" y="4663440"/>
            <a:ext cx="4206240" cy="777240"/>
          </a:xfrm>
          <a:prstGeom prst="rect">
            <a:avLst/>
          </a:prstGeom>
          <a:solidFill>
            <a:srgbClr val="F2F2F2"/>
          </a:solidFill>
          <a:ln w="12700">
            <a:solidFill>
              <a:srgbClr val="A6A6A6"/>
            </a:solidFill>
            <a:prstDash val="solid"/>
          </a:ln>
        </p:spPr>
        <p:txBody>
          <a:bodyPr/>
          <a:lstStyle/>
          <a:p>
            <a:endParaRPr lang="ja-JP" altLang="en-US"/>
          </a:p>
        </p:txBody>
      </p:sp>
      <p:sp>
        <p:nvSpPr>
          <p:cNvPr id="23" name="Text 21"/>
          <p:cNvSpPr txBox="1"/>
          <p:nvPr/>
        </p:nvSpPr>
        <p:spPr>
          <a:xfrm>
            <a:off x="530352" y="4663440"/>
            <a:ext cx="4059936" cy="777240"/>
          </a:xfrm>
          <a:prstGeom prst="rect">
            <a:avLst/>
          </a:prstGeom>
          <a:noFill/>
          <a:ln/>
        </p:spPr>
        <p:txBody>
          <a:bodyPr wrap="square" lIns="0" tIns="0" rIns="0" bIns="0" rtlCol="0" anchor="ctr"/>
          <a:lstStyle/>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PC：Python（scripts/aed_clips.py）</a:t>
            </a:r>
            <a:endParaRPr lang="en-US" sz="1700" dirty="0"/>
          </a:p>
        </p:txBody>
      </p:sp>
      <p:sp>
        <p:nvSpPr>
          <p:cNvPr id="24" name="Shape 22"/>
          <p:cNvSpPr/>
          <p:nvPr/>
        </p:nvSpPr>
        <p:spPr>
          <a:xfrm>
            <a:off x="4754880" y="3931920"/>
            <a:ext cx="502920" cy="320040"/>
          </a:xfrm>
          <a:prstGeom prst="rightArrow">
            <a:avLst/>
          </a:prstGeom>
          <a:solidFill>
            <a:srgbClr val="156082"/>
          </a:solidFill>
          <a:ln w="12700">
            <a:solidFill>
              <a:srgbClr val="156082"/>
            </a:solidFill>
            <a:prstDash val="solid"/>
          </a:ln>
        </p:spPr>
        <p:txBody>
          <a:bodyPr/>
          <a:lstStyle/>
          <a:p>
            <a:endParaRPr lang="ja-JP" altLang="en-US"/>
          </a:p>
        </p:txBody>
      </p:sp>
      <p:sp>
        <p:nvSpPr>
          <p:cNvPr id="25" name="Shape 23"/>
          <p:cNvSpPr/>
          <p:nvPr/>
        </p:nvSpPr>
        <p:spPr>
          <a:xfrm>
            <a:off x="4754880" y="4892040"/>
            <a:ext cx="502920" cy="320040"/>
          </a:xfrm>
          <a:prstGeom prst="rightArrow">
            <a:avLst/>
          </a:prstGeom>
          <a:solidFill>
            <a:srgbClr val="156082"/>
          </a:solidFill>
          <a:ln w="12700">
            <a:solidFill>
              <a:srgbClr val="156082"/>
            </a:solidFill>
            <a:prstDash val="solid"/>
          </a:ln>
        </p:spPr>
        <p:txBody>
          <a:bodyPr/>
          <a:lstStyle/>
          <a:p>
            <a:endParaRPr lang="ja-JP" altLang="en-US"/>
          </a:p>
        </p:txBody>
      </p:sp>
      <p:sp>
        <p:nvSpPr>
          <p:cNvPr id="26" name="Shape 24"/>
          <p:cNvSpPr/>
          <p:nvPr/>
        </p:nvSpPr>
        <p:spPr>
          <a:xfrm>
            <a:off x="5349240" y="3703320"/>
            <a:ext cx="2834640" cy="1737360"/>
          </a:xfrm>
          <a:prstGeom prst="rect">
            <a:avLst/>
          </a:prstGeom>
          <a:solidFill>
            <a:srgbClr val="FFFFFF"/>
          </a:solidFill>
          <a:ln w="19050">
            <a:solidFill>
              <a:srgbClr val="156082"/>
            </a:solidFill>
            <a:prstDash val="solid"/>
          </a:ln>
        </p:spPr>
        <p:txBody>
          <a:bodyPr/>
          <a:lstStyle/>
          <a:p>
            <a:endParaRPr lang="ja-JP" altLang="en-US"/>
          </a:p>
        </p:txBody>
      </p:sp>
      <p:sp>
        <p:nvSpPr>
          <p:cNvPr id="27" name="Text 25"/>
          <p:cNvSpPr txBox="1"/>
          <p:nvPr/>
        </p:nvSpPr>
        <p:spPr>
          <a:xfrm>
            <a:off x="5422392" y="3703320"/>
            <a:ext cx="2688336" cy="1737360"/>
          </a:xfrm>
          <a:prstGeom prst="rect">
            <a:avLst/>
          </a:prstGeom>
          <a:noFill/>
          <a:ln/>
        </p:spPr>
        <p:txBody>
          <a:bodyPr wrap="square" lIns="0" tIns="0" rIns="0" bIns="0" rtlCol="0" anchor="ctr"/>
          <a:lstStyle/>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int8 の値を</a:t>
            </a:r>
            <a:endParaRPr lang="en-US" sz="1700" dirty="0"/>
          </a:p>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1 個ずつ比べる</a:t>
            </a:r>
            <a:endParaRPr lang="en-US" sz="1700" dirty="0"/>
          </a:p>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（2 本 × 6,144 個）</a:t>
            </a:r>
            <a:endParaRPr lang="en-US" sz="1700" dirty="0"/>
          </a:p>
        </p:txBody>
      </p:sp>
      <p:sp>
        <p:nvSpPr>
          <p:cNvPr id="28" name="Shape 26"/>
          <p:cNvSpPr/>
          <p:nvPr/>
        </p:nvSpPr>
        <p:spPr>
          <a:xfrm>
            <a:off x="8275320" y="4389120"/>
            <a:ext cx="502920" cy="365760"/>
          </a:xfrm>
          <a:prstGeom prst="rightArrow">
            <a:avLst/>
          </a:prstGeom>
          <a:solidFill>
            <a:srgbClr val="156082"/>
          </a:solidFill>
          <a:ln w="12700">
            <a:solidFill>
              <a:srgbClr val="156082"/>
            </a:solidFill>
            <a:prstDash val="solid"/>
          </a:ln>
        </p:spPr>
        <p:txBody>
          <a:bodyPr/>
          <a:lstStyle/>
          <a:p>
            <a:endParaRPr lang="ja-JP" altLang="en-US"/>
          </a:p>
        </p:txBody>
      </p:sp>
      <p:sp>
        <p:nvSpPr>
          <p:cNvPr id="29" name="Text 27"/>
          <p:cNvSpPr txBox="1"/>
          <p:nvPr/>
        </p:nvSpPr>
        <p:spPr>
          <a:xfrm>
            <a:off x="8869680" y="3520440"/>
            <a:ext cx="2862072" cy="1188720"/>
          </a:xfrm>
          <a:prstGeom prst="rect">
            <a:avLst/>
          </a:prstGeom>
          <a:noFill/>
          <a:ln/>
        </p:spPr>
        <p:txBody>
          <a:bodyPr wrap="square" lIns="0" tIns="0" rIns="0" bIns="0" rtlCol="0" anchor="ctr"/>
          <a:lstStyle/>
          <a:p>
            <a:pPr marL="0" indent="0" algn="ctr">
              <a:buNone/>
            </a:pPr>
            <a:r>
              <a:rPr lang="en-US" sz="6000" b="1" dirty="0">
                <a:solidFill>
                  <a:srgbClr val="008A5E"/>
                </a:solidFill>
                <a:latin typeface="游ゴシック" pitchFamily="34" charset="0"/>
                <a:ea typeface="游ゴシック" pitchFamily="34" charset="-122"/>
                <a:cs typeface="游ゴシック" pitchFamily="34" charset="-120"/>
              </a:rPr>
              <a:t>差 0</a:t>
            </a:r>
            <a:endParaRPr lang="en-US" sz="6000" dirty="0"/>
          </a:p>
        </p:txBody>
      </p:sp>
      <p:sp>
        <p:nvSpPr>
          <p:cNvPr id="30" name="Text 28"/>
          <p:cNvSpPr txBox="1"/>
          <p:nvPr/>
        </p:nvSpPr>
        <p:spPr>
          <a:xfrm>
            <a:off x="8869680" y="4709160"/>
            <a:ext cx="2862072" cy="457200"/>
          </a:xfrm>
          <a:prstGeom prst="rect">
            <a:avLst/>
          </a:prstGeom>
          <a:noFill/>
          <a:ln/>
        </p:spPr>
        <p:txBody>
          <a:bodyPr wrap="square" lIns="0" tIns="0" rIns="0" bIns="0" rtlCol="0" anchor="ctr"/>
          <a:lstStyle/>
          <a:p>
            <a:pPr marL="0" indent="0" algn="ctr">
              <a:buNone/>
            </a:pPr>
            <a:r>
              <a:rPr lang="en-US" sz="1800" b="1" dirty="0">
                <a:solidFill>
                  <a:srgbClr val="000000"/>
                </a:solidFill>
                <a:latin typeface="游ゴシック" pitchFamily="34" charset="0"/>
                <a:ea typeface="游ゴシック" pitchFamily="34" charset="-122"/>
                <a:cs typeface="游ゴシック" pitchFamily="34" charset="-120"/>
              </a:rPr>
              <a:t>12,288 個すべて一致</a:t>
            </a:r>
            <a:endParaRPr lang="en-US" sz="1800" dirty="0"/>
          </a:p>
        </p:txBody>
      </p:sp>
      <p:sp>
        <p:nvSpPr>
          <p:cNvPr id="31" name="Text 29"/>
          <p:cNvSpPr txBox="1"/>
          <p:nvPr/>
        </p:nvSpPr>
        <p:spPr>
          <a:xfrm>
            <a:off x="434340" y="5943600"/>
            <a:ext cx="11274552" cy="548640"/>
          </a:xfrm>
          <a:prstGeom prst="rect">
            <a:avLst/>
          </a:prstGeom>
          <a:noFill/>
          <a:ln/>
        </p:spPr>
        <p:txBody>
          <a:bodyPr wrap="square" lIns="0" tIns="0" rIns="0" bIns="0" rtlCol="0" anchor="ctr"/>
          <a:lstStyle/>
          <a:p>
            <a:pPr marL="0" indent="0">
              <a:buNone/>
            </a:pPr>
            <a:r>
              <a:rPr lang="en-US" dirty="0">
                <a:solidFill>
                  <a:srgbClr val="000000"/>
                </a:solidFill>
                <a:latin typeface="游ゴシック" pitchFamily="34" charset="0"/>
                <a:ea typeface="游ゴシック" pitchFamily="34" charset="-122"/>
                <a:cs typeface="游ゴシック" pitchFamily="34" charset="-120"/>
              </a:rPr>
              <a:t>起動のたびにこの比較を自動で行い、結果を READY の前に出す（10-2。比べる音は ESC-50 から作る）。</a:t>
            </a:r>
          </a:p>
          <a:p>
            <a:pPr marL="0" indent="0">
              <a:buNone/>
            </a:pPr>
            <a:r>
              <a:rPr lang="en-US" dirty="0" err="1">
                <a:solidFill>
                  <a:srgbClr val="000000"/>
                </a:solidFill>
                <a:latin typeface="游ゴシック" pitchFamily="34" charset="0"/>
                <a:ea typeface="游ゴシック" pitchFamily="34" charset="-122"/>
                <a:cs typeface="游ゴシック" pitchFamily="34" charset="-120"/>
              </a:rPr>
              <a:t>推論にかかる時間は</a:t>
            </a:r>
            <a:r>
              <a:rPr lang="en-US" dirty="0">
                <a:solidFill>
                  <a:srgbClr val="000000"/>
                </a:solidFill>
                <a:latin typeface="游ゴシック" pitchFamily="34" charset="0"/>
                <a:ea typeface="游ゴシック" pitchFamily="34" charset="-122"/>
                <a:cs typeface="游ゴシック" pitchFamily="34" charset="-120"/>
              </a:rPr>
              <a:t>(2-3)</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4　検証の方法</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Shape 2"/>
          <p:cNvSpPr/>
          <p:nvPr/>
        </p:nvSpPr>
        <p:spPr>
          <a:xfrm>
            <a:off x="0" y="1051560"/>
            <a:ext cx="12191695" cy="1097280"/>
          </a:xfrm>
          <a:prstGeom prst="rect">
            <a:avLst/>
          </a:prstGeom>
          <a:solidFill>
            <a:srgbClr val="DDEBF3"/>
          </a:solidFill>
          <a:ln w="12700">
            <a:solidFill>
              <a:srgbClr val="DDEBF3"/>
            </a:solidFill>
            <a:prstDash val="solid"/>
          </a:ln>
        </p:spPr>
        <p:txBody>
          <a:bodyPr/>
          <a:lstStyle/>
          <a:p>
            <a:endParaRPr lang="ja-JP" altLang="en-US"/>
          </a:p>
        </p:txBody>
      </p:sp>
      <p:sp>
        <p:nvSpPr>
          <p:cNvPr id="5" name="Text 3"/>
          <p:cNvSpPr txBox="1"/>
          <p:nvPr/>
        </p:nvSpPr>
        <p:spPr>
          <a:xfrm>
            <a:off x="457200" y="1097280"/>
            <a:ext cx="11274552" cy="1005840"/>
          </a:xfrm>
          <a:prstGeom prst="rect">
            <a:avLst/>
          </a:prstGeom>
          <a:noFill/>
          <a:ln/>
        </p:spPr>
        <p:txBody>
          <a:bodyPr wrap="square" lIns="0" tIns="0" rIns="0" bIns="0" rtlCol="0" anchor="ctr"/>
          <a:lstStyle/>
          <a:p>
            <a:pPr marL="0" indent="0">
              <a:buNone/>
            </a:pPr>
            <a:r>
              <a:rPr lang="en-US" sz="2800" b="1" dirty="0" err="1">
                <a:solidFill>
                  <a:srgbClr val="FF0000"/>
                </a:solidFill>
                <a:latin typeface="游ゴシック" pitchFamily="34" charset="0"/>
                <a:ea typeface="游ゴシック" pitchFamily="34" charset="-122"/>
                <a:cs typeface="游ゴシック" pitchFamily="34" charset="-120"/>
              </a:rPr>
              <a:t>設計どおりかは実測でしか言えない</a:t>
            </a:r>
            <a:r>
              <a:rPr lang="en-US" sz="2800" b="1" dirty="0">
                <a:solidFill>
                  <a:srgbClr val="FF0000"/>
                </a:solidFill>
                <a:latin typeface="游ゴシック" pitchFamily="34" charset="0"/>
                <a:ea typeface="游ゴシック" pitchFamily="34" charset="-122"/>
                <a:cs typeface="游ゴシック" pitchFamily="34" charset="-120"/>
              </a:rPr>
              <a:t>。</a:t>
            </a:r>
          </a:p>
          <a:p>
            <a:pPr marL="0" indent="0">
              <a:buNone/>
            </a:pPr>
            <a:r>
              <a:rPr lang="en-US" sz="2000" b="1" dirty="0" err="1">
                <a:latin typeface="游ゴシック" pitchFamily="34" charset="0"/>
                <a:ea typeface="游ゴシック" pitchFamily="34" charset="-122"/>
                <a:cs typeface="游ゴシック" pitchFamily="34" charset="-120"/>
              </a:rPr>
              <a:t>一段ずつ確かめ、最後は</a:t>
            </a:r>
            <a:r>
              <a:rPr lang="en-US" sz="2000" b="1" dirty="0">
                <a:latin typeface="游ゴシック" pitchFamily="34" charset="0"/>
                <a:ea typeface="游ゴシック" pitchFamily="34" charset="-122"/>
                <a:cs typeface="游ゴシック" pitchFamily="34" charset="-120"/>
              </a:rPr>
              <a:t> 3 つの実験で測った</a:t>
            </a:r>
            <a:endParaRPr lang="en-US" sz="2000" dirty="0"/>
          </a:p>
        </p:txBody>
      </p:sp>
      <p:sp>
        <p:nvSpPr>
          <p:cNvPr id="6" name="Text 4"/>
          <p:cNvSpPr txBox="1"/>
          <p:nvPr/>
        </p:nvSpPr>
        <p:spPr>
          <a:xfrm>
            <a:off x="457200" y="6217920"/>
            <a:ext cx="1234440" cy="420624"/>
          </a:xfrm>
          <a:prstGeom prst="rect">
            <a:avLst/>
          </a:prstGeom>
          <a:noFill/>
          <a:ln/>
        </p:spPr>
        <p:txBody>
          <a:bodyPr wrap="square" lIns="0" tIns="0" rIns="0" bIns="0" rtlCol="0" anchor="ctr"/>
          <a:lstStyle/>
          <a:p>
            <a:pPr marL="0" indent="0">
              <a:buNone/>
            </a:pPr>
            <a:r>
              <a:rPr lang="en-US" sz="1300" dirty="0">
                <a:solidFill>
                  <a:srgbClr val="595959"/>
                </a:solidFill>
                <a:latin typeface="游ゴシック" pitchFamily="34" charset="0"/>
                <a:ea typeface="游ゴシック" pitchFamily="34" charset="-122"/>
                <a:cs typeface="游ゴシック" pitchFamily="34" charset="-120"/>
              </a:rPr>
              <a:t>この章の流れ</a:t>
            </a:r>
            <a:endParaRPr lang="en-US" sz="1300" dirty="0"/>
          </a:p>
        </p:txBody>
      </p:sp>
      <p:sp>
        <p:nvSpPr>
          <p:cNvPr id="7" name="Shape 5"/>
          <p:cNvSpPr/>
          <p:nvPr/>
        </p:nvSpPr>
        <p:spPr>
          <a:xfrm>
            <a:off x="1737360" y="6217920"/>
            <a:ext cx="4850892" cy="420624"/>
          </a:xfrm>
          <a:prstGeom prst="rect">
            <a:avLst/>
          </a:prstGeom>
          <a:solidFill>
            <a:srgbClr val="FFFFFF"/>
          </a:solidFill>
          <a:ln w="15875">
            <a:solidFill>
              <a:srgbClr val="156082"/>
            </a:solidFill>
            <a:prstDash val="solid"/>
          </a:ln>
        </p:spPr>
        <p:txBody>
          <a:bodyPr/>
          <a:lstStyle/>
          <a:p>
            <a:endParaRPr lang="ja-JP" altLang="en-US"/>
          </a:p>
        </p:txBody>
      </p:sp>
      <p:sp>
        <p:nvSpPr>
          <p:cNvPr id="8" name="Text 6"/>
          <p:cNvSpPr txBox="1"/>
          <p:nvPr/>
        </p:nvSpPr>
        <p:spPr>
          <a:xfrm>
            <a:off x="1783080" y="6217920"/>
            <a:ext cx="47594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4-1 一段ずつ確かめる</a:t>
            </a:r>
            <a:endParaRPr lang="en-US" sz="1400" dirty="0"/>
          </a:p>
        </p:txBody>
      </p:sp>
      <p:sp>
        <p:nvSpPr>
          <p:cNvPr id="9" name="Shape 7"/>
          <p:cNvSpPr/>
          <p:nvPr/>
        </p:nvSpPr>
        <p:spPr>
          <a:xfrm>
            <a:off x="666140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10" name="Shape 8"/>
          <p:cNvSpPr/>
          <p:nvPr/>
        </p:nvSpPr>
        <p:spPr>
          <a:xfrm>
            <a:off x="6880860" y="6217920"/>
            <a:ext cx="4850892" cy="420624"/>
          </a:xfrm>
          <a:prstGeom prst="rect">
            <a:avLst/>
          </a:prstGeom>
          <a:solidFill>
            <a:srgbClr val="FFFFFF"/>
          </a:solidFill>
          <a:ln w="15875">
            <a:solidFill>
              <a:srgbClr val="156082"/>
            </a:solidFill>
            <a:prstDash val="solid"/>
          </a:ln>
        </p:spPr>
        <p:txBody>
          <a:bodyPr/>
          <a:lstStyle/>
          <a:p>
            <a:endParaRPr lang="ja-JP" altLang="en-US"/>
          </a:p>
        </p:txBody>
      </p:sp>
      <p:sp>
        <p:nvSpPr>
          <p:cNvPr id="11" name="Text 9"/>
          <p:cNvSpPr txBox="1"/>
          <p:nvPr/>
        </p:nvSpPr>
        <p:spPr>
          <a:xfrm>
            <a:off x="6926580" y="6217920"/>
            <a:ext cx="47594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4-2 数字はすべてログから作り直せる</a:t>
            </a:r>
            <a:endParaRPr lang="en-US" sz="1400" dirty="0"/>
          </a:p>
        </p:txBody>
      </p:sp>
      <p:sp>
        <p:nvSpPr>
          <p:cNvPr id="12" name="Shape 10"/>
          <p:cNvSpPr/>
          <p:nvPr/>
        </p:nvSpPr>
        <p:spPr>
          <a:xfrm>
            <a:off x="457200" y="2331720"/>
            <a:ext cx="3611880" cy="3703320"/>
          </a:xfrm>
          <a:prstGeom prst="rect">
            <a:avLst/>
          </a:prstGeom>
          <a:solidFill>
            <a:srgbClr val="F2F2F2"/>
          </a:solidFill>
          <a:ln w="12700">
            <a:solidFill>
              <a:srgbClr val="BFBFBF"/>
            </a:solidFill>
            <a:prstDash val="solid"/>
          </a:ln>
        </p:spPr>
        <p:txBody>
          <a:bodyPr/>
          <a:lstStyle/>
          <a:p>
            <a:endParaRPr lang="ja-JP" altLang="en-US"/>
          </a:p>
        </p:txBody>
      </p:sp>
      <p:sp>
        <p:nvSpPr>
          <p:cNvPr id="13" name="Shape 11"/>
          <p:cNvSpPr/>
          <p:nvPr/>
        </p:nvSpPr>
        <p:spPr>
          <a:xfrm>
            <a:off x="640080" y="2514600"/>
            <a:ext cx="685800" cy="685800"/>
          </a:xfrm>
          <a:prstGeom prst="ellipse">
            <a:avLst/>
          </a:prstGeom>
          <a:solidFill>
            <a:srgbClr val="156082"/>
          </a:solidFill>
          <a:ln w="12700">
            <a:solidFill>
              <a:srgbClr val="156082"/>
            </a:solidFill>
            <a:prstDash val="solid"/>
          </a:ln>
        </p:spPr>
        <p:txBody>
          <a:bodyPr/>
          <a:lstStyle/>
          <a:p>
            <a:endParaRPr lang="ja-JP" altLang="en-US"/>
          </a:p>
        </p:txBody>
      </p:sp>
      <p:pic>
        <p:nvPicPr>
          <p:cNvPr id="14" name="Image 0" descr="/home/claude/v4/icons/FaBug_FFFFFF.png"/>
          <p:cNvPicPr>
            <a:picLocks noChangeAspect="1"/>
          </p:cNvPicPr>
          <p:nvPr/>
        </p:nvPicPr>
        <p:blipFill>
          <a:blip r:embed="rId3"/>
          <a:stretch>
            <a:fillRect/>
          </a:stretch>
        </p:blipFill>
        <p:spPr>
          <a:xfrm>
            <a:off x="777240" y="2651760"/>
            <a:ext cx="411480" cy="411480"/>
          </a:xfrm>
          <a:prstGeom prst="rect">
            <a:avLst/>
          </a:prstGeom>
        </p:spPr>
      </p:pic>
      <p:sp>
        <p:nvSpPr>
          <p:cNvPr id="15" name="Text 12"/>
          <p:cNvSpPr txBox="1"/>
          <p:nvPr/>
        </p:nvSpPr>
        <p:spPr>
          <a:xfrm>
            <a:off x="1417320" y="2468880"/>
            <a:ext cx="2606040" cy="457200"/>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実験 1　対照試験</a:t>
            </a:r>
            <a:endParaRPr lang="en-US" sz="2000" dirty="0"/>
          </a:p>
        </p:txBody>
      </p:sp>
      <p:sp>
        <p:nvSpPr>
          <p:cNvPr id="16" name="Text 13"/>
          <p:cNvSpPr txBox="1"/>
          <p:nvPr/>
        </p:nvSpPr>
        <p:spPr>
          <a:xfrm>
            <a:off x="1417320" y="2898648"/>
            <a:ext cx="2606040" cy="365760"/>
          </a:xfrm>
          <a:prstGeom prst="rect">
            <a:avLst/>
          </a:prstGeom>
          <a:noFill/>
          <a:ln/>
        </p:spPr>
        <p:txBody>
          <a:bodyPr wrap="square" lIns="0" tIns="0" rIns="0" bIns="0" rtlCol="0" anchor="ctr"/>
          <a:lstStyle/>
          <a:p>
            <a:pPr marL="0" indent="0">
              <a:buNone/>
            </a:pPr>
            <a:r>
              <a:rPr lang="en-US" sz="1600" dirty="0">
                <a:solidFill>
                  <a:srgbClr val="595959"/>
                </a:solidFill>
                <a:latin typeface="游ゴシック" pitchFamily="34" charset="0"/>
                <a:ea typeface="游ゴシック" pitchFamily="34" charset="-122"/>
                <a:cs typeface="游ゴシック" pitchFamily="34" charset="-120"/>
              </a:rPr>
              <a:t>わざと壊す</a:t>
            </a:r>
            <a:endParaRPr lang="en-US" sz="1600" dirty="0"/>
          </a:p>
        </p:txBody>
      </p:sp>
      <p:sp>
        <p:nvSpPr>
          <p:cNvPr id="17" name="Text 14"/>
          <p:cNvSpPr txBox="1"/>
          <p:nvPr/>
        </p:nvSpPr>
        <p:spPr>
          <a:xfrm>
            <a:off x="640080" y="3474720"/>
            <a:ext cx="3246120" cy="1920240"/>
          </a:xfrm>
          <a:prstGeom prst="rect">
            <a:avLst/>
          </a:prstGeom>
          <a:noFill/>
          <a:ln/>
        </p:spPr>
        <p:txBody>
          <a:bodyPr wrap="square" lIns="0" tIns="0" rIns="0" bIns="0" rtlCol="0" anchor="t"/>
          <a:lstStyle/>
          <a:p>
            <a:pPr marL="0" indent="0">
              <a:buNone/>
            </a:pPr>
            <a:r>
              <a:rPr lang="en-US" sz="1600" b="1" dirty="0">
                <a:solidFill>
                  <a:srgbClr val="156082"/>
                </a:solidFill>
                <a:latin typeface="游ゴシック" pitchFamily="34" charset="0"/>
                <a:ea typeface="游ゴシック" pitchFamily="34" charset="-122"/>
                <a:cs typeface="游ゴシック" pitchFamily="34" charset="-120"/>
              </a:rPr>
              <a:t>問い
</a:t>
            </a:r>
            <a:r>
              <a:rPr lang="en-US" sz="2000" dirty="0" err="1">
                <a:solidFill>
                  <a:srgbClr val="000000"/>
                </a:solidFill>
                <a:latin typeface="游ゴシック" pitchFamily="34" charset="0"/>
                <a:ea typeface="游ゴシック" pitchFamily="34" charset="-122"/>
                <a:cs typeface="游ゴシック" pitchFamily="34" charset="-120"/>
              </a:rPr>
              <a:t>優先度を逆に</a:t>
            </a:r>
            <a:r>
              <a:rPr lang="ja-JP" altLang="en-US" sz="2000" dirty="0">
                <a:solidFill>
                  <a:srgbClr val="000000"/>
                </a:solidFill>
                <a:latin typeface="游ゴシック" pitchFamily="34" charset="0"/>
                <a:ea typeface="游ゴシック" pitchFamily="34" charset="-122"/>
                <a:cs typeface="游ゴシック" pitchFamily="34" charset="-120"/>
              </a:rPr>
              <a:t>、</a:t>
            </a:r>
            <a:endParaRPr lang="en-US" altLang="ja-JP" sz="2000" dirty="0">
              <a:solidFill>
                <a:srgbClr val="000000"/>
              </a:solidFill>
              <a:latin typeface="游ゴシック" pitchFamily="34" charset="0"/>
              <a:ea typeface="游ゴシック" pitchFamily="34" charset="-122"/>
              <a:cs typeface="游ゴシック" pitchFamily="34" charset="-120"/>
            </a:endParaRPr>
          </a:p>
          <a:p>
            <a:pPr marL="0" indent="0">
              <a:buNone/>
            </a:pPr>
            <a:r>
              <a:rPr lang="ja-JP" altLang="en-US" sz="2000" dirty="0">
                <a:solidFill>
                  <a:srgbClr val="000000"/>
                </a:solidFill>
                <a:latin typeface="游ゴシック" pitchFamily="34" charset="0"/>
                <a:ea typeface="游ゴシック" pitchFamily="34" charset="-122"/>
                <a:cs typeface="游ゴシック" pitchFamily="34" charset="-120"/>
              </a:rPr>
              <a:t>また</a:t>
            </a:r>
            <a:r>
              <a:rPr lang="en-US" sz="2000" dirty="0" err="1">
                <a:solidFill>
                  <a:srgbClr val="000000"/>
                </a:solidFill>
                <a:latin typeface="游ゴシック" pitchFamily="34" charset="0"/>
                <a:ea typeface="游ゴシック" pitchFamily="34" charset="-122"/>
                <a:cs typeface="游ゴシック" pitchFamily="34" charset="-120"/>
              </a:rPr>
              <a:t>推論が周期を超えたら</a:t>
            </a:r>
            <a:endParaRPr lang="en-US" sz="20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2000" dirty="0" err="1">
                <a:solidFill>
                  <a:srgbClr val="000000"/>
                </a:solidFill>
                <a:latin typeface="游ゴシック" pitchFamily="34" charset="0"/>
                <a:ea typeface="游ゴシック" pitchFamily="34" charset="-122"/>
                <a:cs typeface="游ゴシック" pitchFamily="34" charset="-120"/>
              </a:rPr>
              <a:t>何が先に壊れるか</a:t>
            </a:r>
            <a:endParaRPr lang="en-US" sz="1600" dirty="0"/>
          </a:p>
        </p:txBody>
      </p:sp>
      <p:sp>
        <p:nvSpPr>
          <p:cNvPr id="18" name="Text 15"/>
          <p:cNvSpPr txBox="1"/>
          <p:nvPr/>
        </p:nvSpPr>
        <p:spPr>
          <a:xfrm>
            <a:off x="640080" y="5486400"/>
            <a:ext cx="3246120" cy="411480"/>
          </a:xfrm>
          <a:prstGeom prst="rect">
            <a:avLst/>
          </a:prstGeom>
          <a:noFill/>
          <a:ln/>
        </p:spPr>
        <p:txBody>
          <a:bodyPr wrap="square" lIns="0" tIns="0" rIns="0" bIns="0" rtlCol="0" anchor="ctr"/>
          <a:lstStyle/>
          <a:p>
            <a:pPr marL="0" indent="0" algn="r">
              <a:buNone/>
            </a:pPr>
            <a:r>
              <a:rPr lang="en-US" sz="1800" b="1" dirty="0">
                <a:solidFill>
                  <a:srgbClr val="156082"/>
                </a:solidFill>
                <a:latin typeface="游ゴシック" pitchFamily="34" charset="0"/>
                <a:ea typeface="游ゴシック" pitchFamily="34" charset="-122"/>
                <a:cs typeface="游ゴシック" pitchFamily="34" charset="-120"/>
              </a:rPr>
              <a:t>→ 5 章</a:t>
            </a:r>
            <a:endParaRPr lang="en-US" sz="1800" dirty="0"/>
          </a:p>
        </p:txBody>
      </p:sp>
      <p:sp>
        <p:nvSpPr>
          <p:cNvPr id="19" name="Shape 16"/>
          <p:cNvSpPr/>
          <p:nvPr/>
        </p:nvSpPr>
        <p:spPr>
          <a:xfrm>
            <a:off x="4288536" y="2331720"/>
            <a:ext cx="3611880" cy="3703320"/>
          </a:xfrm>
          <a:prstGeom prst="rect">
            <a:avLst/>
          </a:prstGeom>
          <a:solidFill>
            <a:srgbClr val="F2F2F2"/>
          </a:solidFill>
          <a:ln w="12700">
            <a:solidFill>
              <a:srgbClr val="BFBFBF"/>
            </a:solidFill>
            <a:prstDash val="solid"/>
          </a:ln>
        </p:spPr>
        <p:txBody>
          <a:bodyPr/>
          <a:lstStyle/>
          <a:p>
            <a:endParaRPr lang="ja-JP" altLang="en-US"/>
          </a:p>
        </p:txBody>
      </p:sp>
      <p:sp>
        <p:nvSpPr>
          <p:cNvPr id="20" name="Shape 17"/>
          <p:cNvSpPr/>
          <p:nvPr/>
        </p:nvSpPr>
        <p:spPr>
          <a:xfrm>
            <a:off x="4471416" y="2514600"/>
            <a:ext cx="685800" cy="685800"/>
          </a:xfrm>
          <a:prstGeom prst="ellipse">
            <a:avLst/>
          </a:prstGeom>
          <a:solidFill>
            <a:srgbClr val="156082"/>
          </a:solidFill>
          <a:ln w="12700">
            <a:solidFill>
              <a:srgbClr val="156082"/>
            </a:solidFill>
            <a:prstDash val="solid"/>
          </a:ln>
        </p:spPr>
        <p:txBody>
          <a:bodyPr/>
          <a:lstStyle/>
          <a:p>
            <a:endParaRPr lang="ja-JP" altLang="en-US"/>
          </a:p>
        </p:txBody>
      </p:sp>
      <p:pic>
        <p:nvPicPr>
          <p:cNvPr id="21" name="Image 1" descr="/home/claude/v4/icons/FaHourglassHalf_FFFFFF.png"/>
          <p:cNvPicPr>
            <a:picLocks noChangeAspect="1"/>
          </p:cNvPicPr>
          <p:nvPr/>
        </p:nvPicPr>
        <p:blipFill>
          <a:blip r:embed="rId4"/>
          <a:stretch>
            <a:fillRect/>
          </a:stretch>
        </p:blipFill>
        <p:spPr>
          <a:xfrm>
            <a:off x="4608576" y="2651760"/>
            <a:ext cx="411480" cy="411480"/>
          </a:xfrm>
          <a:prstGeom prst="rect">
            <a:avLst/>
          </a:prstGeom>
        </p:spPr>
      </p:pic>
      <p:sp>
        <p:nvSpPr>
          <p:cNvPr id="22" name="Text 18"/>
          <p:cNvSpPr txBox="1"/>
          <p:nvPr/>
        </p:nvSpPr>
        <p:spPr>
          <a:xfrm>
            <a:off x="5248656" y="2468880"/>
            <a:ext cx="2606040" cy="457200"/>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実験 2　長時間運転</a:t>
            </a:r>
            <a:endParaRPr lang="en-US" sz="2000" dirty="0"/>
          </a:p>
        </p:txBody>
      </p:sp>
      <p:sp>
        <p:nvSpPr>
          <p:cNvPr id="23" name="Text 19"/>
          <p:cNvSpPr txBox="1"/>
          <p:nvPr/>
        </p:nvSpPr>
        <p:spPr>
          <a:xfrm>
            <a:off x="5248656" y="2898648"/>
            <a:ext cx="2606040" cy="365760"/>
          </a:xfrm>
          <a:prstGeom prst="rect">
            <a:avLst/>
          </a:prstGeom>
          <a:noFill/>
          <a:ln/>
        </p:spPr>
        <p:txBody>
          <a:bodyPr wrap="square" lIns="0" tIns="0" rIns="0" bIns="0" rtlCol="0" anchor="ctr"/>
          <a:lstStyle/>
          <a:p>
            <a:pPr marL="0" indent="0">
              <a:buNone/>
            </a:pPr>
            <a:r>
              <a:rPr lang="en-US" sz="1600" dirty="0">
                <a:solidFill>
                  <a:srgbClr val="595959"/>
                </a:solidFill>
                <a:latin typeface="游ゴシック" pitchFamily="34" charset="0"/>
                <a:ea typeface="游ゴシック" pitchFamily="34" charset="-122"/>
                <a:cs typeface="游ゴシック" pitchFamily="34" charset="-120"/>
              </a:rPr>
              <a:t>1 時間止めない</a:t>
            </a:r>
            <a:endParaRPr lang="en-US" sz="1600" dirty="0"/>
          </a:p>
        </p:txBody>
      </p:sp>
      <p:sp>
        <p:nvSpPr>
          <p:cNvPr id="24" name="Text 20"/>
          <p:cNvSpPr txBox="1"/>
          <p:nvPr/>
        </p:nvSpPr>
        <p:spPr>
          <a:xfrm>
            <a:off x="4471416" y="3474720"/>
            <a:ext cx="3246120" cy="1920240"/>
          </a:xfrm>
          <a:prstGeom prst="rect">
            <a:avLst/>
          </a:prstGeom>
          <a:noFill/>
          <a:ln/>
        </p:spPr>
        <p:txBody>
          <a:bodyPr wrap="square" lIns="0" tIns="0" rIns="0" bIns="0" rtlCol="0" anchor="t"/>
          <a:lstStyle/>
          <a:p>
            <a:pPr marL="0" indent="0">
              <a:buNone/>
            </a:pPr>
            <a:r>
              <a:rPr lang="en-US" sz="1600" b="1" dirty="0">
                <a:solidFill>
                  <a:srgbClr val="156082"/>
                </a:solidFill>
                <a:latin typeface="游ゴシック" pitchFamily="34" charset="0"/>
                <a:ea typeface="游ゴシック" pitchFamily="34" charset="-122"/>
                <a:cs typeface="游ゴシック" pitchFamily="34" charset="-120"/>
              </a:rPr>
              <a:t>問い
</a:t>
            </a:r>
            <a:r>
              <a:rPr lang="en-US" sz="2000" dirty="0" err="1">
                <a:solidFill>
                  <a:srgbClr val="000000"/>
                </a:solidFill>
                <a:latin typeface="游ゴシック" pitchFamily="34" charset="0"/>
                <a:ea typeface="游ゴシック" pitchFamily="34" charset="-122"/>
                <a:cs typeface="游ゴシック" pitchFamily="34" charset="-120"/>
              </a:rPr>
              <a:t>音・ログ・画面</a:t>
            </a:r>
            <a:r>
              <a:rPr lang="ja-JP" altLang="en-US" sz="2000" dirty="0">
                <a:solidFill>
                  <a:srgbClr val="000000"/>
                </a:solidFill>
                <a:latin typeface="游ゴシック" pitchFamily="34" charset="0"/>
                <a:ea typeface="游ゴシック" pitchFamily="34" charset="-122"/>
                <a:cs typeface="游ゴシック" pitchFamily="34" charset="-120"/>
              </a:rPr>
              <a:t>が</a:t>
            </a:r>
            <a:endParaRPr lang="en-US" altLang="ja-JP" sz="20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2000" dirty="0" err="1">
                <a:solidFill>
                  <a:srgbClr val="000000"/>
                </a:solidFill>
                <a:latin typeface="游ゴシック" pitchFamily="34" charset="0"/>
                <a:ea typeface="游ゴシック" pitchFamily="34" charset="-122"/>
                <a:cs typeface="游ゴシック" pitchFamily="34" charset="-120"/>
              </a:rPr>
              <a:t>欠けないか</a:t>
            </a:r>
            <a:r>
              <a:rPr lang="en-US" sz="2000" dirty="0">
                <a:solidFill>
                  <a:srgbClr val="000000"/>
                </a:solidFill>
                <a:latin typeface="游ゴシック" pitchFamily="34" charset="0"/>
                <a:ea typeface="游ゴシック" pitchFamily="34" charset="-122"/>
                <a:cs typeface="游ゴシック" pitchFamily="34" charset="-120"/>
              </a:rPr>
              <a:t>。</a:t>
            </a:r>
          </a:p>
          <a:p>
            <a:pPr marL="0" indent="0">
              <a:buNone/>
            </a:pPr>
            <a:r>
              <a:rPr lang="en-US" sz="2000" dirty="0" err="1">
                <a:solidFill>
                  <a:srgbClr val="000000"/>
                </a:solidFill>
                <a:latin typeface="游ゴシック" pitchFamily="34" charset="0"/>
                <a:ea typeface="游ゴシック" pitchFamily="34" charset="-122"/>
                <a:cs typeface="游ゴシック" pitchFamily="34" charset="-120"/>
              </a:rPr>
              <a:t>実際の部屋で誤報</a:t>
            </a:r>
            <a:r>
              <a:rPr lang="ja-JP" altLang="en-US" sz="2000" dirty="0">
                <a:solidFill>
                  <a:srgbClr val="000000"/>
                </a:solidFill>
                <a:latin typeface="游ゴシック" pitchFamily="34" charset="0"/>
                <a:ea typeface="游ゴシック" pitchFamily="34" charset="-122"/>
                <a:cs typeface="游ゴシック" pitchFamily="34" charset="-120"/>
              </a:rPr>
              <a:t>が</a:t>
            </a:r>
            <a:endParaRPr lang="en-US" altLang="ja-JP" sz="20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2000" dirty="0" err="1">
                <a:solidFill>
                  <a:srgbClr val="000000"/>
                </a:solidFill>
                <a:latin typeface="游ゴシック" pitchFamily="34" charset="0"/>
                <a:ea typeface="游ゴシック" pitchFamily="34" charset="-122"/>
                <a:cs typeface="游ゴシック" pitchFamily="34" charset="-120"/>
              </a:rPr>
              <a:t>何件出るか</a:t>
            </a:r>
            <a:endParaRPr lang="en-US" sz="1600" dirty="0"/>
          </a:p>
        </p:txBody>
      </p:sp>
      <p:sp>
        <p:nvSpPr>
          <p:cNvPr id="25" name="Text 21"/>
          <p:cNvSpPr txBox="1"/>
          <p:nvPr/>
        </p:nvSpPr>
        <p:spPr>
          <a:xfrm>
            <a:off x="4471416" y="5486400"/>
            <a:ext cx="3246120" cy="411480"/>
          </a:xfrm>
          <a:prstGeom prst="rect">
            <a:avLst/>
          </a:prstGeom>
          <a:noFill/>
          <a:ln/>
        </p:spPr>
        <p:txBody>
          <a:bodyPr wrap="square" lIns="0" tIns="0" rIns="0" bIns="0" rtlCol="0" anchor="ctr"/>
          <a:lstStyle/>
          <a:p>
            <a:pPr marL="0" indent="0" algn="r">
              <a:buNone/>
            </a:pPr>
            <a:r>
              <a:rPr lang="en-US" sz="1800" b="1" dirty="0">
                <a:solidFill>
                  <a:srgbClr val="156082"/>
                </a:solidFill>
                <a:latin typeface="游ゴシック" pitchFamily="34" charset="0"/>
                <a:ea typeface="游ゴシック" pitchFamily="34" charset="-122"/>
                <a:cs typeface="游ゴシック" pitchFamily="34" charset="-120"/>
              </a:rPr>
              <a:t>→ 6 章</a:t>
            </a:r>
            <a:endParaRPr lang="en-US" sz="1800" dirty="0"/>
          </a:p>
        </p:txBody>
      </p:sp>
      <p:sp>
        <p:nvSpPr>
          <p:cNvPr id="26" name="Shape 22"/>
          <p:cNvSpPr/>
          <p:nvPr/>
        </p:nvSpPr>
        <p:spPr>
          <a:xfrm>
            <a:off x="8119872" y="2331720"/>
            <a:ext cx="3611880" cy="3703320"/>
          </a:xfrm>
          <a:prstGeom prst="rect">
            <a:avLst/>
          </a:prstGeom>
          <a:solidFill>
            <a:srgbClr val="F2F2F2"/>
          </a:solidFill>
          <a:ln w="12700">
            <a:solidFill>
              <a:srgbClr val="BFBFBF"/>
            </a:solidFill>
            <a:prstDash val="solid"/>
          </a:ln>
        </p:spPr>
        <p:txBody>
          <a:bodyPr/>
          <a:lstStyle/>
          <a:p>
            <a:endParaRPr lang="ja-JP" altLang="en-US"/>
          </a:p>
        </p:txBody>
      </p:sp>
      <p:sp>
        <p:nvSpPr>
          <p:cNvPr id="27" name="Shape 23"/>
          <p:cNvSpPr/>
          <p:nvPr/>
        </p:nvSpPr>
        <p:spPr>
          <a:xfrm>
            <a:off x="8302752" y="2514600"/>
            <a:ext cx="685800" cy="685800"/>
          </a:xfrm>
          <a:prstGeom prst="ellipse">
            <a:avLst/>
          </a:prstGeom>
          <a:solidFill>
            <a:srgbClr val="156082"/>
          </a:solidFill>
          <a:ln w="12700">
            <a:solidFill>
              <a:srgbClr val="156082"/>
            </a:solidFill>
            <a:prstDash val="solid"/>
          </a:ln>
        </p:spPr>
        <p:txBody>
          <a:bodyPr/>
          <a:lstStyle/>
          <a:p>
            <a:endParaRPr lang="ja-JP" altLang="en-US"/>
          </a:p>
        </p:txBody>
      </p:sp>
      <p:pic>
        <p:nvPicPr>
          <p:cNvPr id="28" name="Image 2" descr="/home/claude/v4/icons/FaExchangeAlt_FFFFFF.png"/>
          <p:cNvPicPr>
            <a:picLocks noChangeAspect="1"/>
          </p:cNvPicPr>
          <p:nvPr/>
        </p:nvPicPr>
        <p:blipFill>
          <a:blip r:embed="rId5"/>
          <a:stretch>
            <a:fillRect/>
          </a:stretch>
        </p:blipFill>
        <p:spPr>
          <a:xfrm>
            <a:off x="8439912" y="2651760"/>
            <a:ext cx="411480" cy="411480"/>
          </a:xfrm>
          <a:prstGeom prst="rect">
            <a:avLst/>
          </a:prstGeom>
        </p:spPr>
      </p:pic>
      <p:sp>
        <p:nvSpPr>
          <p:cNvPr id="29" name="Text 24"/>
          <p:cNvSpPr txBox="1"/>
          <p:nvPr/>
        </p:nvSpPr>
        <p:spPr>
          <a:xfrm>
            <a:off x="9079992" y="2468880"/>
            <a:ext cx="2606040" cy="457200"/>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実験 3　</a:t>
            </a:r>
            <a:r>
              <a:rPr lang="en-US" sz="2000" b="1" dirty="0" err="1">
                <a:solidFill>
                  <a:srgbClr val="000000"/>
                </a:solidFill>
                <a:latin typeface="游ゴシック" pitchFamily="34" charset="0"/>
                <a:ea typeface="游ゴシック" pitchFamily="34" charset="-122"/>
                <a:cs typeface="游ゴシック" pitchFamily="34" charset="-120"/>
              </a:rPr>
              <a:t>モデル差替え</a:t>
            </a:r>
            <a:endParaRPr lang="en-US" sz="2000" dirty="0"/>
          </a:p>
        </p:txBody>
      </p:sp>
      <p:sp>
        <p:nvSpPr>
          <p:cNvPr id="30" name="Text 25"/>
          <p:cNvSpPr txBox="1"/>
          <p:nvPr/>
        </p:nvSpPr>
        <p:spPr>
          <a:xfrm>
            <a:off x="9079992" y="2898648"/>
            <a:ext cx="2606040" cy="365760"/>
          </a:xfrm>
          <a:prstGeom prst="rect">
            <a:avLst/>
          </a:prstGeom>
          <a:noFill/>
          <a:ln/>
        </p:spPr>
        <p:txBody>
          <a:bodyPr wrap="square" lIns="0" tIns="0" rIns="0" bIns="0" rtlCol="0" anchor="ctr"/>
          <a:lstStyle/>
          <a:p>
            <a:pPr marL="0" indent="0">
              <a:buNone/>
            </a:pPr>
            <a:r>
              <a:rPr lang="en-US" sz="1600" dirty="0">
                <a:solidFill>
                  <a:srgbClr val="595959"/>
                </a:solidFill>
                <a:latin typeface="游ゴシック" pitchFamily="34" charset="0"/>
                <a:ea typeface="游ゴシック" pitchFamily="34" charset="-122"/>
                <a:cs typeface="游ゴシック" pitchFamily="34" charset="-120"/>
              </a:rPr>
              <a:t>別のモデルを載せる</a:t>
            </a:r>
            <a:endParaRPr lang="en-US" sz="1600" dirty="0"/>
          </a:p>
        </p:txBody>
      </p:sp>
      <p:sp>
        <p:nvSpPr>
          <p:cNvPr id="31" name="Text 26"/>
          <p:cNvSpPr txBox="1"/>
          <p:nvPr/>
        </p:nvSpPr>
        <p:spPr>
          <a:xfrm>
            <a:off x="8302752" y="3474720"/>
            <a:ext cx="3246120" cy="1920240"/>
          </a:xfrm>
          <a:prstGeom prst="rect">
            <a:avLst/>
          </a:prstGeom>
          <a:noFill/>
          <a:ln/>
        </p:spPr>
        <p:txBody>
          <a:bodyPr wrap="square" lIns="0" tIns="0" rIns="0" bIns="0" rtlCol="0" anchor="t"/>
          <a:lstStyle/>
          <a:p>
            <a:pPr marL="0" indent="0">
              <a:buNone/>
            </a:pPr>
            <a:r>
              <a:rPr lang="en-US" sz="1600" b="1" dirty="0">
                <a:solidFill>
                  <a:srgbClr val="156082"/>
                </a:solidFill>
                <a:latin typeface="游ゴシック" pitchFamily="34" charset="0"/>
                <a:ea typeface="游ゴシック" pitchFamily="34" charset="-122"/>
                <a:cs typeface="游ゴシック" pitchFamily="34" charset="-120"/>
              </a:rPr>
              <a:t>問い
</a:t>
            </a:r>
            <a:r>
              <a:rPr lang="en-US" sz="2000" dirty="0" err="1">
                <a:solidFill>
                  <a:srgbClr val="000000"/>
                </a:solidFill>
                <a:latin typeface="游ゴシック" pitchFamily="34" charset="0"/>
                <a:ea typeface="游ゴシック" pitchFamily="34" charset="-122"/>
                <a:cs typeface="游ゴシック" pitchFamily="34" charset="-120"/>
              </a:rPr>
              <a:t>同じ手順が通るか</a:t>
            </a:r>
            <a:r>
              <a:rPr lang="en-US" sz="2000" dirty="0">
                <a:solidFill>
                  <a:srgbClr val="000000"/>
                </a:solidFill>
                <a:latin typeface="游ゴシック" pitchFamily="34" charset="0"/>
                <a:ea typeface="游ゴシック" pitchFamily="34" charset="-122"/>
                <a:cs typeface="游ゴシック" pitchFamily="34" charset="-120"/>
              </a:rPr>
              <a:t>。</a:t>
            </a:r>
          </a:p>
          <a:p>
            <a:pPr marL="0" indent="0">
              <a:buNone/>
            </a:pPr>
            <a:r>
              <a:rPr lang="en-US" sz="2000" dirty="0" err="1">
                <a:solidFill>
                  <a:srgbClr val="000000"/>
                </a:solidFill>
                <a:latin typeface="游ゴシック" pitchFamily="34" charset="0"/>
                <a:ea typeface="游ゴシック" pitchFamily="34" charset="-122"/>
                <a:cs typeface="游ゴシック" pitchFamily="34" charset="-120"/>
              </a:rPr>
              <a:t>基盤の数字は変わらないか</a:t>
            </a:r>
            <a:endParaRPr lang="en-US" sz="1600" dirty="0"/>
          </a:p>
        </p:txBody>
      </p:sp>
      <p:sp>
        <p:nvSpPr>
          <p:cNvPr id="32" name="Text 27"/>
          <p:cNvSpPr txBox="1"/>
          <p:nvPr/>
        </p:nvSpPr>
        <p:spPr>
          <a:xfrm>
            <a:off x="8302752" y="5486400"/>
            <a:ext cx="3246120" cy="411480"/>
          </a:xfrm>
          <a:prstGeom prst="rect">
            <a:avLst/>
          </a:prstGeom>
          <a:noFill/>
          <a:ln/>
        </p:spPr>
        <p:txBody>
          <a:bodyPr wrap="square" lIns="0" tIns="0" rIns="0" bIns="0" rtlCol="0" anchor="ctr"/>
          <a:lstStyle/>
          <a:p>
            <a:pPr marL="0" indent="0" algn="r">
              <a:buNone/>
            </a:pPr>
            <a:r>
              <a:rPr lang="en-US" sz="1800" b="1" dirty="0">
                <a:solidFill>
                  <a:srgbClr val="156082"/>
                </a:solidFill>
                <a:latin typeface="游ゴシック" pitchFamily="34" charset="0"/>
                <a:ea typeface="游ゴシック" pitchFamily="34" charset="-122"/>
                <a:cs typeface="游ゴシック" pitchFamily="34" charset="-120"/>
              </a:rPr>
              <a:t>→ 7 章</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4-1　一段ずつ確かめる</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ctr"/>
          <a:lstStyle/>
          <a:p>
            <a:pPr marL="0" indent="0" algn="ctr">
              <a:buNone/>
            </a:pPr>
            <a:r>
              <a:rPr lang="en-US" sz="2800" b="1" dirty="0">
                <a:solidFill>
                  <a:srgbClr val="FF0000"/>
                </a:solidFill>
                <a:latin typeface="游ゴシック" pitchFamily="34" charset="0"/>
                <a:ea typeface="游ゴシック" pitchFamily="34" charset="-122"/>
                <a:cs typeface="游ゴシック" pitchFamily="34" charset="-120"/>
              </a:rPr>
              <a:t>前の段が通っていれば、次の段の失敗は次の段のせいだと分かる</a:t>
            </a:r>
            <a:endParaRPr lang="en-US" sz="2800" dirty="0"/>
          </a:p>
        </p:txBody>
      </p:sp>
      <p:sp>
        <p:nvSpPr>
          <p:cNvPr id="5" name="Shape 3"/>
          <p:cNvSpPr/>
          <p:nvPr/>
        </p:nvSpPr>
        <p:spPr>
          <a:xfrm>
            <a:off x="457200" y="4343400"/>
            <a:ext cx="1371600" cy="1143000"/>
          </a:xfrm>
          <a:prstGeom prst="rect">
            <a:avLst/>
          </a:prstGeom>
          <a:solidFill>
            <a:srgbClr val="DDEBF3"/>
          </a:solidFill>
          <a:ln w="15875">
            <a:solidFill>
              <a:srgbClr val="156082"/>
            </a:solidFill>
            <a:prstDash val="solid"/>
          </a:ln>
        </p:spPr>
        <p:txBody>
          <a:bodyPr/>
          <a:lstStyle/>
          <a:p>
            <a:endParaRPr lang="ja-JP" altLang="en-US"/>
          </a:p>
        </p:txBody>
      </p:sp>
      <p:sp>
        <p:nvSpPr>
          <p:cNvPr id="6" name="Shape 4"/>
          <p:cNvSpPr/>
          <p:nvPr/>
        </p:nvSpPr>
        <p:spPr>
          <a:xfrm>
            <a:off x="530352" y="4416552"/>
            <a:ext cx="329184" cy="329184"/>
          </a:xfrm>
          <a:prstGeom prst="ellipse">
            <a:avLst/>
          </a:prstGeom>
          <a:solidFill>
            <a:srgbClr val="156082"/>
          </a:solidFill>
          <a:ln w="12700">
            <a:solidFill>
              <a:srgbClr val="156082"/>
            </a:solidFill>
            <a:prstDash val="solid"/>
          </a:ln>
        </p:spPr>
        <p:txBody>
          <a:bodyPr/>
          <a:lstStyle/>
          <a:p>
            <a:endParaRPr lang="ja-JP" altLang="en-US"/>
          </a:p>
        </p:txBody>
      </p:sp>
      <p:sp>
        <p:nvSpPr>
          <p:cNvPr id="7" name="Text 5"/>
          <p:cNvSpPr txBox="1"/>
          <p:nvPr/>
        </p:nvSpPr>
        <p:spPr>
          <a:xfrm>
            <a:off x="530352" y="4416552"/>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游ゴシック" pitchFamily="34" charset="0"/>
                <a:ea typeface="游ゴシック" pitchFamily="34" charset="-122"/>
                <a:cs typeface="游ゴシック" pitchFamily="34" charset="-120"/>
              </a:rPr>
              <a:t>1</a:t>
            </a:r>
            <a:endParaRPr lang="en-US" sz="1300" dirty="0"/>
          </a:p>
        </p:txBody>
      </p:sp>
      <p:sp>
        <p:nvSpPr>
          <p:cNvPr id="8" name="Text 6"/>
          <p:cNvSpPr txBox="1"/>
          <p:nvPr/>
        </p:nvSpPr>
        <p:spPr>
          <a:xfrm>
            <a:off x="475488" y="4773168"/>
            <a:ext cx="1335024" cy="365760"/>
          </a:xfrm>
          <a:prstGeom prst="rect">
            <a:avLst/>
          </a:prstGeom>
          <a:noFill/>
          <a:ln/>
        </p:spPr>
        <p:txBody>
          <a:bodyPr wrap="square" lIns="0" tIns="0" rIns="0" bIns="0" rtlCol="0" anchor="ctr"/>
          <a:lstStyle/>
          <a:p>
            <a:pPr marL="0" indent="0" algn="ctr">
              <a:buNone/>
            </a:pPr>
            <a:r>
              <a:rPr lang="en-US" sz="1400" b="1" dirty="0">
                <a:solidFill>
                  <a:srgbClr val="000000"/>
                </a:solidFill>
                <a:latin typeface="游ゴシック" pitchFamily="34" charset="0"/>
                <a:ea typeface="游ゴシック" pitchFamily="34" charset="-122"/>
                <a:cs typeface="游ゴシック" pitchFamily="34" charset="-120"/>
              </a:rPr>
              <a:t>外部フラッシュ</a:t>
            </a:r>
            <a:endParaRPr lang="en-US" sz="1400" dirty="0"/>
          </a:p>
        </p:txBody>
      </p:sp>
      <p:sp>
        <p:nvSpPr>
          <p:cNvPr id="9" name="Text 7"/>
          <p:cNvSpPr txBox="1"/>
          <p:nvPr/>
        </p:nvSpPr>
        <p:spPr>
          <a:xfrm>
            <a:off x="493776" y="5120640"/>
            <a:ext cx="1298448" cy="457200"/>
          </a:xfrm>
          <a:prstGeom prst="rect">
            <a:avLst/>
          </a:prstGeom>
          <a:noFill/>
          <a:ln/>
        </p:spPr>
        <p:txBody>
          <a:bodyPr wrap="square" lIns="0" tIns="0" rIns="0" bIns="0" rtlCol="0" anchor="t"/>
          <a:lstStyle/>
          <a:p>
            <a:pPr marL="0" indent="0" algn="ctr">
              <a:buNone/>
            </a:pPr>
            <a:r>
              <a:rPr lang="en-US" sz="1300" dirty="0">
                <a:solidFill>
                  <a:srgbClr val="404040"/>
                </a:solidFill>
                <a:latin typeface="游ゴシック" pitchFamily="34" charset="0"/>
                <a:ea typeface="游ゴシック" pitchFamily="34" charset="-122"/>
                <a:cs typeface="游ゴシック" pitchFamily="34" charset="-120"/>
              </a:rPr>
              <a:t>ハッシュ一致</a:t>
            </a:r>
            <a:endParaRPr lang="en-US" sz="1300" dirty="0"/>
          </a:p>
        </p:txBody>
      </p:sp>
      <p:sp>
        <p:nvSpPr>
          <p:cNvPr id="10" name="Shape 8"/>
          <p:cNvSpPr/>
          <p:nvPr/>
        </p:nvSpPr>
        <p:spPr>
          <a:xfrm>
            <a:off x="1865376" y="4069080"/>
            <a:ext cx="1371600" cy="1417320"/>
          </a:xfrm>
          <a:prstGeom prst="rect">
            <a:avLst/>
          </a:prstGeom>
          <a:solidFill>
            <a:srgbClr val="DDEBF3"/>
          </a:solidFill>
          <a:ln w="15875">
            <a:solidFill>
              <a:srgbClr val="156082"/>
            </a:solidFill>
            <a:prstDash val="solid"/>
          </a:ln>
        </p:spPr>
        <p:txBody>
          <a:bodyPr/>
          <a:lstStyle/>
          <a:p>
            <a:endParaRPr lang="ja-JP" altLang="en-US"/>
          </a:p>
        </p:txBody>
      </p:sp>
      <p:sp>
        <p:nvSpPr>
          <p:cNvPr id="11" name="Shape 9"/>
          <p:cNvSpPr/>
          <p:nvPr/>
        </p:nvSpPr>
        <p:spPr>
          <a:xfrm>
            <a:off x="1938528" y="4142232"/>
            <a:ext cx="329184" cy="329184"/>
          </a:xfrm>
          <a:prstGeom prst="ellipse">
            <a:avLst/>
          </a:prstGeom>
          <a:solidFill>
            <a:srgbClr val="156082"/>
          </a:solidFill>
          <a:ln w="12700">
            <a:solidFill>
              <a:srgbClr val="156082"/>
            </a:solidFill>
            <a:prstDash val="solid"/>
          </a:ln>
        </p:spPr>
        <p:txBody>
          <a:bodyPr/>
          <a:lstStyle/>
          <a:p>
            <a:endParaRPr lang="ja-JP" altLang="en-US"/>
          </a:p>
        </p:txBody>
      </p:sp>
      <p:sp>
        <p:nvSpPr>
          <p:cNvPr id="12" name="Text 10"/>
          <p:cNvSpPr txBox="1"/>
          <p:nvPr/>
        </p:nvSpPr>
        <p:spPr>
          <a:xfrm>
            <a:off x="1938528" y="4142232"/>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游ゴシック" pitchFamily="34" charset="0"/>
                <a:ea typeface="游ゴシック" pitchFamily="34" charset="-122"/>
                <a:cs typeface="游ゴシック" pitchFamily="34" charset="-120"/>
              </a:rPr>
              <a:t>2</a:t>
            </a:r>
            <a:endParaRPr lang="en-US" sz="1300" dirty="0"/>
          </a:p>
        </p:txBody>
      </p:sp>
      <p:sp>
        <p:nvSpPr>
          <p:cNvPr id="13" name="Text 11"/>
          <p:cNvSpPr txBox="1"/>
          <p:nvPr/>
        </p:nvSpPr>
        <p:spPr>
          <a:xfrm>
            <a:off x="1883664" y="4498848"/>
            <a:ext cx="1335024" cy="365760"/>
          </a:xfrm>
          <a:prstGeom prst="rect">
            <a:avLst/>
          </a:prstGeom>
          <a:noFill/>
          <a:ln/>
        </p:spPr>
        <p:txBody>
          <a:bodyPr wrap="square" lIns="0" tIns="0" rIns="0" bIns="0" rtlCol="0" anchor="ctr"/>
          <a:lstStyle/>
          <a:p>
            <a:pPr marL="0" indent="0" algn="ctr">
              <a:buNone/>
            </a:pPr>
            <a:r>
              <a:rPr lang="en-US" sz="1400" b="1" dirty="0">
                <a:solidFill>
                  <a:srgbClr val="000000"/>
                </a:solidFill>
                <a:latin typeface="游ゴシック" pitchFamily="34" charset="0"/>
                <a:ea typeface="游ゴシック" pitchFamily="34" charset="-122"/>
                <a:cs typeface="游ゴシック" pitchFamily="34" charset="-120"/>
              </a:rPr>
              <a:t>NPU</a:t>
            </a:r>
            <a:endParaRPr lang="en-US" sz="1400" dirty="0"/>
          </a:p>
        </p:txBody>
      </p:sp>
      <p:sp>
        <p:nvSpPr>
          <p:cNvPr id="14" name="Text 12"/>
          <p:cNvSpPr txBox="1"/>
          <p:nvPr/>
        </p:nvSpPr>
        <p:spPr>
          <a:xfrm>
            <a:off x="1901952" y="4846320"/>
            <a:ext cx="1298448" cy="457200"/>
          </a:xfrm>
          <a:prstGeom prst="rect">
            <a:avLst/>
          </a:prstGeom>
          <a:noFill/>
          <a:ln/>
        </p:spPr>
        <p:txBody>
          <a:bodyPr wrap="square" lIns="0" tIns="0" rIns="0" bIns="0" rtlCol="0" anchor="t"/>
          <a:lstStyle/>
          <a:p>
            <a:pPr marL="0" indent="0" algn="ctr">
              <a:buNone/>
            </a:pPr>
            <a:r>
              <a:rPr lang="en-US" sz="1300" dirty="0">
                <a:solidFill>
                  <a:srgbClr val="404040"/>
                </a:solidFill>
                <a:latin typeface="游ゴシック" pitchFamily="34" charset="0"/>
                <a:ea typeface="游ゴシック" pitchFamily="34" charset="-122"/>
                <a:cs typeface="游ゴシック" pitchFamily="34" charset="-120"/>
              </a:rPr>
              <a:t>版番号一致</a:t>
            </a:r>
            <a:endParaRPr lang="en-US" sz="1300" dirty="0"/>
          </a:p>
        </p:txBody>
      </p:sp>
      <p:sp>
        <p:nvSpPr>
          <p:cNvPr id="15" name="Shape 13"/>
          <p:cNvSpPr/>
          <p:nvPr/>
        </p:nvSpPr>
        <p:spPr>
          <a:xfrm>
            <a:off x="3273552" y="3794760"/>
            <a:ext cx="1371600" cy="1691640"/>
          </a:xfrm>
          <a:prstGeom prst="rect">
            <a:avLst/>
          </a:prstGeom>
          <a:solidFill>
            <a:srgbClr val="DDEBF3"/>
          </a:solidFill>
          <a:ln w="15875">
            <a:solidFill>
              <a:srgbClr val="156082"/>
            </a:solidFill>
            <a:prstDash val="solid"/>
          </a:ln>
        </p:spPr>
        <p:txBody>
          <a:bodyPr/>
          <a:lstStyle/>
          <a:p>
            <a:endParaRPr lang="ja-JP" altLang="en-US"/>
          </a:p>
        </p:txBody>
      </p:sp>
      <p:sp>
        <p:nvSpPr>
          <p:cNvPr id="16" name="Shape 14"/>
          <p:cNvSpPr/>
          <p:nvPr/>
        </p:nvSpPr>
        <p:spPr>
          <a:xfrm>
            <a:off x="3346704" y="3867912"/>
            <a:ext cx="329184" cy="329184"/>
          </a:xfrm>
          <a:prstGeom prst="ellipse">
            <a:avLst/>
          </a:prstGeom>
          <a:solidFill>
            <a:srgbClr val="156082"/>
          </a:solidFill>
          <a:ln w="12700">
            <a:solidFill>
              <a:srgbClr val="156082"/>
            </a:solidFill>
            <a:prstDash val="solid"/>
          </a:ln>
        </p:spPr>
        <p:txBody>
          <a:bodyPr/>
          <a:lstStyle/>
          <a:p>
            <a:endParaRPr lang="ja-JP" altLang="en-US"/>
          </a:p>
        </p:txBody>
      </p:sp>
      <p:sp>
        <p:nvSpPr>
          <p:cNvPr id="17" name="Text 15"/>
          <p:cNvSpPr txBox="1"/>
          <p:nvPr/>
        </p:nvSpPr>
        <p:spPr>
          <a:xfrm>
            <a:off x="3346704" y="3867912"/>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游ゴシック" pitchFamily="34" charset="0"/>
                <a:ea typeface="游ゴシック" pitchFamily="34" charset="-122"/>
                <a:cs typeface="游ゴシック" pitchFamily="34" charset="-120"/>
              </a:rPr>
              <a:t>3</a:t>
            </a:r>
            <a:endParaRPr lang="en-US" sz="1300" dirty="0"/>
          </a:p>
        </p:txBody>
      </p:sp>
      <p:sp>
        <p:nvSpPr>
          <p:cNvPr id="18" name="Text 16"/>
          <p:cNvSpPr txBox="1"/>
          <p:nvPr/>
        </p:nvSpPr>
        <p:spPr>
          <a:xfrm>
            <a:off x="3291840" y="4224528"/>
            <a:ext cx="1335024" cy="365760"/>
          </a:xfrm>
          <a:prstGeom prst="rect">
            <a:avLst/>
          </a:prstGeom>
          <a:noFill/>
          <a:ln/>
        </p:spPr>
        <p:txBody>
          <a:bodyPr wrap="square" lIns="0" tIns="0" rIns="0" bIns="0" rtlCol="0" anchor="ctr"/>
          <a:lstStyle/>
          <a:p>
            <a:pPr marL="0" indent="0" algn="ctr">
              <a:buNone/>
            </a:pPr>
            <a:r>
              <a:rPr lang="en-US" sz="1400" b="1" dirty="0">
                <a:solidFill>
                  <a:srgbClr val="000000"/>
                </a:solidFill>
                <a:latin typeface="游ゴシック" pitchFamily="34" charset="0"/>
                <a:ea typeface="游ゴシック" pitchFamily="34" charset="-122"/>
                <a:cs typeface="游ゴシック" pitchFamily="34" charset="-120"/>
              </a:rPr>
              <a:t>推論</a:t>
            </a:r>
            <a:endParaRPr lang="en-US" sz="1400" dirty="0"/>
          </a:p>
        </p:txBody>
      </p:sp>
      <p:sp>
        <p:nvSpPr>
          <p:cNvPr id="19" name="Text 17"/>
          <p:cNvSpPr txBox="1"/>
          <p:nvPr/>
        </p:nvSpPr>
        <p:spPr>
          <a:xfrm>
            <a:off x="3310128" y="4572000"/>
            <a:ext cx="1298448" cy="457200"/>
          </a:xfrm>
          <a:prstGeom prst="rect">
            <a:avLst/>
          </a:prstGeom>
          <a:noFill/>
          <a:ln/>
        </p:spPr>
        <p:txBody>
          <a:bodyPr wrap="square" lIns="0" tIns="0" rIns="0" bIns="0" rtlCol="0" anchor="t"/>
          <a:lstStyle/>
          <a:p>
            <a:pPr marL="0" indent="0" algn="ctr">
              <a:buNone/>
            </a:pPr>
            <a:r>
              <a:rPr lang="en-US" sz="1300" dirty="0">
                <a:solidFill>
                  <a:srgbClr val="404040"/>
                </a:solidFill>
                <a:latin typeface="游ゴシック" pitchFamily="34" charset="0"/>
                <a:ea typeface="游ゴシック" pitchFamily="34" charset="-122"/>
                <a:cs typeface="游ゴシック" pitchFamily="34" charset="-120"/>
              </a:rPr>
              <a:t>10 回同じ結果</a:t>
            </a:r>
            <a:endParaRPr lang="en-US" sz="1300" dirty="0"/>
          </a:p>
        </p:txBody>
      </p:sp>
      <p:sp>
        <p:nvSpPr>
          <p:cNvPr id="20" name="Shape 18"/>
          <p:cNvSpPr/>
          <p:nvPr/>
        </p:nvSpPr>
        <p:spPr>
          <a:xfrm>
            <a:off x="4681728" y="3520440"/>
            <a:ext cx="1371600" cy="1965960"/>
          </a:xfrm>
          <a:prstGeom prst="rect">
            <a:avLst/>
          </a:prstGeom>
          <a:solidFill>
            <a:srgbClr val="DDEBF3"/>
          </a:solidFill>
          <a:ln w="15875">
            <a:solidFill>
              <a:srgbClr val="156082"/>
            </a:solidFill>
            <a:prstDash val="solid"/>
          </a:ln>
        </p:spPr>
        <p:txBody>
          <a:bodyPr/>
          <a:lstStyle/>
          <a:p>
            <a:endParaRPr lang="ja-JP" altLang="en-US"/>
          </a:p>
        </p:txBody>
      </p:sp>
      <p:sp>
        <p:nvSpPr>
          <p:cNvPr id="21" name="Shape 19"/>
          <p:cNvSpPr/>
          <p:nvPr/>
        </p:nvSpPr>
        <p:spPr>
          <a:xfrm>
            <a:off x="4754880" y="3593592"/>
            <a:ext cx="329184" cy="329184"/>
          </a:xfrm>
          <a:prstGeom prst="ellipse">
            <a:avLst/>
          </a:prstGeom>
          <a:solidFill>
            <a:srgbClr val="156082"/>
          </a:solidFill>
          <a:ln w="12700">
            <a:solidFill>
              <a:srgbClr val="156082"/>
            </a:solidFill>
            <a:prstDash val="solid"/>
          </a:ln>
        </p:spPr>
        <p:txBody>
          <a:bodyPr/>
          <a:lstStyle/>
          <a:p>
            <a:endParaRPr lang="ja-JP" altLang="en-US"/>
          </a:p>
        </p:txBody>
      </p:sp>
      <p:sp>
        <p:nvSpPr>
          <p:cNvPr id="22" name="Text 20"/>
          <p:cNvSpPr txBox="1"/>
          <p:nvPr/>
        </p:nvSpPr>
        <p:spPr>
          <a:xfrm>
            <a:off x="4754880" y="3593592"/>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游ゴシック" pitchFamily="34" charset="0"/>
                <a:ea typeface="游ゴシック" pitchFamily="34" charset="-122"/>
                <a:cs typeface="游ゴシック" pitchFamily="34" charset="-120"/>
              </a:rPr>
              <a:t>4</a:t>
            </a:r>
            <a:endParaRPr lang="en-US" sz="1300" dirty="0"/>
          </a:p>
        </p:txBody>
      </p:sp>
      <p:sp>
        <p:nvSpPr>
          <p:cNvPr id="23" name="Text 21"/>
          <p:cNvSpPr txBox="1"/>
          <p:nvPr/>
        </p:nvSpPr>
        <p:spPr>
          <a:xfrm>
            <a:off x="4700016" y="3950208"/>
            <a:ext cx="1335024" cy="365760"/>
          </a:xfrm>
          <a:prstGeom prst="rect">
            <a:avLst/>
          </a:prstGeom>
          <a:noFill/>
          <a:ln/>
        </p:spPr>
        <p:txBody>
          <a:bodyPr wrap="square" lIns="0" tIns="0" rIns="0" bIns="0" rtlCol="0" anchor="ctr"/>
          <a:lstStyle/>
          <a:p>
            <a:pPr marL="0" indent="0" algn="ctr">
              <a:buNone/>
            </a:pPr>
            <a:r>
              <a:rPr lang="en-US" sz="1400" b="1" dirty="0">
                <a:solidFill>
                  <a:srgbClr val="000000"/>
                </a:solidFill>
                <a:latin typeface="游ゴシック" pitchFamily="34" charset="0"/>
                <a:ea typeface="游ゴシック" pitchFamily="34" charset="-122"/>
                <a:cs typeface="游ゴシック" pitchFamily="34" charset="-120"/>
              </a:rPr>
              <a:t>前処理</a:t>
            </a:r>
            <a:endParaRPr lang="en-US" sz="1400" dirty="0"/>
          </a:p>
        </p:txBody>
      </p:sp>
      <p:sp>
        <p:nvSpPr>
          <p:cNvPr id="24" name="Text 22"/>
          <p:cNvSpPr txBox="1"/>
          <p:nvPr/>
        </p:nvSpPr>
        <p:spPr>
          <a:xfrm>
            <a:off x="4718304" y="4297680"/>
            <a:ext cx="1298448" cy="457200"/>
          </a:xfrm>
          <a:prstGeom prst="rect">
            <a:avLst/>
          </a:prstGeom>
          <a:noFill/>
          <a:ln/>
        </p:spPr>
        <p:txBody>
          <a:bodyPr wrap="square" lIns="0" tIns="0" rIns="0" bIns="0" rtlCol="0" anchor="t"/>
          <a:lstStyle/>
          <a:p>
            <a:pPr marL="0" indent="0" algn="ctr">
              <a:buNone/>
            </a:pPr>
            <a:r>
              <a:rPr lang="en-US" sz="1300" dirty="0">
                <a:solidFill>
                  <a:srgbClr val="404040"/>
                </a:solidFill>
                <a:latin typeface="游ゴシック" pitchFamily="34" charset="0"/>
                <a:ea typeface="游ゴシック" pitchFamily="34" charset="-122"/>
                <a:cs typeface="游ゴシック" pitchFamily="34" charset="-120"/>
              </a:rPr>
              <a:t>PC と差 0</a:t>
            </a:r>
            <a:endParaRPr lang="en-US" sz="1300" dirty="0"/>
          </a:p>
        </p:txBody>
      </p:sp>
      <p:sp>
        <p:nvSpPr>
          <p:cNvPr id="25" name="Shape 23"/>
          <p:cNvSpPr/>
          <p:nvPr/>
        </p:nvSpPr>
        <p:spPr>
          <a:xfrm>
            <a:off x="6089904" y="3246120"/>
            <a:ext cx="1371600" cy="2240280"/>
          </a:xfrm>
          <a:prstGeom prst="rect">
            <a:avLst/>
          </a:prstGeom>
          <a:solidFill>
            <a:srgbClr val="156082"/>
          </a:solidFill>
          <a:ln w="15875">
            <a:solidFill>
              <a:srgbClr val="156082"/>
            </a:solidFill>
            <a:prstDash val="solid"/>
          </a:ln>
        </p:spPr>
        <p:txBody>
          <a:bodyPr/>
          <a:lstStyle/>
          <a:p>
            <a:endParaRPr lang="ja-JP" altLang="en-US"/>
          </a:p>
        </p:txBody>
      </p:sp>
      <p:sp>
        <p:nvSpPr>
          <p:cNvPr id="26" name="Shape 24"/>
          <p:cNvSpPr/>
          <p:nvPr/>
        </p:nvSpPr>
        <p:spPr>
          <a:xfrm>
            <a:off x="6163056" y="3319272"/>
            <a:ext cx="329184" cy="329184"/>
          </a:xfrm>
          <a:prstGeom prst="ellipse">
            <a:avLst/>
          </a:prstGeom>
          <a:solidFill>
            <a:srgbClr val="FFFFFF"/>
          </a:solidFill>
          <a:ln w="12700">
            <a:solidFill>
              <a:srgbClr val="FFFFFF"/>
            </a:solidFill>
            <a:prstDash val="solid"/>
          </a:ln>
        </p:spPr>
        <p:txBody>
          <a:bodyPr/>
          <a:lstStyle/>
          <a:p>
            <a:endParaRPr lang="ja-JP" altLang="en-US"/>
          </a:p>
        </p:txBody>
      </p:sp>
      <p:sp>
        <p:nvSpPr>
          <p:cNvPr id="27" name="Text 25"/>
          <p:cNvSpPr txBox="1"/>
          <p:nvPr/>
        </p:nvSpPr>
        <p:spPr>
          <a:xfrm>
            <a:off x="6163056" y="3319272"/>
            <a:ext cx="329184" cy="329184"/>
          </a:xfrm>
          <a:prstGeom prst="rect">
            <a:avLst/>
          </a:prstGeom>
          <a:noFill/>
          <a:ln/>
        </p:spPr>
        <p:txBody>
          <a:bodyPr wrap="square" lIns="0" tIns="0" rIns="0" bIns="0" rtlCol="0" anchor="ctr"/>
          <a:lstStyle/>
          <a:p>
            <a:pPr marL="0" indent="0" algn="ctr">
              <a:buNone/>
            </a:pPr>
            <a:r>
              <a:rPr lang="en-US" sz="1300" b="1" dirty="0">
                <a:solidFill>
                  <a:srgbClr val="156082"/>
                </a:solidFill>
                <a:latin typeface="游ゴシック" pitchFamily="34" charset="0"/>
                <a:ea typeface="游ゴシック" pitchFamily="34" charset="-122"/>
                <a:cs typeface="游ゴシック" pitchFamily="34" charset="-120"/>
              </a:rPr>
              <a:t>5</a:t>
            </a:r>
            <a:endParaRPr lang="en-US" sz="1300" dirty="0"/>
          </a:p>
        </p:txBody>
      </p:sp>
      <p:sp>
        <p:nvSpPr>
          <p:cNvPr id="28" name="Text 26"/>
          <p:cNvSpPr txBox="1"/>
          <p:nvPr/>
        </p:nvSpPr>
        <p:spPr>
          <a:xfrm>
            <a:off x="6108192" y="3675888"/>
            <a:ext cx="1335024"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游ゴシック" pitchFamily="34" charset="0"/>
                <a:ea typeface="游ゴシック" pitchFamily="34" charset="-122"/>
                <a:cs typeface="游ゴシック" pitchFamily="34" charset="-120"/>
              </a:rPr>
              <a:t>通し試験</a:t>
            </a:r>
            <a:endParaRPr lang="en-US" sz="1400" dirty="0"/>
          </a:p>
        </p:txBody>
      </p:sp>
      <p:sp>
        <p:nvSpPr>
          <p:cNvPr id="29" name="Text 27"/>
          <p:cNvSpPr txBox="1"/>
          <p:nvPr/>
        </p:nvSpPr>
        <p:spPr>
          <a:xfrm>
            <a:off x="6126480" y="4023360"/>
            <a:ext cx="1298448" cy="457200"/>
          </a:xfrm>
          <a:prstGeom prst="rect">
            <a:avLst/>
          </a:prstGeom>
          <a:noFill/>
          <a:ln/>
        </p:spPr>
        <p:txBody>
          <a:bodyPr wrap="square" lIns="0" tIns="0" rIns="0" bIns="0" rtlCol="0" anchor="t"/>
          <a:lstStyle/>
          <a:p>
            <a:pPr marL="0" indent="0" algn="ctr">
              <a:buNone/>
            </a:pPr>
            <a:r>
              <a:rPr lang="en-US" sz="1300" dirty="0">
                <a:solidFill>
                  <a:srgbClr val="E6EEF3"/>
                </a:solidFill>
                <a:latin typeface="游ゴシック" pitchFamily="34" charset="0"/>
                <a:ea typeface="游ゴシック" pitchFamily="34" charset="-122"/>
                <a:cs typeface="游ゴシック" pitchFamily="34" charset="-120"/>
              </a:rPr>
              <a:t>検出・誤報</a:t>
            </a:r>
            <a:endParaRPr lang="en-US" sz="1300" dirty="0"/>
          </a:p>
        </p:txBody>
      </p:sp>
      <p:sp>
        <p:nvSpPr>
          <p:cNvPr id="30" name="Shape 28"/>
          <p:cNvSpPr/>
          <p:nvPr/>
        </p:nvSpPr>
        <p:spPr>
          <a:xfrm>
            <a:off x="7498080" y="2971800"/>
            <a:ext cx="1371600" cy="2514600"/>
          </a:xfrm>
          <a:prstGeom prst="rect">
            <a:avLst/>
          </a:prstGeom>
          <a:solidFill>
            <a:srgbClr val="156082"/>
          </a:solidFill>
          <a:ln w="15875">
            <a:solidFill>
              <a:srgbClr val="156082"/>
            </a:solidFill>
            <a:prstDash val="solid"/>
          </a:ln>
        </p:spPr>
        <p:txBody>
          <a:bodyPr/>
          <a:lstStyle/>
          <a:p>
            <a:endParaRPr lang="ja-JP" altLang="en-US"/>
          </a:p>
        </p:txBody>
      </p:sp>
      <p:sp>
        <p:nvSpPr>
          <p:cNvPr id="31" name="Shape 29"/>
          <p:cNvSpPr/>
          <p:nvPr/>
        </p:nvSpPr>
        <p:spPr>
          <a:xfrm>
            <a:off x="7571232" y="3044952"/>
            <a:ext cx="329184" cy="329184"/>
          </a:xfrm>
          <a:prstGeom prst="ellipse">
            <a:avLst/>
          </a:prstGeom>
          <a:solidFill>
            <a:srgbClr val="FFFFFF"/>
          </a:solidFill>
          <a:ln w="12700">
            <a:solidFill>
              <a:srgbClr val="FFFFFF"/>
            </a:solidFill>
            <a:prstDash val="solid"/>
          </a:ln>
        </p:spPr>
        <p:txBody>
          <a:bodyPr/>
          <a:lstStyle/>
          <a:p>
            <a:endParaRPr lang="ja-JP" altLang="en-US"/>
          </a:p>
        </p:txBody>
      </p:sp>
      <p:sp>
        <p:nvSpPr>
          <p:cNvPr id="32" name="Text 30"/>
          <p:cNvSpPr txBox="1"/>
          <p:nvPr/>
        </p:nvSpPr>
        <p:spPr>
          <a:xfrm>
            <a:off x="7571232" y="3044952"/>
            <a:ext cx="329184" cy="329184"/>
          </a:xfrm>
          <a:prstGeom prst="rect">
            <a:avLst/>
          </a:prstGeom>
          <a:noFill/>
          <a:ln/>
        </p:spPr>
        <p:txBody>
          <a:bodyPr wrap="square" lIns="0" tIns="0" rIns="0" bIns="0" rtlCol="0" anchor="ctr"/>
          <a:lstStyle/>
          <a:p>
            <a:pPr marL="0" indent="0" algn="ctr">
              <a:buNone/>
            </a:pPr>
            <a:r>
              <a:rPr lang="en-US" sz="1300" b="1" dirty="0">
                <a:solidFill>
                  <a:srgbClr val="156082"/>
                </a:solidFill>
                <a:latin typeface="游ゴシック" pitchFamily="34" charset="0"/>
                <a:ea typeface="游ゴシック" pitchFamily="34" charset="-122"/>
                <a:cs typeface="游ゴシック" pitchFamily="34" charset="-120"/>
              </a:rPr>
              <a:t>6</a:t>
            </a:r>
            <a:endParaRPr lang="en-US" sz="1300" dirty="0"/>
          </a:p>
        </p:txBody>
      </p:sp>
      <p:sp>
        <p:nvSpPr>
          <p:cNvPr id="33" name="Text 31"/>
          <p:cNvSpPr txBox="1"/>
          <p:nvPr/>
        </p:nvSpPr>
        <p:spPr>
          <a:xfrm>
            <a:off x="7516368" y="3401568"/>
            <a:ext cx="1335024"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游ゴシック" pitchFamily="34" charset="0"/>
                <a:ea typeface="游ゴシック" pitchFamily="34" charset="-122"/>
                <a:cs typeface="游ゴシック" pitchFamily="34" charset="-120"/>
              </a:rPr>
              <a:t>実験 1</a:t>
            </a:r>
            <a:endParaRPr lang="en-US" sz="1400" dirty="0"/>
          </a:p>
        </p:txBody>
      </p:sp>
      <p:sp>
        <p:nvSpPr>
          <p:cNvPr id="34" name="Text 32"/>
          <p:cNvSpPr txBox="1"/>
          <p:nvPr/>
        </p:nvSpPr>
        <p:spPr>
          <a:xfrm>
            <a:off x="7534656" y="3749040"/>
            <a:ext cx="1298448" cy="457200"/>
          </a:xfrm>
          <a:prstGeom prst="rect">
            <a:avLst/>
          </a:prstGeom>
          <a:noFill/>
          <a:ln/>
        </p:spPr>
        <p:txBody>
          <a:bodyPr wrap="square" lIns="0" tIns="0" rIns="0" bIns="0" rtlCol="0" anchor="t"/>
          <a:lstStyle/>
          <a:p>
            <a:pPr marL="0" indent="0" algn="ctr">
              <a:buNone/>
            </a:pPr>
            <a:r>
              <a:rPr lang="en-US" sz="1300" dirty="0">
                <a:solidFill>
                  <a:srgbClr val="E6EEF3"/>
                </a:solidFill>
                <a:latin typeface="游ゴシック" pitchFamily="34" charset="0"/>
                <a:ea typeface="游ゴシック" pitchFamily="34" charset="-122"/>
                <a:cs typeface="游ゴシック" pitchFamily="34" charset="-120"/>
              </a:rPr>
              <a:t>壊れる順番</a:t>
            </a:r>
            <a:endParaRPr lang="en-US" sz="1300" dirty="0"/>
          </a:p>
        </p:txBody>
      </p:sp>
      <p:sp>
        <p:nvSpPr>
          <p:cNvPr id="35" name="Shape 33"/>
          <p:cNvSpPr/>
          <p:nvPr/>
        </p:nvSpPr>
        <p:spPr>
          <a:xfrm>
            <a:off x="8906256" y="2697480"/>
            <a:ext cx="1371600" cy="2788920"/>
          </a:xfrm>
          <a:prstGeom prst="rect">
            <a:avLst/>
          </a:prstGeom>
          <a:solidFill>
            <a:srgbClr val="156082"/>
          </a:solidFill>
          <a:ln w="15875">
            <a:solidFill>
              <a:srgbClr val="156082"/>
            </a:solidFill>
            <a:prstDash val="solid"/>
          </a:ln>
        </p:spPr>
        <p:txBody>
          <a:bodyPr/>
          <a:lstStyle/>
          <a:p>
            <a:endParaRPr lang="ja-JP" altLang="en-US"/>
          </a:p>
        </p:txBody>
      </p:sp>
      <p:sp>
        <p:nvSpPr>
          <p:cNvPr id="36" name="Shape 34"/>
          <p:cNvSpPr/>
          <p:nvPr/>
        </p:nvSpPr>
        <p:spPr>
          <a:xfrm>
            <a:off x="8979408" y="2770632"/>
            <a:ext cx="329184" cy="329184"/>
          </a:xfrm>
          <a:prstGeom prst="ellipse">
            <a:avLst/>
          </a:prstGeom>
          <a:solidFill>
            <a:srgbClr val="FFFFFF"/>
          </a:solidFill>
          <a:ln w="12700">
            <a:solidFill>
              <a:srgbClr val="FFFFFF"/>
            </a:solidFill>
            <a:prstDash val="solid"/>
          </a:ln>
        </p:spPr>
        <p:txBody>
          <a:bodyPr/>
          <a:lstStyle/>
          <a:p>
            <a:endParaRPr lang="ja-JP" altLang="en-US"/>
          </a:p>
        </p:txBody>
      </p:sp>
      <p:sp>
        <p:nvSpPr>
          <p:cNvPr id="37" name="Text 35"/>
          <p:cNvSpPr txBox="1"/>
          <p:nvPr/>
        </p:nvSpPr>
        <p:spPr>
          <a:xfrm>
            <a:off x="8979408" y="2770632"/>
            <a:ext cx="329184" cy="329184"/>
          </a:xfrm>
          <a:prstGeom prst="rect">
            <a:avLst/>
          </a:prstGeom>
          <a:noFill/>
          <a:ln/>
        </p:spPr>
        <p:txBody>
          <a:bodyPr wrap="square" lIns="0" tIns="0" rIns="0" bIns="0" rtlCol="0" anchor="ctr"/>
          <a:lstStyle/>
          <a:p>
            <a:pPr marL="0" indent="0" algn="ctr">
              <a:buNone/>
            </a:pPr>
            <a:r>
              <a:rPr lang="en-US" sz="1300" b="1" dirty="0">
                <a:solidFill>
                  <a:srgbClr val="156082"/>
                </a:solidFill>
                <a:latin typeface="游ゴシック" pitchFamily="34" charset="0"/>
                <a:ea typeface="游ゴシック" pitchFamily="34" charset="-122"/>
                <a:cs typeface="游ゴシック" pitchFamily="34" charset="-120"/>
              </a:rPr>
              <a:t>7</a:t>
            </a:r>
            <a:endParaRPr lang="en-US" sz="1300" dirty="0"/>
          </a:p>
        </p:txBody>
      </p:sp>
      <p:sp>
        <p:nvSpPr>
          <p:cNvPr id="38" name="Text 36"/>
          <p:cNvSpPr txBox="1"/>
          <p:nvPr/>
        </p:nvSpPr>
        <p:spPr>
          <a:xfrm>
            <a:off x="8924544" y="3127248"/>
            <a:ext cx="1335024"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游ゴシック" pitchFamily="34" charset="0"/>
                <a:ea typeface="游ゴシック" pitchFamily="34" charset="-122"/>
                <a:cs typeface="游ゴシック" pitchFamily="34" charset="-120"/>
              </a:rPr>
              <a:t>実験 2</a:t>
            </a:r>
            <a:endParaRPr lang="en-US" sz="1400" dirty="0"/>
          </a:p>
        </p:txBody>
      </p:sp>
      <p:sp>
        <p:nvSpPr>
          <p:cNvPr id="39" name="Text 37"/>
          <p:cNvSpPr txBox="1"/>
          <p:nvPr/>
        </p:nvSpPr>
        <p:spPr>
          <a:xfrm>
            <a:off x="8942832" y="3474720"/>
            <a:ext cx="1298448" cy="457200"/>
          </a:xfrm>
          <a:prstGeom prst="rect">
            <a:avLst/>
          </a:prstGeom>
          <a:noFill/>
          <a:ln/>
        </p:spPr>
        <p:txBody>
          <a:bodyPr wrap="square" lIns="0" tIns="0" rIns="0" bIns="0" rtlCol="0" anchor="t"/>
          <a:lstStyle/>
          <a:p>
            <a:pPr marL="0" indent="0" algn="ctr">
              <a:buNone/>
            </a:pPr>
            <a:r>
              <a:rPr lang="en-US" sz="1300" dirty="0">
                <a:solidFill>
                  <a:srgbClr val="E6EEF3"/>
                </a:solidFill>
                <a:latin typeface="游ゴシック" pitchFamily="34" charset="0"/>
                <a:ea typeface="游ゴシック" pitchFamily="34" charset="-122"/>
                <a:cs typeface="游ゴシック" pitchFamily="34" charset="-120"/>
              </a:rPr>
              <a:t>取りこぼし 0</a:t>
            </a:r>
            <a:endParaRPr lang="en-US" sz="1300" dirty="0"/>
          </a:p>
        </p:txBody>
      </p:sp>
      <p:sp>
        <p:nvSpPr>
          <p:cNvPr id="40" name="Shape 38"/>
          <p:cNvSpPr/>
          <p:nvPr/>
        </p:nvSpPr>
        <p:spPr>
          <a:xfrm>
            <a:off x="10314432" y="2423160"/>
            <a:ext cx="1371600" cy="3063240"/>
          </a:xfrm>
          <a:prstGeom prst="rect">
            <a:avLst/>
          </a:prstGeom>
          <a:solidFill>
            <a:srgbClr val="156082"/>
          </a:solidFill>
          <a:ln w="15875">
            <a:solidFill>
              <a:srgbClr val="156082"/>
            </a:solidFill>
            <a:prstDash val="solid"/>
          </a:ln>
        </p:spPr>
        <p:txBody>
          <a:bodyPr/>
          <a:lstStyle/>
          <a:p>
            <a:endParaRPr lang="ja-JP" altLang="en-US"/>
          </a:p>
        </p:txBody>
      </p:sp>
      <p:sp>
        <p:nvSpPr>
          <p:cNvPr id="41" name="Shape 39"/>
          <p:cNvSpPr/>
          <p:nvPr/>
        </p:nvSpPr>
        <p:spPr>
          <a:xfrm>
            <a:off x="10387584" y="2496312"/>
            <a:ext cx="329184" cy="329184"/>
          </a:xfrm>
          <a:prstGeom prst="ellipse">
            <a:avLst/>
          </a:prstGeom>
          <a:solidFill>
            <a:srgbClr val="FFFFFF"/>
          </a:solidFill>
          <a:ln w="12700">
            <a:solidFill>
              <a:srgbClr val="FFFFFF"/>
            </a:solidFill>
            <a:prstDash val="solid"/>
          </a:ln>
        </p:spPr>
        <p:txBody>
          <a:bodyPr/>
          <a:lstStyle/>
          <a:p>
            <a:endParaRPr lang="ja-JP" altLang="en-US"/>
          </a:p>
        </p:txBody>
      </p:sp>
      <p:sp>
        <p:nvSpPr>
          <p:cNvPr id="42" name="Text 40"/>
          <p:cNvSpPr txBox="1"/>
          <p:nvPr/>
        </p:nvSpPr>
        <p:spPr>
          <a:xfrm>
            <a:off x="10387584" y="2496312"/>
            <a:ext cx="329184" cy="329184"/>
          </a:xfrm>
          <a:prstGeom prst="rect">
            <a:avLst/>
          </a:prstGeom>
          <a:noFill/>
          <a:ln/>
        </p:spPr>
        <p:txBody>
          <a:bodyPr wrap="square" lIns="0" tIns="0" rIns="0" bIns="0" rtlCol="0" anchor="ctr"/>
          <a:lstStyle/>
          <a:p>
            <a:pPr marL="0" indent="0" algn="ctr">
              <a:buNone/>
            </a:pPr>
            <a:r>
              <a:rPr lang="en-US" sz="1300" b="1" dirty="0">
                <a:solidFill>
                  <a:srgbClr val="156082"/>
                </a:solidFill>
                <a:latin typeface="游ゴシック" pitchFamily="34" charset="0"/>
                <a:ea typeface="游ゴシック" pitchFamily="34" charset="-122"/>
                <a:cs typeface="游ゴシック" pitchFamily="34" charset="-120"/>
              </a:rPr>
              <a:t>8</a:t>
            </a:r>
            <a:endParaRPr lang="en-US" sz="1300" dirty="0"/>
          </a:p>
        </p:txBody>
      </p:sp>
      <p:sp>
        <p:nvSpPr>
          <p:cNvPr id="43" name="Text 41"/>
          <p:cNvSpPr txBox="1"/>
          <p:nvPr/>
        </p:nvSpPr>
        <p:spPr>
          <a:xfrm>
            <a:off x="10332720" y="2852928"/>
            <a:ext cx="1335024"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游ゴシック" pitchFamily="34" charset="0"/>
                <a:ea typeface="游ゴシック" pitchFamily="34" charset="-122"/>
                <a:cs typeface="游ゴシック" pitchFamily="34" charset="-120"/>
              </a:rPr>
              <a:t>実験 3</a:t>
            </a:r>
            <a:endParaRPr lang="en-US" sz="1400" dirty="0"/>
          </a:p>
        </p:txBody>
      </p:sp>
      <p:sp>
        <p:nvSpPr>
          <p:cNvPr id="44" name="Text 42"/>
          <p:cNvSpPr txBox="1"/>
          <p:nvPr/>
        </p:nvSpPr>
        <p:spPr>
          <a:xfrm>
            <a:off x="10351008" y="3200400"/>
            <a:ext cx="1298448" cy="457200"/>
          </a:xfrm>
          <a:prstGeom prst="rect">
            <a:avLst/>
          </a:prstGeom>
          <a:noFill/>
          <a:ln/>
        </p:spPr>
        <p:txBody>
          <a:bodyPr wrap="square" lIns="0" tIns="0" rIns="0" bIns="0" rtlCol="0" anchor="t"/>
          <a:lstStyle/>
          <a:p>
            <a:pPr marL="0" indent="0" algn="ctr">
              <a:buNone/>
            </a:pPr>
            <a:r>
              <a:rPr lang="en-US" sz="1300" dirty="0">
                <a:solidFill>
                  <a:srgbClr val="E6EEF3"/>
                </a:solidFill>
                <a:latin typeface="游ゴシック" pitchFamily="34" charset="0"/>
                <a:ea typeface="游ゴシック" pitchFamily="34" charset="-122"/>
                <a:cs typeface="游ゴシック" pitchFamily="34" charset="-120"/>
              </a:rPr>
              <a:t>同じ手順が通る</a:t>
            </a:r>
            <a:endParaRPr lang="en-US" sz="1300" dirty="0"/>
          </a:p>
        </p:txBody>
      </p:sp>
      <p:sp>
        <p:nvSpPr>
          <p:cNvPr id="45" name="Shape 43"/>
          <p:cNvSpPr/>
          <p:nvPr/>
        </p:nvSpPr>
        <p:spPr>
          <a:xfrm>
            <a:off x="457200" y="5486400"/>
            <a:ext cx="11247120" cy="0"/>
          </a:xfrm>
          <a:prstGeom prst="line">
            <a:avLst/>
          </a:prstGeom>
          <a:noFill/>
          <a:ln w="12700">
            <a:solidFill>
              <a:srgbClr val="7F7F7F"/>
            </a:solidFill>
            <a:prstDash val="solid"/>
          </a:ln>
        </p:spPr>
        <p:txBody>
          <a:bodyPr/>
          <a:lstStyle/>
          <a:p>
            <a:endParaRPr lang="ja-JP" altLang="en-US"/>
          </a:p>
        </p:txBody>
      </p:sp>
      <p:sp>
        <p:nvSpPr>
          <p:cNvPr id="46" name="Shape 44"/>
          <p:cNvSpPr/>
          <p:nvPr/>
        </p:nvSpPr>
        <p:spPr>
          <a:xfrm>
            <a:off x="457200" y="5577840"/>
            <a:ext cx="5486400" cy="0"/>
          </a:xfrm>
          <a:prstGeom prst="line">
            <a:avLst/>
          </a:prstGeom>
          <a:noFill/>
          <a:ln w="25400">
            <a:solidFill>
              <a:srgbClr val="156082"/>
            </a:solidFill>
            <a:prstDash val="solid"/>
          </a:ln>
        </p:spPr>
        <p:txBody>
          <a:bodyPr/>
          <a:lstStyle/>
          <a:p>
            <a:endParaRPr lang="ja-JP" altLang="en-US"/>
          </a:p>
        </p:txBody>
      </p:sp>
      <p:sp>
        <p:nvSpPr>
          <p:cNvPr id="47" name="Text 45"/>
          <p:cNvSpPr txBox="1"/>
          <p:nvPr/>
        </p:nvSpPr>
        <p:spPr>
          <a:xfrm>
            <a:off x="457200" y="5650992"/>
            <a:ext cx="5486400" cy="457200"/>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起動のたびに自動（1〜4）。結果は READY の前に出る</a:t>
            </a:r>
            <a:endParaRPr lang="en-US" sz="1400" dirty="0"/>
          </a:p>
        </p:txBody>
      </p:sp>
      <p:sp>
        <p:nvSpPr>
          <p:cNvPr id="48" name="Shape 46"/>
          <p:cNvSpPr/>
          <p:nvPr/>
        </p:nvSpPr>
        <p:spPr>
          <a:xfrm>
            <a:off x="6089904" y="5577840"/>
            <a:ext cx="5486400" cy="0"/>
          </a:xfrm>
          <a:prstGeom prst="line">
            <a:avLst/>
          </a:prstGeom>
          <a:noFill/>
          <a:ln w="25400">
            <a:solidFill>
              <a:srgbClr val="156082"/>
            </a:solidFill>
            <a:prstDash val="solid"/>
          </a:ln>
        </p:spPr>
        <p:txBody>
          <a:bodyPr/>
          <a:lstStyle/>
          <a:p>
            <a:endParaRPr lang="ja-JP" altLang="en-US"/>
          </a:p>
        </p:txBody>
      </p:sp>
      <p:sp>
        <p:nvSpPr>
          <p:cNvPr id="49" name="Text 47"/>
          <p:cNvSpPr txBox="1"/>
          <p:nvPr/>
        </p:nvSpPr>
        <p:spPr>
          <a:xfrm>
            <a:off x="6089904" y="5650992"/>
            <a:ext cx="5486400" cy="457200"/>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板を回して測る（5〜8）。UART のログを保存して集計</a:t>
            </a:r>
            <a:endParaRPr lang="en-US" sz="1400" dirty="0"/>
          </a:p>
        </p:txBody>
      </p:sp>
      <p:sp>
        <p:nvSpPr>
          <p:cNvPr id="50" name="Text 48"/>
          <p:cNvSpPr txBox="1"/>
          <p:nvPr/>
        </p:nvSpPr>
        <p:spPr>
          <a:xfrm>
            <a:off x="457200" y="2240280"/>
            <a:ext cx="5669280" cy="914400"/>
          </a:xfrm>
          <a:prstGeom prst="rect">
            <a:avLst/>
          </a:prstGeom>
          <a:noFill/>
          <a:ln/>
        </p:spPr>
        <p:txBody>
          <a:bodyPr wrap="square" lIns="0" tIns="0" rIns="0" bIns="0" rtlCol="0" anchor="t"/>
          <a:lstStyle/>
          <a:p>
            <a:pPr marL="0" indent="0">
              <a:buNone/>
            </a:pPr>
            <a:r>
              <a:rPr lang="en-US" sz="1800" b="1" dirty="0">
                <a:solidFill>
                  <a:srgbClr val="404040"/>
                </a:solidFill>
                <a:latin typeface="游ゴシック" pitchFamily="34" charset="0"/>
                <a:ea typeface="游ゴシック" pitchFamily="34" charset="-122"/>
                <a:cs typeface="游ゴシック" pitchFamily="34" charset="-120"/>
              </a:rPr>
              <a:t>各段に完了条件を先に決めてから進めた。</a:t>
            </a:r>
            <a:endParaRPr lang="en-US" sz="1800" dirty="0"/>
          </a:p>
          <a:p>
            <a:pPr marL="0" indent="0">
              <a:buNone/>
            </a:pPr>
            <a:r>
              <a:rPr lang="en-US" sz="1800" b="1" dirty="0">
                <a:solidFill>
                  <a:srgbClr val="404040"/>
                </a:solidFill>
                <a:latin typeface="游ゴシック" pitchFamily="34" charset="0"/>
                <a:ea typeface="游ゴシック" pitchFamily="34" charset="-122"/>
                <a:cs typeface="游ゴシック" pitchFamily="34" charset="-120"/>
              </a:rPr>
              <a:t>前半は起動のたびに自動で、後半は板を回して測る</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4-2　数字はすべてログから作り直せる</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384048" y="1156156"/>
            <a:ext cx="11274552" cy="896112"/>
          </a:xfrm>
          <a:prstGeom prst="rect">
            <a:avLst/>
          </a:prstGeom>
          <a:noFill/>
          <a:ln/>
        </p:spPr>
        <p:txBody>
          <a:bodyPr wrap="square" lIns="0" tIns="0" rIns="0" bIns="0" rtlCol="0" anchor="ctr"/>
          <a:lstStyle/>
          <a:p>
            <a:pPr marL="0" indent="0" algn="ctr">
              <a:buNone/>
            </a:pPr>
            <a:r>
              <a:rPr lang="en-US" sz="2800" b="1" dirty="0">
                <a:solidFill>
                  <a:srgbClr val="FF0000"/>
                </a:solidFill>
                <a:latin typeface="游ゴシック" pitchFamily="34" charset="0"/>
                <a:ea typeface="游ゴシック" pitchFamily="34" charset="-122"/>
                <a:cs typeface="游ゴシック" pitchFamily="34" charset="-120"/>
              </a:rPr>
              <a:t>ログは全部残し、表とグラフはスクリプトで作り直す</a:t>
            </a:r>
            <a:endParaRPr lang="en-US" sz="2800" dirty="0">
              <a:solidFill>
                <a:srgbClr val="FF0000"/>
              </a:solidFill>
            </a:endParaRPr>
          </a:p>
        </p:txBody>
      </p:sp>
      <p:sp>
        <p:nvSpPr>
          <p:cNvPr id="5" name="Shape 3"/>
          <p:cNvSpPr/>
          <p:nvPr/>
        </p:nvSpPr>
        <p:spPr>
          <a:xfrm>
            <a:off x="457200" y="2194560"/>
            <a:ext cx="2560320" cy="960120"/>
          </a:xfrm>
          <a:prstGeom prst="rect">
            <a:avLst/>
          </a:prstGeom>
          <a:solidFill>
            <a:srgbClr val="F2F2F2"/>
          </a:solidFill>
          <a:ln w="19050">
            <a:solidFill>
              <a:srgbClr val="A6A6A6"/>
            </a:solidFill>
            <a:prstDash val="solid"/>
          </a:ln>
        </p:spPr>
        <p:txBody>
          <a:bodyPr/>
          <a:lstStyle/>
          <a:p>
            <a:endParaRPr lang="ja-JP" altLang="en-US"/>
          </a:p>
        </p:txBody>
      </p:sp>
      <p:pic>
        <p:nvPicPr>
          <p:cNvPr id="6" name="Image 0" descr="/home/claude/v4/icons/FaMicrochip_595959.png"/>
          <p:cNvPicPr>
            <a:picLocks noChangeAspect="1"/>
          </p:cNvPicPr>
          <p:nvPr/>
        </p:nvPicPr>
        <p:blipFill>
          <a:blip r:embed="rId3"/>
          <a:stretch>
            <a:fillRect/>
          </a:stretch>
        </p:blipFill>
        <p:spPr>
          <a:xfrm>
            <a:off x="594360" y="2377440"/>
            <a:ext cx="502920" cy="502920"/>
          </a:xfrm>
          <a:prstGeom prst="rect">
            <a:avLst/>
          </a:prstGeom>
        </p:spPr>
      </p:pic>
      <p:sp>
        <p:nvSpPr>
          <p:cNvPr id="7" name="Text 4"/>
          <p:cNvSpPr txBox="1"/>
          <p:nvPr/>
        </p:nvSpPr>
        <p:spPr>
          <a:xfrm>
            <a:off x="1188720" y="2240280"/>
            <a:ext cx="1783080" cy="457200"/>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ボード</a:t>
            </a:r>
            <a:endParaRPr lang="en-US" sz="1800" dirty="0"/>
          </a:p>
        </p:txBody>
      </p:sp>
      <p:sp>
        <p:nvSpPr>
          <p:cNvPr id="8" name="Text 5"/>
          <p:cNvSpPr txBox="1"/>
          <p:nvPr/>
        </p:nvSpPr>
        <p:spPr>
          <a:xfrm>
            <a:off x="1188720" y="2651760"/>
            <a:ext cx="1783080" cy="411480"/>
          </a:xfrm>
          <a:prstGeom prst="rect">
            <a:avLst/>
          </a:prstGeom>
          <a:noFill/>
          <a:ln/>
        </p:spPr>
        <p:txBody>
          <a:bodyPr wrap="square" lIns="0" tIns="0" rIns="0" bIns="0" rtlCol="0" anchor="ctr"/>
          <a:lstStyle/>
          <a:p>
            <a:pPr marL="0" indent="0">
              <a:buNone/>
            </a:pPr>
            <a:r>
              <a:rPr lang="en-US" sz="1200" dirty="0">
                <a:solidFill>
                  <a:srgbClr val="595959"/>
                </a:solidFill>
                <a:latin typeface="Consolas" pitchFamily="34" charset="0"/>
                <a:ea typeface="Consolas" pitchFamily="34" charset="-122"/>
                <a:cs typeface="Consolas" pitchFamily="34" charset="-120"/>
              </a:rPr>
              <a:t>UART 115200 bps</a:t>
            </a:r>
            <a:endParaRPr lang="en-US" sz="1200" dirty="0"/>
          </a:p>
        </p:txBody>
      </p:sp>
      <p:sp>
        <p:nvSpPr>
          <p:cNvPr id="9" name="Shape 6"/>
          <p:cNvSpPr/>
          <p:nvPr/>
        </p:nvSpPr>
        <p:spPr>
          <a:xfrm>
            <a:off x="3063240" y="2542032"/>
            <a:ext cx="228600" cy="274320"/>
          </a:xfrm>
          <a:prstGeom prst="rightArrow">
            <a:avLst/>
          </a:prstGeom>
          <a:solidFill>
            <a:srgbClr val="156082"/>
          </a:solidFill>
          <a:ln w="12700">
            <a:solidFill>
              <a:srgbClr val="156082"/>
            </a:solidFill>
            <a:prstDash val="solid"/>
          </a:ln>
        </p:spPr>
        <p:txBody>
          <a:bodyPr/>
          <a:lstStyle/>
          <a:p>
            <a:endParaRPr lang="ja-JP" altLang="en-US"/>
          </a:p>
        </p:txBody>
      </p:sp>
      <p:sp>
        <p:nvSpPr>
          <p:cNvPr id="10" name="Shape 7"/>
          <p:cNvSpPr/>
          <p:nvPr/>
        </p:nvSpPr>
        <p:spPr>
          <a:xfrm>
            <a:off x="3337560" y="2194560"/>
            <a:ext cx="2560320" cy="960120"/>
          </a:xfrm>
          <a:prstGeom prst="rect">
            <a:avLst/>
          </a:prstGeom>
          <a:solidFill>
            <a:srgbClr val="DDEBF3"/>
          </a:solidFill>
          <a:ln w="19050">
            <a:solidFill>
              <a:srgbClr val="156082"/>
            </a:solidFill>
            <a:prstDash val="solid"/>
          </a:ln>
        </p:spPr>
        <p:txBody>
          <a:bodyPr/>
          <a:lstStyle/>
          <a:p>
            <a:endParaRPr lang="ja-JP" altLang="en-US"/>
          </a:p>
        </p:txBody>
      </p:sp>
      <p:pic>
        <p:nvPicPr>
          <p:cNvPr id="11" name="Image 1" descr="/home/claude/v4/icons/FaFileAlt_156082.png"/>
          <p:cNvPicPr>
            <a:picLocks noChangeAspect="1"/>
          </p:cNvPicPr>
          <p:nvPr/>
        </p:nvPicPr>
        <p:blipFill>
          <a:blip r:embed="rId4"/>
          <a:stretch>
            <a:fillRect/>
          </a:stretch>
        </p:blipFill>
        <p:spPr>
          <a:xfrm>
            <a:off x="3474720" y="2377440"/>
            <a:ext cx="502920" cy="502920"/>
          </a:xfrm>
          <a:prstGeom prst="rect">
            <a:avLst/>
          </a:prstGeom>
        </p:spPr>
      </p:pic>
      <p:sp>
        <p:nvSpPr>
          <p:cNvPr id="12" name="Text 8"/>
          <p:cNvSpPr txBox="1"/>
          <p:nvPr/>
        </p:nvSpPr>
        <p:spPr>
          <a:xfrm>
            <a:off x="4069080" y="2240280"/>
            <a:ext cx="1783080" cy="457200"/>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ログを保存</a:t>
            </a:r>
            <a:endParaRPr lang="en-US" sz="1800" dirty="0"/>
          </a:p>
        </p:txBody>
      </p:sp>
      <p:sp>
        <p:nvSpPr>
          <p:cNvPr id="13" name="Text 9"/>
          <p:cNvSpPr txBox="1"/>
          <p:nvPr/>
        </p:nvSpPr>
        <p:spPr>
          <a:xfrm>
            <a:off x="4069080" y="2651760"/>
            <a:ext cx="1783080" cy="411480"/>
          </a:xfrm>
          <a:prstGeom prst="rect">
            <a:avLst/>
          </a:prstGeom>
          <a:noFill/>
          <a:ln/>
        </p:spPr>
        <p:txBody>
          <a:bodyPr wrap="square" lIns="0" tIns="0" rIns="0" bIns="0" rtlCol="0" anchor="ctr"/>
          <a:lstStyle/>
          <a:p>
            <a:pPr marL="0" indent="0">
              <a:buNone/>
            </a:pPr>
            <a:r>
              <a:rPr lang="en-US" sz="1200" dirty="0">
                <a:solidFill>
                  <a:srgbClr val="595959"/>
                </a:solidFill>
                <a:latin typeface="Consolas" pitchFamily="34" charset="0"/>
                <a:ea typeface="Consolas" pitchFamily="34" charset="-122"/>
                <a:cs typeface="Consolas" pitchFamily="34" charset="-120"/>
              </a:rPr>
              <a:t>scripts\log.ps1</a:t>
            </a:r>
            <a:endParaRPr lang="en-US" sz="1200" dirty="0"/>
          </a:p>
        </p:txBody>
      </p:sp>
      <p:sp>
        <p:nvSpPr>
          <p:cNvPr id="14" name="Shape 10"/>
          <p:cNvSpPr/>
          <p:nvPr/>
        </p:nvSpPr>
        <p:spPr>
          <a:xfrm>
            <a:off x="5943600" y="2542032"/>
            <a:ext cx="228600" cy="274320"/>
          </a:xfrm>
          <a:prstGeom prst="rightArrow">
            <a:avLst/>
          </a:prstGeom>
          <a:solidFill>
            <a:srgbClr val="156082"/>
          </a:solidFill>
          <a:ln w="12700">
            <a:solidFill>
              <a:srgbClr val="156082"/>
            </a:solidFill>
            <a:prstDash val="solid"/>
          </a:ln>
        </p:spPr>
        <p:txBody>
          <a:bodyPr/>
          <a:lstStyle/>
          <a:p>
            <a:endParaRPr lang="ja-JP" altLang="en-US"/>
          </a:p>
        </p:txBody>
      </p:sp>
      <p:sp>
        <p:nvSpPr>
          <p:cNvPr id="15" name="Shape 11"/>
          <p:cNvSpPr/>
          <p:nvPr/>
        </p:nvSpPr>
        <p:spPr>
          <a:xfrm>
            <a:off x="6217920" y="2194560"/>
            <a:ext cx="2560320" cy="960120"/>
          </a:xfrm>
          <a:prstGeom prst="rect">
            <a:avLst/>
          </a:prstGeom>
          <a:solidFill>
            <a:srgbClr val="DDEBF3"/>
          </a:solidFill>
          <a:ln w="19050">
            <a:solidFill>
              <a:srgbClr val="156082"/>
            </a:solidFill>
            <a:prstDash val="solid"/>
          </a:ln>
        </p:spPr>
        <p:txBody>
          <a:bodyPr/>
          <a:lstStyle/>
          <a:p>
            <a:endParaRPr lang="ja-JP" altLang="en-US"/>
          </a:p>
        </p:txBody>
      </p:sp>
      <p:pic>
        <p:nvPicPr>
          <p:cNvPr id="16" name="Image 2" descr="/home/claude/v4/icons/FaTable_156082.png"/>
          <p:cNvPicPr>
            <a:picLocks noChangeAspect="1"/>
          </p:cNvPicPr>
          <p:nvPr/>
        </p:nvPicPr>
        <p:blipFill>
          <a:blip r:embed="rId5"/>
          <a:stretch>
            <a:fillRect/>
          </a:stretch>
        </p:blipFill>
        <p:spPr>
          <a:xfrm>
            <a:off x="6355080" y="2377440"/>
            <a:ext cx="502920" cy="502920"/>
          </a:xfrm>
          <a:prstGeom prst="rect">
            <a:avLst/>
          </a:prstGeom>
        </p:spPr>
      </p:pic>
      <p:sp>
        <p:nvSpPr>
          <p:cNvPr id="17" name="Text 12"/>
          <p:cNvSpPr txBox="1"/>
          <p:nvPr/>
        </p:nvSpPr>
        <p:spPr>
          <a:xfrm>
            <a:off x="6949440" y="2240280"/>
            <a:ext cx="1783080" cy="457200"/>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集計</a:t>
            </a:r>
            <a:endParaRPr lang="en-US" sz="1800" dirty="0"/>
          </a:p>
        </p:txBody>
      </p:sp>
      <p:sp>
        <p:nvSpPr>
          <p:cNvPr id="18" name="Text 13"/>
          <p:cNvSpPr txBox="1"/>
          <p:nvPr/>
        </p:nvSpPr>
        <p:spPr>
          <a:xfrm>
            <a:off x="6949440" y="2651760"/>
            <a:ext cx="1783080" cy="411480"/>
          </a:xfrm>
          <a:prstGeom prst="rect">
            <a:avLst/>
          </a:prstGeom>
          <a:noFill/>
          <a:ln/>
        </p:spPr>
        <p:txBody>
          <a:bodyPr wrap="square" lIns="0" tIns="0" rIns="0" bIns="0" rtlCol="0" anchor="ctr"/>
          <a:lstStyle/>
          <a:p>
            <a:pPr marL="0" indent="0">
              <a:buNone/>
            </a:pPr>
            <a:r>
              <a:rPr lang="en-US" sz="1200" dirty="0">
                <a:solidFill>
                  <a:srgbClr val="595959"/>
                </a:solidFill>
                <a:latin typeface="Consolas" pitchFamily="34" charset="0"/>
                <a:ea typeface="Consolas" pitchFamily="34" charset="-122"/>
                <a:cs typeface="Consolas" pitchFamily="34" charset="-120"/>
              </a:rPr>
              <a:t>scripts/analyze_31.py</a:t>
            </a:r>
            <a:endParaRPr lang="en-US" sz="1200" dirty="0"/>
          </a:p>
        </p:txBody>
      </p:sp>
      <p:sp>
        <p:nvSpPr>
          <p:cNvPr id="19" name="Shape 14"/>
          <p:cNvSpPr/>
          <p:nvPr/>
        </p:nvSpPr>
        <p:spPr>
          <a:xfrm>
            <a:off x="8823960" y="2542032"/>
            <a:ext cx="228600" cy="274320"/>
          </a:xfrm>
          <a:prstGeom prst="rightArrow">
            <a:avLst/>
          </a:prstGeom>
          <a:solidFill>
            <a:srgbClr val="156082"/>
          </a:solidFill>
          <a:ln w="12700">
            <a:solidFill>
              <a:srgbClr val="156082"/>
            </a:solidFill>
            <a:prstDash val="solid"/>
          </a:ln>
        </p:spPr>
        <p:txBody>
          <a:bodyPr/>
          <a:lstStyle/>
          <a:p>
            <a:endParaRPr lang="ja-JP" altLang="en-US"/>
          </a:p>
        </p:txBody>
      </p:sp>
      <p:sp>
        <p:nvSpPr>
          <p:cNvPr id="20" name="Shape 15"/>
          <p:cNvSpPr/>
          <p:nvPr/>
        </p:nvSpPr>
        <p:spPr>
          <a:xfrm>
            <a:off x="9098280" y="2194560"/>
            <a:ext cx="2560320" cy="960120"/>
          </a:xfrm>
          <a:prstGeom prst="rect">
            <a:avLst/>
          </a:prstGeom>
          <a:solidFill>
            <a:srgbClr val="DDEBF3"/>
          </a:solidFill>
          <a:ln w="19050">
            <a:solidFill>
              <a:srgbClr val="156082"/>
            </a:solidFill>
            <a:prstDash val="solid"/>
          </a:ln>
        </p:spPr>
        <p:txBody>
          <a:bodyPr/>
          <a:lstStyle/>
          <a:p>
            <a:endParaRPr lang="ja-JP" altLang="en-US"/>
          </a:p>
        </p:txBody>
      </p:sp>
      <p:pic>
        <p:nvPicPr>
          <p:cNvPr id="21" name="Image 3" descr="/home/claude/v4/icons/FaCheckCircle_156082.png"/>
          <p:cNvPicPr>
            <a:picLocks noChangeAspect="1"/>
          </p:cNvPicPr>
          <p:nvPr/>
        </p:nvPicPr>
        <p:blipFill>
          <a:blip r:embed="rId6"/>
          <a:stretch>
            <a:fillRect/>
          </a:stretch>
        </p:blipFill>
        <p:spPr>
          <a:xfrm>
            <a:off x="9235440" y="2377440"/>
            <a:ext cx="502920" cy="502920"/>
          </a:xfrm>
          <a:prstGeom prst="rect">
            <a:avLst/>
          </a:prstGeom>
        </p:spPr>
      </p:pic>
      <p:sp>
        <p:nvSpPr>
          <p:cNvPr id="22" name="Text 16"/>
          <p:cNvSpPr txBox="1"/>
          <p:nvPr/>
        </p:nvSpPr>
        <p:spPr>
          <a:xfrm>
            <a:off x="9829800" y="2240280"/>
            <a:ext cx="1783080" cy="457200"/>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本資料の表・グラフ</a:t>
            </a:r>
            <a:endParaRPr lang="en-US" sz="1800" dirty="0"/>
          </a:p>
        </p:txBody>
      </p:sp>
      <p:sp>
        <p:nvSpPr>
          <p:cNvPr id="23" name="Text 17"/>
          <p:cNvSpPr txBox="1"/>
          <p:nvPr/>
        </p:nvSpPr>
        <p:spPr>
          <a:xfrm>
            <a:off x="9829800" y="2651760"/>
            <a:ext cx="1783080" cy="411480"/>
          </a:xfrm>
          <a:prstGeom prst="rect">
            <a:avLst/>
          </a:prstGeom>
          <a:noFill/>
          <a:ln/>
        </p:spPr>
        <p:txBody>
          <a:bodyPr wrap="square" lIns="0" tIns="0" rIns="0" bIns="0" rtlCol="0" anchor="ctr"/>
          <a:lstStyle/>
          <a:p>
            <a:pPr marL="0" indent="0">
              <a:buNone/>
            </a:pPr>
            <a:endParaRPr lang="en-US" sz="1200" dirty="0"/>
          </a:p>
        </p:txBody>
      </p:sp>
      <p:sp>
        <p:nvSpPr>
          <p:cNvPr id="24" name="Shape 18"/>
          <p:cNvSpPr/>
          <p:nvPr/>
        </p:nvSpPr>
        <p:spPr>
          <a:xfrm>
            <a:off x="3337560" y="3310128"/>
            <a:ext cx="8394192" cy="640080"/>
          </a:xfrm>
          <a:prstGeom prst="rect">
            <a:avLst/>
          </a:prstGeom>
          <a:solidFill>
            <a:srgbClr val="DDF3EA"/>
          </a:solidFill>
          <a:ln w="15875">
            <a:solidFill>
              <a:srgbClr val="008A5E"/>
            </a:solidFill>
            <a:prstDash val="solid"/>
          </a:ln>
        </p:spPr>
        <p:txBody>
          <a:bodyPr/>
          <a:lstStyle/>
          <a:p>
            <a:endParaRPr lang="ja-JP" altLang="en-US"/>
          </a:p>
        </p:txBody>
      </p:sp>
      <p:pic>
        <p:nvPicPr>
          <p:cNvPr id="25" name="Image 4" descr="/home/claude/v4/icons/FaRedo_156082.png"/>
          <p:cNvPicPr>
            <a:picLocks noChangeAspect="1"/>
          </p:cNvPicPr>
          <p:nvPr/>
        </p:nvPicPr>
        <p:blipFill>
          <a:blip r:embed="rId7"/>
          <a:stretch>
            <a:fillRect/>
          </a:stretch>
        </p:blipFill>
        <p:spPr>
          <a:xfrm>
            <a:off x="3474720" y="3401568"/>
            <a:ext cx="457200" cy="457200"/>
          </a:xfrm>
          <a:prstGeom prst="rect">
            <a:avLst/>
          </a:prstGeom>
        </p:spPr>
      </p:pic>
      <p:sp>
        <p:nvSpPr>
          <p:cNvPr id="26" name="Text 19"/>
          <p:cNvSpPr txBox="1"/>
          <p:nvPr/>
        </p:nvSpPr>
        <p:spPr>
          <a:xfrm>
            <a:off x="4069080" y="3310128"/>
            <a:ext cx="7589520" cy="640080"/>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判定の再生　</a:t>
            </a:r>
            <a:r>
              <a:rPr lang="en-US" sz="1300" dirty="0">
                <a:solidFill>
                  <a:srgbClr val="595959"/>
                </a:solidFill>
                <a:latin typeface="Consolas" pitchFamily="34" charset="0"/>
                <a:ea typeface="Consolas" pitchFamily="34" charset="-122"/>
                <a:cs typeface="Consolas" pitchFamily="34" charset="-120"/>
              </a:rPr>
              <a:t>scripts/notify_replay.py </a:t>
            </a:r>
            <a:r>
              <a:rPr lang="en-US" sz="1600" dirty="0">
                <a:solidFill>
                  <a:srgbClr val="000000"/>
                </a:solidFill>
                <a:latin typeface="游ゴシック" pitchFamily="34" charset="0"/>
                <a:ea typeface="游ゴシック" pitchFamily="34" charset="-122"/>
                <a:cs typeface="游ゴシック" pitchFamily="34" charset="-120"/>
              </a:rPr>
              <a:t>ログの窓行から板と同じ判定を PC で計算、板の判定と照合（1 窓を除き一致）</a:t>
            </a:r>
            <a:endParaRPr lang="en-US" sz="1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4114800"/>
          <a:ext cx="11274552" cy="2240280"/>
        </p:xfrm>
        <a:graphic>
          <a:graphicData uri="http://schemas.openxmlformats.org/drawingml/2006/table">
            <a:tbl>
              <a:tblPr/>
              <a:tblGrid>
                <a:gridCol w="4572000">
                  <a:extLst>
                    <a:ext uri="{9D8B030D-6E8A-4147-A177-3AD203B41FA5}">
                      <a16:colId xmlns:a16="http://schemas.microsoft.com/office/drawing/2014/main" val="20000"/>
                    </a:ext>
                  </a:extLst>
                </a:gridCol>
                <a:gridCol w="6702552">
                  <a:extLst>
                    <a:ext uri="{9D8B030D-6E8A-4147-A177-3AD203B41FA5}">
                      <a16:colId xmlns:a16="http://schemas.microsoft.com/office/drawing/2014/main" val="20001"/>
                    </a:ext>
                  </a:extLst>
                </a:gridCol>
              </a:tblGrid>
              <a:tr h="0">
                <a:tc>
                  <a:txBody>
                    <a:bodyPr/>
                    <a:lstStyle/>
                    <a:p>
                      <a:pPr marL="0" indent="0">
                        <a:buNone/>
                      </a:pPr>
                      <a:r>
                        <a:rPr lang="en-US" sz="1500" b="1" dirty="0">
                          <a:solidFill>
                            <a:srgbClr val="FFFFFF"/>
                          </a:solidFill>
                          <a:latin typeface="游ゴシック" pitchFamily="34" charset="0"/>
                          <a:ea typeface="游ゴシック" pitchFamily="34" charset="-122"/>
                          <a:cs typeface="游ゴシック" pitchFamily="34" charset="-120"/>
                        </a:rPr>
                        <a:t>本資料の数字</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tc>
                  <a:txBody>
                    <a:bodyPr/>
                    <a:lstStyle/>
                    <a:p>
                      <a:pPr marL="0" indent="0">
                        <a:buNone/>
                      </a:pPr>
                      <a:r>
                        <a:rPr lang="en-US" sz="1500" b="1" dirty="0">
                          <a:solidFill>
                            <a:srgbClr val="FFFFFF"/>
                          </a:solidFill>
                          <a:latin typeface="游ゴシック" pitchFamily="34" charset="0"/>
                          <a:ea typeface="游ゴシック" pitchFamily="34" charset="-122"/>
                          <a:cs typeface="游ゴシック" pitchFamily="34" charset="-120"/>
                        </a:rPr>
                        <a:t>元のログ（docs/logs/）</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extLst>
                  <a:ext uri="{0D108BD9-81ED-4DB2-BD59-A6C34878D82A}">
                    <a16:rowId xmlns:a16="http://schemas.microsoft.com/office/drawing/2014/main" val="10000"/>
                  </a:ext>
                </a:extLst>
              </a:tr>
              <a:tr h="0">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実験 1（5 章）</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uart_20260927_005956・_011552・_013950（①②③）</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1"/>
                  </a:ext>
                </a:extLst>
              </a:tr>
              <a:tr h="0">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実験 2：対策前 1,216 件/時（6-2）</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uart_20260927_130250</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実験 2：1 時間運転（6-1）</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uart_20260927_161828</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3"/>
                  </a:ext>
                </a:extLst>
              </a:tr>
              <a:tr h="0">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実験 2：対策後・通し試験（6-3）</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uart_20260928_002702 ＋ play_20260928_002821</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実験 3（7 章）</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uart_20260928_064258 ＋ play_20260928_064446</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5"/>
                  </a:ext>
                </a:extLst>
              </a:tr>
              <a:tr h="0">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前処理の一致（3-2）</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各起動ログの preproc test の行</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5　実験 1：対照試験（わざと壊す）</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Shape 2"/>
          <p:cNvSpPr/>
          <p:nvPr/>
        </p:nvSpPr>
        <p:spPr>
          <a:xfrm>
            <a:off x="0" y="1051560"/>
            <a:ext cx="12191695" cy="1097280"/>
          </a:xfrm>
          <a:prstGeom prst="rect">
            <a:avLst/>
          </a:prstGeom>
          <a:solidFill>
            <a:srgbClr val="DDEBF3"/>
          </a:solidFill>
          <a:ln w="12700">
            <a:solidFill>
              <a:srgbClr val="DDEBF3"/>
            </a:solidFill>
            <a:prstDash val="solid"/>
          </a:ln>
        </p:spPr>
        <p:txBody>
          <a:bodyPr/>
          <a:lstStyle/>
          <a:p>
            <a:endParaRPr lang="ja-JP" altLang="en-US"/>
          </a:p>
        </p:txBody>
      </p:sp>
      <p:sp>
        <p:nvSpPr>
          <p:cNvPr id="5" name="Text 3"/>
          <p:cNvSpPr txBox="1"/>
          <p:nvPr/>
        </p:nvSpPr>
        <p:spPr>
          <a:xfrm>
            <a:off x="457200" y="1097280"/>
            <a:ext cx="11274552" cy="1005840"/>
          </a:xfrm>
          <a:prstGeom prst="rect">
            <a:avLst/>
          </a:prstGeom>
          <a:noFill/>
          <a:ln/>
        </p:spPr>
        <p:txBody>
          <a:bodyPr wrap="square" lIns="0" tIns="0" rIns="0" bIns="0" rtlCol="0" anchor="ctr"/>
          <a:lstStyle/>
          <a:p>
            <a:pPr marL="0" indent="0">
              <a:buNone/>
            </a:pPr>
            <a:r>
              <a:rPr lang="en-US" sz="2800" b="1" dirty="0">
                <a:solidFill>
                  <a:srgbClr val="FF0000"/>
                </a:solidFill>
                <a:latin typeface="游ゴシック" pitchFamily="34" charset="0"/>
                <a:ea typeface="游ゴシック" pitchFamily="34" charset="-122"/>
                <a:cs typeface="游ゴシック" pitchFamily="34" charset="-120"/>
              </a:rPr>
              <a:t>壊れる場所は優先度の並びだけで決まり、設計どおり表示から壊れた</a:t>
            </a:r>
            <a:endParaRPr lang="en-US" sz="2800" dirty="0"/>
          </a:p>
        </p:txBody>
      </p:sp>
      <p:sp>
        <p:nvSpPr>
          <p:cNvPr id="6" name="Text 4"/>
          <p:cNvSpPr txBox="1"/>
          <p:nvPr/>
        </p:nvSpPr>
        <p:spPr>
          <a:xfrm>
            <a:off x="457200" y="6217920"/>
            <a:ext cx="1234440" cy="420624"/>
          </a:xfrm>
          <a:prstGeom prst="rect">
            <a:avLst/>
          </a:prstGeom>
          <a:noFill/>
          <a:ln/>
        </p:spPr>
        <p:txBody>
          <a:bodyPr wrap="square" lIns="0" tIns="0" rIns="0" bIns="0" rtlCol="0" anchor="ctr"/>
          <a:lstStyle/>
          <a:p>
            <a:pPr marL="0" indent="0">
              <a:buNone/>
            </a:pPr>
            <a:r>
              <a:rPr lang="en-US" sz="1300" dirty="0">
                <a:solidFill>
                  <a:srgbClr val="595959"/>
                </a:solidFill>
                <a:latin typeface="游ゴシック" pitchFamily="34" charset="0"/>
                <a:ea typeface="游ゴシック" pitchFamily="34" charset="-122"/>
                <a:cs typeface="游ゴシック" pitchFamily="34" charset="-120"/>
              </a:rPr>
              <a:t>この章の流れ</a:t>
            </a:r>
            <a:endParaRPr lang="en-US" sz="1300" dirty="0"/>
          </a:p>
        </p:txBody>
      </p:sp>
      <p:sp>
        <p:nvSpPr>
          <p:cNvPr id="7" name="Shape 5"/>
          <p:cNvSpPr/>
          <p:nvPr/>
        </p:nvSpPr>
        <p:spPr>
          <a:xfrm>
            <a:off x="1737360" y="6217920"/>
            <a:ext cx="2279142" cy="420624"/>
          </a:xfrm>
          <a:prstGeom prst="rect">
            <a:avLst/>
          </a:prstGeom>
          <a:solidFill>
            <a:srgbClr val="FFFFFF"/>
          </a:solidFill>
          <a:ln w="15875">
            <a:solidFill>
              <a:srgbClr val="156082"/>
            </a:solidFill>
            <a:prstDash val="solid"/>
          </a:ln>
        </p:spPr>
        <p:txBody>
          <a:bodyPr/>
          <a:lstStyle/>
          <a:p>
            <a:endParaRPr lang="ja-JP" altLang="en-US"/>
          </a:p>
        </p:txBody>
      </p:sp>
      <p:sp>
        <p:nvSpPr>
          <p:cNvPr id="8" name="Text 6"/>
          <p:cNvSpPr txBox="1"/>
          <p:nvPr/>
        </p:nvSpPr>
        <p:spPr>
          <a:xfrm>
            <a:off x="1783080" y="6217920"/>
            <a:ext cx="218770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5-1 3 つの条件</a:t>
            </a:r>
            <a:endParaRPr lang="en-US" sz="1400" dirty="0"/>
          </a:p>
        </p:txBody>
      </p:sp>
      <p:sp>
        <p:nvSpPr>
          <p:cNvPr id="9" name="Shape 7"/>
          <p:cNvSpPr/>
          <p:nvPr/>
        </p:nvSpPr>
        <p:spPr>
          <a:xfrm>
            <a:off x="408965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10" name="Shape 8"/>
          <p:cNvSpPr/>
          <p:nvPr/>
        </p:nvSpPr>
        <p:spPr>
          <a:xfrm>
            <a:off x="4309110" y="6217920"/>
            <a:ext cx="2279142" cy="420624"/>
          </a:xfrm>
          <a:prstGeom prst="rect">
            <a:avLst/>
          </a:prstGeom>
          <a:solidFill>
            <a:srgbClr val="FFFFFF"/>
          </a:solidFill>
          <a:ln w="15875">
            <a:solidFill>
              <a:srgbClr val="156082"/>
            </a:solidFill>
            <a:prstDash val="solid"/>
          </a:ln>
        </p:spPr>
        <p:txBody>
          <a:bodyPr/>
          <a:lstStyle/>
          <a:p>
            <a:endParaRPr lang="ja-JP" altLang="en-US"/>
          </a:p>
        </p:txBody>
      </p:sp>
      <p:sp>
        <p:nvSpPr>
          <p:cNvPr id="11" name="Text 9"/>
          <p:cNvSpPr txBox="1"/>
          <p:nvPr/>
        </p:nvSpPr>
        <p:spPr>
          <a:xfrm>
            <a:off x="4354830" y="6217920"/>
            <a:ext cx="218770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5-2 結果の数字</a:t>
            </a:r>
            <a:endParaRPr lang="en-US" sz="1400" dirty="0"/>
          </a:p>
        </p:txBody>
      </p:sp>
      <p:sp>
        <p:nvSpPr>
          <p:cNvPr id="12" name="Shape 10"/>
          <p:cNvSpPr/>
          <p:nvPr/>
        </p:nvSpPr>
        <p:spPr>
          <a:xfrm>
            <a:off x="666140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13" name="Shape 11"/>
          <p:cNvSpPr/>
          <p:nvPr/>
        </p:nvSpPr>
        <p:spPr>
          <a:xfrm>
            <a:off x="6880860" y="6217920"/>
            <a:ext cx="2279142" cy="420624"/>
          </a:xfrm>
          <a:prstGeom prst="rect">
            <a:avLst/>
          </a:prstGeom>
          <a:solidFill>
            <a:srgbClr val="FFFFFF"/>
          </a:solidFill>
          <a:ln w="15875">
            <a:solidFill>
              <a:srgbClr val="156082"/>
            </a:solidFill>
            <a:prstDash val="solid"/>
          </a:ln>
        </p:spPr>
        <p:txBody>
          <a:bodyPr/>
          <a:lstStyle/>
          <a:p>
            <a:endParaRPr lang="ja-JP" altLang="en-US"/>
          </a:p>
        </p:txBody>
      </p:sp>
      <p:sp>
        <p:nvSpPr>
          <p:cNvPr id="14" name="Text 12"/>
          <p:cNvSpPr txBox="1"/>
          <p:nvPr/>
        </p:nvSpPr>
        <p:spPr>
          <a:xfrm>
            <a:off x="6926580" y="6217920"/>
            <a:ext cx="218770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5-3 ② の詳細</a:t>
            </a:r>
            <a:endParaRPr lang="en-US" sz="1400" dirty="0"/>
          </a:p>
        </p:txBody>
      </p:sp>
      <p:sp>
        <p:nvSpPr>
          <p:cNvPr id="15" name="Shape 13"/>
          <p:cNvSpPr/>
          <p:nvPr/>
        </p:nvSpPr>
        <p:spPr>
          <a:xfrm>
            <a:off x="923315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16" name="Shape 14"/>
          <p:cNvSpPr/>
          <p:nvPr/>
        </p:nvSpPr>
        <p:spPr>
          <a:xfrm>
            <a:off x="9452610" y="6217920"/>
            <a:ext cx="2279142" cy="420624"/>
          </a:xfrm>
          <a:prstGeom prst="rect">
            <a:avLst/>
          </a:prstGeom>
          <a:solidFill>
            <a:srgbClr val="FFFFFF"/>
          </a:solidFill>
          <a:ln w="15875">
            <a:solidFill>
              <a:srgbClr val="156082"/>
            </a:solidFill>
            <a:prstDash val="solid"/>
          </a:ln>
        </p:spPr>
        <p:txBody>
          <a:bodyPr/>
          <a:lstStyle/>
          <a:p>
            <a:endParaRPr lang="ja-JP" altLang="en-US"/>
          </a:p>
        </p:txBody>
      </p:sp>
      <p:sp>
        <p:nvSpPr>
          <p:cNvPr id="17" name="Text 15"/>
          <p:cNvSpPr txBox="1"/>
          <p:nvPr/>
        </p:nvSpPr>
        <p:spPr>
          <a:xfrm>
            <a:off x="9498330" y="6217920"/>
            <a:ext cx="218770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5-4 ③ の詳細</a:t>
            </a:r>
            <a:endParaRPr lang="en-US" sz="1400" dirty="0"/>
          </a:p>
        </p:txBody>
      </p:sp>
      <p:sp>
        <p:nvSpPr>
          <p:cNvPr id="18" name="Shape 16"/>
          <p:cNvSpPr/>
          <p:nvPr/>
        </p:nvSpPr>
        <p:spPr>
          <a:xfrm>
            <a:off x="2834640" y="2331720"/>
            <a:ext cx="2926080" cy="548640"/>
          </a:xfrm>
          <a:prstGeom prst="rect">
            <a:avLst/>
          </a:prstGeom>
          <a:solidFill>
            <a:srgbClr val="156082"/>
          </a:solidFill>
          <a:ln w="12700">
            <a:solidFill>
              <a:srgbClr val="156082"/>
            </a:solidFill>
            <a:prstDash val="solid"/>
          </a:ln>
        </p:spPr>
        <p:txBody>
          <a:bodyPr/>
          <a:lstStyle/>
          <a:p>
            <a:endParaRPr lang="ja-JP" altLang="en-US"/>
          </a:p>
        </p:txBody>
      </p:sp>
      <p:sp>
        <p:nvSpPr>
          <p:cNvPr id="19" name="Text 17"/>
          <p:cNvSpPr txBox="1"/>
          <p:nvPr/>
        </p:nvSpPr>
        <p:spPr>
          <a:xfrm>
            <a:off x="2907792" y="2331720"/>
            <a:ext cx="2779776"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游ゴシック" pitchFamily="34" charset="0"/>
                <a:ea typeface="游ゴシック" pitchFamily="34" charset="-122"/>
                <a:cs typeface="游ゴシック" pitchFamily="34" charset="-120"/>
              </a:rPr>
              <a:t>① 通常</a:t>
            </a:r>
            <a:endParaRPr lang="en-US" sz="1800" dirty="0"/>
          </a:p>
        </p:txBody>
      </p:sp>
      <p:sp>
        <p:nvSpPr>
          <p:cNvPr id="20" name="Shape 18"/>
          <p:cNvSpPr/>
          <p:nvPr/>
        </p:nvSpPr>
        <p:spPr>
          <a:xfrm>
            <a:off x="5806440" y="2331720"/>
            <a:ext cx="2926080" cy="548640"/>
          </a:xfrm>
          <a:prstGeom prst="rect">
            <a:avLst/>
          </a:prstGeom>
          <a:solidFill>
            <a:srgbClr val="156082"/>
          </a:solidFill>
          <a:ln w="12700">
            <a:solidFill>
              <a:srgbClr val="156082"/>
            </a:solidFill>
            <a:prstDash val="solid"/>
          </a:ln>
        </p:spPr>
        <p:txBody>
          <a:bodyPr/>
          <a:lstStyle/>
          <a:p>
            <a:endParaRPr lang="ja-JP" altLang="en-US"/>
          </a:p>
        </p:txBody>
      </p:sp>
      <p:sp>
        <p:nvSpPr>
          <p:cNvPr id="21" name="Text 19"/>
          <p:cNvSpPr txBox="1"/>
          <p:nvPr/>
        </p:nvSpPr>
        <p:spPr>
          <a:xfrm>
            <a:off x="5879592" y="2331720"/>
            <a:ext cx="2779776"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游ゴシック" pitchFamily="34" charset="0"/>
                <a:ea typeface="游ゴシック" pitchFamily="34" charset="-122"/>
                <a:cs typeface="游ゴシック" pitchFamily="34" charset="-120"/>
              </a:rPr>
              <a:t>② 推論を音より優先</a:t>
            </a:r>
            <a:endParaRPr lang="en-US" sz="1800" dirty="0"/>
          </a:p>
        </p:txBody>
      </p:sp>
      <p:sp>
        <p:nvSpPr>
          <p:cNvPr id="22" name="Shape 20"/>
          <p:cNvSpPr/>
          <p:nvPr/>
        </p:nvSpPr>
        <p:spPr>
          <a:xfrm>
            <a:off x="8778240" y="2331720"/>
            <a:ext cx="2953512" cy="548640"/>
          </a:xfrm>
          <a:prstGeom prst="rect">
            <a:avLst/>
          </a:prstGeom>
          <a:solidFill>
            <a:srgbClr val="156082"/>
          </a:solidFill>
          <a:ln w="12700">
            <a:solidFill>
              <a:srgbClr val="156082"/>
            </a:solidFill>
            <a:prstDash val="solid"/>
          </a:ln>
        </p:spPr>
        <p:txBody>
          <a:bodyPr/>
          <a:lstStyle/>
          <a:p>
            <a:endParaRPr lang="ja-JP" altLang="en-US"/>
          </a:p>
        </p:txBody>
      </p:sp>
      <p:sp>
        <p:nvSpPr>
          <p:cNvPr id="23" name="Text 21"/>
          <p:cNvSpPr txBox="1"/>
          <p:nvPr/>
        </p:nvSpPr>
        <p:spPr>
          <a:xfrm>
            <a:off x="8851392" y="2331720"/>
            <a:ext cx="2807208"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游ゴシック" pitchFamily="34" charset="0"/>
                <a:ea typeface="游ゴシック" pitchFamily="34" charset="-122"/>
                <a:cs typeface="游ゴシック" pitchFamily="34" charset="-120"/>
              </a:rPr>
              <a:t>③ 推論を 10 倍重く</a:t>
            </a:r>
            <a:endParaRPr lang="en-US" sz="1800" dirty="0"/>
          </a:p>
        </p:txBody>
      </p:sp>
      <p:sp>
        <p:nvSpPr>
          <p:cNvPr id="24" name="Shape 22"/>
          <p:cNvSpPr/>
          <p:nvPr/>
        </p:nvSpPr>
        <p:spPr>
          <a:xfrm>
            <a:off x="457200" y="2944368"/>
            <a:ext cx="2331720" cy="987552"/>
          </a:xfrm>
          <a:prstGeom prst="rect">
            <a:avLst/>
          </a:prstGeom>
          <a:solidFill>
            <a:srgbClr val="F2F2F2"/>
          </a:solidFill>
          <a:ln w="12700">
            <a:solidFill>
              <a:srgbClr val="BFBFBF"/>
            </a:solidFill>
            <a:prstDash val="solid"/>
          </a:ln>
        </p:spPr>
        <p:txBody>
          <a:bodyPr/>
          <a:lstStyle/>
          <a:p>
            <a:endParaRPr lang="ja-JP" altLang="en-US"/>
          </a:p>
        </p:txBody>
      </p:sp>
      <p:sp>
        <p:nvSpPr>
          <p:cNvPr id="25" name="Text 23"/>
          <p:cNvSpPr txBox="1"/>
          <p:nvPr/>
        </p:nvSpPr>
        <p:spPr>
          <a:xfrm>
            <a:off x="530352" y="2944368"/>
            <a:ext cx="2185416" cy="987552"/>
          </a:xfrm>
          <a:prstGeom prst="rect">
            <a:avLst/>
          </a:prstGeom>
          <a:noFill/>
          <a:ln/>
        </p:spPr>
        <p:txBody>
          <a:bodyPr wrap="square" lIns="0" tIns="0" rIns="0" bIns="0" rtlCol="0" anchor="ctr"/>
          <a:lstStyle/>
          <a:p>
            <a:pPr marL="0" indent="0" algn="ctr">
              <a:buNone/>
            </a:pPr>
            <a:r>
              <a:rPr lang="en-US" sz="1800" b="1" dirty="0">
                <a:solidFill>
                  <a:srgbClr val="000000"/>
                </a:solidFill>
                <a:latin typeface="游ゴシック" pitchFamily="34" charset="0"/>
                <a:ea typeface="游ゴシック" pitchFamily="34" charset="-122"/>
                <a:cs typeface="游ゴシック" pitchFamily="34" charset="-120"/>
              </a:rPr>
              <a:t>音（取り込み）</a:t>
            </a:r>
            <a:endParaRPr lang="en-US" sz="1800" dirty="0"/>
          </a:p>
        </p:txBody>
      </p:sp>
      <p:sp>
        <p:nvSpPr>
          <p:cNvPr id="26" name="Shape 24"/>
          <p:cNvSpPr/>
          <p:nvPr/>
        </p:nvSpPr>
        <p:spPr>
          <a:xfrm>
            <a:off x="2834640" y="2944368"/>
            <a:ext cx="2926080" cy="987552"/>
          </a:xfrm>
          <a:prstGeom prst="rect">
            <a:avLst/>
          </a:prstGeom>
          <a:solidFill>
            <a:srgbClr val="E6F4EE"/>
          </a:solidFill>
          <a:ln w="15875">
            <a:solidFill>
              <a:srgbClr val="008A5E"/>
            </a:solidFill>
            <a:prstDash val="solid"/>
          </a:ln>
        </p:spPr>
        <p:txBody>
          <a:bodyPr/>
          <a:lstStyle/>
          <a:p>
            <a:endParaRPr lang="ja-JP" altLang="en-US"/>
          </a:p>
        </p:txBody>
      </p:sp>
      <p:pic>
        <p:nvPicPr>
          <p:cNvPr id="27" name="Image 0" descr="/home/claude/v4/icons/FaCheckCircle_008A5E.png"/>
          <p:cNvPicPr>
            <a:picLocks noChangeAspect="1"/>
          </p:cNvPicPr>
          <p:nvPr/>
        </p:nvPicPr>
        <p:blipFill>
          <a:blip r:embed="rId3"/>
          <a:stretch>
            <a:fillRect/>
          </a:stretch>
        </p:blipFill>
        <p:spPr>
          <a:xfrm>
            <a:off x="2971800" y="3209544"/>
            <a:ext cx="457200" cy="457200"/>
          </a:xfrm>
          <a:prstGeom prst="rect">
            <a:avLst/>
          </a:prstGeom>
        </p:spPr>
      </p:pic>
      <p:sp>
        <p:nvSpPr>
          <p:cNvPr id="28" name="Text 25"/>
          <p:cNvSpPr txBox="1"/>
          <p:nvPr/>
        </p:nvSpPr>
        <p:spPr>
          <a:xfrm>
            <a:off x="3520440" y="2944368"/>
            <a:ext cx="2148840" cy="987552"/>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無事</a:t>
            </a:r>
            <a:endParaRPr lang="en-US" sz="1700" dirty="0"/>
          </a:p>
        </p:txBody>
      </p:sp>
      <p:sp>
        <p:nvSpPr>
          <p:cNvPr id="29" name="Shape 26"/>
          <p:cNvSpPr/>
          <p:nvPr/>
        </p:nvSpPr>
        <p:spPr>
          <a:xfrm>
            <a:off x="5806440" y="2944368"/>
            <a:ext cx="2926080" cy="987552"/>
          </a:xfrm>
          <a:prstGeom prst="rect">
            <a:avLst/>
          </a:prstGeom>
          <a:solidFill>
            <a:srgbClr val="FDECEC"/>
          </a:solidFill>
          <a:ln w="15875">
            <a:solidFill>
              <a:srgbClr val="C00000"/>
            </a:solidFill>
            <a:prstDash val="solid"/>
          </a:ln>
        </p:spPr>
        <p:txBody>
          <a:bodyPr/>
          <a:lstStyle/>
          <a:p>
            <a:endParaRPr lang="ja-JP" altLang="en-US"/>
          </a:p>
        </p:txBody>
      </p:sp>
      <p:pic>
        <p:nvPicPr>
          <p:cNvPr id="30" name="Image 1" descr="/home/claude/v4/icons/FaTimesCircle_C00000.png"/>
          <p:cNvPicPr>
            <a:picLocks noChangeAspect="1"/>
          </p:cNvPicPr>
          <p:nvPr/>
        </p:nvPicPr>
        <p:blipFill>
          <a:blip r:embed="rId4"/>
          <a:stretch>
            <a:fillRect/>
          </a:stretch>
        </p:blipFill>
        <p:spPr>
          <a:xfrm>
            <a:off x="5943600" y="3209544"/>
            <a:ext cx="457200" cy="457200"/>
          </a:xfrm>
          <a:prstGeom prst="rect">
            <a:avLst/>
          </a:prstGeom>
        </p:spPr>
      </p:pic>
      <p:sp>
        <p:nvSpPr>
          <p:cNvPr id="31" name="Text 27"/>
          <p:cNvSpPr txBox="1"/>
          <p:nvPr/>
        </p:nvSpPr>
        <p:spPr>
          <a:xfrm>
            <a:off x="6492240" y="2944368"/>
            <a:ext cx="2148840" cy="987552"/>
          </a:xfrm>
          <a:prstGeom prst="rect">
            <a:avLst/>
          </a:prstGeom>
          <a:noFill/>
          <a:ln/>
        </p:spPr>
        <p:txBody>
          <a:bodyPr wrap="square" lIns="0" tIns="0" rIns="0" bIns="0" rtlCol="0" anchor="ctr"/>
          <a:lstStyle/>
          <a:p>
            <a:pPr marL="0" indent="0">
              <a:buNone/>
            </a:pPr>
            <a:r>
              <a:rPr lang="en-US" sz="1700" b="1" dirty="0">
                <a:solidFill>
                  <a:srgbClr val="C00000"/>
                </a:solidFill>
                <a:latin typeface="游ゴシック" pitchFamily="34" charset="0"/>
                <a:ea typeface="游ゴシック" pitchFamily="34" charset="-122"/>
                <a:cs typeface="游ゴシック" pitchFamily="34" charset="-120"/>
              </a:rPr>
              <a:t>8% 欠落</a:t>
            </a:r>
            <a:endParaRPr lang="en-US" sz="1700" dirty="0"/>
          </a:p>
          <a:p>
            <a:pPr marL="0" indent="0">
              <a:buNone/>
            </a:pPr>
            <a:r>
              <a:rPr lang="en-US" sz="1700" b="1" dirty="0">
                <a:solidFill>
                  <a:srgbClr val="C00000"/>
                </a:solidFill>
                <a:latin typeface="游ゴシック" pitchFamily="34" charset="0"/>
                <a:ea typeface="游ゴシック" pitchFamily="34" charset="-122"/>
                <a:cs typeface="游ゴシック" pitchFamily="34" charset="-120"/>
              </a:rPr>
              <a:t>途切れて聞こえる</a:t>
            </a:r>
            <a:endParaRPr lang="en-US" sz="1700" dirty="0"/>
          </a:p>
        </p:txBody>
      </p:sp>
      <p:sp>
        <p:nvSpPr>
          <p:cNvPr id="32" name="Shape 28"/>
          <p:cNvSpPr/>
          <p:nvPr/>
        </p:nvSpPr>
        <p:spPr>
          <a:xfrm>
            <a:off x="8778240" y="2944368"/>
            <a:ext cx="2953512" cy="987552"/>
          </a:xfrm>
          <a:prstGeom prst="rect">
            <a:avLst/>
          </a:prstGeom>
          <a:solidFill>
            <a:srgbClr val="E6F4EE"/>
          </a:solidFill>
          <a:ln w="15875">
            <a:solidFill>
              <a:srgbClr val="008A5E"/>
            </a:solidFill>
            <a:prstDash val="solid"/>
          </a:ln>
        </p:spPr>
        <p:txBody>
          <a:bodyPr/>
          <a:lstStyle/>
          <a:p>
            <a:endParaRPr lang="ja-JP" altLang="en-US"/>
          </a:p>
        </p:txBody>
      </p:sp>
      <p:pic>
        <p:nvPicPr>
          <p:cNvPr id="33" name="Image 2" descr="/home/claude/v4/icons/FaCheckCircle_008A5E.png"/>
          <p:cNvPicPr>
            <a:picLocks noChangeAspect="1"/>
          </p:cNvPicPr>
          <p:nvPr/>
        </p:nvPicPr>
        <p:blipFill>
          <a:blip r:embed="rId3"/>
          <a:stretch>
            <a:fillRect/>
          </a:stretch>
        </p:blipFill>
        <p:spPr>
          <a:xfrm>
            <a:off x="8915400" y="3209544"/>
            <a:ext cx="457200" cy="457200"/>
          </a:xfrm>
          <a:prstGeom prst="rect">
            <a:avLst/>
          </a:prstGeom>
        </p:spPr>
      </p:pic>
      <p:sp>
        <p:nvSpPr>
          <p:cNvPr id="34" name="Text 29"/>
          <p:cNvSpPr txBox="1"/>
          <p:nvPr/>
        </p:nvSpPr>
        <p:spPr>
          <a:xfrm>
            <a:off x="9464040" y="2944368"/>
            <a:ext cx="2176272" cy="987552"/>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取りこぼし 0</a:t>
            </a:r>
            <a:endParaRPr lang="en-US" sz="1700" dirty="0"/>
          </a:p>
        </p:txBody>
      </p:sp>
      <p:sp>
        <p:nvSpPr>
          <p:cNvPr id="35" name="Shape 30"/>
          <p:cNvSpPr/>
          <p:nvPr/>
        </p:nvSpPr>
        <p:spPr>
          <a:xfrm>
            <a:off x="457200" y="3995928"/>
            <a:ext cx="2331720" cy="987552"/>
          </a:xfrm>
          <a:prstGeom prst="rect">
            <a:avLst/>
          </a:prstGeom>
          <a:solidFill>
            <a:srgbClr val="F2F2F2"/>
          </a:solidFill>
          <a:ln w="12700">
            <a:solidFill>
              <a:srgbClr val="BFBFBF"/>
            </a:solidFill>
            <a:prstDash val="solid"/>
          </a:ln>
        </p:spPr>
        <p:txBody>
          <a:bodyPr/>
          <a:lstStyle/>
          <a:p>
            <a:endParaRPr lang="ja-JP" altLang="en-US"/>
          </a:p>
        </p:txBody>
      </p:sp>
      <p:sp>
        <p:nvSpPr>
          <p:cNvPr id="36" name="Text 31"/>
          <p:cNvSpPr txBox="1"/>
          <p:nvPr/>
        </p:nvSpPr>
        <p:spPr>
          <a:xfrm>
            <a:off x="530352" y="3995928"/>
            <a:ext cx="2185416" cy="987552"/>
          </a:xfrm>
          <a:prstGeom prst="rect">
            <a:avLst/>
          </a:prstGeom>
          <a:noFill/>
          <a:ln/>
        </p:spPr>
        <p:txBody>
          <a:bodyPr wrap="square" lIns="0" tIns="0" rIns="0" bIns="0" rtlCol="0" anchor="ctr"/>
          <a:lstStyle/>
          <a:p>
            <a:pPr marL="0" indent="0" algn="ctr">
              <a:buNone/>
            </a:pPr>
            <a:r>
              <a:rPr lang="en-US" sz="1800" b="1" dirty="0">
                <a:solidFill>
                  <a:srgbClr val="000000"/>
                </a:solidFill>
                <a:latin typeface="游ゴシック" pitchFamily="34" charset="0"/>
                <a:ea typeface="游ゴシック" pitchFamily="34" charset="-122"/>
                <a:cs typeface="游ゴシック" pitchFamily="34" charset="-120"/>
              </a:rPr>
              <a:t>推論</a:t>
            </a:r>
            <a:endParaRPr lang="en-US" sz="1800" dirty="0"/>
          </a:p>
        </p:txBody>
      </p:sp>
      <p:sp>
        <p:nvSpPr>
          <p:cNvPr id="37" name="Shape 32"/>
          <p:cNvSpPr/>
          <p:nvPr/>
        </p:nvSpPr>
        <p:spPr>
          <a:xfrm>
            <a:off x="2834640" y="3995928"/>
            <a:ext cx="2926080" cy="987552"/>
          </a:xfrm>
          <a:prstGeom prst="rect">
            <a:avLst/>
          </a:prstGeom>
          <a:solidFill>
            <a:srgbClr val="E6F4EE"/>
          </a:solidFill>
          <a:ln w="15875">
            <a:solidFill>
              <a:srgbClr val="008A5E"/>
            </a:solidFill>
            <a:prstDash val="solid"/>
          </a:ln>
        </p:spPr>
        <p:txBody>
          <a:bodyPr/>
          <a:lstStyle/>
          <a:p>
            <a:endParaRPr lang="ja-JP" altLang="en-US"/>
          </a:p>
        </p:txBody>
      </p:sp>
      <p:pic>
        <p:nvPicPr>
          <p:cNvPr id="38" name="Image 3" descr="/home/claude/v4/icons/FaCheckCircle_008A5E.png"/>
          <p:cNvPicPr>
            <a:picLocks noChangeAspect="1"/>
          </p:cNvPicPr>
          <p:nvPr/>
        </p:nvPicPr>
        <p:blipFill>
          <a:blip r:embed="rId3"/>
          <a:stretch>
            <a:fillRect/>
          </a:stretch>
        </p:blipFill>
        <p:spPr>
          <a:xfrm>
            <a:off x="2971800" y="4261104"/>
            <a:ext cx="457200" cy="457200"/>
          </a:xfrm>
          <a:prstGeom prst="rect">
            <a:avLst/>
          </a:prstGeom>
        </p:spPr>
      </p:pic>
      <p:sp>
        <p:nvSpPr>
          <p:cNvPr id="39" name="Text 33"/>
          <p:cNvSpPr txBox="1"/>
          <p:nvPr/>
        </p:nvSpPr>
        <p:spPr>
          <a:xfrm>
            <a:off x="3520440" y="3995928"/>
            <a:ext cx="2148840" cy="987552"/>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無事</a:t>
            </a:r>
            <a:endParaRPr lang="en-US" sz="1700" dirty="0"/>
          </a:p>
        </p:txBody>
      </p:sp>
      <p:sp>
        <p:nvSpPr>
          <p:cNvPr id="40" name="Shape 34"/>
          <p:cNvSpPr/>
          <p:nvPr/>
        </p:nvSpPr>
        <p:spPr>
          <a:xfrm>
            <a:off x="5806440" y="3995928"/>
            <a:ext cx="2926080" cy="987552"/>
          </a:xfrm>
          <a:prstGeom prst="rect">
            <a:avLst/>
          </a:prstGeom>
          <a:solidFill>
            <a:srgbClr val="E6F4EE"/>
          </a:solidFill>
          <a:ln w="15875">
            <a:solidFill>
              <a:srgbClr val="008A5E"/>
            </a:solidFill>
            <a:prstDash val="solid"/>
          </a:ln>
        </p:spPr>
        <p:txBody>
          <a:bodyPr/>
          <a:lstStyle/>
          <a:p>
            <a:endParaRPr lang="ja-JP" altLang="en-US"/>
          </a:p>
        </p:txBody>
      </p:sp>
      <p:pic>
        <p:nvPicPr>
          <p:cNvPr id="41" name="Image 4" descr="/home/claude/v4/icons/FaCheckCircle_008A5E.png"/>
          <p:cNvPicPr>
            <a:picLocks noChangeAspect="1"/>
          </p:cNvPicPr>
          <p:nvPr/>
        </p:nvPicPr>
        <p:blipFill>
          <a:blip r:embed="rId3"/>
          <a:stretch>
            <a:fillRect/>
          </a:stretch>
        </p:blipFill>
        <p:spPr>
          <a:xfrm>
            <a:off x="5943600" y="4261104"/>
            <a:ext cx="457200" cy="457200"/>
          </a:xfrm>
          <a:prstGeom prst="rect">
            <a:avLst/>
          </a:prstGeom>
        </p:spPr>
      </p:pic>
      <p:sp>
        <p:nvSpPr>
          <p:cNvPr id="42" name="Text 35"/>
          <p:cNvSpPr txBox="1"/>
          <p:nvPr/>
        </p:nvSpPr>
        <p:spPr>
          <a:xfrm>
            <a:off x="6492240" y="3995928"/>
            <a:ext cx="2148840" cy="987552"/>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無事（判定も同じ）</a:t>
            </a:r>
            <a:endParaRPr lang="en-US" sz="1700" dirty="0"/>
          </a:p>
        </p:txBody>
      </p:sp>
      <p:sp>
        <p:nvSpPr>
          <p:cNvPr id="43" name="Shape 36"/>
          <p:cNvSpPr/>
          <p:nvPr/>
        </p:nvSpPr>
        <p:spPr>
          <a:xfrm>
            <a:off x="8778240" y="3995928"/>
            <a:ext cx="2953512" cy="987552"/>
          </a:xfrm>
          <a:prstGeom prst="rect">
            <a:avLst/>
          </a:prstGeom>
          <a:solidFill>
            <a:srgbClr val="FFF3E0"/>
          </a:solidFill>
          <a:ln w="15875">
            <a:solidFill>
              <a:srgbClr val="E07B00"/>
            </a:solidFill>
            <a:prstDash val="solid"/>
          </a:ln>
        </p:spPr>
        <p:txBody>
          <a:bodyPr/>
          <a:lstStyle/>
          <a:p>
            <a:endParaRPr lang="ja-JP" altLang="en-US"/>
          </a:p>
        </p:txBody>
      </p:sp>
      <p:pic>
        <p:nvPicPr>
          <p:cNvPr id="44" name="Image 5" descr="/home/claude/v4/icons/FaMinusCircle_E07B00.png"/>
          <p:cNvPicPr>
            <a:picLocks noChangeAspect="1"/>
          </p:cNvPicPr>
          <p:nvPr/>
        </p:nvPicPr>
        <p:blipFill>
          <a:blip r:embed="rId5"/>
          <a:stretch>
            <a:fillRect/>
          </a:stretch>
        </p:blipFill>
        <p:spPr>
          <a:xfrm>
            <a:off x="8915400" y="4261104"/>
            <a:ext cx="457200" cy="457200"/>
          </a:xfrm>
          <a:prstGeom prst="rect">
            <a:avLst/>
          </a:prstGeom>
        </p:spPr>
      </p:pic>
      <p:sp>
        <p:nvSpPr>
          <p:cNvPr id="45" name="Text 37"/>
          <p:cNvSpPr txBox="1"/>
          <p:nvPr/>
        </p:nvSpPr>
        <p:spPr>
          <a:xfrm>
            <a:off x="9464040" y="3995928"/>
            <a:ext cx="2176272" cy="987552"/>
          </a:xfrm>
          <a:prstGeom prst="rect">
            <a:avLst/>
          </a:prstGeom>
          <a:noFill/>
          <a:ln/>
        </p:spPr>
        <p:txBody>
          <a:bodyPr wrap="square" lIns="0" tIns="0" rIns="0" bIns="0" rtlCol="0" anchor="ctr"/>
          <a:lstStyle/>
          <a:p>
            <a:pPr marL="0" indent="0">
              <a:buNone/>
            </a:pPr>
            <a:r>
              <a:rPr lang="en-US" sz="1700" b="1" dirty="0">
                <a:solidFill>
                  <a:srgbClr val="E07B00"/>
                </a:solidFill>
                <a:latin typeface="游ゴシック" pitchFamily="34" charset="0"/>
                <a:ea typeface="游ゴシック" pitchFamily="34" charset="-122"/>
                <a:cs typeface="游ゴシック" pitchFamily="34" charset="-120"/>
              </a:rPr>
              <a:t>窓の 13% が消えた</a:t>
            </a:r>
            <a:endParaRPr lang="en-US" sz="1700" dirty="0"/>
          </a:p>
        </p:txBody>
      </p:sp>
      <p:sp>
        <p:nvSpPr>
          <p:cNvPr id="46" name="Shape 38"/>
          <p:cNvSpPr/>
          <p:nvPr/>
        </p:nvSpPr>
        <p:spPr>
          <a:xfrm>
            <a:off x="457200" y="5047488"/>
            <a:ext cx="2331720" cy="987552"/>
          </a:xfrm>
          <a:prstGeom prst="rect">
            <a:avLst/>
          </a:prstGeom>
          <a:solidFill>
            <a:srgbClr val="F2F2F2"/>
          </a:solidFill>
          <a:ln w="12700">
            <a:solidFill>
              <a:srgbClr val="BFBFBF"/>
            </a:solidFill>
            <a:prstDash val="solid"/>
          </a:ln>
        </p:spPr>
        <p:txBody>
          <a:bodyPr/>
          <a:lstStyle/>
          <a:p>
            <a:endParaRPr lang="ja-JP" altLang="en-US"/>
          </a:p>
        </p:txBody>
      </p:sp>
      <p:sp>
        <p:nvSpPr>
          <p:cNvPr id="47" name="Text 39"/>
          <p:cNvSpPr txBox="1"/>
          <p:nvPr/>
        </p:nvSpPr>
        <p:spPr>
          <a:xfrm>
            <a:off x="530352" y="5047488"/>
            <a:ext cx="2185416" cy="987552"/>
          </a:xfrm>
          <a:prstGeom prst="rect">
            <a:avLst/>
          </a:prstGeom>
          <a:noFill/>
          <a:ln/>
        </p:spPr>
        <p:txBody>
          <a:bodyPr wrap="square" lIns="0" tIns="0" rIns="0" bIns="0" rtlCol="0" anchor="ctr"/>
          <a:lstStyle/>
          <a:p>
            <a:pPr marL="0" indent="0" algn="ctr">
              <a:buNone/>
            </a:pPr>
            <a:r>
              <a:rPr lang="en-US" sz="1800" b="1" dirty="0">
                <a:solidFill>
                  <a:srgbClr val="000000"/>
                </a:solidFill>
                <a:latin typeface="游ゴシック" pitchFamily="34" charset="0"/>
                <a:ea typeface="游ゴシック" pitchFamily="34" charset="-122"/>
                <a:cs typeface="游ゴシック" pitchFamily="34" charset="-120"/>
              </a:rPr>
              <a:t>表示・ログ</a:t>
            </a:r>
            <a:endParaRPr lang="en-US" sz="1800" dirty="0"/>
          </a:p>
        </p:txBody>
      </p:sp>
      <p:sp>
        <p:nvSpPr>
          <p:cNvPr id="48" name="Shape 40"/>
          <p:cNvSpPr/>
          <p:nvPr/>
        </p:nvSpPr>
        <p:spPr>
          <a:xfrm>
            <a:off x="2834640" y="5047488"/>
            <a:ext cx="2926080" cy="987552"/>
          </a:xfrm>
          <a:prstGeom prst="rect">
            <a:avLst/>
          </a:prstGeom>
          <a:solidFill>
            <a:srgbClr val="E6F4EE"/>
          </a:solidFill>
          <a:ln w="15875">
            <a:solidFill>
              <a:srgbClr val="008A5E"/>
            </a:solidFill>
            <a:prstDash val="solid"/>
          </a:ln>
        </p:spPr>
        <p:txBody>
          <a:bodyPr/>
          <a:lstStyle/>
          <a:p>
            <a:endParaRPr lang="ja-JP" altLang="en-US"/>
          </a:p>
        </p:txBody>
      </p:sp>
      <p:pic>
        <p:nvPicPr>
          <p:cNvPr id="49" name="Image 6" descr="/home/claude/v4/icons/FaCheckCircle_008A5E.png"/>
          <p:cNvPicPr>
            <a:picLocks noChangeAspect="1"/>
          </p:cNvPicPr>
          <p:nvPr/>
        </p:nvPicPr>
        <p:blipFill>
          <a:blip r:embed="rId3"/>
          <a:stretch>
            <a:fillRect/>
          </a:stretch>
        </p:blipFill>
        <p:spPr>
          <a:xfrm>
            <a:off x="2971800" y="5312664"/>
            <a:ext cx="457200" cy="457200"/>
          </a:xfrm>
          <a:prstGeom prst="rect">
            <a:avLst/>
          </a:prstGeom>
        </p:spPr>
      </p:pic>
      <p:sp>
        <p:nvSpPr>
          <p:cNvPr id="50" name="Text 41"/>
          <p:cNvSpPr txBox="1"/>
          <p:nvPr/>
        </p:nvSpPr>
        <p:spPr>
          <a:xfrm>
            <a:off x="3520440" y="5047488"/>
            <a:ext cx="2148840" cy="987552"/>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無事</a:t>
            </a:r>
            <a:endParaRPr lang="en-US" sz="1700" dirty="0"/>
          </a:p>
        </p:txBody>
      </p:sp>
      <p:sp>
        <p:nvSpPr>
          <p:cNvPr id="51" name="Shape 42"/>
          <p:cNvSpPr/>
          <p:nvPr/>
        </p:nvSpPr>
        <p:spPr>
          <a:xfrm>
            <a:off x="5806440" y="5047488"/>
            <a:ext cx="2926080" cy="987552"/>
          </a:xfrm>
          <a:prstGeom prst="rect">
            <a:avLst/>
          </a:prstGeom>
          <a:solidFill>
            <a:srgbClr val="E6F4EE"/>
          </a:solidFill>
          <a:ln w="15875">
            <a:solidFill>
              <a:srgbClr val="008A5E"/>
            </a:solidFill>
            <a:prstDash val="solid"/>
          </a:ln>
        </p:spPr>
        <p:txBody>
          <a:bodyPr/>
          <a:lstStyle/>
          <a:p>
            <a:endParaRPr lang="ja-JP" altLang="en-US"/>
          </a:p>
        </p:txBody>
      </p:sp>
      <p:pic>
        <p:nvPicPr>
          <p:cNvPr id="52" name="Image 7" descr="/home/claude/v4/icons/FaCheckCircle_008A5E.png"/>
          <p:cNvPicPr>
            <a:picLocks noChangeAspect="1"/>
          </p:cNvPicPr>
          <p:nvPr/>
        </p:nvPicPr>
        <p:blipFill>
          <a:blip r:embed="rId3"/>
          <a:stretch>
            <a:fillRect/>
          </a:stretch>
        </p:blipFill>
        <p:spPr>
          <a:xfrm>
            <a:off x="5943600" y="5312664"/>
            <a:ext cx="457200" cy="457200"/>
          </a:xfrm>
          <a:prstGeom prst="rect">
            <a:avLst/>
          </a:prstGeom>
        </p:spPr>
      </p:pic>
      <p:sp>
        <p:nvSpPr>
          <p:cNvPr id="53" name="Text 43"/>
          <p:cNvSpPr txBox="1"/>
          <p:nvPr/>
        </p:nvSpPr>
        <p:spPr>
          <a:xfrm>
            <a:off x="6492240" y="5047488"/>
            <a:ext cx="2148840" cy="987552"/>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無事</a:t>
            </a:r>
            <a:endParaRPr lang="en-US" sz="1700" dirty="0"/>
          </a:p>
        </p:txBody>
      </p:sp>
      <p:sp>
        <p:nvSpPr>
          <p:cNvPr id="54" name="Shape 44"/>
          <p:cNvSpPr/>
          <p:nvPr/>
        </p:nvSpPr>
        <p:spPr>
          <a:xfrm>
            <a:off x="8778240" y="5047488"/>
            <a:ext cx="2953512" cy="987552"/>
          </a:xfrm>
          <a:prstGeom prst="rect">
            <a:avLst/>
          </a:prstGeom>
          <a:solidFill>
            <a:srgbClr val="FDECEC"/>
          </a:solidFill>
          <a:ln w="15875">
            <a:solidFill>
              <a:srgbClr val="C00000"/>
            </a:solidFill>
            <a:prstDash val="solid"/>
          </a:ln>
        </p:spPr>
        <p:txBody>
          <a:bodyPr/>
          <a:lstStyle/>
          <a:p>
            <a:endParaRPr lang="ja-JP" altLang="en-US"/>
          </a:p>
        </p:txBody>
      </p:sp>
      <p:pic>
        <p:nvPicPr>
          <p:cNvPr id="55" name="Image 8" descr="/home/claude/v4/icons/FaTimesCircle_C00000.png"/>
          <p:cNvPicPr>
            <a:picLocks noChangeAspect="1"/>
          </p:cNvPicPr>
          <p:nvPr/>
        </p:nvPicPr>
        <p:blipFill>
          <a:blip r:embed="rId4"/>
          <a:stretch>
            <a:fillRect/>
          </a:stretch>
        </p:blipFill>
        <p:spPr>
          <a:xfrm>
            <a:off x="8915400" y="5312664"/>
            <a:ext cx="457200" cy="457200"/>
          </a:xfrm>
          <a:prstGeom prst="rect">
            <a:avLst/>
          </a:prstGeom>
        </p:spPr>
      </p:pic>
      <p:sp>
        <p:nvSpPr>
          <p:cNvPr id="56" name="Text 45"/>
          <p:cNvSpPr txBox="1"/>
          <p:nvPr/>
        </p:nvSpPr>
        <p:spPr>
          <a:xfrm>
            <a:off x="9464040" y="5047488"/>
            <a:ext cx="2176272" cy="987552"/>
          </a:xfrm>
          <a:prstGeom prst="rect">
            <a:avLst/>
          </a:prstGeom>
          <a:noFill/>
          <a:ln/>
        </p:spPr>
        <p:txBody>
          <a:bodyPr wrap="square" lIns="0" tIns="0" rIns="0" bIns="0" rtlCol="0" anchor="ctr"/>
          <a:lstStyle/>
          <a:p>
            <a:pPr marL="0" indent="0">
              <a:buNone/>
            </a:pPr>
            <a:r>
              <a:rPr lang="en-US" sz="1700" b="1" dirty="0">
                <a:solidFill>
                  <a:srgbClr val="C00000"/>
                </a:solidFill>
                <a:latin typeface="游ゴシック" pitchFamily="34" charset="0"/>
                <a:ea typeface="游ゴシック" pitchFamily="34" charset="-122"/>
                <a:cs typeface="游ゴシック" pitchFamily="34" charset="-120"/>
              </a:rPr>
              <a:t>画面 10 分停止</a:t>
            </a:r>
            <a:endParaRPr lang="en-US" sz="1700" dirty="0"/>
          </a:p>
          <a:p>
            <a:pPr marL="0" indent="0">
              <a:buNone/>
            </a:pPr>
            <a:r>
              <a:rPr lang="en-US" sz="1700" b="1" dirty="0">
                <a:solidFill>
                  <a:srgbClr val="C00000"/>
                </a:solidFill>
                <a:latin typeface="游ゴシック" pitchFamily="34" charset="0"/>
                <a:ea typeface="游ゴシック" pitchFamily="34" charset="-122"/>
                <a:cs typeface="游ゴシック" pitchFamily="34" charset="-120"/>
              </a:rPr>
              <a:t>ログ 93% を捨てた</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5-1　3 つの条件</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548640" y="1368987"/>
            <a:ext cx="11274552" cy="896112"/>
          </a:xfrm>
          <a:prstGeom prst="rect">
            <a:avLst/>
          </a:prstGeom>
          <a:noFill/>
          <a:ln/>
        </p:spPr>
        <p:txBody>
          <a:bodyPr wrap="square" lIns="0" tIns="0" rIns="0" bIns="0" rtlCol="0" anchor="t"/>
          <a:lstStyle/>
          <a:p>
            <a:pPr marL="0" indent="0">
              <a:buNone/>
            </a:pPr>
            <a:r>
              <a:rPr lang="en-US" sz="3200" b="1" dirty="0">
                <a:latin typeface="游ゴシック" pitchFamily="34" charset="0"/>
                <a:ea typeface="游ゴシック" pitchFamily="34" charset="-122"/>
                <a:cs typeface="游ゴシック" pitchFamily="34" charset="-120"/>
              </a:rPr>
              <a:t>① 通常に対し、② は優先度を逆に、③ は推論を重くした</a:t>
            </a:r>
            <a:endParaRPr lang="en-US" sz="3200" dirty="0"/>
          </a:p>
        </p:txBody>
      </p:sp>
      <p:sp>
        <p:nvSpPr>
          <p:cNvPr id="5" name="Text 3"/>
          <p:cNvSpPr txBox="1"/>
          <p:nvPr/>
        </p:nvSpPr>
        <p:spPr>
          <a:xfrm>
            <a:off x="457200" y="2245070"/>
            <a:ext cx="3611880" cy="457200"/>
          </a:xfrm>
          <a:prstGeom prst="rect">
            <a:avLst/>
          </a:prstGeom>
          <a:noFill/>
          <a:ln/>
        </p:spPr>
        <p:txBody>
          <a:bodyPr wrap="square" lIns="0" tIns="0" rIns="0" bIns="0" rtlCol="0" anchor="ctr"/>
          <a:lstStyle/>
          <a:p>
            <a:pPr marL="0" indent="0">
              <a:buNone/>
            </a:pPr>
            <a:r>
              <a:rPr lang="en-US" sz="2200" b="1" dirty="0">
                <a:solidFill>
                  <a:srgbClr val="000000"/>
                </a:solidFill>
                <a:latin typeface="游ゴシック" pitchFamily="34" charset="0"/>
                <a:ea typeface="游ゴシック" pitchFamily="34" charset="-122"/>
                <a:cs typeface="游ゴシック" pitchFamily="34" charset="-120"/>
              </a:rPr>
              <a:t>① 通常</a:t>
            </a:r>
            <a:endParaRPr lang="en-US" sz="2200" dirty="0"/>
          </a:p>
        </p:txBody>
      </p:sp>
      <p:sp>
        <p:nvSpPr>
          <p:cNvPr id="6" name="Text 4"/>
          <p:cNvSpPr txBox="1"/>
          <p:nvPr/>
        </p:nvSpPr>
        <p:spPr>
          <a:xfrm>
            <a:off x="457200" y="2944368"/>
            <a:ext cx="3611880" cy="274320"/>
          </a:xfrm>
          <a:prstGeom prst="rect">
            <a:avLst/>
          </a:prstGeom>
          <a:noFill/>
          <a:ln/>
        </p:spPr>
        <p:txBody>
          <a:bodyPr wrap="square" lIns="0" tIns="0" rIns="0" bIns="0" rtlCol="0" anchor="ctr"/>
          <a:lstStyle/>
          <a:p>
            <a:pPr marL="0" indent="0">
              <a:buNone/>
            </a:pPr>
            <a:r>
              <a:rPr lang="en-US" sz="1300" dirty="0">
                <a:solidFill>
                  <a:srgbClr val="595959"/>
                </a:solidFill>
                <a:latin typeface="游ゴシック" pitchFamily="34" charset="0"/>
                <a:ea typeface="游ゴシック" pitchFamily="34" charset="-122"/>
                <a:cs typeface="游ゴシック" pitchFamily="34" charset="-120"/>
              </a:rPr>
              <a:t>上ほど優先</a:t>
            </a:r>
            <a:endParaRPr lang="en-US" sz="1300" dirty="0"/>
          </a:p>
        </p:txBody>
      </p:sp>
      <p:sp>
        <p:nvSpPr>
          <p:cNvPr id="7" name="Shape 5"/>
          <p:cNvSpPr/>
          <p:nvPr/>
        </p:nvSpPr>
        <p:spPr>
          <a:xfrm>
            <a:off x="457200" y="3246120"/>
            <a:ext cx="3611880" cy="548640"/>
          </a:xfrm>
          <a:prstGeom prst="rect">
            <a:avLst/>
          </a:prstGeom>
          <a:solidFill>
            <a:srgbClr val="DDEBF3"/>
          </a:solidFill>
          <a:ln w="15875">
            <a:solidFill>
              <a:srgbClr val="156082"/>
            </a:solidFill>
            <a:prstDash val="solid"/>
          </a:ln>
        </p:spPr>
        <p:txBody>
          <a:bodyPr/>
          <a:lstStyle/>
          <a:p>
            <a:endParaRPr lang="ja-JP" altLang="en-US"/>
          </a:p>
        </p:txBody>
      </p:sp>
      <p:sp>
        <p:nvSpPr>
          <p:cNvPr id="8" name="Text 6"/>
          <p:cNvSpPr txBox="1"/>
          <p:nvPr/>
        </p:nvSpPr>
        <p:spPr>
          <a:xfrm>
            <a:off x="548640" y="3246120"/>
            <a:ext cx="3429000" cy="54864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音　5・10</a:t>
            </a:r>
            <a:endParaRPr lang="en-US" sz="1600" dirty="0"/>
          </a:p>
        </p:txBody>
      </p:sp>
      <p:sp>
        <p:nvSpPr>
          <p:cNvPr id="9" name="Shape 7"/>
          <p:cNvSpPr/>
          <p:nvPr/>
        </p:nvSpPr>
        <p:spPr>
          <a:xfrm>
            <a:off x="457200" y="3867912"/>
            <a:ext cx="3611880" cy="548640"/>
          </a:xfrm>
          <a:prstGeom prst="rect">
            <a:avLst/>
          </a:prstGeom>
          <a:solidFill>
            <a:srgbClr val="DDF3EA"/>
          </a:solidFill>
          <a:ln w="15875">
            <a:solidFill>
              <a:srgbClr val="008A5E"/>
            </a:solidFill>
            <a:prstDash val="solid"/>
          </a:ln>
        </p:spPr>
        <p:txBody>
          <a:bodyPr/>
          <a:lstStyle/>
          <a:p>
            <a:endParaRPr lang="ja-JP" altLang="en-US"/>
          </a:p>
        </p:txBody>
      </p:sp>
      <p:sp>
        <p:nvSpPr>
          <p:cNvPr id="10" name="Text 8"/>
          <p:cNvSpPr txBox="1"/>
          <p:nvPr/>
        </p:nvSpPr>
        <p:spPr>
          <a:xfrm>
            <a:off x="548640" y="3867912"/>
            <a:ext cx="3429000" cy="54864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推論　15</a:t>
            </a:r>
            <a:endParaRPr lang="en-US" sz="1600" dirty="0"/>
          </a:p>
        </p:txBody>
      </p:sp>
      <p:sp>
        <p:nvSpPr>
          <p:cNvPr id="11" name="Shape 9"/>
          <p:cNvSpPr/>
          <p:nvPr/>
        </p:nvSpPr>
        <p:spPr>
          <a:xfrm>
            <a:off x="457200" y="4489704"/>
            <a:ext cx="3611880" cy="548640"/>
          </a:xfrm>
          <a:prstGeom prst="rect">
            <a:avLst/>
          </a:prstGeom>
          <a:solidFill>
            <a:srgbClr val="FBE9D3"/>
          </a:solidFill>
          <a:ln w="15875">
            <a:solidFill>
              <a:srgbClr val="E07B00"/>
            </a:solidFill>
            <a:prstDash val="solid"/>
          </a:ln>
        </p:spPr>
        <p:txBody>
          <a:bodyPr/>
          <a:lstStyle/>
          <a:p>
            <a:endParaRPr lang="ja-JP" altLang="en-US"/>
          </a:p>
        </p:txBody>
      </p:sp>
      <p:sp>
        <p:nvSpPr>
          <p:cNvPr id="12" name="Text 10"/>
          <p:cNvSpPr txBox="1"/>
          <p:nvPr/>
        </p:nvSpPr>
        <p:spPr>
          <a:xfrm>
            <a:off x="548640" y="4489704"/>
            <a:ext cx="3429000" cy="54864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表示・ログ　20・25</a:t>
            </a:r>
            <a:endParaRPr lang="en-US" sz="1600" dirty="0"/>
          </a:p>
        </p:txBody>
      </p:sp>
      <p:sp>
        <p:nvSpPr>
          <p:cNvPr id="14" name="Text 12"/>
          <p:cNvSpPr txBox="1"/>
          <p:nvPr/>
        </p:nvSpPr>
        <p:spPr>
          <a:xfrm>
            <a:off x="4242816" y="2147233"/>
            <a:ext cx="3611880" cy="457200"/>
          </a:xfrm>
          <a:prstGeom prst="rect">
            <a:avLst/>
          </a:prstGeom>
          <a:noFill/>
          <a:ln/>
        </p:spPr>
        <p:txBody>
          <a:bodyPr wrap="square" lIns="0" tIns="0" rIns="0" bIns="0" rtlCol="0" anchor="ctr"/>
          <a:lstStyle/>
          <a:p>
            <a:pPr marL="0" indent="0">
              <a:buNone/>
            </a:pPr>
            <a:r>
              <a:rPr lang="en-US" sz="2200" b="1" dirty="0">
                <a:solidFill>
                  <a:srgbClr val="FF0000"/>
                </a:solidFill>
                <a:latin typeface="游ゴシック" pitchFamily="34" charset="0"/>
                <a:ea typeface="游ゴシック" pitchFamily="34" charset="-122"/>
                <a:cs typeface="游ゴシック" pitchFamily="34" charset="-120"/>
              </a:rPr>
              <a:t>② 推論を音より優先</a:t>
            </a:r>
            <a:endParaRPr lang="en-US" sz="2200" dirty="0"/>
          </a:p>
        </p:txBody>
      </p:sp>
      <p:sp>
        <p:nvSpPr>
          <p:cNvPr id="15" name="Text 13"/>
          <p:cNvSpPr txBox="1"/>
          <p:nvPr/>
        </p:nvSpPr>
        <p:spPr>
          <a:xfrm>
            <a:off x="4242816" y="2945975"/>
            <a:ext cx="3611880" cy="274320"/>
          </a:xfrm>
          <a:prstGeom prst="rect">
            <a:avLst/>
          </a:prstGeom>
          <a:noFill/>
          <a:ln/>
        </p:spPr>
        <p:txBody>
          <a:bodyPr wrap="square" lIns="0" tIns="0" rIns="0" bIns="0" rtlCol="0" anchor="ctr"/>
          <a:lstStyle/>
          <a:p>
            <a:pPr marL="0" indent="0">
              <a:buNone/>
            </a:pPr>
            <a:r>
              <a:rPr lang="en-US" sz="1300" dirty="0">
                <a:solidFill>
                  <a:srgbClr val="595959"/>
                </a:solidFill>
                <a:latin typeface="游ゴシック" pitchFamily="34" charset="0"/>
                <a:ea typeface="游ゴシック" pitchFamily="34" charset="-122"/>
                <a:cs typeface="游ゴシック" pitchFamily="34" charset="-120"/>
              </a:rPr>
              <a:t>上ほど優先</a:t>
            </a:r>
            <a:endParaRPr lang="en-US" sz="1300" dirty="0"/>
          </a:p>
        </p:txBody>
      </p:sp>
      <p:sp>
        <p:nvSpPr>
          <p:cNvPr id="16" name="Shape 14"/>
          <p:cNvSpPr/>
          <p:nvPr/>
        </p:nvSpPr>
        <p:spPr>
          <a:xfrm>
            <a:off x="4242816" y="3247727"/>
            <a:ext cx="3611880" cy="548640"/>
          </a:xfrm>
          <a:prstGeom prst="rect">
            <a:avLst/>
          </a:prstGeom>
          <a:solidFill>
            <a:srgbClr val="DDF3EA"/>
          </a:solidFill>
          <a:ln w="31750">
            <a:solidFill>
              <a:srgbClr val="FF0000"/>
            </a:solidFill>
            <a:prstDash val="solid"/>
          </a:ln>
        </p:spPr>
        <p:txBody>
          <a:bodyPr/>
          <a:lstStyle/>
          <a:p>
            <a:endParaRPr lang="ja-JP" altLang="en-US"/>
          </a:p>
        </p:txBody>
      </p:sp>
      <p:sp>
        <p:nvSpPr>
          <p:cNvPr id="17" name="Text 15"/>
          <p:cNvSpPr txBox="1"/>
          <p:nvPr/>
        </p:nvSpPr>
        <p:spPr>
          <a:xfrm>
            <a:off x="4334256" y="3247727"/>
            <a:ext cx="3429000" cy="54864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推論　3</a:t>
            </a:r>
            <a:endParaRPr lang="en-US" sz="1600" dirty="0"/>
          </a:p>
        </p:txBody>
      </p:sp>
      <p:sp>
        <p:nvSpPr>
          <p:cNvPr id="18" name="Shape 16"/>
          <p:cNvSpPr/>
          <p:nvPr/>
        </p:nvSpPr>
        <p:spPr>
          <a:xfrm>
            <a:off x="4242816" y="3869519"/>
            <a:ext cx="3611880" cy="548640"/>
          </a:xfrm>
          <a:prstGeom prst="rect">
            <a:avLst/>
          </a:prstGeom>
          <a:solidFill>
            <a:srgbClr val="DDEBF3"/>
          </a:solidFill>
          <a:ln w="15875">
            <a:solidFill>
              <a:srgbClr val="156082"/>
            </a:solidFill>
            <a:prstDash val="solid"/>
          </a:ln>
        </p:spPr>
        <p:txBody>
          <a:bodyPr/>
          <a:lstStyle/>
          <a:p>
            <a:endParaRPr lang="ja-JP" altLang="en-US"/>
          </a:p>
        </p:txBody>
      </p:sp>
      <p:sp>
        <p:nvSpPr>
          <p:cNvPr id="19" name="Text 17"/>
          <p:cNvSpPr txBox="1"/>
          <p:nvPr/>
        </p:nvSpPr>
        <p:spPr>
          <a:xfrm>
            <a:off x="4334256" y="3869519"/>
            <a:ext cx="3429000" cy="54864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音　5・10</a:t>
            </a:r>
            <a:endParaRPr lang="en-US" sz="1600" dirty="0"/>
          </a:p>
        </p:txBody>
      </p:sp>
      <p:sp>
        <p:nvSpPr>
          <p:cNvPr id="20" name="Shape 18"/>
          <p:cNvSpPr/>
          <p:nvPr/>
        </p:nvSpPr>
        <p:spPr>
          <a:xfrm>
            <a:off x="4242816" y="4491311"/>
            <a:ext cx="3611880" cy="548640"/>
          </a:xfrm>
          <a:prstGeom prst="rect">
            <a:avLst/>
          </a:prstGeom>
          <a:solidFill>
            <a:srgbClr val="FBE9D3"/>
          </a:solidFill>
          <a:ln w="15875">
            <a:solidFill>
              <a:srgbClr val="E07B00"/>
            </a:solidFill>
            <a:prstDash val="solid"/>
          </a:ln>
        </p:spPr>
        <p:txBody>
          <a:bodyPr/>
          <a:lstStyle/>
          <a:p>
            <a:endParaRPr lang="ja-JP" altLang="en-US"/>
          </a:p>
        </p:txBody>
      </p:sp>
      <p:sp>
        <p:nvSpPr>
          <p:cNvPr id="21" name="Text 19"/>
          <p:cNvSpPr txBox="1"/>
          <p:nvPr/>
        </p:nvSpPr>
        <p:spPr>
          <a:xfrm>
            <a:off x="4334256" y="4491311"/>
            <a:ext cx="3429000" cy="54864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表示・ログ　20・25</a:t>
            </a:r>
            <a:endParaRPr lang="en-US" sz="1600" dirty="0"/>
          </a:p>
        </p:txBody>
      </p:sp>
      <p:sp>
        <p:nvSpPr>
          <p:cNvPr id="23" name="Text 21"/>
          <p:cNvSpPr txBox="1"/>
          <p:nvPr/>
        </p:nvSpPr>
        <p:spPr>
          <a:xfrm>
            <a:off x="8119872" y="2148840"/>
            <a:ext cx="3611880" cy="457200"/>
          </a:xfrm>
          <a:prstGeom prst="rect">
            <a:avLst/>
          </a:prstGeom>
          <a:noFill/>
          <a:ln/>
        </p:spPr>
        <p:txBody>
          <a:bodyPr wrap="square" lIns="0" tIns="0" rIns="0" bIns="0" rtlCol="0" anchor="ctr"/>
          <a:lstStyle/>
          <a:p>
            <a:pPr marL="0" indent="0">
              <a:buNone/>
            </a:pPr>
            <a:r>
              <a:rPr lang="en-US" sz="2200" b="1" dirty="0">
                <a:solidFill>
                  <a:srgbClr val="E07B00"/>
                </a:solidFill>
                <a:latin typeface="游ゴシック" pitchFamily="34" charset="0"/>
                <a:ea typeface="游ゴシック" pitchFamily="34" charset="-122"/>
                <a:cs typeface="游ゴシック" pitchFamily="34" charset="-120"/>
              </a:rPr>
              <a:t>③ 推論を 10 倍重く</a:t>
            </a:r>
            <a:endParaRPr lang="en-US" sz="2200" dirty="0"/>
          </a:p>
        </p:txBody>
      </p:sp>
      <p:sp>
        <p:nvSpPr>
          <p:cNvPr id="24" name="Text 22"/>
          <p:cNvSpPr txBox="1"/>
          <p:nvPr/>
        </p:nvSpPr>
        <p:spPr>
          <a:xfrm>
            <a:off x="8119872" y="2606040"/>
            <a:ext cx="3611880" cy="274320"/>
          </a:xfrm>
          <a:prstGeom prst="rect">
            <a:avLst/>
          </a:prstGeom>
          <a:noFill/>
          <a:ln/>
        </p:spPr>
        <p:txBody>
          <a:bodyPr wrap="square" lIns="0" tIns="0" rIns="0" bIns="0" rtlCol="0" anchor="ctr"/>
          <a:lstStyle/>
          <a:p>
            <a:pPr marL="0" indent="0">
              <a:buNone/>
            </a:pPr>
            <a:r>
              <a:rPr lang="en-US" sz="1300" dirty="0">
                <a:solidFill>
                  <a:srgbClr val="595959"/>
                </a:solidFill>
                <a:latin typeface="游ゴシック" pitchFamily="34" charset="0"/>
                <a:ea typeface="游ゴシック" pitchFamily="34" charset="-122"/>
                <a:cs typeface="游ゴシック" pitchFamily="34" charset="-120"/>
              </a:rPr>
              <a:t>上ほど優先</a:t>
            </a:r>
            <a:endParaRPr lang="en-US" sz="1300" dirty="0"/>
          </a:p>
        </p:txBody>
      </p:sp>
      <p:sp>
        <p:nvSpPr>
          <p:cNvPr id="25" name="Shape 23"/>
          <p:cNvSpPr/>
          <p:nvPr/>
        </p:nvSpPr>
        <p:spPr>
          <a:xfrm>
            <a:off x="8119872" y="2907792"/>
            <a:ext cx="3611880" cy="548640"/>
          </a:xfrm>
          <a:prstGeom prst="rect">
            <a:avLst/>
          </a:prstGeom>
          <a:solidFill>
            <a:srgbClr val="DDEBF3"/>
          </a:solidFill>
          <a:ln w="15875">
            <a:solidFill>
              <a:srgbClr val="156082"/>
            </a:solidFill>
            <a:prstDash val="solid"/>
          </a:ln>
        </p:spPr>
        <p:txBody>
          <a:bodyPr/>
          <a:lstStyle/>
          <a:p>
            <a:endParaRPr lang="ja-JP" altLang="en-US"/>
          </a:p>
        </p:txBody>
      </p:sp>
      <p:sp>
        <p:nvSpPr>
          <p:cNvPr id="26" name="Text 24"/>
          <p:cNvSpPr txBox="1"/>
          <p:nvPr/>
        </p:nvSpPr>
        <p:spPr>
          <a:xfrm>
            <a:off x="8211312" y="2907792"/>
            <a:ext cx="3429000" cy="54864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音　5・10</a:t>
            </a:r>
            <a:endParaRPr lang="en-US" sz="1600" dirty="0"/>
          </a:p>
        </p:txBody>
      </p:sp>
      <p:sp>
        <p:nvSpPr>
          <p:cNvPr id="27" name="Shape 25"/>
          <p:cNvSpPr/>
          <p:nvPr/>
        </p:nvSpPr>
        <p:spPr>
          <a:xfrm>
            <a:off x="8119872" y="3529584"/>
            <a:ext cx="3611880" cy="960120"/>
          </a:xfrm>
          <a:prstGeom prst="rect">
            <a:avLst/>
          </a:prstGeom>
          <a:solidFill>
            <a:srgbClr val="DDF3EA"/>
          </a:solidFill>
          <a:ln w="31750">
            <a:solidFill>
              <a:srgbClr val="FF0000"/>
            </a:solidFill>
            <a:prstDash val="solid"/>
          </a:ln>
        </p:spPr>
        <p:txBody>
          <a:bodyPr/>
          <a:lstStyle/>
          <a:p>
            <a:endParaRPr lang="ja-JP" altLang="en-US"/>
          </a:p>
        </p:txBody>
      </p:sp>
      <p:sp>
        <p:nvSpPr>
          <p:cNvPr id="28" name="Text 26"/>
          <p:cNvSpPr txBox="1"/>
          <p:nvPr/>
        </p:nvSpPr>
        <p:spPr>
          <a:xfrm>
            <a:off x="8211312" y="3529584"/>
            <a:ext cx="3429000" cy="96012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推論　15（重さ 10 倍）</a:t>
            </a:r>
            <a:endParaRPr lang="en-US" sz="1600" dirty="0"/>
          </a:p>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1 窓 1,103 ms ＞ 周期 960 ms</a:t>
            </a:r>
            <a:endParaRPr lang="en-US" sz="1600" dirty="0"/>
          </a:p>
        </p:txBody>
      </p:sp>
      <p:sp>
        <p:nvSpPr>
          <p:cNvPr id="29" name="Shape 27"/>
          <p:cNvSpPr/>
          <p:nvPr/>
        </p:nvSpPr>
        <p:spPr>
          <a:xfrm>
            <a:off x="8119872" y="4562856"/>
            <a:ext cx="3611880" cy="548640"/>
          </a:xfrm>
          <a:prstGeom prst="rect">
            <a:avLst/>
          </a:prstGeom>
          <a:solidFill>
            <a:srgbClr val="FBE9D3"/>
          </a:solidFill>
          <a:ln w="15875">
            <a:solidFill>
              <a:srgbClr val="E07B00"/>
            </a:solidFill>
            <a:prstDash val="solid"/>
          </a:ln>
        </p:spPr>
        <p:txBody>
          <a:bodyPr/>
          <a:lstStyle/>
          <a:p>
            <a:endParaRPr lang="ja-JP" altLang="en-US"/>
          </a:p>
        </p:txBody>
      </p:sp>
      <p:sp>
        <p:nvSpPr>
          <p:cNvPr id="30" name="Text 28"/>
          <p:cNvSpPr txBox="1"/>
          <p:nvPr/>
        </p:nvSpPr>
        <p:spPr>
          <a:xfrm>
            <a:off x="8211312" y="4562856"/>
            <a:ext cx="3429000" cy="54864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表示・ログ　20・25</a:t>
            </a:r>
            <a:endParaRPr lang="en-US" sz="1600" dirty="0"/>
          </a:p>
        </p:txBody>
      </p:sp>
      <p:sp>
        <p:nvSpPr>
          <p:cNvPr id="31" name="Text 29"/>
          <p:cNvSpPr txBox="1"/>
          <p:nvPr/>
        </p:nvSpPr>
        <p:spPr>
          <a:xfrm>
            <a:off x="8119872" y="5193792"/>
            <a:ext cx="3611880" cy="384048"/>
          </a:xfrm>
          <a:prstGeom prst="rect">
            <a:avLst/>
          </a:prstGeom>
          <a:noFill/>
          <a:ln/>
        </p:spPr>
        <p:txBody>
          <a:bodyPr wrap="square" lIns="0" tIns="0" rIns="0" bIns="0" rtlCol="0" anchor="ctr"/>
          <a:lstStyle/>
          <a:p>
            <a:pPr marL="0" indent="0">
              <a:buNone/>
            </a:pPr>
            <a:r>
              <a:rPr lang="en-US" sz="1700" b="1" dirty="0">
                <a:solidFill>
                  <a:srgbClr val="595959"/>
                </a:solidFill>
                <a:latin typeface="游ゴシック" pitchFamily="34" charset="0"/>
                <a:ea typeface="游ゴシック" pitchFamily="34" charset="-122"/>
                <a:cs typeface="游ゴシック" pitchFamily="34" charset="-120"/>
              </a:rPr>
              <a:t>予想：表示から壊れ、音は無事</a:t>
            </a:r>
            <a:endParaRPr lang="en-US" sz="1700" dirty="0"/>
          </a:p>
        </p:txBody>
      </p:sp>
      <p:sp>
        <p:nvSpPr>
          <p:cNvPr id="32" name="Shape 30"/>
          <p:cNvSpPr/>
          <p:nvPr/>
        </p:nvSpPr>
        <p:spPr>
          <a:xfrm>
            <a:off x="457200" y="5669280"/>
            <a:ext cx="11274552" cy="868680"/>
          </a:xfrm>
          <a:prstGeom prst="rect">
            <a:avLst/>
          </a:prstGeom>
          <a:solidFill>
            <a:srgbClr val="F2F2F2"/>
          </a:solidFill>
          <a:ln w="12700">
            <a:solidFill>
              <a:srgbClr val="BFBFBF"/>
            </a:solidFill>
            <a:prstDash val="solid"/>
          </a:ln>
        </p:spPr>
        <p:txBody>
          <a:bodyPr/>
          <a:lstStyle/>
          <a:p>
            <a:endParaRPr lang="ja-JP" altLang="en-US"/>
          </a:p>
        </p:txBody>
      </p:sp>
      <p:sp>
        <p:nvSpPr>
          <p:cNvPr id="33" name="Text 31"/>
          <p:cNvSpPr txBox="1"/>
          <p:nvPr/>
        </p:nvSpPr>
        <p:spPr>
          <a:xfrm>
            <a:off x="640080" y="5669280"/>
            <a:ext cx="10908792" cy="868680"/>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10 分ずつ、同じ部屋・同じ音源で比べた。切替はビルド時のマクロ 2 </a:t>
            </a:r>
            <a:r>
              <a:rPr lang="en-US" sz="1600" dirty="0" err="1">
                <a:solidFill>
                  <a:srgbClr val="000000"/>
                </a:solidFill>
                <a:latin typeface="游ゴシック" pitchFamily="34" charset="0"/>
                <a:ea typeface="游ゴシック" pitchFamily="34" charset="-122"/>
                <a:cs typeface="游ゴシック" pitchFamily="34" charset="-120"/>
              </a:rPr>
              <a:t>つだけで、ほかのコードは同じ</a:t>
            </a:r>
            <a:r>
              <a:rPr lang="en-US" sz="1600" dirty="0">
                <a:solidFill>
                  <a:srgbClr val="000000"/>
                </a:solidFill>
                <a:latin typeface="游ゴシック" pitchFamily="34" charset="0"/>
                <a:ea typeface="游ゴシック" pitchFamily="34" charset="-122"/>
                <a:cs typeface="游ゴシック" pitchFamily="34" charset="-120"/>
              </a:rPr>
              <a:t>。</a:t>
            </a:r>
          </a:p>
          <a:p>
            <a:pPr marL="0" indent="0">
              <a:buNone/>
            </a:pPr>
            <a:r>
              <a:rPr lang="en-US" sz="1600" dirty="0" err="1">
                <a:solidFill>
                  <a:srgbClr val="000000"/>
                </a:solidFill>
                <a:latin typeface="游ゴシック" pitchFamily="34" charset="0"/>
                <a:ea typeface="游ゴシック" pitchFamily="34" charset="-122"/>
                <a:cs typeface="游ゴシック" pitchFamily="34" charset="-120"/>
              </a:rPr>
              <a:t>起動ログの</a:t>
            </a:r>
            <a:r>
              <a:rPr lang="en-US" sz="1600" dirty="0">
                <a:solidFill>
                  <a:srgbClr val="000000"/>
                </a:solidFill>
                <a:latin typeface="游ゴシック" pitchFamily="34" charset="0"/>
                <a:ea typeface="游ゴシック" pitchFamily="34" charset="-122"/>
                <a:cs typeface="游ゴシック" pitchFamily="34" charset="-120"/>
              </a:rPr>
              <a:t> CONFIG 行に条件が出る（ログ上の名前：①＝A、②＝B、③＝D）</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5-2　結果の数字</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269319"/>
            <a:ext cx="11274552" cy="896112"/>
          </a:xfrm>
          <a:prstGeom prst="rect">
            <a:avLst/>
          </a:prstGeom>
          <a:noFill/>
          <a:ln/>
        </p:spPr>
        <p:txBody>
          <a:bodyPr wrap="square" lIns="0" tIns="0" rIns="0" bIns="0" rtlCol="0" anchor="ctr"/>
          <a:lstStyle/>
          <a:p>
            <a:pPr marL="0" indent="0" algn="ctr">
              <a:buNone/>
            </a:pPr>
            <a:r>
              <a:rPr lang="en-US" sz="3200" b="1" dirty="0">
                <a:solidFill>
                  <a:srgbClr val="FF0000"/>
                </a:solidFill>
                <a:latin typeface="游ゴシック" pitchFamily="34" charset="0"/>
                <a:ea typeface="游ゴシック" pitchFamily="34" charset="-122"/>
                <a:cs typeface="游ゴシック" pitchFamily="34" charset="-120"/>
              </a:rPr>
              <a:t>② では音だけが壊れ、③ では音だけが無事だった</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9125501"/>
              </p:ext>
            </p:extLst>
          </p:nvPr>
        </p:nvGraphicFramePr>
        <p:xfrm>
          <a:off x="457200" y="2194560"/>
          <a:ext cx="11274552" cy="3432048"/>
        </p:xfrm>
        <a:graphic>
          <a:graphicData uri="http://schemas.openxmlformats.org/drawingml/2006/table">
            <a:tbl>
              <a:tblPr/>
              <a:tblGrid>
                <a:gridCol w="342900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697480">
                  <a:extLst>
                    <a:ext uri="{9D8B030D-6E8A-4147-A177-3AD203B41FA5}">
                      <a16:colId xmlns:a16="http://schemas.microsoft.com/office/drawing/2014/main" val="20002"/>
                    </a:ext>
                  </a:extLst>
                </a:gridCol>
                <a:gridCol w="2633472">
                  <a:extLst>
                    <a:ext uri="{9D8B030D-6E8A-4147-A177-3AD203B41FA5}">
                      <a16:colId xmlns:a16="http://schemas.microsoft.com/office/drawing/2014/main" val="20003"/>
                    </a:ext>
                  </a:extLst>
                </a:gridCol>
              </a:tblGrid>
              <a:tr h="475488">
                <a:tc>
                  <a:txBody>
                    <a:bodyPr/>
                    <a:lstStyle/>
                    <a:p>
                      <a:pPr marL="0" indent="0">
                        <a:buNone/>
                      </a:pP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tc>
                  <a:txBody>
                    <a:bodyPr/>
                    <a:lstStyle/>
                    <a:p>
                      <a:pPr marL="0" indent="0">
                        <a:buNone/>
                      </a:pPr>
                      <a:r>
                        <a:rPr lang="en-US" sz="1600" b="1" dirty="0">
                          <a:solidFill>
                            <a:srgbClr val="FFFFFF"/>
                          </a:solidFill>
                          <a:latin typeface="游ゴシック" pitchFamily="34" charset="0"/>
                          <a:ea typeface="游ゴシック" pitchFamily="34" charset="-122"/>
                          <a:cs typeface="游ゴシック" pitchFamily="34" charset="-120"/>
                        </a:rPr>
                        <a:t>① 通常</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tc>
                  <a:txBody>
                    <a:bodyPr/>
                    <a:lstStyle/>
                    <a:p>
                      <a:pPr marL="0" indent="0">
                        <a:buNone/>
                      </a:pPr>
                      <a:r>
                        <a:rPr lang="en-US" sz="1600" b="1" dirty="0">
                          <a:solidFill>
                            <a:srgbClr val="FFFFFF"/>
                          </a:solidFill>
                          <a:latin typeface="游ゴシック" pitchFamily="34" charset="0"/>
                          <a:ea typeface="游ゴシック" pitchFamily="34" charset="-122"/>
                          <a:cs typeface="游ゴシック" pitchFamily="34" charset="-120"/>
                        </a:rPr>
                        <a:t>② 推論を音より優先</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tc>
                  <a:txBody>
                    <a:bodyPr/>
                    <a:lstStyle/>
                    <a:p>
                      <a:pPr marL="0" indent="0">
                        <a:buNone/>
                      </a:pPr>
                      <a:r>
                        <a:rPr lang="en-US" sz="1600" b="1" dirty="0">
                          <a:solidFill>
                            <a:srgbClr val="FFFFFF"/>
                          </a:solidFill>
                          <a:latin typeface="游ゴシック" pitchFamily="34" charset="0"/>
                          <a:ea typeface="游ゴシック" pitchFamily="34" charset="-122"/>
                          <a:cs typeface="游ゴシック" pitchFamily="34" charset="-120"/>
                        </a:rPr>
                        <a:t>③ 推論を 10 倍重く</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extLst>
                  <a:ext uri="{0D108BD9-81ED-4DB2-BD59-A6C34878D82A}">
                    <a16:rowId xmlns:a16="http://schemas.microsoft.com/office/drawing/2014/main" val="10000"/>
                  </a:ext>
                </a:extLst>
              </a:tr>
              <a:tr h="475488">
                <a:tc>
                  <a:txBody>
                    <a:bodyPr/>
                    <a:lstStyle/>
                    <a:p>
                      <a:pPr marL="0" indent="0">
                        <a:buNone/>
                      </a:pPr>
                      <a:r>
                        <a:rPr lang="en-US" sz="1600" dirty="0" err="1">
                          <a:solidFill>
                            <a:srgbClr val="000000"/>
                          </a:solidFill>
                          <a:latin typeface="游ゴシック" pitchFamily="34" charset="0"/>
                          <a:ea typeface="游ゴシック" pitchFamily="34" charset="-122"/>
                          <a:cs typeface="游ゴシック" pitchFamily="34" charset="-120"/>
                        </a:rPr>
                        <a:t>音の取りこぼし</a:t>
                      </a:r>
                      <a:endParaRPr lang="en-US" sz="16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1600" dirty="0">
                          <a:solidFill>
                            <a:srgbClr val="000000"/>
                          </a:solidFill>
                          <a:latin typeface="游ゴシック" pitchFamily="34" charset="0"/>
                          <a:ea typeface="游ゴシック" pitchFamily="34" charset="-122"/>
                          <a:cs typeface="游ゴシック" pitchFamily="34" charset="-120"/>
                        </a:rPr>
                        <a:t>（under/over/late）</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0 / 0 / 0</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b="1" dirty="0">
                          <a:solidFill>
                            <a:srgbClr val="C00000"/>
                          </a:solidFill>
                          <a:latin typeface="游ゴシック" pitchFamily="34" charset="0"/>
                          <a:ea typeface="游ゴシック" pitchFamily="34" charset="-122"/>
                          <a:cs typeface="游ゴシック" pitchFamily="34" charset="-120"/>
                        </a:rPr>
                        <a:t>2,078 / 1,200 / 1,200</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b="1" dirty="0">
                          <a:solidFill>
                            <a:srgbClr val="008A5E"/>
                          </a:solidFill>
                          <a:latin typeface="游ゴシック" pitchFamily="34" charset="0"/>
                          <a:ea typeface="游ゴシック" pitchFamily="34" charset="-122"/>
                          <a:cs typeface="游ゴシック" pitchFamily="34" charset="-120"/>
                        </a:rPr>
                        <a:t>0 / 0 / 0</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1"/>
                  </a:ext>
                </a:extLst>
              </a:tr>
              <a:tr h="475488">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入力の速さ（本来 16,000 Hz）</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16,128 Hz</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b="1" dirty="0">
                          <a:solidFill>
                            <a:srgbClr val="C00000"/>
                          </a:solidFill>
                          <a:latin typeface="游ゴシック" pitchFamily="34" charset="0"/>
                          <a:ea typeface="游ゴシック" pitchFamily="34" charset="-122"/>
                          <a:cs typeface="游ゴシック" pitchFamily="34" charset="-120"/>
                        </a:rPr>
                        <a:t>14,848 Hz（8% 欠落）</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16,128 Hz</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推論できなかった窓</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0</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0</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b="1" dirty="0">
                          <a:solidFill>
                            <a:srgbClr val="C00000"/>
                          </a:solidFill>
                          <a:latin typeface="游ゴシック" pitchFamily="34" charset="0"/>
                          <a:ea typeface="游ゴシック" pitchFamily="34" charset="-122"/>
                          <a:cs typeface="游ゴシック" pitchFamily="34" charset="-120"/>
                        </a:rPr>
                        <a:t>13%</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3"/>
                  </a:ext>
                </a:extLst>
              </a:tr>
              <a:tr h="475488">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捨てたログ</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0</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0</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b="1" dirty="0">
                          <a:solidFill>
                            <a:srgbClr val="C00000"/>
                          </a:solidFill>
                          <a:latin typeface="游ゴシック" pitchFamily="34" charset="0"/>
                          <a:ea typeface="游ゴシック" pitchFamily="34" charset="-122"/>
                          <a:cs typeface="游ゴシック" pitchFamily="34" charset="-120"/>
                        </a:rPr>
                        <a:t>93%</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画面</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動作（遅れ最大 102 ms）</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動作</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b="1" dirty="0">
                          <a:solidFill>
                            <a:srgbClr val="C00000"/>
                          </a:solidFill>
                          <a:latin typeface="游ゴシック" pitchFamily="34" charset="0"/>
                          <a:ea typeface="游ゴシック" pitchFamily="34" charset="-122"/>
                          <a:cs typeface="游ゴシック" pitchFamily="34" charset="-120"/>
                        </a:rPr>
                        <a:t>10 分間止まった</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5"/>
                  </a:ext>
                </a:extLst>
              </a:tr>
              <a:tr h="475488">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ヘッドホンの聞こえ方</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正常</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b="1" dirty="0">
                          <a:solidFill>
                            <a:srgbClr val="C00000"/>
                          </a:solidFill>
                          <a:latin typeface="游ゴシック" pitchFamily="34" charset="0"/>
                          <a:ea typeface="游ゴシック" pitchFamily="34" charset="-122"/>
                          <a:cs typeface="游ゴシック" pitchFamily="34" charset="-120"/>
                        </a:rPr>
                        <a:t>途切れる</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正常</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ext 3"/>
          <p:cNvSpPr txBox="1"/>
          <p:nvPr/>
        </p:nvSpPr>
        <p:spPr>
          <a:xfrm>
            <a:off x="457200" y="5989320"/>
            <a:ext cx="11274552" cy="502920"/>
          </a:xfrm>
          <a:prstGeom prst="rect">
            <a:avLst/>
          </a:prstGeom>
          <a:noFill/>
          <a:ln/>
        </p:spPr>
        <p:txBody>
          <a:bodyPr wrap="square" lIns="0" tIns="0" rIns="0" bIns="0" rtlCol="0" anchor="ctr"/>
          <a:lstStyle/>
          <a:p>
            <a:pPr marL="0" indent="0">
              <a:buNone/>
            </a:pPr>
            <a:r>
              <a:rPr lang="en-US" sz="1800" dirty="0">
                <a:solidFill>
                  <a:srgbClr val="000000"/>
                </a:solidFill>
                <a:latin typeface="游ゴシック" pitchFamily="34" charset="0"/>
                <a:ea typeface="游ゴシック" pitchFamily="34" charset="-122"/>
                <a:cs typeface="游ゴシック" pitchFamily="34" charset="-120"/>
              </a:rPr>
              <a:t>前処理 69 ms・推論 41 ms と判定の結果は 3 条件で同じ。変わったのは「間に合うか」だけ</a:t>
            </a:r>
            <a:endParaRPr lang="en-US" sz="1800" dirty="0"/>
          </a:p>
        </p:txBody>
      </p:sp>
      <p:sp>
        <p:nvSpPr>
          <p:cNvPr id="5" name="テキスト ボックス 4">
            <a:extLst>
              <a:ext uri="{FF2B5EF4-FFF2-40B4-BE49-F238E27FC236}">
                <a16:creationId xmlns:a16="http://schemas.microsoft.com/office/drawing/2014/main" id="{A29BF8B5-5CE6-71BB-0623-375AEDACDBCD}"/>
              </a:ext>
            </a:extLst>
          </p:cNvPr>
          <p:cNvSpPr txBox="1"/>
          <p:nvPr/>
        </p:nvSpPr>
        <p:spPr>
          <a:xfrm>
            <a:off x="373224" y="1080689"/>
            <a:ext cx="1520890" cy="369332"/>
          </a:xfrm>
          <a:prstGeom prst="rect">
            <a:avLst/>
          </a:prstGeom>
          <a:noFill/>
        </p:spPr>
        <p:txBody>
          <a:bodyPr wrap="square" rtlCol="0">
            <a:spAutoFit/>
          </a:bodyPr>
          <a:lstStyle/>
          <a:p>
            <a:r>
              <a:rPr kumimoji="1" lang="ja-JP" altLang="en-US" b="1" dirty="0"/>
              <a:t>結果として</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5-3　② 推論を音より優先すると、なぜ音が壊れるか</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ctr"/>
          <a:lstStyle/>
          <a:p>
            <a:pPr marL="0" indent="0" algn="ctr">
              <a:buNone/>
            </a:pPr>
            <a:r>
              <a:rPr lang="en-US" sz="2800" b="1" dirty="0">
                <a:solidFill>
                  <a:srgbClr val="FF0000"/>
                </a:solidFill>
                <a:latin typeface="游ゴシック" pitchFamily="34" charset="0"/>
                <a:ea typeface="游ゴシック" pitchFamily="34" charset="-122"/>
                <a:cs typeface="游ゴシック" pitchFamily="34" charset="-120"/>
              </a:rPr>
              <a:t>推論の 112 ms の間、音のタスクが動けず、届いた音が溢れる</a:t>
            </a:r>
            <a:endParaRPr lang="en-US" sz="2800" dirty="0"/>
          </a:p>
        </p:txBody>
      </p:sp>
      <p:sp>
        <p:nvSpPr>
          <p:cNvPr id="5" name="Shape 3"/>
          <p:cNvSpPr/>
          <p:nvPr/>
        </p:nvSpPr>
        <p:spPr>
          <a:xfrm>
            <a:off x="457200" y="2194560"/>
            <a:ext cx="7040880" cy="3429000"/>
          </a:xfrm>
          <a:prstGeom prst="rect">
            <a:avLst/>
          </a:prstGeom>
          <a:solidFill>
            <a:srgbClr val="FFFFFF">
              <a:alpha val="0"/>
            </a:srgbClr>
          </a:solidFill>
          <a:ln w="12700">
            <a:solidFill>
              <a:srgbClr val="000000"/>
            </a:solidFill>
            <a:prstDash val="solid"/>
          </a:ln>
        </p:spPr>
        <p:txBody>
          <a:bodyPr/>
          <a:lstStyle/>
          <a:p>
            <a:endParaRPr lang="ja-JP" altLang="en-US"/>
          </a:p>
        </p:txBody>
      </p:sp>
      <p:sp>
        <p:nvSpPr>
          <p:cNvPr id="6" name="Text 4"/>
          <p:cNvSpPr txBox="1"/>
          <p:nvPr/>
        </p:nvSpPr>
        <p:spPr>
          <a:xfrm>
            <a:off x="548640" y="2423160"/>
            <a:ext cx="2011680" cy="640080"/>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マイクの DMA</a:t>
            </a:r>
            <a:endParaRPr lang="en-US" sz="1600" dirty="0"/>
          </a:p>
          <a:p>
            <a:pPr marL="0" indent="0">
              <a:buNone/>
            </a:pPr>
            <a:r>
              <a:rPr lang="en-US" sz="1600" b="1" dirty="0">
                <a:solidFill>
                  <a:srgbClr val="000000"/>
                </a:solidFill>
                <a:latin typeface="游ゴシック" pitchFamily="34" charset="0"/>
                <a:ea typeface="游ゴシック" pitchFamily="34" charset="-122"/>
                <a:cs typeface="游ゴシック" pitchFamily="34" charset="-120"/>
              </a:rPr>
              <a:t>（16 ms ごと）</a:t>
            </a:r>
            <a:endParaRPr lang="en-US" sz="1600" dirty="0"/>
          </a:p>
        </p:txBody>
      </p:sp>
      <p:sp>
        <p:nvSpPr>
          <p:cNvPr id="7" name="Text 5"/>
          <p:cNvSpPr txBox="1"/>
          <p:nvPr/>
        </p:nvSpPr>
        <p:spPr>
          <a:xfrm>
            <a:off x="548640" y="3246120"/>
            <a:ext cx="2011680" cy="640080"/>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推論</a:t>
            </a:r>
            <a:endParaRPr lang="en-US" sz="1600" dirty="0"/>
          </a:p>
          <a:p>
            <a:pPr marL="0" indent="0">
              <a:buNone/>
            </a:pPr>
            <a:r>
              <a:rPr lang="en-US" sz="1600" b="1" dirty="0">
                <a:solidFill>
                  <a:srgbClr val="000000"/>
                </a:solidFill>
                <a:latin typeface="游ゴシック" pitchFamily="34" charset="0"/>
                <a:ea typeface="游ゴシック" pitchFamily="34" charset="-122"/>
                <a:cs typeface="游ゴシック" pitchFamily="34" charset="-120"/>
              </a:rPr>
              <a:t>（優先度 3）</a:t>
            </a:r>
            <a:endParaRPr lang="en-US" sz="1600" dirty="0"/>
          </a:p>
        </p:txBody>
      </p:sp>
      <p:sp>
        <p:nvSpPr>
          <p:cNvPr id="8" name="Text 6"/>
          <p:cNvSpPr txBox="1"/>
          <p:nvPr/>
        </p:nvSpPr>
        <p:spPr>
          <a:xfrm>
            <a:off x="548640" y="4069080"/>
            <a:ext cx="2011680" cy="640080"/>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音の取り込み</a:t>
            </a:r>
            <a:endParaRPr lang="en-US" sz="1600" dirty="0"/>
          </a:p>
          <a:p>
            <a:pPr marL="0" indent="0">
              <a:buNone/>
            </a:pPr>
            <a:r>
              <a:rPr lang="en-US" sz="1600" b="1" dirty="0">
                <a:solidFill>
                  <a:srgbClr val="000000"/>
                </a:solidFill>
                <a:latin typeface="游ゴシック" pitchFamily="34" charset="0"/>
                <a:ea typeface="游ゴシック" pitchFamily="34" charset="-122"/>
                <a:cs typeface="游ゴシック" pitchFamily="34" charset="-120"/>
              </a:rPr>
              <a:t>（優先度 5）</a:t>
            </a:r>
            <a:endParaRPr lang="en-US" sz="1600" dirty="0"/>
          </a:p>
        </p:txBody>
      </p:sp>
      <p:sp>
        <p:nvSpPr>
          <p:cNvPr id="9" name="Shape 7"/>
          <p:cNvSpPr/>
          <p:nvPr/>
        </p:nvSpPr>
        <p:spPr>
          <a:xfrm>
            <a:off x="2606040" y="2560320"/>
            <a:ext cx="54864" cy="365760"/>
          </a:xfrm>
          <a:prstGeom prst="rect">
            <a:avLst/>
          </a:prstGeom>
          <a:solidFill>
            <a:srgbClr val="156082"/>
          </a:solidFill>
          <a:ln w="12700">
            <a:solidFill>
              <a:srgbClr val="156082"/>
            </a:solidFill>
            <a:prstDash val="solid"/>
          </a:ln>
        </p:spPr>
        <p:txBody>
          <a:bodyPr/>
          <a:lstStyle/>
          <a:p>
            <a:endParaRPr lang="ja-JP" altLang="en-US"/>
          </a:p>
        </p:txBody>
      </p:sp>
      <p:sp>
        <p:nvSpPr>
          <p:cNvPr id="10" name="Shape 8"/>
          <p:cNvSpPr/>
          <p:nvPr/>
        </p:nvSpPr>
        <p:spPr>
          <a:xfrm>
            <a:off x="2606040" y="4251960"/>
            <a:ext cx="73152" cy="274320"/>
          </a:xfrm>
          <a:prstGeom prst="rect">
            <a:avLst/>
          </a:prstGeom>
          <a:solidFill>
            <a:srgbClr val="008A5E"/>
          </a:solidFill>
          <a:ln w="12700">
            <a:solidFill>
              <a:srgbClr val="008A5E"/>
            </a:solidFill>
            <a:prstDash val="solid"/>
          </a:ln>
        </p:spPr>
        <p:txBody>
          <a:bodyPr/>
          <a:lstStyle/>
          <a:p>
            <a:endParaRPr lang="ja-JP" altLang="en-US"/>
          </a:p>
        </p:txBody>
      </p:sp>
      <p:sp>
        <p:nvSpPr>
          <p:cNvPr id="11" name="Shape 9"/>
          <p:cNvSpPr/>
          <p:nvPr/>
        </p:nvSpPr>
        <p:spPr>
          <a:xfrm>
            <a:off x="2839212" y="2560320"/>
            <a:ext cx="54864" cy="365760"/>
          </a:xfrm>
          <a:prstGeom prst="rect">
            <a:avLst/>
          </a:prstGeom>
          <a:solidFill>
            <a:srgbClr val="156082"/>
          </a:solidFill>
          <a:ln w="12700">
            <a:solidFill>
              <a:srgbClr val="156082"/>
            </a:solidFill>
            <a:prstDash val="solid"/>
          </a:ln>
        </p:spPr>
        <p:txBody>
          <a:bodyPr/>
          <a:lstStyle/>
          <a:p>
            <a:endParaRPr lang="ja-JP" altLang="en-US"/>
          </a:p>
        </p:txBody>
      </p:sp>
      <p:sp>
        <p:nvSpPr>
          <p:cNvPr id="12" name="Shape 10"/>
          <p:cNvSpPr/>
          <p:nvPr/>
        </p:nvSpPr>
        <p:spPr>
          <a:xfrm>
            <a:off x="2839212" y="4251960"/>
            <a:ext cx="73152" cy="274320"/>
          </a:xfrm>
          <a:prstGeom prst="rect">
            <a:avLst/>
          </a:prstGeom>
          <a:solidFill>
            <a:srgbClr val="008A5E"/>
          </a:solidFill>
          <a:ln w="12700">
            <a:solidFill>
              <a:srgbClr val="008A5E"/>
            </a:solidFill>
            <a:prstDash val="solid"/>
          </a:ln>
        </p:spPr>
        <p:txBody>
          <a:bodyPr/>
          <a:lstStyle/>
          <a:p>
            <a:endParaRPr lang="ja-JP" altLang="en-US"/>
          </a:p>
        </p:txBody>
      </p:sp>
      <p:sp>
        <p:nvSpPr>
          <p:cNvPr id="13" name="Shape 11"/>
          <p:cNvSpPr/>
          <p:nvPr/>
        </p:nvSpPr>
        <p:spPr>
          <a:xfrm>
            <a:off x="3072384" y="2560320"/>
            <a:ext cx="54864" cy="365760"/>
          </a:xfrm>
          <a:prstGeom prst="rect">
            <a:avLst/>
          </a:prstGeom>
          <a:solidFill>
            <a:srgbClr val="156082"/>
          </a:solidFill>
          <a:ln w="12700">
            <a:solidFill>
              <a:srgbClr val="156082"/>
            </a:solidFill>
            <a:prstDash val="solid"/>
          </a:ln>
        </p:spPr>
        <p:txBody>
          <a:bodyPr/>
          <a:lstStyle/>
          <a:p>
            <a:endParaRPr lang="ja-JP" altLang="en-US"/>
          </a:p>
        </p:txBody>
      </p:sp>
      <p:sp>
        <p:nvSpPr>
          <p:cNvPr id="14" name="Shape 12"/>
          <p:cNvSpPr/>
          <p:nvPr/>
        </p:nvSpPr>
        <p:spPr>
          <a:xfrm>
            <a:off x="3072384" y="4251960"/>
            <a:ext cx="73152" cy="274320"/>
          </a:xfrm>
          <a:prstGeom prst="rect">
            <a:avLst/>
          </a:prstGeom>
          <a:solidFill>
            <a:srgbClr val="008A5E"/>
          </a:solidFill>
          <a:ln w="12700">
            <a:solidFill>
              <a:srgbClr val="008A5E"/>
            </a:solidFill>
            <a:prstDash val="solid"/>
          </a:ln>
        </p:spPr>
        <p:txBody>
          <a:bodyPr/>
          <a:lstStyle/>
          <a:p>
            <a:endParaRPr lang="ja-JP" altLang="en-US"/>
          </a:p>
        </p:txBody>
      </p:sp>
      <p:sp>
        <p:nvSpPr>
          <p:cNvPr id="15" name="Shape 13"/>
          <p:cNvSpPr/>
          <p:nvPr/>
        </p:nvSpPr>
        <p:spPr>
          <a:xfrm>
            <a:off x="3305556" y="2560320"/>
            <a:ext cx="54864" cy="365760"/>
          </a:xfrm>
          <a:prstGeom prst="rect">
            <a:avLst/>
          </a:prstGeom>
          <a:solidFill>
            <a:srgbClr val="156082"/>
          </a:solidFill>
          <a:ln w="12700">
            <a:solidFill>
              <a:srgbClr val="156082"/>
            </a:solidFill>
            <a:prstDash val="solid"/>
          </a:ln>
        </p:spPr>
        <p:txBody>
          <a:bodyPr/>
          <a:lstStyle/>
          <a:p>
            <a:endParaRPr lang="ja-JP" altLang="en-US"/>
          </a:p>
        </p:txBody>
      </p:sp>
      <p:sp>
        <p:nvSpPr>
          <p:cNvPr id="16" name="Shape 14"/>
          <p:cNvSpPr/>
          <p:nvPr/>
        </p:nvSpPr>
        <p:spPr>
          <a:xfrm>
            <a:off x="3305556" y="4251960"/>
            <a:ext cx="73152" cy="274320"/>
          </a:xfrm>
          <a:prstGeom prst="rect">
            <a:avLst/>
          </a:prstGeom>
          <a:solidFill>
            <a:srgbClr val="008A5E"/>
          </a:solidFill>
          <a:ln w="12700">
            <a:solidFill>
              <a:srgbClr val="008A5E"/>
            </a:solidFill>
            <a:prstDash val="solid"/>
          </a:ln>
        </p:spPr>
        <p:txBody>
          <a:bodyPr/>
          <a:lstStyle/>
          <a:p>
            <a:endParaRPr lang="ja-JP" altLang="en-US"/>
          </a:p>
        </p:txBody>
      </p:sp>
      <p:sp>
        <p:nvSpPr>
          <p:cNvPr id="17" name="Shape 15"/>
          <p:cNvSpPr/>
          <p:nvPr/>
        </p:nvSpPr>
        <p:spPr>
          <a:xfrm>
            <a:off x="3538728" y="2560320"/>
            <a:ext cx="54864" cy="365760"/>
          </a:xfrm>
          <a:prstGeom prst="rect">
            <a:avLst/>
          </a:prstGeom>
          <a:solidFill>
            <a:srgbClr val="C00000"/>
          </a:solidFill>
          <a:ln w="12700">
            <a:solidFill>
              <a:srgbClr val="C00000"/>
            </a:solidFill>
            <a:prstDash val="solid"/>
          </a:ln>
        </p:spPr>
        <p:txBody>
          <a:bodyPr/>
          <a:lstStyle/>
          <a:p>
            <a:endParaRPr lang="ja-JP" altLang="en-US"/>
          </a:p>
        </p:txBody>
      </p:sp>
      <p:sp>
        <p:nvSpPr>
          <p:cNvPr id="18" name="Shape 16"/>
          <p:cNvSpPr/>
          <p:nvPr/>
        </p:nvSpPr>
        <p:spPr>
          <a:xfrm>
            <a:off x="3771900" y="2560320"/>
            <a:ext cx="54864" cy="365760"/>
          </a:xfrm>
          <a:prstGeom prst="rect">
            <a:avLst/>
          </a:prstGeom>
          <a:solidFill>
            <a:srgbClr val="C00000"/>
          </a:solidFill>
          <a:ln w="12700">
            <a:solidFill>
              <a:srgbClr val="C00000"/>
            </a:solidFill>
            <a:prstDash val="solid"/>
          </a:ln>
        </p:spPr>
        <p:txBody>
          <a:bodyPr/>
          <a:lstStyle/>
          <a:p>
            <a:endParaRPr lang="ja-JP" altLang="en-US"/>
          </a:p>
        </p:txBody>
      </p:sp>
      <p:sp>
        <p:nvSpPr>
          <p:cNvPr id="19" name="Shape 17"/>
          <p:cNvSpPr/>
          <p:nvPr/>
        </p:nvSpPr>
        <p:spPr>
          <a:xfrm>
            <a:off x="4005072" y="2560320"/>
            <a:ext cx="54864" cy="365760"/>
          </a:xfrm>
          <a:prstGeom prst="rect">
            <a:avLst/>
          </a:prstGeom>
          <a:solidFill>
            <a:srgbClr val="C00000"/>
          </a:solidFill>
          <a:ln w="12700">
            <a:solidFill>
              <a:srgbClr val="C00000"/>
            </a:solidFill>
            <a:prstDash val="solid"/>
          </a:ln>
        </p:spPr>
        <p:txBody>
          <a:bodyPr/>
          <a:lstStyle/>
          <a:p>
            <a:endParaRPr lang="ja-JP" altLang="en-US"/>
          </a:p>
        </p:txBody>
      </p:sp>
      <p:sp>
        <p:nvSpPr>
          <p:cNvPr id="20" name="Shape 18"/>
          <p:cNvSpPr/>
          <p:nvPr/>
        </p:nvSpPr>
        <p:spPr>
          <a:xfrm>
            <a:off x="4238244" y="2560320"/>
            <a:ext cx="54864" cy="365760"/>
          </a:xfrm>
          <a:prstGeom prst="rect">
            <a:avLst/>
          </a:prstGeom>
          <a:solidFill>
            <a:srgbClr val="C00000"/>
          </a:solidFill>
          <a:ln w="12700">
            <a:solidFill>
              <a:srgbClr val="C00000"/>
            </a:solidFill>
            <a:prstDash val="solid"/>
          </a:ln>
        </p:spPr>
        <p:txBody>
          <a:bodyPr/>
          <a:lstStyle/>
          <a:p>
            <a:endParaRPr lang="ja-JP" altLang="en-US"/>
          </a:p>
        </p:txBody>
      </p:sp>
      <p:sp>
        <p:nvSpPr>
          <p:cNvPr id="21" name="Shape 19"/>
          <p:cNvSpPr/>
          <p:nvPr/>
        </p:nvSpPr>
        <p:spPr>
          <a:xfrm>
            <a:off x="4471416" y="2560320"/>
            <a:ext cx="54864" cy="365760"/>
          </a:xfrm>
          <a:prstGeom prst="rect">
            <a:avLst/>
          </a:prstGeom>
          <a:solidFill>
            <a:srgbClr val="C00000"/>
          </a:solidFill>
          <a:ln w="12700">
            <a:solidFill>
              <a:srgbClr val="C00000"/>
            </a:solidFill>
            <a:prstDash val="solid"/>
          </a:ln>
        </p:spPr>
        <p:txBody>
          <a:bodyPr/>
          <a:lstStyle/>
          <a:p>
            <a:endParaRPr lang="ja-JP" altLang="en-US"/>
          </a:p>
        </p:txBody>
      </p:sp>
      <p:sp>
        <p:nvSpPr>
          <p:cNvPr id="22" name="Shape 20"/>
          <p:cNvSpPr/>
          <p:nvPr/>
        </p:nvSpPr>
        <p:spPr>
          <a:xfrm>
            <a:off x="4704588" y="2560320"/>
            <a:ext cx="54864" cy="365760"/>
          </a:xfrm>
          <a:prstGeom prst="rect">
            <a:avLst/>
          </a:prstGeom>
          <a:solidFill>
            <a:srgbClr val="C00000"/>
          </a:solidFill>
          <a:ln w="12700">
            <a:solidFill>
              <a:srgbClr val="C00000"/>
            </a:solidFill>
            <a:prstDash val="solid"/>
          </a:ln>
        </p:spPr>
        <p:txBody>
          <a:bodyPr/>
          <a:lstStyle/>
          <a:p>
            <a:endParaRPr lang="ja-JP" altLang="en-US"/>
          </a:p>
        </p:txBody>
      </p:sp>
      <p:sp>
        <p:nvSpPr>
          <p:cNvPr id="23" name="Shape 21"/>
          <p:cNvSpPr/>
          <p:nvPr/>
        </p:nvSpPr>
        <p:spPr>
          <a:xfrm>
            <a:off x="4937760" y="2560320"/>
            <a:ext cx="54864" cy="365760"/>
          </a:xfrm>
          <a:prstGeom prst="rect">
            <a:avLst/>
          </a:prstGeom>
          <a:solidFill>
            <a:srgbClr val="C00000"/>
          </a:solidFill>
          <a:ln w="12700">
            <a:solidFill>
              <a:srgbClr val="C00000"/>
            </a:solidFill>
            <a:prstDash val="solid"/>
          </a:ln>
        </p:spPr>
        <p:txBody>
          <a:bodyPr/>
          <a:lstStyle/>
          <a:p>
            <a:endParaRPr lang="ja-JP" altLang="en-US"/>
          </a:p>
        </p:txBody>
      </p:sp>
      <p:sp>
        <p:nvSpPr>
          <p:cNvPr id="24" name="Shape 22"/>
          <p:cNvSpPr/>
          <p:nvPr/>
        </p:nvSpPr>
        <p:spPr>
          <a:xfrm>
            <a:off x="5170932" y="2560320"/>
            <a:ext cx="54864" cy="365760"/>
          </a:xfrm>
          <a:prstGeom prst="rect">
            <a:avLst/>
          </a:prstGeom>
          <a:solidFill>
            <a:srgbClr val="C00000"/>
          </a:solidFill>
          <a:ln w="12700">
            <a:solidFill>
              <a:srgbClr val="C00000"/>
            </a:solidFill>
            <a:prstDash val="solid"/>
          </a:ln>
        </p:spPr>
        <p:txBody>
          <a:bodyPr/>
          <a:lstStyle/>
          <a:p>
            <a:endParaRPr lang="ja-JP" altLang="en-US"/>
          </a:p>
        </p:txBody>
      </p:sp>
      <p:sp>
        <p:nvSpPr>
          <p:cNvPr id="25" name="Shape 23"/>
          <p:cNvSpPr/>
          <p:nvPr/>
        </p:nvSpPr>
        <p:spPr>
          <a:xfrm>
            <a:off x="5404104" y="2560320"/>
            <a:ext cx="54864" cy="365760"/>
          </a:xfrm>
          <a:prstGeom prst="rect">
            <a:avLst/>
          </a:prstGeom>
          <a:solidFill>
            <a:srgbClr val="C00000"/>
          </a:solidFill>
          <a:ln w="12700">
            <a:solidFill>
              <a:srgbClr val="C00000"/>
            </a:solidFill>
            <a:prstDash val="solid"/>
          </a:ln>
        </p:spPr>
        <p:txBody>
          <a:bodyPr/>
          <a:lstStyle/>
          <a:p>
            <a:endParaRPr lang="ja-JP" altLang="en-US"/>
          </a:p>
        </p:txBody>
      </p:sp>
      <p:sp>
        <p:nvSpPr>
          <p:cNvPr id="26" name="Shape 24"/>
          <p:cNvSpPr/>
          <p:nvPr/>
        </p:nvSpPr>
        <p:spPr>
          <a:xfrm>
            <a:off x="5637276" y="2560320"/>
            <a:ext cx="54864" cy="365760"/>
          </a:xfrm>
          <a:prstGeom prst="rect">
            <a:avLst/>
          </a:prstGeom>
          <a:solidFill>
            <a:srgbClr val="C00000"/>
          </a:solidFill>
          <a:ln w="12700">
            <a:solidFill>
              <a:srgbClr val="C00000"/>
            </a:solidFill>
            <a:prstDash val="solid"/>
          </a:ln>
        </p:spPr>
        <p:txBody>
          <a:bodyPr/>
          <a:lstStyle/>
          <a:p>
            <a:endParaRPr lang="ja-JP" altLang="en-US"/>
          </a:p>
        </p:txBody>
      </p:sp>
      <p:sp>
        <p:nvSpPr>
          <p:cNvPr id="27" name="Shape 25"/>
          <p:cNvSpPr/>
          <p:nvPr/>
        </p:nvSpPr>
        <p:spPr>
          <a:xfrm>
            <a:off x="5870448" y="2560320"/>
            <a:ext cx="54864" cy="365760"/>
          </a:xfrm>
          <a:prstGeom prst="rect">
            <a:avLst/>
          </a:prstGeom>
          <a:solidFill>
            <a:srgbClr val="C00000"/>
          </a:solidFill>
          <a:ln w="12700">
            <a:solidFill>
              <a:srgbClr val="C00000"/>
            </a:solidFill>
            <a:prstDash val="solid"/>
          </a:ln>
        </p:spPr>
        <p:txBody>
          <a:bodyPr/>
          <a:lstStyle/>
          <a:p>
            <a:endParaRPr lang="ja-JP" altLang="en-US"/>
          </a:p>
        </p:txBody>
      </p:sp>
      <p:sp>
        <p:nvSpPr>
          <p:cNvPr id="28" name="Shape 26"/>
          <p:cNvSpPr/>
          <p:nvPr/>
        </p:nvSpPr>
        <p:spPr>
          <a:xfrm>
            <a:off x="6103620" y="2560320"/>
            <a:ext cx="54864" cy="365760"/>
          </a:xfrm>
          <a:prstGeom prst="rect">
            <a:avLst/>
          </a:prstGeom>
          <a:solidFill>
            <a:srgbClr val="C00000"/>
          </a:solidFill>
          <a:ln w="12700">
            <a:solidFill>
              <a:srgbClr val="C00000"/>
            </a:solidFill>
            <a:prstDash val="solid"/>
          </a:ln>
        </p:spPr>
        <p:txBody>
          <a:bodyPr/>
          <a:lstStyle/>
          <a:p>
            <a:endParaRPr lang="ja-JP" altLang="en-US"/>
          </a:p>
        </p:txBody>
      </p:sp>
      <p:sp>
        <p:nvSpPr>
          <p:cNvPr id="29" name="Shape 27"/>
          <p:cNvSpPr/>
          <p:nvPr/>
        </p:nvSpPr>
        <p:spPr>
          <a:xfrm>
            <a:off x="6336792" y="2560320"/>
            <a:ext cx="54864" cy="365760"/>
          </a:xfrm>
          <a:prstGeom prst="rect">
            <a:avLst/>
          </a:prstGeom>
          <a:solidFill>
            <a:srgbClr val="156082"/>
          </a:solidFill>
          <a:ln w="12700">
            <a:solidFill>
              <a:srgbClr val="156082"/>
            </a:solidFill>
            <a:prstDash val="solid"/>
          </a:ln>
        </p:spPr>
        <p:txBody>
          <a:bodyPr/>
          <a:lstStyle/>
          <a:p>
            <a:endParaRPr lang="ja-JP" altLang="en-US"/>
          </a:p>
        </p:txBody>
      </p:sp>
      <p:sp>
        <p:nvSpPr>
          <p:cNvPr id="30" name="Shape 28"/>
          <p:cNvSpPr/>
          <p:nvPr/>
        </p:nvSpPr>
        <p:spPr>
          <a:xfrm>
            <a:off x="6336792" y="4251960"/>
            <a:ext cx="73152" cy="274320"/>
          </a:xfrm>
          <a:prstGeom prst="rect">
            <a:avLst/>
          </a:prstGeom>
          <a:solidFill>
            <a:srgbClr val="008A5E"/>
          </a:solidFill>
          <a:ln w="12700">
            <a:solidFill>
              <a:srgbClr val="008A5E"/>
            </a:solidFill>
            <a:prstDash val="solid"/>
          </a:ln>
        </p:spPr>
        <p:txBody>
          <a:bodyPr/>
          <a:lstStyle/>
          <a:p>
            <a:endParaRPr lang="ja-JP" altLang="en-US"/>
          </a:p>
        </p:txBody>
      </p:sp>
      <p:sp>
        <p:nvSpPr>
          <p:cNvPr id="31" name="Shape 29"/>
          <p:cNvSpPr/>
          <p:nvPr/>
        </p:nvSpPr>
        <p:spPr>
          <a:xfrm>
            <a:off x="6569964" y="2560320"/>
            <a:ext cx="54864" cy="365760"/>
          </a:xfrm>
          <a:prstGeom prst="rect">
            <a:avLst/>
          </a:prstGeom>
          <a:solidFill>
            <a:srgbClr val="156082"/>
          </a:solidFill>
          <a:ln w="12700">
            <a:solidFill>
              <a:srgbClr val="156082"/>
            </a:solidFill>
            <a:prstDash val="solid"/>
          </a:ln>
        </p:spPr>
        <p:txBody>
          <a:bodyPr/>
          <a:lstStyle/>
          <a:p>
            <a:endParaRPr lang="ja-JP" altLang="en-US"/>
          </a:p>
        </p:txBody>
      </p:sp>
      <p:sp>
        <p:nvSpPr>
          <p:cNvPr id="32" name="Shape 30"/>
          <p:cNvSpPr/>
          <p:nvPr/>
        </p:nvSpPr>
        <p:spPr>
          <a:xfrm>
            <a:off x="6569964" y="4251960"/>
            <a:ext cx="73152" cy="274320"/>
          </a:xfrm>
          <a:prstGeom prst="rect">
            <a:avLst/>
          </a:prstGeom>
          <a:solidFill>
            <a:srgbClr val="008A5E"/>
          </a:solidFill>
          <a:ln w="12700">
            <a:solidFill>
              <a:srgbClr val="008A5E"/>
            </a:solidFill>
            <a:prstDash val="solid"/>
          </a:ln>
        </p:spPr>
        <p:txBody>
          <a:bodyPr/>
          <a:lstStyle/>
          <a:p>
            <a:endParaRPr lang="ja-JP" altLang="en-US"/>
          </a:p>
        </p:txBody>
      </p:sp>
      <p:sp>
        <p:nvSpPr>
          <p:cNvPr id="33" name="Shape 31"/>
          <p:cNvSpPr/>
          <p:nvPr/>
        </p:nvSpPr>
        <p:spPr>
          <a:xfrm>
            <a:off x="6803136" y="2560320"/>
            <a:ext cx="54864" cy="365760"/>
          </a:xfrm>
          <a:prstGeom prst="rect">
            <a:avLst/>
          </a:prstGeom>
          <a:solidFill>
            <a:srgbClr val="156082"/>
          </a:solidFill>
          <a:ln w="12700">
            <a:solidFill>
              <a:srgbClr val="156082"/>
            </a:solidFill>
            <a:prstDash val="solid"/>
          </a:ln>
        </p:spPr>
        <p:txBody>
          <a:bodyPr/>
          <a:lstStyle/>
          <a:p>
            <a:endParaRPr lang="ja-JP" altLang="en-US"/>
          </a:p>
        </p:txBody>
      </p:sp>
      <p:sp>
        <p:nvSpPr>
          <p:cNvPr id="34" name="Shape 32"/>
          <p:cNvSpPr/>
          <p:nvPr/>
        </p:nvSpPr>
        <p:spPr>
          <a:xfrm>
            <a:off x="6803136" y="4251960"/>
            <a:ext cx="73152" cy="274320"/>
          </a:xfrm>
          <a:prstGeom prst="rect">
            <a:avLst/>
          </a:prstGeom>
          <a:solidFill>
            <a:srgbClr val="008A5E"/>
          </a:solidFill>
          <a:ln w="12700">
            <a:solidFill>
              <a:srgbClr val="008A5E"/>
            </a:solidFill>
            <a:prstDash val="solid"/>
          </a:ln>
        </p:spPr>
        <p:txBody>
          <a:bodyPr/>
          <a:lstStyle/>
          <a:p>
            <a:endParaRPr lang="ja-JP" altLang="en-US"/>
          </a:p>
        </p:txBody>
      </p:sp>
      <p:sp>
        <p:nvSpPr>
          <p:cNvPr id="35" name="Shape 33"/>
          <p:cNvSpPr/>
          <p:nvPr/>
        </p:nvSpPr>
        <p:spPr>
          <a:xfrm>
            <a:off x="7036308" y="2560320"/>
            <a:ext cx="54864" cy="365760"/>
          </a:xfrm>
          <a:prstGeom prst="rect">
            <a:avLst/>
          </a:prstGeom>
          <a:solidFill>
            <a:srgbClr val="156082"/>
          </a:solidFill>
          <a:ln w="12700">
            <a:solidFill>
              <a:srgbClr val="156082"/>
            </a:solidFill>
            <a:prstDash val="solid"/>
          </a:ln>
        </p:spPr>
        <p:txBody>
          <a:bodyPr/>
          <a:lstStyle/>
          <a:p>
            <a:endParaRPr lang="ja-JP" altLang="en-US"/>
          </a:p>
        </p:txBody>
      </p:sp>
      <p:sp>
        <p:nvSpPr>
          <p:cNvPr id="36" name="Shape 34"/>
          <p:cNvSpPr/>
          <p:nvPr/>
        </p:nvSpPr>
        <p:spPr>
          <a:xfrm>
            <a:off x="7036308" y="4251960"/>
            <a:ext cx="73152" cy="274320"/>
          </a:xfrm>
          <a:prstGeom prst="rect">
            <a:avLst/>
          </a:prstGeom>
          <a:solidFill>
            <a:srgbClr val="008A5E"/>
          </a:solidFill>
          <a:ln w="12700">
            <a:solidFill>
              <a:srgbClr val="008A5E"/>
            </a:solidFill>
            <a:prstDash val="solid"/>
          </a:ln>
        </p:spPr>
        <p:txBody>
          <a:bodyPr/>
          <a:lstStyle/>
          <a:p>
            <a:endParaRPr lang="ja-JP" altLang="en-US"/>
          </a:p>
        </p:txBody>
      </p:sp>
      <p:sp>
        <p:nvSpPr>
          <p:cNvPr id="37" name="Shape 35"/>
          <p:cNvSpPr/>
          <p:nvPr/>
        </p:nvSpPr>
        <p:spPr>
          <a:xfrm>
            <a:off x="3538728" y="3355848"/>
            <a:ext cx="2611526" cy="420624"/>
          </a:xfrm>
          <a:prstGeom prst="rect">
            <a:avLst/>
          </a:prstGeom>
          <a:solidFill>
            <a:srgbClr val="008A5E"/>
          </a:solidFill>
          <a:ln w="12700">
            <a:solidFill>
              <a:srgbClr val="008A5E"/>
            </a:solidFill>
            <a:prstDash val="solid"/>
          </a:ln>
        </p:spPr>
        <p:txBody>
          <a:bodyPr/>
          <a:lstStyle/>
          <a:p>
            <a:endParaRPr lang="ja-JP" altLang="en-US"/>
          </a:p>
        </p:txBody>
      </p:sp>
      <p:sp>
        <p:nvSpPr>
          <p:cNvPr id="38" name="Text 36"/>
          <p:cNvSpPr txBox="1"/>
          <p:nvPr/>
        </p:nvSpPr>
        <p:spPr>
          <a:xfrm>
            <a:off x="3538728" y="3355848"/>
            <a:ext cx="2611526" cy="420624"/>
          </a:xfrm>
          <a:prstGeom prst="rect">
            <a:avLst/>
          </a:prstGeom>
          <a:noFill/>
          <a:ln/>
        </p:spPr>
        <p:txBody>
          <a:bodyPr wrap="square" lIns="0" tIns="0" rIns="0" bIns="0" rtlCol="0" anchor="ctr"/>
          <a:lstStyle/>
          <a:p>
            <a:pPr marL="0" indent="0" algn="ctr">
              <a:buNone/>
            </a:pPr>
            <a:r>
              <a:rPr lang="en-US" sz="1500" b="1" dirty="0">
                <a:solidFill>
                  <a:srgbClr val="FFFFFF"/>
                </a:solidFill>
                <a:latin typeface="游ゴシック" pitchFamily="34" charset="0"/>
                <a:ea typeface="游ゴシック" pitchFamily="34" charset="-122"/>
                <a:cs typeface="游ゴシック" pitchFamily="34" charset="-120"/>
              </a:rPr>
              <a:t>推論 112 ms</a:t>
            </a:r>
            <a:endParaRPr lang="en-US" sz="1500" dirty="0"/>
          </a:p>
        </p:txBody>
      </p:sp>
      <p:sp>
        <p:nvSpPr>
          <p:cNvPr id="39" name="Shape 37"/>
          <p:cNvSpPr/>
          <p:nvPr/>
        </p:nvSpPr>
        <p:spPr>
          <a:xfrm>
            <a:off x="3562045" y="4178808"/>
            <a:ext cx="2564892" cy="420624"/>
          </a:xfrm>
          <a:prstGeom prst="rect">
            <a:avLst/>
          </a:prstGeom>
          <a:solidFill>
            <a:srgbClr val="E7E6E6"/>
          </a:solidFill>
          <a:ln w="12700">
            <a:solidFill>
              <a:srgbClr val="A6A6A6"/>
            </a:solidFill>
            <a:prstDash val="dash"/>
          </a:ln>
        </p:spPr>
        <p:txBody>
          <a:bodyPr/>
          <a:lstStyle/>
          <a:p>
            <a:endParaRPr lang="ja-JP" altLang="en-US"/>
          </a:p>
        </p:txBody>
      </p:sp>
      <p:sp>
        <p:nvSpPr>
          <p:cNvPr id="40" name="Text 38"/>
          <p:cNvSpPr txBox="1"/>
          <p:nvPr/>
        </p:nvSpPr>
        <p:spPr>
          <a:xfrm>
            <a:off x="3562045" y="4178808"/>
            <a:ext cx="2564892" cy="420624"/>
          </a:xfrm>
          <a:prstGeom prst="rect">
            <a:avLst/>
          </a:prstGeom>
          <a:noFill/>
          <a:ln/>
        </p:spPr>
        <p:txBody>
          <a:bodyPr wrap="square" lIns="0" tIns="0" rIns="0" bIns="0" rtlCol="0" anchor="ctr"/>
          <a:lstStyle/>
          <a:p>
            <a:pPr marL="0" indent="0" algn="ctr">
              <a:buNone/>
            </a:pPr>
            <a:r>
              <a:rPr lang="en-US" sz="1400" b="1" dirty="0">
                <a:solidFill>
                  <a:srgbClr val="C00000"/>
                </a:solidFill>
                <a:latin typeface="游ゴシック" pitchFamily="34" charset="0"/>
                <a:ea typeface="游ゴシック" pitchFamily="34" charset="-122"/>
                <a:cs typeface="游ゴシック" pitchFamily="34" charset="-120"/>
              </a:rPr>
              <a:t>動けない → 届いた音が溢れる</a:t>
            </a:r>
            <a:endParaRPr lang="en-US" sz="1400" dirty="0"/>
          </a:p>
        </p:txBody>
      </p:sp>
      <p:sp>
        <p:nvSpPr>
          <p:cNvPr id="41" name="Shape 39"/>
          <p:cNvSpPr/>
          <p:nvPr/>
        </p:nvSpPr>
        <p:spPr>
          <a:xfrm>
            <a:off x="2606040" y="4892040"/>
            <a:ext cx="4663440" cy="0"/>
          </a:xfrm>
          <a:prstGeom prst="line">
            <a:avLst/>
          </a:prstGeom>
          <a:noFill/>
          <a:ln w="12700">
            <a:solidFill>
              <a:srgbClr val="000000"/>
            </a:solidFill>
            <a:prstDash val="solid"/>
          </a:ln>
        </p:spPr>
        <p:txBody>
          <a:bodyPr/>
          <a:lstStyle/>
          <a:p>
            <a:endParaRPr lang="ja-JP" altLang="en-US"/>
          </a:p>
        </p:txBody>
      </p:sp>
      <p:sp>
        <p:nvSpPr>
          <p:cNvPr id="42" name="Shape 40"/>
          <p:cNvSpPr/>
          <p:nvPr/>
        </p:nvSpPr>
        <p:spPr>
          <a:xfrm>
            <a:off x="2606040" y="4846320"/>
            <a:ext cx="0" cy="91440"/>
          </a:xfrm>
          <a:prstGeom prst="line">
            <a:avLst/>
          </a:prstGeom>
          <a:noFill/>
          <a:ln w="12700">
            <a:solidFill>
              <a:srgbClr val="000000"/>
            </a:solidFill>
            <a:prstDash val="solid"/>
          </a:ln>
        </p:spPr>
        <p:txBody>
          <a:bodyPr/>
          <a:lstStyle/>
          <a:p>
            <a:endParaRPr lang="ja-JP" altLang="en-US"/>
          </a:p>
        </p:txBody>
      </p:sp>
      <p:sp>
        <p:nvSpPr>
          <p:cNvPr id="43" name="Text 41"/>
          <p:cNvSpPr txBox="1"/>
          <p:nvPr/>
        </p:nvSpPr>
        <p:spPr>
          <a:xfrm>
            <a:off x="2331720" y="4937760"/>
            <a:ext cx="548640" cy="256032"/>
          </a:xfrm>
          <a:prstGeom prst="rect">
            <a:avLst/>
          </a:prstGeom>
          <a:noFill/>
          <a:ln/>
        </p:spPr>
        <p:txBody>
          <a:bodyPr wrap="square" lIns="0" tIns="0" rIns="0" bIns="0" rtlCol="0" anchor="ctr"/>
          <a:lstStyle/>
          <a:p>
            <a:pPr marL="0" indent="0" algn="ctr">
              <a:buNone/>
            </a:pPr>
            <a:r>
              <a:rPr lang="en-US" sz="1300" dirty="0">
                <a:solidFill>
                  <a:srgbClr val="000000"/>
                </a:solidFill>
                <a:latin typeface="游ゴシック" pitchFamily="34" charset="0"/>
                <a:ea typeface="游ゴシック" pitchFamily="34" charset="-122"/>
                <a:cs typeface="游ゴシック" pitchFamily="34" charset="-120"/>
              </a:rPr>
              <a:t>0</a:t>
            </a:r>
            <a:endParaRPr lang="en-US" sz="1300" dirty="0"/>
          </a:p>
        </p:txBody>
      </p:sp>
      <p:sp>
        <p:nvSpPr>
          <p:cNvPr id="44" name="Shape 42"/>
          <p:cNvSpPr/>
          <p:nvPr/>
        </p:nvSpPr>
        <p:spPr>
          <a:xfrm>
            <a:off x="3771900" y="4846320"/>
            <a:ext cx="0" cy="91440"/>
          </a:xfrm>
          <a:prstGeom prst="line">
            <a:avLst/>
          </a:prstGeom>
          <a:noFill/>
          <a:ln w="12700">
            <a:solidFill>
              <a:srgbClr val="000000"/>
            </a:solidFill>
            <a:prstDash val="solid"/>
          </a:ln>
        </p:spPr>
        <p:txBody>
          <a:bodyPr/>
          <a:lstStyle/>
          <a:p>
            <a:endParaRPr lang="ja-JP" altLang="en-US"/>
          </a:p>
        </p:txBody>
      </p:sp>
      <p:sp>
        <p:nvSpPr>
          <p:cNvPr id="45" name="Text 43"/>
          <p:cNvSpPr txBox="1"/>
          <p:nvPr/>
        </p:nvSpPr>
        <p:spPr>
          <a:xfrm>
            <a:off x="3497580" y="4937760"/>
            <a:ext cx="548640" cy="256032"/>
          </a:xfrm>
          <a:prstGeom prst="rect">
            <a:avLst/>
          </a:prstGeom>
          <a:noFill/>
          <a:ln/>
        </p:spPr>
        <p:txBody>
          <a:bodyPr wrap="square" lIns="0" tIns="0" rIns="0" bIns="0" rtlCol="0" anchor="ctr"/>
          <a:lstStyle/>
          <a:p>
            <a:pPr marL="0" indent="0" algn="ctr">
              <a:buNone/>
            </a:pPr>
            <a:r>
              <a:rPr lang="en-US" sz="1300" dirty="0">
                <a:solidFill>
                  <a:srgbClr val="000000"/>
                </a:solidFill>
                <a:latin typeface="游ゴシック" pitchFamily="34" charset="0"/>
                <a:ea typeface="游ゴシック" pitchFamily="34" charset="-122"/>
                <a:cs typeface="游ゴシック" pitchFamily="34" charset="-120"/>
              </a:rPr>
              <a:t>50</a:t>
            </a:r>
            <a:endParaRPr lang="en-US" sz="1300" dirty="0"/>
          </a:p>
        </p:txBody>
      </p:sp>
      <p:sp>
        <p:nvSpPr>
          <p:cNvPr id="46" name="Shape 44"/>
          <p:cNvSpPr/>
          <p:nvPr/>
        </p:nvSpPr>
        <p:spPr>
          <a:xfrm>
            <a:off x="4937760" y="4846320"/>
            <a:ext cx="0" cy="91440"/>
          </a:xfrm>
          <a:prstGeom prst="line">
            <a:avLst/>
          </a:prstGeom>
          <a:noFill/>
          <a:ln w="12700">
            <a:solidFill>
              <a:srgbClr val="000000"/>
            </a:solidFill>
            <a:prstDash val="solid"/>
          </a:ln>
        </p:spPr>
        <p:txBody>
          <a:bodyPr/>
          <a:lstStyle/>
          <a:p>
            <a:endParaRPr lang="ja-JP" altLang="en-US"/>
          </a:p>
        </p:txBody>
      </p:sp>
      <p:sp>
        <p:nvSpPr>
          <p:cNvPr id="47" name="Text 45"/>
          <p:cNvSpPr txBox="1"/>
          <p:nvPr/>
        </p:nvSpPr>
        <p:spPr>
          <a:xfrm>
            <a:off x="4663440" y="4937760"/>
            <a:ext cx="548640" cy="256032"/>
          </a:xfrm>
          <a:prstGeom prst="rect">
            <a:avLst/>
          </a:prstGeom>
          <a:noFill/>
          <a:ln/>
        </p:spPr>
        <p:txBody>
          <a:bodyPr wrap="square" lIns="0" tIns="0" rIns="0" bIns="0" rtlCol="0" anchor="ctr"/>
          <a:lstStyle/>
          <a:p>
            <a:pPr marL="0" indent="0" algn="ctr">
              <a:buNone/>
            </a:pPr>
            <a:r>
              <a:rPr lang="en-US" sz="1300" dirty="0">
                <a:solidFill>
                  <a:srgbClr val="000000"/>
                </a:solidFill>
                <a:latin typeface="游ゴシック" pitchFamily="34" charset="0"/>
                <a:ea typeface="游ゴシック" pitchFamily="34" charset="-122"/>
                <a:cs typeface="游ゴシック" pitchFamily="34" charset="-120"/>
              </a:rPr>
              <a:t>100</a:t>
            </a:r>
            <a:endParaRPr lang="en-US" sz="1300" dirty="0"/>
          </a:p>
        </p:txBody>
      </p:sp>
      <p:sp>
        <p:nvSpPr>
          <p:cNvPr id="48" name="Shape 46"/>
          <p:cNvSpPr/>
          <p:nvPr/>
        </p:nvSpPr>
        <p:spPr>
          <a:xfrm>
            <a:off x="6103620" y="4846320"/>
            <a:ext cx="0" cy="91440"/>
          </a:xfrm>
          <a:prstGeom prst="line">
            <a:avLst/>
          </a:prstGeom>
          <a:noFill/>
          <a:ln w="12700">
            <a:solidFill>
              <a:srgbClr val="000000"/>
            </a:solidFill>
            <a:prstDash val="solid"/>
          </a:ln>
        </p:spPr>
        <p:txBody>
          <a:bodyPr/>
          <a:lstStyle/>
          <a:p>
            <a:endParaRPr lang="ja-JP" altLang="en-US"/>
          </a:p>
        </p:txBody>
      </p:sp>
      <p:sp>
        <p:nvSpPr>
          <p:cNvPr id="49" name="Text 47"/>
          <p:cNvSpPr txBox="1"/>
          <p:nvPr/>
        </p:nvSpPr>
        <p:spPr>
          <a:xfrm>
            <a:off x="5829300" y="4937760"/>
            <a:ext cx="548640" cy="256032"/>
          </a:xfrm>
          <a:prstGeom prst="rect">
            <a:avLst/>
          </a:prstGeom>
          <a:noFill/>
          <a:ln/>
        </p:spPr>
        <p:txBody>
          <a:bodyPr wrap="square" lIns="0" tIns="0" rIns="0" bIns="0" rtlCol="0" anchor="ctr"/>
          <a:lstStyle/>
          <a:p>
            <a:pPr marL="0" indent="0" algn="ctr">
              <a:buNone/>
            </a:pPr>
            <a:r>
              <a:rPr lang="en-US" sz="1300" dirty="0">
                <a:solidFill>
                  <a:srgbClr val="000000"/>
                </a:solidFill>
                <a:latin typeface="游ゴシック" pitchFamily="34" charset="0"/>
                <a:ea typeface="游ゴシック" pitchFamily="34" charset="-122"/>
                <a:cs typeface="游ゴシック" pitchFamily="34" charset="-120"/>
              </a:rPr>
              <a:t>150</a:t>
            </a:r>
            <a:endParaRPr lang="en-US" sz="1300" dirty="0"/>
          </a:p>
        </p:txBody>
      </p:sp>
      <p:sp>
        <p:nvSpPr>
          <p:cNvPr id="50" name="Shape 48"/>
          <p:cNvSpPr/>
          <p:nvPr/>
        </p:nvSpPr>
        <p:spPr>
          <a:xfrm>
            <a:off x="7269480" y="4846320"/>
            <a:ext cx="0" cy="91440"/>
          </a:xfrm>
          <a:prstGeom prst="line">
            <a:avLst/>
          </a:prstGeom>
          <a:noFill/>
          <a:ln w="12700">
            <a:solidFill>
              <a:srgbClr val="000000"/>
            </a:solidFill>
            <a:prstDash val="solid"/>
          </a:ln>
        </p:spPr>
        <p:txBody>
          <a:bodyPr/>
          <a:lstStyle/>
          <a:p>
            <a:endParaRPr lang="ja-JP" altLang="en-US"/>
          </a:p>
        </p:txBody>
      </p:sp>
      <p:sp>
        <p:nvSpPr>
          <p:cNvPr id="51" name="Text 49"/>
          <p:cNvSpPr txBox="1"/>
          <p:nvPr/>
        </p:nvSpPr>
        <p:spPr>
          <a:xfrm>
            <a:off x="6995160" y="4937760"/>
            <a:ext cx="548640" cy="256032"/>
          </a:xfrm>
          <a:prstGeom prst="rect">
            <a:avLst/>
          </a:prstGeom>
          <a:noFill/>
          <a:ln/>
        </p:spPr>
        <p:txBody>
          <a:bodyPr wrap="square" lIns="0" tIns="0" rIns="0" bIns="0" rtlCol="0" anchor="ctr"/>
          <a:lstStyle/>
          <a:p>
            <a:pPr marL="0" indent="0" algn="ctr">
              <a:buNone/>
            </a:pPr>
            <a:r>
              <a:rPr lang="en-US" sz="1300" dirty="0">
                <a:solidFill>
                  <a:srgbClr val="000000"/>
                </a:solidFill>
                <a:latin typeface="游ゴシック" pitchFamily="34" charset="0"/>
                <a:ea typeface="游ゴシック" pitchFamily="34" charset="-122"/>
                <a:cs typeface="游ゴシック" pitchFamily="34" charset="-120"/>
              </a:rPr>
              <a:t>200</a:t>
            </a:r>
            <a:endParaRPr lang="en-US" sz="1300" dirty="0"/>
          </a:p>
        </p:txBody>
      </p:sp>
      <p:sp>
        <p:nvSpPr>
          <p:cNvPr id="52" name="Text 50"/>
          <p:cNvSpPr txBox="1"/>
          <p:nvPr/>
        </p:nvSpPr>
        <p:spPr>
          <a:xfrm>
            <a:off x="2331720" y="5221224"/>
            <a:ext cx="4937760" cy="274320"/>
          </a:xfrm>
          <a:prstGeom prst="rect">
            <a:avLst/>
          </a:prstGeom>
          <a:noFill/>
          <a:ln/>
        </p:spPr>
        <p:txBody>
          <a:bodyPr wrap="square" lIns="0" tIns="0" rIns="0" bIns="0" rtlCol="0" anchor="ctr"/>
          <a:lstStyle/>
          <a:p>
            <a:pPr marL="0" indent="0" algn="ctr">
              <a:buNone/>
            </a:pPr>
            <a:r>
              <a:rPr lang="en-US" sz="1200" dirty="0">
                <a:solidFill>
                  <a:srgbClr val="595959"/>
                </a:solidFill>
                <a:latin typeface="游ゴシック" pitchFamily="34" charset="0"/>
                <a:ea typeface="游ゴシック" pitchFamily="34" charset="-122"/>
                <a:cs typeface="游ゴシック" pitchFamily="34" charset="-120"/>
              </a:rPr>
              <a:t>時刻（ms）　※ 刻みは模式。実際は 16 ms ごと</a:t>
            </a:r>
            <a:endParaRPr lang="en-US" sz="1200" dirty="0"/>
          </a:p>
        </p:txBody>
      </p:sp>
      <p:sp>
        <p:nvSpPr>
          <p:cNvPr id="53" name="Text 51"/>
          <p:cNvSpPr txBox="1"/>
          <p:nvPr/>
        </p:nvSpPr>
        <p:spPr>
          <a:xfrm>
            <a:off x="7772400" y="2194560"/>
            <a:ext cx="3959352" cy="365760"/>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結果（10 分）</a:t>
            </a:r>
            <a:endParaRPr lang="en-US" sz="1800" dirty="0"/>
          </a:p>
        </p:txBody>
      </p:sp>
      <p:sp>
        <p:nvSpPr>
          <p:cNvPr id="54" name="Text 52"/>
          <p:cNvSpPr txBox="1"/>
          <p:nvPr/>
        </p:nvSpPr>
        <p:spPr>
          <a:xfrm>
            <a:off x="7772400" y="2651760"/>
            <a:ext cx="3959352" cy="320040"/>
          </a:xfrm>
          <a:prstGeom prst="rect">
            <a:avLst/>
          </a:prstGeom>
          <a:noFill/>
          <a:ln/>
        </p:spPr>
        <p:txBody>
          <a:bodyPr wrap="square" lIns="0" tIns="0" rIns="0" bIns="0" rtlCol="0" anchor="ctr"/>
          <a:lstStyle/>
          <a:p>
            <a:pPr marL="0" indent="0">
              <a:buNone/>
            </a:pPr>
            <a:r>
              <a:rPr lang="en-US" sz="1500" dirty="0">
                <a:solidFill>
                  <a:srgbClr val="595959"/>
                </a:solidFill>
                <a:latin typeface="游ゴシック" pitchFamily="34" charset="0"/>
                <a:ea typeface="游ゴシック" pitchFamily="34" charset="-122"/>
                <a:cs typeface="游ゴシック" pitchFamily="34" charset="-120"/>
              </a:rPr>
              <a:t>音の取りこぼし（under / over / late）</a:t>
            </a:r>
            <a:endParaRPr lang="en-US" sz="1500" dirty="0"/>
          </a:p>
        </p:txBody>
      </p:sp>
      <p:sp>
        <p:nvSpPr>
          <p:cNvPr id="55" name="Text 53"/>
          <p:cNvSpPr txBox="1"/>
          <p:nvPr/>
        </p:nvSpPr>
        <p:spPr>
          <a:xfrm>
            <a:off x="7772400" y="2971800"/>
            <a:ext cx="3959352" cy="548640"/>
          </a:xfrm>
          <a:prstGeom prst="rect">
            <a:avLst/>
          </a:prstGeom>
          <a:noFill/>
          <a:ln/>
        </p:spPr>
        <p:txBody>
          <a:bodyPr wrap="square" lIns="0" tIns="0" rIns="0" bIns="0" rtlCol="0" anchor="ctr"/>
          <a:lstStyle/>
          <a:p>
            <a:pPr marL="0" indent="0">
              <a:buNone/>
            </a:pPr>
            <a:r>
              <a:rPr lang="en-US" sz="2200" b="1" dirty="0">
                <a:solidFill>
                  <a:srgbClr val="C00000"/>
                </a:solidFill>
                <a:latin typeface="游ゴシック" pitchFamily="34" charset="0"/>
                <a:ea typeface="游ゴシック" pitchFamily="34" charset="-122"/>
                <a:cs typeface="游ゴシック" pitchFamily="34" charset="-120"/>
              </a:rPr>
              <a:t>2,078 / 1,200 / 1,200</a:t>
            </a:r>
            <a:endParaRPr lang="en-US" sz="2200" dirty="0"/>
          </a:p>
        </p:txBody>
      </p:sp>
      <p:sp>
        <p:nvSpPr>
          <p:cNvPr id="56" name="Text 54"/>
          <p:cNvSpPr txBox="1"/>
          <p:nvPr/>
        </p:nvSpPr>
        <p:spPr>
          <a:xfrm>
            <a:off x="7772400" y="3639312"/>
            <a:ext cx="3959352" cy="320040"/>
          </a:xfrm>
          <a:prstGeom prst="rect">
            <a:avLst/>
          </a:prstGeom>
          <a:noFill/>
          <a:ln/>
        </p:spPr>
        <p:txBody>
          <a:bodyPr wrap="square" lIns="0" tIns="0" rIns="0" bIns="0" rtlCol="0" anchor="ctr"/>
          <a:lstStyle/>
          <a:p>
            <a:pPr marL="0" indent="0">
              <a:buNone/>
            </a:pPr>
            <a:r>
              <a:rPr lang="en-US" sz="1500" dirty="0">
                <a:solidFill>
                  <a:srgbClr val="595959"/>
                </a:solidFill>
                <a:latin typeface="游ゴシック" pitchFamily="34" charset="0"/>
                <a:ea typeface="游ゴシック" pitchFamily="34" charset="-122"/>
                <a:cs typeface="游ゴシック" pitchFamily="34" charset="-120"/>
              </a:rPr>
              <a:t>入力の速さ（本来 16,000 Hz）</a:t>
            </a:r>
            <a:endParaRPr lang="en-US" sz="1500" dirty="0"/>
          </a:p>
        </p:txBody>
      </p:sp>
      <p:sp>
        <p:nvSpPr>
          <p:cNvPr id="57" name="Text 55"/>
          <p:cNvSpPr txBox="1"/>
          <p:nvPr/>
        </p:nvSpPr>
        <p:spPr>
          <a:xfrm>
            <a:off x="7772400" y="3959352"/>
            <a:ext cx="3959352" cy="548640"/>
          </a:xfrm>
          <a:prstGeom prst="rect">
            <a:avLst/>
          </a:prstGeom>
          <a:noFill/>
          <a:ln/>
        </p:spPr>
        <p:txBody>
          <a:bodyPr wrap="square" lIns="0" tIns="0" rIns="0" bIns="0" rtlCol="0" anchor="ctr"/>
          <a:lstStyle/>
          <a:p>
            <a:pPr marL="0" indent="0">
              <a:buNone/>
            </a:pPr>
            <a:r>
              <a:rPr lang="en-US" sz="2200" b="1" dirty="0">
                <a:solidFill>
                  <a:srgbClr val="C00000"/>
                </a:solidFill>
                <a:latin typeface="游ゴシック" pitchFamily="34" charset="0"/>
                <a:ea typeface="游ゴシック" pitchFamily="34" charset="-122"/>
                <a:cs typeface="游ゴシック" pitchFamily="34" charset="-120"/>
              </a:rPr>
              <a:t>14,848 Hz（8% 欠落）</a:t>
            </a:r>
            <a:endParaRPr lang="en-US" sz="2200" dirty="0"/>
          </a:p>
        </p:txBody>
      </p:sp>
      <p:sp>
        <p:nvSpPr>
          <p:cNvPr id="58" name="Text 56"/>
          <p:cNvSpPr txBox="1"/>
          <p:nvPr/>
        </p:nvSpPr>
        <p:spPr>
          <a:xfrm>
            <a:off x="7772400" y="4626864"/>
            <a:ext cx="3959352" cy="320040"/>
          </a:xfrm>
          <a:prstGeom prst="rect">
            <a:avLst/>
          </a:prstGeom>
          <a:noFill/>
          <a:ln/>
        </p:spPr>
        <p:txBody>
          <a:bodyPr wrap="square" lIns="0" tIns="0" rIns="0" bIns="0" rtlCol="0" anchor="ctr"/>
          <a:lstStyle/>
          <a:p>
            <a:pPr marL="0" indent="0">
              <a:buNone/>
            </a:pPr>
            <a:r>
              <a:rPr lang="en-US" sz="1500" dirty="0">
                <a:solidFill>
                  <a:srgbClr val="595959"/>
                </a:solidFill>
                <a:latin typeface="游ゴシック" pitchFamily="34" charset="0"/>
                <a:ea typeface="游ゴシック" pitchFamily="34" charset="-122"/>
                <a:cs typeface="游ゴシック" pitchFamily="34" charset="-120"/>
              </a:rPr>
              <a:t>窓バッファへの書き込みの最大待ち</a:t>
            </a:r>
            <a:endParaRPr lang="en-US" sz="1500" dirty="0"/>
          </a:p>
        </p:txBody>
      </p:sp>
      <p:sp>
        <p:nvSpPr>
          <p:cNvPr id="59" name="Text 57"/>
          <p:cNvSpPr txBox="1"/>
          <p:nvPr/>
        </p:nvSpPr>
        <p:spPr>
          <a:xfrm>
            <a:off x="7772400" y="4946904"/>
            <a:ext cx="3959352" cy="548640"/>
          </a:xfrm>
          <a:prstGeom prst="rect">
            <a:avLst/>
          </a:prstGeom>
          <a:noFill/>
          <a:ln/>
        </p:spPr>
        <p:txBody>
          <a:bodyPr wrap="square" lIns="0" tIns="0" rIns="0" bIns="0" rtlCol="0" anchor="ctr"/>
          <a:lstStyle/>
          <a:p>
            <a:pPr marL="0" indent="0">
              <a:buNone/>
            </a:pPr>
            <a:r>
              <a:rPr lang="en-US" sz="2200" b="1" dirty="0">
                <a:solidFill>
                  <a:srgbClr val="C00000"/>
                </a:solidFill>
                <a:latin typeface="游ゴシック" pitchFamily="34" charset="0"/>
                <a:ea typeface="游ゴシック" pitchFamily="34" charset="-122"/>
                <a:cs typeface="游ゴシック" pitchFamily="34" charset="-120"/>
              </a:rPr>
              <a:t>414 ms</a:t>
            </a:r>
            <a:endParaRPr lang="en-US" sz="2200" dirty="0"/>
          </a:p>
        </p:txBody>
      </p:sp>
      <p:sp>
        <p:nvSpPr>
          <p:cNvPr id="60" name="Text 58"/>
          <p:cNvSpPr txBox="1"/>
          <p:nvPr/>
        </p:nvSpPr>
        <p:spPr>
          <a:xfrm>
            <a:off x="7772400" y="5623560"/>
            <a:ext cx="3959352" cy="548640"/>
          </a:xfrm>
          <a:prstGeom prst="rect">
            <a:avLst/>
          </a:prstGeom>
          <a:noFill/>
          <a:ln/>
        </p:spPr>
        <p:txBody>
          <a:bodyPr wrap="square" lIns="0" tIns="0" rIns="0" bIns="0" rtlCol="0" anchor="ctr"/>
          <a:lstStyle/>
          <a:p>
            <a:pPr marL="0" indent="0">
              <a:buNone/>
            </a:pPr>
            <a:r>
              <a:rPr lang="en-US" sz="1300" dirty="0">
                <a:solidFill>
                  <a:srgbClr val="595959"/>
                </a:solidFill>
                <a:latin typeface="游ゴシック" pitchFamily="34" charset="0"/>
                <a:ea typeface="游ゴシック" pitchFamily="34" charset="-122"/>
                <a:cs typeface="游ゴシック" pitchFamily="34" charset="-120"/>
              </a:rPr>
              <a:t>over・late は窓ごとに 2 </a:t>
            </a:r>
            <a:r>
              <a:rPr lang="en-US" sz="1300" dirty="0" err="1">
                <a:solidFill>
                  <a:srgbClr val="595959"/>
                </a:solidFill>
                <a:latin typeface="游ゴシック" pitchFamily="34" charset="0"/>
                <a:ea typeface="游ゴシック" pitchFamily="34" charset="-122"/>
                <a:cs typeface="游ゴシック" pitchFamily="34" charset="-120"/>
              </a:rPr>
              <a:t>回ずつ積み上がった</a:t>
            </a:r>
            <a:endParaRPr lang="en-US" sz="1300" dirty="0">
              <a:solidFill>
                <a:srgbClr val="595959"/>
              </a:solidFill>
              <a:latin typeface="游ゴシック" pitchFamily="34" charset="0"/>
              <a:ea typeface="游ゴシック" pitchFamily="34" charset="-122"/>
              <a:cs typeface="游ゴシック" pitchFamily="34" charset="-120"/>
            </a:endParaRPr>
          </a:p>
          <a:p>
            <a:pPr marL="0" indent="0">
              <a:buNone/>
            </a:pPr>
            <a:r>
              <a:rPr lang="en-US" sz="1300" dirty="0">
                <a:solidFill>
                  <a:srgbClr val="595959"/>
                </a:solidFill>
                <a:latin typeface="游ゴシック" pitchFamily="34" charset="0"/>
                <a:ea typeface="游ゴシック" pitchFamily="34" charset="-122"/>
                <a:cs typeface="游ゴシック" pitchFamily="34" charset="-120"/>
              </a:rPr>
              <a:t>（600 窓 × 2 ＝ 1,200）</a:t>
            </a:r>
            <a:endParaRPr lang="en-US" sz="1300" dirty="0"/>
          </a:p>
        </p:txBody>
      </p:sp>
      <p:sp>
        <p:nvSpPr>
          <p:cNvPr id="61" name="Text 59"/>
          <p:cNvSpPr txBox="1"/>
          <p:nvPr/>
        </p:nvSpPr>
        <p:spPr>
          <a:xfrm>
            <a:off x="457200" y="5806440"/>
            <a:ext cx="7040880" cy="685800"/>
          </a:xfrm>
          <a:prstGeom prst="rect">
            <a:avLst/>
          </a:prstGeom>
          <a:noFill/>
          <a:ln/>
        </p:spPr>
        <p:txBody>
          <a:bodyPr wrap="square" lIns="0" tIns="0" rIns="0" bIns="0" rtlCol="0" anchor="ct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推論・画面・ログは無事で、判定も ① </a:t>
            </a:r>
            <a:r>
              <a:rPr lang="en-US" sz="1700" dirty="0" err="1">
                <a:solidFill>
                  <a:srgbClr val="000000"/>
                </a:solidFill>
                <a:latin typeface="游ゴシック" pitchFamily="34" charset="0"/>
                <a:ea typeface="游ゴシック" pitchFamily="34" charset="-122"/>
                <a:cs typeface="游ゴシック" pitchFamily="34" charset="-120"/>
              </a:rPr>
              <a:t>と同じ。ヘッドホンでは</a:t>
            </a:r>
            <a:endParaRPr lang="en-US" sz="17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1700" dirty="0" err="1">
                <a:solidFill>
                  <a:srgbClr val="000000"/>
                </a:solidFill>
                <a:latin typeface="游ゴシック" pitchFamily="34" charset="0"/>
                <a:ea typeface="游ゴシック" pitchFamily="34" charset="-122"/>
                <a:cs typeface="游ゴシック" pitchFamily="34" charset="-120"/>
              </a:rPr>
              <a:t>音が途切れて聞こえる</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5-4　③ 推論を 10 倍重くすると、表示から壊れる</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1528914" y="1216152"/>
            <a:ext cx="9050694" cy="896112"/>
          </a:xfrm>
          <a:prstGeom prst="rect">
            <a:avLst/>
          </a:prstGeom>
          <a:noFill/>
          <a:ln/>
        </p:spPr>
        <p:txBody>
          <a:bodyPr wrap="square" lIns="0" tIns="0" rIns="0" bIns="0" rtlCol="0" anchor="ctr"/>
          <a:lstStyle/>
          <a:p>
            <a:pPr marL="0" indent="0">
              <a:buNone/>
            </a:pPr>
            <a:r>
              <a:rPr lang="en-US" sz="2800" b="1" dirty="0">
                <a:latin typeface="游ゴシック" pitchFamily="34" charset="0"/>
                <a:ea typeface="游ゴシック" pitchFamily="34" charset="-122"/>
                <a:cs typeface="游ゴシック" pitchFamily="34" charset="-120"/>
              </a:rPr>
              <a:t>遅れが 150 ms </a:t>
            </a:r>
            <a:r>
              <a:rPr lang="en-US" sz="2800" b="1" dirty="0" err="1">
                <a:latin typeface="游ゴシック" pitchFamily="34" charset="0"/>
                <a:ea typeface="游ゴシック" pitchFamily="34" charset="-122"/>
                <a:cs typeface="游ゴシック" pitchFamily="34" charset="-120"/>
              </a:rPr>
              <a:t>ずつ積み上がり、</a:t>
            </a:r>
            <a:r>
              <a:rPr lang="en-US" sz="2800" b="1" dirty="0" err="1">
                <a:solidFill>
                  <a:srgbClr val="FF0000"/>
                </a:solidFill>
                <a:latin typeface="游ゴシック" pitchFamily="34" charset="0"/>
                <a:ea typeface="游ゴシック" pitchFamily="34" charset="-122"/>
                <a:cs typeface="游ゴシック" pitchFamily="34" charset="-120"/>
              </a:rPr>
              <a:t>画面が</a:t>
            </a:r>
            <a:r>
              <a:rPr lang="ja-JP" altLang="en-US" sz="2800" b="1" dirty="0">
                <a:solidFill>
                  <a:srgbClr val="FF0000"/>
                </a:solidFill>
                <a:latin typeface="游ゴシック" pitchFamily="34" charset="0"/>
                <a:ea typeface="游ゴシック" pitchFamily="34" charset="-122"/>
                <a:cs typeface="游ゴシック" pitchFamily="34" charset="-120"/>
              </a:rPr>
              <a:t>停止</a:t>
            </a:r>
            <a:endParaRPr lang="en-US" altLang="ja-JP" sz="2800" b="1" dirty="0">
              <a:solidFill>
                <a:srgbClr val="FF0000"/>
              </a:solidFill>
              <a:latin typeface="游ゴシック" pitchFamily="34" charset="0"/>
              <a:ea typeface="游ゴシック" pitchFamily="34" charset="-122"/>
              <a:cs typeface="游ゴシック" pitchFamily="34" charset="-120"/>
            </a:endParaRPr>
          </a:p>
          <a:p>
            <a:pPr marL="0" indent="0">
              <a:buNone/>
            </a:pPr>
            <a:r>
              <a:rPr lang="en-US" sz="2800" b="1" dirty="0">
                <a:solidFill>
                  <a:srgbClr val="FF0000"/>
                </a:solidFill>
                <a:latin typeface="游ゴシック" pitchFamily="34" charset="0"/>
                <a:ea typeface="游ゴシック" pitchFamily="34" charset="-122"/>
                <a:cs typeface="游ゴシック" pitchFamily="34" charset="-120"/>
              </a:rPr>
              <a:t>音</a:t>
            </a:r>
            <a:r>
              <a:rPr lang="ja-JP" altLang="en-US" sz="2800" b="1" dirty="0">
                <a:solidFill>
                  <a:srgbClr val="FF0000"/>
                </a:solidFill>
                <a:latin typeface="游ゴシック" pitchFamily="34" charset="0"/>
                <a:ea typeface="游ゴシック" pitchFamily="34" charset="-122"/>
                <a:cs typeface="游ゴシック" pitchFamily="34" charset="-120"/>
              </a:rPr>
              <a:t>は流れる。</a:t>
            </a:r>
            <a:endParaRPr lang="en-US" sz="2800" dirty="0"/>
          </a:p>
        </p:txBody>
      </p:sp>
      <p:graphicFrame>
        <p:nvGraphicFramePr>
          <p:cNvPr id="5" name="Chart 0"/>
          <p:cNvGraphicFramePr/>
          <p:nvPr/>
        </p:nvGraphicFramePr>
        <p:xfrm>
          <a:off x="457200" y="2148840"/>
          <a:ext cx="6309360"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7040880" y="2148840"/>
            <a:ext cx="2286000" cy="1645920"/>
          </a:xfrm>
          <a:prstGeom prst="rect">
            <a:avLst/>
          </a:prstGeom>
          <a:solidFill>
            <a:srgbClr val="E6F4EE"/>
          </a:solidFill>
          <a:ln w="12700">
            <a:solidFill>
              <a:srgbClr val="E6F4EE"/>
            </a:solidFill>
            <a:prstDash val="solid"/>
          </a:ln>
        </p:spPr>
        <p:txBody>
          <a:bodyPr/>
          <a:lstStyle/>
          <a:p>
            <a:endParaRPr lang="ja-JP" altLang="en-US"/>
          </a:p>
        </p:txBody>
      </p:sp>
      <p:sp>
        <p:nvSpPr>
          <p:cNvPr id="7" name="Text 4"/>
          <p:cNvSpPr txBox="1"/>
          <p:nvPr/>
        </p:nvSpPr>
        <p:spPr>
          <a:xfrm>
            <a:off x="7178040" y="2240280"/>
            <a:ext cx="2011680" cy="365760"/>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音の取りこぼし</a:t>
            </a:r>
            <a:endParaRPr lang="en-US" sz="1600" dirty="0"/>
          </a:p>
        </p:txBody>
      </p:sp>
      <p:sp>
        <p:nvSpPr>
          <p:cNvPr id="8" name="Text 5"/>
          <p:cNvSpPr txBox="1"/>
          <p:nvPr/>
        </p:nvSpPr>
        <p:spPr>
          <a:xfrm>
            <a:off x="7178040" y="2606040"/>
            <a:ext cx="2011680" cy="1097280"/>
          </a:xfrm>
          <a:prstGeom prst="rect">
            <a:avLst/>
          </a:prstGeom>
          <a:noFill/>
          <a:ln/>
        </p:spPr>
        <p:txBody>
          <a:bodyPr wrap="square" lIns="0" tIns="0" rIns="0" bIns="0" rtlCol="0" anchor="ctr"/>
          <a:lstStyle/>
          <a:p>
            <a:pPr marL="0" indent="0">
              <a:buNone/>
            </a:pPr>
            <a:r>
              <a:rPr lang="en-US" sz="2800" b="1" dirty="0">
                <a:solidFill>
                  <a:srgbClr val="008A5E"/>
                </a:solidFill>
                <a:latin typeface="游ゴシック" pitchFamily="34" charset="0"/>
                <a:ea typeface="游ゴシック" pitchFamily="34" charset="-122"/>
                <a:cs typeface="游ゴシック" pitchFamily="34" charset="-120"/>
              </a:rPr>
              <a:t>0 回</a:t>
            </a:r>
            <a:endParaRPr lang="en-US" sz="2800" dirty="0"/>
          </a:p>
        </p:txBody>
      </p:sp>
      <p:sp>
        <p:nvSpPr>
          <p:cNvPr id="9" name="Shape 6"/>
          <p:cNvSpPr/>
          <p:nvPr/>
        </p:nvSpPr>
        <p:spPr>
          <a:xfrm>
            <a:off x="9436608" y="2148840"/>
            <a:ext cx="2286000" cy="1645920"/>
          </a:xfrm>
          <a:prstGeom prst="rect">
            <a:avLst/>
          </a:prstGeom>
          <a:solidFill>
            <a:srgbClr val="FDECEC"/>
          </a:solidFill>
          <a:ln w="12700">
            <a:solidFill>
              <a:srgbClr val="FDECEC"/>
            </a:solidFill>
            <a:prstDash val="solid"/>
          </a:ln>
        </p:spPr>
        <p:txBody>
          <a:bodyPr/>
          <a:lstStyle/>
          <a:p>
            <a:endParaRPr lang="ja-JP" altLang="en-US"/>
          </a:p>
        </p:txBody>
      </p:sp>
      <p:sp>
        <p:nvSpPr>
          <p:cNvPr id="10" name="Text 7"/>
          <p:cNvSpPr txBox="1"/>
          <p:nvPr/>
        </p:nvSpPr>
        <p:spPr>
          <a:xfrm>
            <a:off x="9573768" y="2240280"/>
            <a:ext cx="2011680" cy="365760"/>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消えた窓</a:t>
            </a:r>
            <a:endParaRPr lang="en-US" sz="1600" dirty="0"/>
          </a:p>
        </p:txBody>
      </p:sp>
      <p:sp>
        <p:nvSpPr>
          <p:cNvPr id="11" name="Text 8"/>
          <p:cNvSpPr txBox="1"/>
          <p:nvPr/>
        </p:nvSpPr>
        <p:spPr>
          <a:xfrm>
            <a:off x="9573768" y="2606040"/>
            <a:ext cx="2011680" cy="1097280"/>
          </a:xfrm>
          <a:prstGeom prst="rect">
            <a:avLst/>
          </a:prstGeom>
          <a:noFill/>
          <a:ln/>
        </p:spPr>
        <p:txBody>
          <a:bodyPr wrap="square" lIns="0" tIns="0" rIns="0" bIns="0" rtlCol="0" anchor="ctr"/>
          <a:lstStyle/>
          <a:p>
            <a:pPr marL="0" indent="0">
              <a:buNone/>
            </a:pPr>
            <a:r>
              <a:rPr lang="en-US" sz="2800" b="1" dirty="0">
                <a:solidFill>
                  <a:srgbClr val="C00000"/>
                </a:solidFill>
                <a:latin typeface="游ゴシック" pitchFamily="34" charset="0"/>
                <a:ea typeface="游ゴシック" pitchFamily="34" charset="-122"/>
                <a:cs typeface="游ゴシック" pitchFamily="34" charset="-120"/>
              </a:rPr>
              <a:t>13%</a:t>
            </a:r>
            <a:endParaRPr lang="en-US" sz="2800" dirty="0"/>
          </a:p>
        </p:txBody>
      </p:sp>
      <p:sp>
        <p:nvSpPr>
          <p:cNvPr id="12" name="Shape 9"/>
          <p:cNvSpPr/>
          <p:nvPr/>
        </p:nvSpPr>
        <p:spPr>
          <a:xfrm>
            <a:off x="7040880" y="3931920"/>
            <a:ext cx="2286000" cy="1645920"/>
          </a:xfrm>
          <a:prstGeom prst="rect">
            <a:avLst/>
          </a:prstGeom>
          <a:solidFill>
            <a:srgbClr val="FDECEC"/>
          </a:solidFill>
          <a:ln w="12700">
            <a:solidFill>
              <a:srgbClr val="FDECEC"/>
            </a:solidFill>
            <a:prstDash val="solid"/>
          </a:ln>
        </p:spPr>
        <p:txBody>
          <a:bodyPr/>
          <a:lstStyle/>
          <a:p>
            <a:endParaRPr lang="ja-JP" altLang="en-US"/>
          </a:p>
        </p:txBody>
      </p:sp>
      <p:sp>
        <p:nvSpPr>
          <p:cNvPr id="13" name="Text 10"/>
          <p:cNvSpPr txBox="1"/>
          <p:nvPr/>
        </p:nvSpPr>
        <p:spPr>
          <a:xfrm>
            <a:off x="7178040" y="4023360"/>
            <a:ext cx="2011680" cy="365760"/>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捨てたログ</a:t>
            </a:r>
            <a:endParaRPr lang="en-US" sz="1600" dirty="0"/>
          </a:p>
        </p:txBody>
      </p:sp>
      <p:sp>
        <p:nvSpPr>
          <p:cNvPr id="14" name="Text 11"/>
          <p:cNvSpPr txBox="1"/>
          <p:nvPr/>
        </p:nvSpPr>
        <p:spPr>
          <a:xfrm>
            <a:off x="7178040" y="4389120"/>
            <a:ext cx="2011680" cy="1097280"/>
          </a:xfrm>
          <a:prstGeom prst="rect">
            <a:avLst/>
          </a:prstGeom>
          <a:noFill/>
          <a:ln/>
        </p:spPr>
        <p:txBody>
          <a:bodyPr wrap="square" lIns="0" tIns="0" rIns="0" bIns="0" rtlCol="0" anchor="ctr"/>
          <a:lstStyle/>
          <a:p>
            <a:pPr marL="0" indent="0">
              <a:buNone/>
            </a:pPr>
            <a:r>
              <a:rPr lang="en-US" sz="2800" b="1" dirty="0">
                <a:solidFill>
                  <a:srgbClr val="C00000"/>
                </a:solidFill>
                <a:latin typeface="游ゴシック" pitchFamily="34" charset="0"/>
                <a:ea typeface="游ゴシック" pitchFamily="34" charset="-122"/>
                <a:cs typeface="游ゴシック" pitchFamily="34" charset="-120"/>
              </a:rPr>
              <a:t>93%</a:t>
            </a:r>
            <a:endParaRPr lang="en-US" sz="2800" dirty="0"/>
          </a:p>
        </p:txBody>
      </p:sp>
      <p:sp>
        <p:nvSpPr>
          <p:cNvPr id="15" name="Shape 12"/>
          <p:cNvSpPr/>
          <p:nvPr/>
        </p:nvSpPr>
        <p:spPr>
          <a:xfrm>
            <a:off x="9436608" y="3931920"/>
            <a:ext cx="2286000" cy="1645920"/>
          </a:xfrm>
          <a:prstGeom prst="rect">
            <a:avLst/>
          </a:prstGeom>
          <a:solidFill>
            <a:srgbClr val="FDECEC"/>
          </a:solidFill>
          <a:ln w="12700">
            <a:solidFill>
              <a:srgbClr val="FDECEC"/>
            </a:solidFill>
            <a:prstDash val="solid"/>
          </a:ln>
        </p:spPr>
        <p:txBody>
          <a:bodyPr/>
          <a:lstStyle/>
          <a:p>
            <a:endParaRPr lang="ja-JP" altLang="en-US"/>
          </a:p>
        </p:txBody>
      </p:sp>
      <p:sp>
        <p:nvSpPr>
          <p:cNvPr id="16" name="Text 13"/>
          <p:cNvSpPr txBox="1"/>
          <p:nvPr/>
        </p:nvSpPr>
        <p:spPr>
          <a:xfrm>
            <a:off x="9573768" y="4023360"/>
            <a:ext cx="2011680" cy="365760"/>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画面</a:t>
            </a:r>
            <a:endParaRPr lang="en-US" sz="1600" dirty="0"/>
          </a:p>
        </p:txBody>
      </p:sp>
      <p:sp>
        <p:nvSpPr>
          <p:cNvPr id="17" name="Text 14"/>
          <p:cNvSpPr txBox="1"/>
          <p:nvPr/>
        </p:nvSpPr>
        <p:spPr>
          <a:xfrm>
            <a:off x="9573768" y="4389120"/>
            <a:ext cx="2011680" cy="1097280"/>
          </a:xfrm>
          <a:prstGeom prst="rect">
            <a:avLst/>
          </a:prstGeom>
          <a:noFill/>
          <a:ln/>
        </p:spPr>
        <p:txBody>
          <a:bodyPr wrap="square" lIns="0" tIns="0" rIns="0" bIns="0" rtlCol="0" anchor="ctr"/>
          <a:lstStyle/>
          <a:p>
            <a:pPr marL="0" indent="0">
              <a:buNone/>
            </a:pPr>
            <a:r>
              <a:rPr lang="en-US" sz="2800" b="1" dirty="0">
                <a:solidFill>
                  <a:srgbClr val="C00000"/>
                </a:solidFill>
                <a:latin typeface="游ゴシック" pitchFamily="34" charset="0"/>
                <a:ea typeface="游ゴシック" pitchFamily="34" charset="-122"/>
                <a:cs typeface="游ゴシック" pitchFamily="34" charset="-120"/>
              </a:rPr>
              <a:t>10 分停止</a:t>
            </a:r>
            <a:endParaRPr lang="en-US" sz="2800" dirty="0"/>
          </a:p>
        </p:txBody>
      </p:sp>
      <p:sp>
        <p:nvSpPr>
          <p:cNvPr id="18" name="Text 15"/>
          <p:cNvSpPr txBox="1"/>
          <p:nvPr/>
        </p:nvSpPr>
        <p:spPr>
          <a:xfrm>
            <a:off x="457200" y="5715000"/>
            <a:ext cx="11274552" cy="822960"/>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1 窓に 1,103 ms かかり、周期 960 ms を超える。優先度の低いログと画面は 598 </a:t>
            </a:r>
            <a:r>
              <a:rPr lang="en-US" sz="1600" dirty="0" err="1">
                <a:solidFill>
                  <a:srgbClr val="000000"/>
                </a:solidFill>
                <a:latin typeface="游ゴシック" pitchFamily="34" charset="0"/>
                <a:ea typeface="游ゴシック" pitchFamily="34" charset="-122"/>
                <a:cs typeface="游ゴシック" pitchFamily="34" charset="-120"/>
              </a:rPr>
              <a:t>秒間一度も動けず</a:t>
            </a:r>
            <a:r>
              <a:rPr lang="en-US" sz="1600" dirty="0">
                <a:solidFill>
                  <a:srgbClr val="000000"/>
                </a:solidFill>
                <a:latin typeface="游ゴシック" pitchFamily="34" charset="0"/>
                <a:ea typeface="游ゴシック" pitchFamily="34" charset="-122"/>
                <a:cs typeface="游ゴシック" pitchFamily="34" charset="-120"/>
              </a:rPr>
              <a:t>、</a:t>
            </a:r>
          </a:p>
          <a:p>
            <a:pPr marL="0" indent="0">
              <a:buNone/>
            </a:pPr>
            <a:r>
              <a:rPr lang="en-US" sz="1600" dirty="0" err="1">
                <a:solidFill>
                  <a:srgbClr val="000000"/>
                </a:solidFill>
                <a:latin typeface="游ゴシック" pitchFamily="34" charset="0"/>
                <a:ea typeface="游ゴシック" pitchFamily="34" charset="-122"/>
                <a:cs typeface="游ゴシック" pitchFamily="34" charset="-120"/>
              </a:rPr>
              <a:t>推論が止まった瞬間に溜まった分が一気に流れた。音のタスクは上にいるので、周期どおり動き続けた</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6　実験 2：長時間運転（1 時間）</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Shape 2"/>
          <p:cNvSpPr/>
          <p:nvPr/>
        </p:nvSpPr>
        <p:spPr>
          <a:xfrm>
            <a:off x="0" y="1051560"/>
            <a:ext cx="12191695" cy="1097280"/>
          </a:xfrm>
          <a:prstGeom prst="rect">
            <a:avLst/>
          </a:prstGeom>
          <a:solidFill>
            <a:srgbClr val="DDEBF3"/>
          </a:solidFill>
          <a:ln w="12700">
            <a:solidFill>
              <a:srgbClr val="DDEBF3"/>
            </a:solidFill>
            <a:prstDash val="solid"/>
          </a:ln>
        </p:spPr>
        <p:txBody>
          <a:bodyPr/>
          <a:lstStyle/>
          <a:p>
            <a:endParaRPr lang="ja-JP" altLang="en-US"/>
          </a:p>
        </p:txBody>
      </p:sp>
      <p:sp>
        <p:nvSpPr>
          <p:cNvPr id="5" name="Text 3"/>
          <p:cNvSpPr txBox="1"/>
          <p:nvPr/>
        </p:nvSpPr>
        <p:spPr>
          <a:xfrm>
            <a:off x="457200" y="1097280"/>
            <a:ext cx="11274552" cy="1005840"/>
          </a:xfrm>
          <a:prstGeom prst="rect">
            <a:avLst/>
          </a:prstGeom>
          <a:noFill/>
          <a:ln/>
        </p:spPr>
        <p:txBody>
          <a:bodyPr wrap="square" lIns="0" tIns="0" rIns="0" bIns="0" rtlCol="0" anchor="ctr"/>
          <a:lstStyle/>
          <a:p>
            <a:pPr marL="0" indent="0">
              <a:buNone/>
            </a:pPr>
            <a:r>
              <a:rPr lang="en-US" sz="2800" b="1" dirty="0">
                <a:solidFill>
                  <a:srgbClr val="FF0000"/>
                </a:solidFill>
                <a:latin typeface="游ゴシック" pitchFamily="34" charset="0"/>
                <a:ea typeface="游ゴシック" pitchFamily="34" charset="-122"/>
                <a:cs typeface="游ゴシック" pitchFamily="34" charset="-120"/>
              </a:rPr>
              <a:t>1 </a:t>
            </a:r>
            <a:r>
              <a:rPr lang="en-US" sz="2800" b="1" dirty="0" err="1">
                <a:solidFill>
                  <a:srgbClr val="FF0000"/>
                </a:solidFill>
                <a:latin typeface="游ゴシック" pitchFamily="34" charset="0"/>
                <a:ea typeface="游ゴシック" pitchFamily="34" charset="-122"/>
                <a:cs typeface="游ゴシック" pitchFamily="34" charset="-120"/>
              </a:rPr>
              <a:t>時間、音もログも画面も一つも落とさなかった</a:t>
            </a:r>
            <a:r>
              <a:rPr lang="en-US" sz="2800" b="1" dirty="0">
                <a:solidFill>
                  <a:srgbClr val="FF0000"/>
                </a:solidFill>
                <a:latin typeface="游ゴシック" pitchFamily="34" charset="0"/>
                <a:ea typeface="游ゴシック" pitchFamily="34" charset="-122"/>
                <a:cs typeface="游ゴシック" pitchFamily="34" charset="-120"/>
              </a:rPr>
              <a:t>。</a:t>
            </a:r>
          </a:p>
          <a:p>
            <a:pPr marL="0" indent="0">
              <a:buNone/>
            </a:pPr>
            <a:r>
              <a:rPr lang="en-US" sz="2800" b="1" dirty="0" err="1">
                <a:latin typeface="游ゴシック" pitchFamily="34" charset="0"/>
                <a:ea typeface="游ゴシック" pitchFamily="34" charset="-122"/>
                <a:cs typeface="游ゴシック" pitchFamily="34" charset="-120"/>
              </a:rPr>
              <a:t>誤報は</a:t>
            </a:r>
            <a:r>
              <a:rPr lang="en-US" sz="2800" b="1" dirty="0">
                <a:latin typeface="游ゴシック" pitchFamily="34" charset="0"/>
                <a:ea typeface="游ゴシック" pitchFamily="34" charset="-122"/>
                <a:cs typeface="游ゴシック" pitchFamily="34" charset="-120"/>
              </a:rPr>
              <a:t> 1,216 → 3.5 件/時に減らした</a:t>
            </a:r>
            <a:endParaRPr lang="en-US" sz="2800" dirty="0"/>
          </a:p>
        </p:txBody>
      </p:sp>
      <p:sp>
        <p:nvSpPr>
          <p:cNvPr id="6" name="Text 4"/>
          <p:cNvSpPr txBox="1"/>
          <p:nvPr/>
        </p:nvSpPr>
        <p:spPr>
          <a:xfrm>
            <a:off x="457200" y="6217920"/>
            <a:ext cx="1234440" cy="420624"/>
          </a:xfrm>
          <a:prstGeom prst="rect">
            <a:avLst/>
          </a:prstGeom>
          <a:noFill/>
          <a:ln/>
        </p:spPr>
        <p:txBody>
          <a:bodyPr wrap="square" lIns="0" tIns="0" rIns="0" bIns="0" rtlCol="0" anchor="ctr"/>
          <a:lstStyle/>
          <a:p>
            <a:pPr marL="0" indent="0">
              <a:buNone/>
            </a:pPr>
            <a:r>
              <a:rPr lang="en-US" sz="1300" dirty="0">
                <a:solidFill>
                  <a:srgbClr val="595959"/>
                </a:solidFill>
                <a:latin typeface="游ゴシック" pitchFamily="34" charset="0"/>
                <a:ea typeface="游ゴシック" pitchFamily="34" charset="-122"/>
                <a:cs typeface="游ゴシック" pitchFamily="34" charset="-120"/>
              </a:rPr>
              <a:t>この章の流れ</a:t>
            </a:r>
            <a:endParaRPr lang="en-US" sz="1300" dirty="0"/>
          </a:p>
        </p:txBody>
      </p:sp>
      <p:sp>
        <p:nvSpPr>
          <p:cNvPr id="7" name="Shape 5"/>
          <p:cNvSpPr/>
          <p:nvPr/>
        </p:nvSpPr>
        <p:spPr>
          <a:xfrm>
            <a:off x="1737360" y="6217920"/>
            <a:ext cx="3136392" cy="420624"/>
          </a:xfrm>
          <a:prstGeom prst="rect">
            <a:avLst/>
          </a:prstGeom>
          <a:solidFill>
            <a:srgbClr val="FFFFFF"/>
          </a:solidFill>
          <a:ln w="15875">
            <a:solidFill>
              <a:srgbClr val="156082"/>
            </a:solidFill>
            <a:prstDash val="solid"/>
          </a:ln>
        </p:spPr>
        <p:txBody>
          <a:bodyPr/>
          <a:lstStyle/>
          <a:p>
            <a:endParaRPr lang="ja-JP" altLang="en-US"/>
          </a:p>
        </p:txBody>
      </p:sp>
      <p:sp>
        <p:nvSpPr>
          <p:cNvPr id="8" name="Text 6"/>
          <p:cNvSpPr txBox="1"/>
          <p:nvPr/>
        </p:nvSpPr>
        <p:spPr>
          <a:xfrm>
            <a:off x="1783080" y="6217920"/>
            <a:ext cx="30449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6-1 1 時間の結果</a:t>
            </a:r>
            <a:endParaRPr lang="en-US" sz="1400" dirty="0"/>
          </a:p>
        </p:txBody>
      </p:sp>
      <p:sp>
        <p:nvSpPr>
          <p:cNvPr id="9" name="Shape 7"/>
          <p:cNvSpPr/>
          <p:nvPr/>
        </p:nvSpPr>
        <p:spPr>
          <a:xfrm>
            <a:off x="494690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10" name="Shape 8"/>
          <p:cNvSpPr/>
          <p:nvPr/>
        </p:nvSpPr>
        <p:spPr>
          <a:xfrm>
            <a:off x="5166360" y="6217920"/>
            <a:ext cx="3136392" cy="420624"/>
          </a:xfrm>
          <a:prstGeom prst="rect">
            <a:avLst/>
          </a:prstGeom>
          <a:solidFill>
            <a:srgbClr val="FFFFFF"/>
          </a:solidFill>
          <a:ln w="15875">
            <a:solidFill>
              <a:srgbClr val="156082"/>
            </a:solidFill>
            <a:prstDash val="solid"/>
          </a:ln>
        </p:spPr>
        <p:txBody>
          <a:bodyPr/>
          <a:lstStyle/>
          <a:p>
            <a:endParaRPr lang="ja-JP" altLang="en-US"/>
          </a:p>
        </p:txBody>
      </p:sp>
      <p:sp>
        <p:nvSpPr>
          <p:cNvPr id="11" name="Text 9"/>
          <p:cNvSpPr txBox="1"/>
          <p:nvPr/>
        </p:nvSpPr>
        <p:spPr>
          <a:xfrm>
            <a:off x="5212080" y="6217920"/>
            <a:ext cx="30449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6-2 誤報の原因と対策</a:t>
            </a:r>
            <a:endParaRPr lang="en-US" sz="1400" dirty="0"/>
          </a:p>
        </p:txBody>
      </p:sp>
      <p:sp>
        <p:nvSpPr>
          <p:cNvPr id="12" name="Shape 10"/>
          <p:cNvSpPr/>
          <p:nvPr/>
        </p:nvSpPr>
        <p:spPr>
          <a:xfrm>
            <a:off x="837590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13" name="Shape 11"/>
          <p:cNvSpPr/>
          <p:nvPr/>
        </p:nvSpPr>
        <p:spPr>
          <a:xfrm>
            <a:off x="8595360" y="6217920"/>
            <a:ext cx="3136392" cy="420624"/>
          </a:xfrm>
          <a:prstGeom prst="rect">
            <a:avLst/>
          </a:prstGeom>
          <a:solidFill>
            <a:srgbClr val="FFFFFF"/>
          </a:solidFill>
          <a:ln w="15875">
            <a:solidFill>
              <a:srgbClr val="156082"/>
            </a:solidFill>
            <a:prstDash val="solid"/>
          </a:ln>
        </p:spPr>
        <p:txBody>
          <a:bodyPr/>
          <a:lstStyle/>
          <a:p>
            <a:endParaRPr lang="ja-JP" altLang="en-US"/>
          </a:p>
        </p:txBody>
      </p:sp>
      <p:sp>
        <p:nvSpPr>
          <p:cNvPr id="14" name="Text 12"/>
          <p:cNvSpPr txBox="1"/>
          <p:nvPr/>
        </p:nvSpPr>
        <p:spPr>
          <a:xfrm>
            <a:off x="8641080" y="6217920"/>
            <a:ext cx="30449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6-3 対策の効き目</a:t>
            </a:r>
            <a:endParaRPr lang="en-US" sz="1400" dirty="0"/>
          </a:p>
        </p:txBody>
      </p:sp>
      <p:sp>
        <p:nvSpPr>
          <p:cNvPr id="15" name="Shape 13"/>
          <p:cNvSpPr/>
          <p:nvPr/>
        </p:nvSpPr>
        <p:spPr>
          <a:xfrm>
            <a:off x="457200" y="2331720"/>
            <a:ext cx="2697480" cy="1737360"/>
          </a:xfrm>
          <a:prstGeom prst="rect">
            <a:avLst/>
          </a:prstGeom>
          <a:solidFill>
            <a:srgbClr val="E6F4EE"/>
          </a:solidFill>
          <a:ln w="12700">
            <a:solidFill>
              <a:srgbClr val="E6F4EE"/>
            </a:solidFill>
            <a:prstDash val="solid"/>
          </a:ln>
        </p:spPr>
        <p:txBody>
          <a:bodyPr/>
          <a:lstStyle/>
          <a:p>
            <a:endParaRPr lang="ja-JP" altLang="en-US"/>
          </a:p>
        </p:txBody>
      </p:sp>
      <p:sp>
        <p:nvSpPr>
          <p:cNvPr id="16" name="Text 14"/>
          <p:cNvSpPr txBox="1"/>
          <p:nvPr/>
        </p:nvSpPr>
        <p:spPr>
          <a:xfrm>
            <a:off x="594360" y="2423160"/>
            <a:ext cx="2423160" cy="365760"/>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音の取りこぼし</a:t>
            </a:r>
            <a:endParaRPr lang="en-US" sz="1600" dirty="0"/>
          </a:p>
        </p:txBody>
      </p:sp>
      <p:sp>
        <p:nvSpPr>
          <p:cNvPr id="17" name="Text 15"/>
          <p:cNvSpPr txBox="1"/>
          <p:nvPr/>
        </p:nvSpPr>
        <p:spPr>
          <a:xfrm>
            <a:off x="594360" y="2788920"/>
            <a:ext cx="2423160" cy="1188720"/>
          </a:xfrm>
          <a:prstGeom prst="rect">
            <a:avLst/>
          </a:prstGeom>
          <a:noFill/>
          <a:ln/>
        </p:spPr>
        <p:txBody>
          <a:bodyPr wrap="square" lIns="0" tIns="0" rIns="0" bIns="0" rtlCol="0" anchor="ctr"/>
          <a:lstStyle/>
          <a:p>
            <a:pPr marL="0" indent="0" algn="ctr">
              <a:buNone/>
            </a:pPr>
            <a:r>
              <a:rPr lang="en-US" sz="3000" b="1" dirty="0">
                <a:solidFill>
                  <a:srgbClr val="008A5E"/>
                </a:solidFill>
                <a:latin typeface="游ゴシック" pitchFamily="34" charset="0"/>
                <a:ea typeface="游ゴシック" pitchFamily="34" charset="-122"/>
                <a:cs typeface="游ゴシック" pitchFamily="34" charset="-120"/>
              </a:rPr>
              <a:t>0 回</a:t>
            </a:r>
            <a:endParaRPr lang="en-US" sz="3000" dirty="0"/>
          </a:p>
        </p:txBody>
      </p:sp>
      <p:sp>
        <p:nvSpPr>
          <p:cNvPr id="18" name="Shape 16"/>
          <p:cNvSpPr/>
          <p:nvPr/>
        </p:nvSpPr>
        <p:spPr>
          <a:xfrm>
            <a:off x="3273552" y="2331720"/>
            <a:ext cx="2697480" cy="1737360"/>
          </a:xfrm>
          <a:prstGeom prst="rect">
            <a:avLst/>
          </a:prstGeom>
          <a:solidFill>
            <a:srgbClr val="E6F4EE"/>
          </a:solidFill>
          <a:ln w="12700">
            <a:solidFill>
              <a:srgbClr val="E6F4EE"/>
            </a:solidFill>
            <a:prstDash val="solid"/>
          </a:ln>
        </p:spPr>
        <p:txBody>
          <a:bodyPr/>
          <a:lstStyle/>
          <a:p>
            <a:endParaRPr lang="ja-JP" altLang="en-US"/>
          </a:p>
        </p:txBody>
      </p:sp>
      <p:sp>
        <p:nvSpPr>
          <p:cNvPr id="19" name="Text 17"/>
          <p:cNvSpPr txBox="1"/>
          <p:nvPr/>
        </p:nvSpPr>
        <p:spPr>
          <a:xfrm>
            <a:off x="3410712" y="2423160"/>
            <a:ext cx="2423160" cy="365760"/>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推論できなかった窓</a:t>
            </a:r>
            <a:endParaRPr lang="en-US" sz="1600" dirty="0"/>
          </a:p>
        </p:txBody>
      </p:sp>
      <p:sp>
        <p:nvSpPr>
          <p:cNvPr id="20" name="Text 18"/>
          <p:cNvSpPr txBox="1"/>
          <p:nvPr/>
        </p:nvSpPr>
        <p:spPr>
          <a:xfrm>
            <a:off x="3410712" y="2788920"/>
            <a:ext cx="2423160" cy="1188720"/>
          </a:xfrm>
          <a:prstGeom prst="rect">
            <a:avLst/>
          </a:prstGeom>
          <a:noFill/>
          <a:ln/>
        </p:spPr>
        <p:txBody>
          <a:bodyPr wrap="square" lIns="0" tIns="0" rIns="0" bIns="0" rtlCol="0" anchor="ctr"/>
          <a:lstStyle/>
          <a:p>
            <a:pPr marL="0" indent="0" algn="ctr">
              <a:buNone/>
            </a:pPr>
            <a:r>
              <a:rPr lang="en-US" sz="3000" b="1" dirty="0">
                <a:solidFill>
                  <a:srgbClr val="008A5E"/>
                </a:solidFill>
                <a:latin typeface="游ゴシック" pitchFamily="34" charset="0"/>
                <a:ea typeface="游ゴシック" pitchFamily="34" charset="-122"/>
                <a:cs typeface="游ゴシック" pitchFamily="34" charset="-120"/>
              </a:rPr>
              <a:t>0 / 3,854</a:t>
            </a:r>
            <a:endParaRPr lang="en-US" sz="3000" dirty="0"/>
          </a:p>
        </p:txBody>
      </p:sp>
      <p:sp>
        <p:nvSpPr>
          <p:cNvPr id="21" name="Shape 19"/>
          <p:cNvSpPr/>
          <p:nvPr/>
        </p:nvSpPr>
        <p:spPr>
          <a:xfrm>
            <a:off x="457200" y="4206240"/>
            <a:ext cx="2697480" cy="1737360"/>
          </a:xfrm>
          <a:prstGeom prst="rect">
            <a:avLst/>
          </a:prstGeom>
          <a:solidFill>
            <a:srgbClr val="E6F4EE"/>
          </a:solidFill>
          <a:ln w="12700">
            <a:solidFill>
              <a:srgbClr val="E6F4EE"/>
            </a:solidFill>
            <a:prstDash val="solid"/>
          </a:ln>
        </p:spPr>
        <p:txBody>
          <a:bodyPr/>
          <a:lstStyle/>
          <a:p>
            <a:endParaRPr lang="ja-JP" altLang="en-US"/>
          </a:p>
        </p:txBody>
      </p:sp>
      <p:sp>
        <p:nvSpPr>
          <p:cNvPr id="22" name="Text 20"/>
          <p:cNvSpPr txBox="1"/>
          <p:nvPr/>
        </p:nvSpPr>
        <p:spPr>
          <a:xfrm>
            <a:off x="594360" y="4297680"/>
            <a:ext cx="2423160" cy="365760"/>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ログ 24,238 行</a:t>
            </a:r>
            <a:endParaRPr lang="en-US" sz="1600" dirty="0"/>
          </a:p>
        </p:txBody>
      </p:sp>
      <p:sp>
        <p:nvSpPr>
          <p:cNvPr id="23" name="Text 21"/>
          <p:cNvSpPr txBox="1"/>
          <p:nvPr/>
        </p:nvSpPr>
        <p:spPr>
          <a:xfrm>
            <a:off x="594360" y="4663440"/>
            <a:ext cx="2423160" cy="1188720"/>
          </a:xfrm>
          <a:prstGeom prst="rect">
            <a:avLst/>
          </a:prstGeom>
          <a:noFill/>
          <a:ln/>
        </p:spPr>
        <p:txBody>
          <a:bodyPr wrap="square" lIns="0" tIns="0" rIns="0" bIns="0" rtlCol="0" anchor="ctr"/>
          <a:lstStyle/>
          <a:p>
            <a:pPr marL="0" indent="0" algn="ctr">
              <a:buNone/>
            </a:pPr>
            <a:r>
              <a:rPr lang="en-US" sz="3000" b="1" dirty="0">
                <a:solidFill>
                  <a:srgbClr val="008A5E"/>
                </a:solidFill>
                <a:latin typeface="游ゴシック" pitchFamily="34" charset="0"/>
                <a:ea typeface="游ゴシック" pitchFamily="34" charset="-122"/>
                <a:cs typeface="游ゴシック" pitchFamily="34" charset="-120"/>
              </a:rPr>
              <a:t>欠け 0</a:t>
            </a:r>
            <a:endParaRPr lang="en-US" sz="3000" dirty="0"/>
          </a:p>
        </p:txBody>
      </p:sp>
      <p:sp>
        <p:nvSpPr>
          <p:cNvPr id="24" name="Shape 22"/>
          <p:cNvSpPr/>
          <p:nvPr/>
        </p:nvSpPr>
        <p:spPr>
          <a:xfrm>
            <a:off x="3273552" y="4206240"/>
            <a:ext cx="2697480" cy="1737360"/>
          </a:xfrm>
          <a:prstGeom prst="rect">
            <a:avLst/>
          </a:prstGeom>
          <a:solidFill>
            <a:srgbClr val="E6F4EE"/>
          </a:solidFill>
          <a:ln w="12700">
            <a:solidFill>
              <a:srgbClr val="E6F4EE"/>
            </a:solidFill>
            <a:prstDash val="solid"/>
          </a:ln>
        </p:spPr>
        <p:txBody>
          <a:bodyPr/>
          <a:lstStyle/>
          <a:p>
            <a:endParaRPr lang="ja-JP" altLang="en-US"/>
          </a:p>
        </p:txBody>
      </p:sp>
      <p:sp>
        <p:nvSpPr>
          <p:cNvPr id="25" name="Text 23"/>
          <p:cNvSpPr txBox="1"/>
          <p:nvPr/>
        </p:nvSpPr>
        <p:spPr>
          <a:xfrm>
            <a:off x="3410712" y="4297680"/>
            <a:ext cx="2423160" cy="365760"/>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画面の更新 83 回</a:t>
            </a:r>
            <a:endParaRPr lang="en-US" sz="1600" dirty="0"/>
          </a:p>
        </p:txBody>
      </p:sp>
      <p:sp>
        <p:nvSpPr>
          <p:cNvPr id="26" name="Text 24"/>
          <p:cNvSpPr txBox="1"/>
          <p:nvPr/>
        </p:nvSpPr>
        <p:spPr>
          <a:xfrm>
            <a:off x="3410712" y="4663440"/>
            <a:ext cx="2423160" cy="1188720"/>
          </a:xfrm>
          <a:prstGeom prst="rect">
            <a:avLst/>
          </a:prstGeom>
          <a:noFill/>
          <a:ln/>
        </p:spPr>
        <p:txBody>
          <a:bodyPr wrap="square" lIns="0" tIns="0" rIns="0" bIns="0" rtlCol="0" anchor="ctr"/>
          <a:lstStyle/>
          <a:p>
            <a:pPr marL="0" indent="0" algn="ctr">
              <a:buNone/>
            </a:pPr>
            <a:r>
              <a:rPr lang="en-US" sz="3000" b="1" dirty="0">
                <a:solidFill>
                  <a:srgbClr val="008A5E"/>
                </a:solidFill>
                <a:latin typeface="游ゴシック" pitchFamily="34" charset="0"/>
                <a:ea typeface="游ゴシック" pitchFamily="34" charset="-122"/>
                <a:cs typeface="游ゴシック" pitchFamily="34" charset="-120"/>
              </a:rPr>
              <a:t>欠け 0</a:t>
            </a:r>
            <a:endParaRPr lang="en-US" sz="3000" dirty="0"/>
          </a:p>
        </p:txBody>
      </p:sp>
      <p:graphicFrame>
        <p:nvGraphicFramePr>
          <p:cNvPr id="27" name="Chart 0"/>
          <p:cNvGraphicFramePr/>
          <p:nvPr/>
        </p:nvGraphicFramePr>
        <p:xfrm>
          <a:off x="6309360" y="2286000"/>
          <a:ext cx="5422392" cy="379476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6-1　1 時間の結果</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t"/>
          <a:lstStyle/>
          <a:p>
            <a:pPr marL="0" indent="0">
              <a:buNone/>
            </a:pPr>
            <a:r>
              <a:rPr lang="en-US" sz="2800" b="1" dirty="0">
                <a:solidFill>
                  <a:srgbClr val="FF0000"/>
                </a:solidFill>
                <a:latin typeface="游ゴシック" pitchFamily="34" charset="0"/>
                <a:ea typeface="游ゴシック" pitchFamily="34" charset="-122"/>
                <a:cs typeface="游ゴシック" pitchFamily="34" charset="-120"/>
              </a:rPr>
              <a:t>基盤は 1 </a:t>
            </a:r>
            <a:r>
              <a:rPr lang="en-US" sz="2800" b="1" dirty="0" err="1">
                <a:solidFill>
                  <a:srgbClr val="FF0000"/>
                </a:solidFill>
                <a:latin typeface="游ゴシック" pitchFamily="34" charset="0"/>
                <a:ea typeface="游ゴシック" pitchFamily="34" charset="-122"/>
                <a:cs typeface="游ゴシック" pitchFamily="34" charset="-120"/>
              </a:rPr>
              <a:t>時間まったく劣化しない</a:t>
            </a:r>
            <a:r>
              <a:rPr lang="en-US" sz="2800" b="1" dirty="0">
                <a:solidFill>
                  <a:srgbClr val="FF0000"/>
                </a:solidFill>
                <a:latin typeface="游ゴシック" pitchFamily="34" charset="0"/>
                <a:ea typeface="游ゴシック" pitchFamily="34" charset="-122"/>
                <a:cs typeface="游ゴシック" pitchFamily="34" charset="-120"/>
              </a:rPr>
              <a:t>。</a:t>
            </a:r>
          </a:p>
          <a:p>
            <a:pPr marL="0" indent="0">
              <a:buNone/>
            </a:pPr>
            <a:r>
              <a:rPr lang="en-US" sz="2800" b="1" dirty="0" err="1">
                <a:solidFill>
                  <a:srgbClr val="0070C0"/>
                </a:solidFill>
                <a:latin typeface="游ゴシック" pitchFamily="34" charset="0"/>
                <a:ea typeface="游ゴシック" pitchFamily="34" charset="-122"/>
                <a:cs typeface="游ゴシック" pitchFamily="34" charset="-120"/>
              </a:rPr>
              <a:t>一方で誤報が</a:t>
            </a:r>
            <a:r>
              <a:rPr lang="en-US" sz="2800" b="1" dirty="0">
                <a:solidFill>
                  <a:srgbClr val="0070C0"/>
                </a:solidFill>
                <a:latin typeface="游ゴシック" pitchFamily="34" charset="0"/>
                <a:ea typeface="游ゴシック" pitchFamily="34" charset="-122"/>
                <a:cs typeface="游ゴシック" pitchFamily="34" charset="-120"/>
              </a:rPr>
              <a:t> 80 件/時出た</a:t>
            </a:r>
            <a:endParaRPr lang="en-US" sz="2800" dirty="0">
              <a:solidFill>
                <a:srgbClr val="0070C0"/>
              </a:solidFill>
            </a:endParaRPr>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2194560"/>
          <a:ext cx="6766560" cy="3200400"/>
        </p:xfrm>
        <a:graphic>
          <a:graphicData uri="http://schemas.openxmlformats.org/drawingml/2006/table">
            <a:tbl>
              <a:tblPr/>
              <a:tblGrid>
                <a:gridCol w="201168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tblGrid>
              <a:tr h="457200">
                <a:tc>
                  <a:txBody>
                    <a:bodyPr/>
                    <a:lstStyle/>
                    <a:p>
                      <a:pPr marL="0" indent="0">
                        <a:buNone/>
                      </a:pPr>
                      <a:r>
                        <a:rPr lang="en-US" sz="1500" b="1" dirty="0">
                          <a:solidFill>
                            <a:srgbClr val="FFFFFF"/>
                          </a:solidFill>
                          <a:latin typeface="游ゴシック" pitchFamily="34" charset="0"/>
                          <a:ea typeface="游ゴシック" pitchFamily="34" charset="-122"/>
                          <a:cs typeface="游ゴシック" pitchFamily="34" charset="-120"/>
                        </a:rPr>
                        <a:t>項目</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tc>
                  <a:txBody>
                    <a:bodyPr/>
                    <a:lstStyle/>
                    <a:p>
                      <a:pPr marL="0" indent="0">
                        <a:buNone/>
                      </a:pPr>
                      <a:r>
                        <a:rPr lang="en-US" sz="1500" b="1" dirty="0">
                          <a:solidFill>
                            <a:srgbClr val="FFFFFF"/>
                          </a:solidFill>
                          <a:latin typeface="游ゴシック" pitchFamily="34" charset="0"/>
                          <a:ea typeface="游ゴシック" pitchFamily="34" charset="-122"/>
                          <a:cs typeface="游ゴシック" pitchFamily="34" charset="-120"/>
                        </a:rPr>
                        <a:t>値</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extLst>
                  <a:ext uri="{0D108BD9-81ED-4DB2-BD59-A6C34878D82A}">
                    <a16:rowId xmlns:a16="http://schemas.microsoft.com/office/drawing/2014/main" val="10000"/>
                  </a:ext>
                </a:extLst>
              </a:tr>
              <a:tr h="457200">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推論した窓</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500" b="1" dirty="0">
                          <a:solidFill>
                            <a:srgbClr val="008A5E"/>
                          </a:solidFill>
                          <a:latin typeface="游ゴシック" pitchFamily="34" charset="0"/>
                          <a:ea typeface="游ゴシック" pitchFamily="34" charset="-122"/>
                          <a:cs typeface="游ゴシック" pitchFamily="34" charset="-120"/>
                        </a:rPr>
                        <a:t>3,854 / 3,854（できなかった窓 0）</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1"/>
                  </a:ext>
                </a:extLst>
              </a:tr>
              <a:tr h="457200">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音の取りこぼし</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500" b="1" dirty="0">
                          <a:solidFill>
                            <a:srgbClr val="008A5E"/>
                          </a:solidFill>
                          <a:latin typeface="游ゴシック" pitchFamily="34" charset="0"/>
                          <a:ea typeface="游ゴシック" pitchFamily="34" charset="-122"/>
                          <a:cs typeface="游ゴシック" pitchFamily="34" charset="-120"/>
                        </a:rPr>
                        <a:t>0 / 0 / 0（書き込み 231,287 回、最大 10.5 µs）</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前処理 / 推論</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平均 69.08 / 41.05 ms（最大との差 0.1 ms 以内）</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3"/>
                  </a:ext>
                </a:extLst>
              </a:tr>
              <a:tr h="457200">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検出から通知まで</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最大 112.3 ms</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ログ</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500" b="1" dirty="0">
                          <a:solidFill>
                            <a:srgbClr val="008A5E"/>
                          </a:solidFill>
                          <a:latin typeface="游ゴシック" pitchFamily="34" charset="0"/>
                          <a:ea typeface="游ゴシック" pitchFamily="34" charset="-122"/>
                          <a:cs typeface="游ゴシック" pitchFamily="34" charset="-120"/>
                        </a:rPr>
                        <a:t>24,238 行、欠け 0（遅れ最大 128 ms）</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5"/>
                  </a:ext>
                </a:extLst>
              </a:tr>
              <a:tr h="457200">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画面</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500" b="1" dirty="0">
                          <a:solidFill>
                            <a:srgbClr val="008A5E"/>
                          </a:solidFill>
                          <a:latin typeface="游ゴシック" pitchFamily="34" charset="0"/>
                          <a:ea typeface="游ゴシック" pitchFamily="34" charset="-122"/>
                          <a:cs typeface="游ゴシック" pitchFamily="34" charset="-120"/>
                        </a:rPr>
                        <a:t>83 回更新、欠け 0（遅れ最大 98.7 ms）</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6" name="Chart 0"/>
          <p:cNvGraphicFramePr/>
          <p:nvPr/>
        </p:nvGraphicFramePr>
        <p:xfrm>
          <a:off x="7406640" y="2148840"/>
          <a:ext cx="4325112" cy="342900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3"/>
          <p:cNvSpPr txBox="1"/>
          <p:nvPr/>
        </p:nvSpPr>
        <p:spPr>
          <a:xfrm>
            <a:off x="457200" y="5852160"/>
            <a:ext cx="11274552" cy="685800"/>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2026-09-27 16:18〜17:20、冷蔵庫のある生活空間・在室、ESC-10 版、対策 1 </a:t>
            </a:r>
            <a:r>
              <a:rPr lang="en-US" sz="1600" dirty="0" err="1">
                <a:solidFill>
                  <a:srgbClr val="000000"/>
                </a:solidFill>
                <a:latin typeface="游ゴシック" pitchFamily="34" charset="0"/>
                <a:ea typeface="游ゴシック" pitchFamily="34" charset="-122"/>
                <a:cs typeface="游ゴシック" pitchFamily="34" charset="-120"/>
              </a:rPr>
              <a:t>段目の規則</a:t>
            </a:r>
            <a:r>
              <a:rPr lang="en-US" sz="1600" dirty="0">
                <a:solidFill>
                  <a:srgbClr val="000000"/>
                </a:solidFill>
                <a:latin typeface="游ゴシック" pitchFamily="34" charset="0"/>
                <a:ea typeface="游ゴシック" pitchFamily="34" charset="-122"/>
                <a:cs typeface="游ゴシック" pitchFamily="34" charset="-120"/>
              </a:rPr>
              <a:t>。</a:t>
            </a:r>
          </a:p>
          <a:p>
            <a:pPr marL="0" indent="0">
              <a:buNone/>
            </a:pPr>
            <a:r>
              <a:rPr lang="en-US" sz="1600" dirty="0" err="1">
                <a:solidFill>
                  <a:srgbClr val="000000"/>
                </a:solidFill>
                <a:latin typeface="游ゴシック" pitchFamily="34" charset="0"/>
                <a:ea typeface="游ゴシック" pitchFamily="34" charset="-122"/>
                <a:cs typeface="游ゴシック" pitchFamily="34" charset="-120"/>
              </a:rPr>
              <a:t>通知</a:t>
            </a:r>
            <a:r>
              <a:rPr lang="en-US" sz="1600" dirty="0">
                <a:solidFill>
                  <a:srgbClr val="000000"/>
                </a:solidFill>
                <a:latin typeface="游ゴシック" pitchFamily="34" charset="0"/>
                <a:ea typeface="游ゴシック" pitchFamily="34" charset="-122"/>
                <a:cs typeface="游ゴシック" pitchFamily="34" charset="-120"/>
              </a:rPr>
              <a:t> 80 件はすべて何も鳴っていない窓（平均音量 −44〜−33 dBFS）だった</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25087"/>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6-2　誤報の原因と 2 段の対策</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ctr"/>
          <a:lstStyle/>
          <a:p>
            <a:pPr marL="0" indent="0" algn="ctr">
              <a:buNone/>
            </a:pPr>
            <a:r>
              <a:rPr lang="en-US" sz="2800" b="1" dirty="0">
                <a:solidFill>
                  <a:srgbClr val="FF0000"/>
                </a:solidFill>
                <a:latin typeface="游ゴシック" pitchFamily="34" charset="0"/>
                <a:ea typeface="游ゴシック" pitchFamily="34" charset="-122"/>
                <a:cs typeface="游ゴシック" pitchFamily="34" charset="-120"/>
              </a:rPr>
              <a:t>固定の音量ではなく、その部屋の暗騒音との差で切る</a:t>
            </a:r>
            <a:endParaRPr lang="en-US" sz="2800" dirty="0"/>
          </a:p>
        </p:txBody>
      </p:sp>
      <p:sp>
        <p:nvSpPr>
          <p:cNvPr id="5" name="Shape 3"/>
          <p:cNvSpPr/>
          <p:nvPr/>
        </p:nvSpPr>
        <p:spPr>
          <a:xfrm>
            <a:off x="457200" y="2194560"/>
            <a:ext cx="4206240" cy="2834640"/>
          </a:xfrm>
          <a:prstGeom prst="rect">
            <a:avLst/>
          </a:prstGeom>
          <a:solidFill>
            <a:srgbClr val="FDECEC"/>
          </a:solidFill>
          <a:ln w="15875">
            <a:solidFill>
              <a:srgbClr val="C00000"/>
            </a:solidFill>
            <a:prstDash val="solid"/>
          </a:ln>
        </p:spPr>
        <p:txBody>
          <a:bodyPr/>
          <a:lstStyle/>
          <a:p>
            <a:endParaRPr lang="ja-JP" altLang="en-US"/>
          </a:p>
        </p:txBody>
      </p:sp>
      <p:pic>
        <p:nvPicPr>
          <p:cNvPr id="6" name="Image 0" descr="/home/claude/v4/icons/FaSnowflake_595959.png"/>
          <p:cNvPicPr>
            <a:picLocks noChangeAspect="1"/>
          </p:cNvPicPr>
          <p:nvPr/>
        </p:nvPicPr>
        <p:blipFill>
          <a:blip r:embed="rId3"/>
          <a:stretch>
            <a:fillRect/>
          </a:stretch>
        </p:blipFill>
        <p:spPr>
          <a:xfrm>
            <a:off x="640080" y="2331720"/>
            <a:ext cx="502920" cy="502920"/>
          </a:xfrm>
          <a:prstGeom prst="rect">
            <a:avLst/>
          </a:prstGeom>
        </p:spPr>
      </p:pic>
      <p:sp>
        <p:nvSpPr>
          <p:cNvPr id="7" name="Text 4"/>
          <p:cNvSpPr txBox="1"/>
          <p:nvPr/>
        </p:nvSpPr>
        <p:spPr>
          <a:xfrm>
            <a:off x="1280160" y="2286000"/>
            <a:ext cx="3200400" cy="548640"/>
          </a:xfrm>
          <a:prstGeom prst="rect">
            <a:avLst/>
          </a:prstGeom>
          <a:noFill/>
          <a:ln/>
        </p:spPr>
        <p:txBody>
          <a:bodyPr wrap="square" lIns="0" tIns="0" rIns="0" bIns="0" rtlCol="0" anchor="ctr"/>
          <a:lstStyle/>
          <a:p>
            <a:pPr marL="0" indent="0">
              <a:buNone/>
            </a:pPr>
            <a:r>
              <a:rPr lang="en-US" sz="2200" b="1" dirty="0">
                <a:solidFill>
                  <a:srgbClr val="C00000"/>
                </a:solidFill>
                <a:latin typeface="游ゴシック" pitchFamily="34" charset="0"/>
                <a:ea typeface="游ゴシック" pitchFamily="34" charset="-122"/>
                <a:cs typeface="游ゴシック" pitchFamily="34" charset="-120"/>
              </a:rPr>
              <a:t>原因</a:t>
            </a:r>
            <a:endParaRPr lang="en-US" sz="2200" dirty="0"/>
          </a:p>
        </p:txBody>
      </p:sp>
      <p:sp>
        <p:nvSpPr>
          <p:cNvPr id="8" name="Text 5"/>
          <p:cNvSpPr txBox="1"/>
          <p:nvPr/>
        </p:nvSpPr>
        <p:spPr>
          <a:xfrm>
            <a:off x="617220" y="3184105"/>
            <a:ext cx="3886200" cy="1349326"/>
          </a:xfrm>
          <a:prstGeom prst="rect">
            <a:avLst/>
          </a:prstGeom>
          <a:noFill/>
          <a:ln/>
        </p:spPr>
        <p:txBody>
          <a:bodyPr wrap="square" lIns="0" tIns="0" rIns="0" bIns="0" rtlCol="0" anchor="t"/>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冷蔵庫の低い連続音（平均−48 </a:t>
            </a:r>
            <a:r>
              <a:rPr lang="en-US" sz="1700" dirty="0" err="1">
                <a:solidFill>
                  <a:srgbClr val="000000"/>
                </a:solidFill>
                <a:latin typeface="游ゴシック" pitchFamily="34" charset="0"/>
                <a:ea typeface="游ゴシック" pitchFamily="34" charset="-122"/>
                <a:cs typeface="游ゴシック" pitchFamily="34" charset="-120"/>
              </a:rPr>
              <a:t>dBFS）をモデルが「くしゃみ」と判定した</a:t>
            </a:r>
            <a:r>
              <a:rPr lang="en-US" sz="1700" dirty="0">
                <a:solidFill>
                  <a:srgbClr val="000000"/>
                </a:solidFill>
                <a:latin typeface="游ゴシック" pitchFamily="34" charset="0"/>
                <a:ea typeface="游ゴシック" pitchFamily="34" charset="-122"/>
                <a:cs typeface="游ゴシック" pitchFamily="34" charset="-120"/>
              </a:rPr>
              <a:t>。</a:t>
            </a:r>
          </a:p>
          <a:p>
            <a:pPr marL="0" indent="0">
              <a:buNone/>
            </a:pPr>
            <a:r>
              <a:rPr lang="en-US" sz="1700" dirty="0" err="1">
                <a:solidFill>
                  <a:srgbClr val="000000"/>
                </a:solidFill>
                <a:latin typeface="游ゴシック" pitchFamily="34" charset="0"/>
                <a:ea typeface="游ゴシック" pitchFamily="34" charset="-122"/>
                <a:cs typeface="游ゴシック" pitchFamily="34" charset="-120"/>
              </a:rPr>
              <a:t>無音の実験室では</a:t>
            </a:r>
            <a:r>
              <a:rPr lang="en-US" sz="1700" dirty="0">
                <a:solidFill>
                  <a:srgbClr val="000000"/>
                </a:solidFill>
                <a:latin typeface="游ゴシック" pitchFamily="34" charset="0"/>
                <a:ea typeface="游ゴシック" pitchFamily="34" charset="-122"/>
                <a:cs typeface="游ゴシック" pitchFamily="34" charset="-120"/>
              </a:rPr>
              <a:t> 0 </a:t>
            </a:r>
            <a:r>
              <a:rPr lang="en-US" sz="1700" dirty="0" err="1">
                <a:solidFill>
                  <a:srgbClr val="000000"/>
                </a:solidFill>
                <a:latin typeface="游ゴシック" pitchFamily="34" charset="0"/>
                <a:ea typeface="游ゴシック" pitchFamily="34" charset="-122"/>
                <a:cs typeface="游ゴシック" pitchFamily="34" charset="-120"/>
              </a:rPr>
              <a:t>件だったのに</a:t>
            </a:r>
            <a:r>
              <a:rPr lang="en-US" sz="1700" dirty="0">
                <a:solidFill>
                  <a:srgbClr val="000000"/>
                </a:solidFill>
                <a:latin typeface="游ゴシック" pitchFamily="34" charset="0"/>
                <a:ea typeface="游ゴシック" pitchFamily="34" charset="-122"/>
                <a:cs typeface="游ゴシック" pitchFamily="34" charset="-120"/>
              </a:rPr>
              <a:t>、</a:t>
            </a:r>
          </a:p>
          <a:p>
            <a:pPr marL="0" indent="0">
              <a:buNone/>
            </a:pPr>
            <a:r>
              <a:rPr lang="en-US" sz="1700" dirty="0" err="1">
                <a:solidFill>
                  <a:srgbClr val="000000"/>
                </a:solidFill>
                <a:latin typeface="游ゴシック" pitchFamily="34" charset="0"/>
                <a:ea typeface="游ゴシック" pitchFamily="34" charset="-122"/>
                <a:cs typeface="游ゴシック" pitchFamily="34" charset="-120"/>
              </a:rPr>
              <a:t>部屋で</a:t>
            </a:r>
            <a:r>
              <a:rPr lang="en-US" sz="1700" dirty="0">
                <a:solidFill>
                  <a:srgbClr val="000000"/>
                </a:solidFill>
                <a:latin typeface="游ゴシック" pitchFamily="34" charset="0"/>
                <a:ea typeface="游ゴシック" pitchFamily="34" charset="-122"/>
                <a:cs typeface="游ゴシック" pitchFamily="34" charset="-120"/>
              </a:rPr>
              <a:t> 10 分回すと 199 件</a:t>
            </a:r>
          </a:p>
          <a:p>
            <a:pPr marL="0" indent="0">
              <a:buNone/>
            </a:pPr>
            <a:r>
              <a:rPr lang="en-US" sz="1700" dirty="0">
                <a:solidFill>
                  <a:srgbClr val="000000"/>
                </a:solidFill>
                <a:latin typeface="游ゴシック" pitchFamily="34" charset="0"/>
                <a:ea typeface="游ゴシック" pitchFamily="34" charset="-122"/>
                <a:cs typeface="游ゴシック" pitchFamily="34" charset="-120"/>
              </a:rPr>
              <a:t>（1,216 件/時）</a:t>
            </a:r>
            <a:endParaRPr lang="en-US" sz="1700" dirty="0"/>
          </a:p>
        </p:txBody>
      </p:sp>
      <p:sp>
        <p:nvSpPr>
          <p:cNvPr id="9" name="Text 6"/>
          <p:cNvSpPr txBox="1"/>
          <p:nvPr/>
        </p:nvSpPr>
        <p:spPr>
          <a:xfrm>
            <a:off x="4937760" y="2148840"/>
            <a:ext cx="6793992" cy="548640"/>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対策前の 10 分のログに規則を当て、残る件数を PC で数えた（判定の再生）</a:t>
            </a:r>
            <a:endParaRPr lang="en-US" sz="1600" dirty="0"/>
          </a:p>
        </p:txBody>
      </p:sp>
      <p:sp>
        <p:nvSpPr>
          <p:cNvPr id="10" name="Shape 7"/>
          <p:cNvSpPr/>
          <p:nvPr/>
        </p:nvSpPr>
        <p:spPr>
          <a:xfrm>
            <a:off x="7818120" y="2743200"/>
            <a:ext cx="1261872" cy="502920"/>
          </a:xfrm>
          <a:prstGeom prst="rect">
            <a:avLst/>
          </a:prstGeom>
          <a:solidFill>
            <a:srgbClr val="156082"/>
          </a:solidFill>
          <a:ln w="12700">
            <a:solidFill>
              <a:srgbClr val="156082"/>
            </a:solidFill>
            <a:prstDash val="solid"/>
          </a:ln>
        </p:spPr>
        <p:txBody>
          <a:bodyPr/>
          <a:lstStyle/>
          <a:p>
            <a:endParaRPr lang="ja-JP" altLang="en-US"/>
          </a:p>
        </p:txBody>
      </p:sp>
      <p:sp>
        <p:nvSpPr>
          <p:cNvPr id="11" name="Text 8"/>
          <p:cNvSpPr txBox="1"/>
          <p:nvPr/>
        </p:nvSpPr>
        <p:spPr>
          <a:xfrm>
            <a:off x="7891272" y="2743200"/>
            <a:ext cx="1115568"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游ゴシック" pitchFamily="34" charset="0"/>
                <a:ea typeface="游ゴシック" pitchFamily="34" charset="-122"/>
                <a:cs typeface="游ゴシック" pitchFamily="34" charset="-120"/>
              </a:rPr>
              <a:t>確率 0.5 以上</a:t>
            </a:r>
            <a:endParaRPr lang="en-US" sz="1500" dirty="0"/>
          </a:p>
        </p:txBody>
      </p:sp>
      <p:sp>
        <p:nvSpPr>
          <p:cNvPr id="12" name="Shape 9"/>
          <p:cNvSpPr/>
          <p:nvPr/>
        </p:nvSpPr>
        <p:spPr>
          <a:xfrm>
            <a:off x="9125712" y="2743200"/>
            <a:ext cx="1261872" cy="502920"/>
          </a:xfrm>
          <a:prstGeom prst="rect">
            <a:avLst/>
          </a:prstGeom>
          <a:solidFill>
            <a:srgbClr val="156082"/>
          </a:solidFill>
          <a:ln w="12700">
            <a:solidFill>
              <a:srgbClr val="156082"/>
            </a:solidFill>
            <a:prstDash val="solid"/>
          </a:ln>
        </p:spPr>
        <p:txBody>
          <a:bodyPr/>
          <a:lstStyle/>
          <a:p>
            <a:endParaRPr lang="ja-JP" altLang="en-US"/>
          </a:p>
        </p:txBody>
      </p:sp>
      <p:sp>
        <p:nvSpPr>
          <p:cNvPr id="13" name="Text 10"/>
          <p:cNvSpPr txBox="1"/>
          <p:nvPr/>
        </p:nvSpPr>
        <p:spPr>
          <a:xfrm>
            <a:off x="9198864" y="2743200"/>
            <a:ext cx="1115568"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游ゴシック" pitchFamily="34" charset="0"/>
                <a:ea typeface="游ゴシック" pitchFamily="34" charset="-122"/>
                <a:cs typeface="游ゴシック" pitchFamily="34" charset="-120"/>
              </a:rPr>
              <a:t>0.7 以上</a:t>
            </a:r>
            <a:endParaRPr lang="en-US" sz="1500" dirty="0"/>
          </a:p>
        </p:txBody>
      </p:sp>
      <p:sp>
        <p:nvSpPr>
          <p:cNvPr id="14" name="Shape 11"/>
          <p:cNvSpPr/>
          <p:nvPr/>
        </p:nvSpPr>
        <p:spPr>
          <a:xfrm>
            <a:off x="10433304" y="2743200"/>
            <a:ext cx="1298448" cy="502920"/>
          </a:xfrm>
          <a:prstGeom prst="rect">
            <a:avLst/>
          </a:prstGeom>
          <a:solidFill>
            <a:srgbClr val="156082"/>
          </a:solidFill>
          <a:ln w="12700">
            <a:solidFill>
              <a:srgbClr val="156082"/>
            </a:solidFill>
            <a:prstDash val="solid"/>
          </a:ln>
        </p:spPr>
        <p:txBody>
          <a:bodyPr/>
          <a:lstStyle/>
          <a:p>
            <a:endParaRPr lang="ja-JP" altLang="en-US"/>
          </a:p>
        </p:txBody>
      </p:sp>
      <p:sp>
        <p:nvSpPr>
          <p:cNvPr id="15" name="Text 12"/>
          <p:cNvSpPr txBox="1"/>
          <p:nvPr/>
        </p:nvSpPr>
        <p:spPr>
          <a:xfrm>
            <a:off x="10506456" y="2743200"/>
            <a:ext cx="1152144"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游ゴシック" pitchFamily="34" charset="0"/>
                <a:ea typeface="游ゴシック" pitchFamily="34" charset="-122"/>
                <a:cs typeface="游ゴシック" pitchFamily="34" charset="-120"/>
              </a:rPr>
              <a:t>0.8 以上</a:t>
            </a:r>
            <a:endParaRPr lang="en-US" sz="1500" dirty="0"/>
          </a:p>
        </p:txBody>
      </p:sp>
      <p:sp>
        <p:nvSpPr>
          <p:cNvPr id="16" name="Shape 13"/>
          <p:cNvSpPr/>
          <p:nvPr/>
        </p:nvSpPr>
        <p:spPr>
          <a:xfrm>
            <a:off x="4937760" y="3291840"/>
            <a:ext cx="2834640" cy="512064"/>
          </a:xfrm>
          <a:prstGeom prst="rect">
            <a:avLst/>
          </a:prstGeom>
          <a:solidFill>
            <a:srgbClr val="F2F2F2"/>
          </a:solidFill>
          <a:ln w="12700">
            <a:solidFill>
              <a:srgbClr val="BFBFBF"/>
            </a:solidFill>
            <a:prstDash val="solid"/>
          </a:ln>
        </p:spPr>
        <p:txBody>
          <a:bodyPr/>
          <a:lstStyle/>
          <a:p>
            <a:endParaRPr lang="ja-JP" altLang="en-US"/>
          </a:p>
        </p:txBody>
      </p:sp>
      <p:sp>
        <p:nvSpPr>
          <p:cNvPr id="17" name="Text 14"/>
          <p:cNvSpPr txBox="1"/>
          <p:nvPr/>
        </p:nvSpPr>
        <p:spPr>
          <a:xfrm>
            <a:off x="5010912" y="3291840"/>
            <a:ext cx="2688336" cy="512064"/>
          </a:xfrm>
          <a:prstGeom prst="rect">
            <a:avLst/>
          </a:prstGeom>
          <a:noFill/>
          <a:ln/>
        </p:spPr>
        <p:txBody>
          <a:bodyPr wrap="square" lIns="0" tIns="0" rIns="0" bIns="0" rtlCol="0" anchor="ctr"/>
          <a:lstStyle/>
          <a:p>
            <a:pPr marL="0" indent="0" algn="l">
              <a:buNone/>
            </a:pPr>
            <a:r>
              <a:rPr lang="en-US" sz="1500" b="1" dirty="0">
                <a:solidFill>
                  <a:srgbClr val="000000"/>
                </a:solidFill>
                <a:latin typeface="游ゴシック" pitchFamily="34" charset="0"/>
                <a:ea typeface="游ゴシック" pitchFamily="34" charset="-122"/>
                <a:cs typeface="游ゴシック" pitchFamily="34" charset="-120"/>
              </a:rPr>
              <a:t>音量の条件なし</a:t>
            </a:r>
            <a:endParaRPr lang="en-US" sz="1500" dirty="0"/>
          </a:p>
        </p:txBody>
      </p:sp>
      <p:sp>
        <p:nvSpPr>
          <p:cNvPr id="18" name="Shape 15"/>
          <p:cNvSpPr/>
          <p:nvPr/>
        </p:nvSpPr>
        <p:spPr>
          <a:xfrm>
            <a:off x="7818120" y="3291840"/>
            <a:ext cx="1261872" cy="512064"/>
          </a:xfrm>
          <a:prstGeom prst="rect">
            <a:avLst/>
          </a:prstGeom>
          <a:solidFill>
            <a:srgbClr val="F4B6B6"/>
          </a:solidFill>
          <a:ln w="9525">
            <a:solidFill>
              <a:srgbClr val="BFBFBF"/>
            </a:solidFill>
            <a:prstDash val="solid"/>
          </a:ln>
        </p:spPr>
        <p:txBody>
          <a:bodyPr/>
          <a:lstStyle/>
          <a:p>
            <a:endParaRPr lang="ja-JP" altLang="en-US"/>
          </a:p>
        </p:txBody>
      </p:sp>
      <p:sp>
        <p:nvSpPr>
          <p:cNvPr id="19" name="Text 16"/>
          <p:cNvSpPr txBox="1"/>
          <p:nvPr/>
        </p:nvSpPr>
        <p:spPr>
          <a:xfrm>
            <a:off x="7818120" y="3291840"/>
            <a:ext cx="1261872" cy="512064"/>
          </a:xfrm>
          <a:prstGeom prst="rect">
            <a:avLst/>
          </a:prstGeom>
          <a:noFill/>
          <a:ln/>
        </p:spPr>
        <p:txBody>
          <a:bodyPr wrap="square" lIns="0" tIns="0" rIns="0" bIns="0" rtlCol="0" anchor="ctr"/>
          <a:lstStyle/>
          <a:p>
            <a:pPr marL="0" indent="0" algn="ctr">
              <a:buNone/>
            </a:pPr>
            <a:r>
              <a:rPr lang="en-US" sz="2000" b="1" dirty="0">
                <a:solidFill>
                  <a:srgbClr val="000000"/>
                </a:solidFill>
                <a:latin typeface="游ゴシック" pitchFamily="34" charset="0"/>
                <a:ea typeface="游ゴシック" pitchFamily="34" charset="-122"/>
                <a:cs typeface="游ゴシック" pitchFamily="34" charset="-120"/>
              </a:rPr>
              <a:t>202</a:t>
            </a:r>
            <a:endParaRPr lang="en-US" sz="2000" dirty="0"/>
          </a:p>
        </p:txBody>
      </p:sp>
      <p:sp>
        <p:nvSpPr>
          <p:cNvPr id="20" name="Shape 17"/>
          <p:cNvSpPr/>
          <p:nvPr/>
        </p:nvSpPr>
        <p:spPr>
          <a:xfrm>
            <a:off x="9125712" y="3291840"/>
            <a:ext cx="1261872" cy="512064"/>
          </a:xfrm>
          <a:prstGeom prst="rect">
            <a:avLst/>
          </a:prstGeom>
          <a:solidFill>
            <a:srgbClr val="F8CFCF"/>
          </a:solidFill>
          <a:ln w="9525">
            <a:solidFill>
              <a:srgbClr val="BFBFBF"/>
            </a:solidFill>
            <a:prstDash val="solid"/>
          </a:ln>
        </p:spPr>
        <p:txBody>
          <a:bodyPr/>
          <a:lstStyle/>
          <a:p>
            <a:endParaRPr lang="ja-JP" altLang="en-US"/>
          </a:p>
        </p:txBody>
      </p:sp>
      <p:sp>
        <p:nvSpPr>
          <p:cNvPr id="21" name="Text 18"/>
          <p:cNvSpPr txBox="1"/>
          <p:nvPr/>
        </p:nvSpPr>
        <p:spPr>
          <a:xfrm>
            <a:off x="9125712" y="3291840"/>
            <a:ext cx="1261872" cy="512064"/>
          </a:xfrm>
          <a:prstGeom prst="rect">
            <a:avLst/>
          </a:prstGeom>
          <a:noFill/>
          <a:ln/>
        </p:spPr>
        <p:txBody>
          <a:bodyPr wrap="square" lIns="0" tIns="0" rIns="0" bIns="0" rtlCol="0" anchor="ctr"/>
          <a:lstStyle/>
          <a:p>
            <a:pPr marL="0" indent="0" algn="ctr">
              <a:buNone/>
            </a:pPr>
            <a:r>
              <a:rPr lang="en-US" sz="2000" b="1" dirty="0">
                <a:solidFill>
                  <a:srgbClr val="000000"/>
                </a:solidFill>
                <a:latin typeface="游ゴシック" pitchFamily="34" charset="0"/>
                <a:ea typeface="游ゴシック" pitchFamily="34" charset="-122"/>
                <a:cs typeface="游ゴシック" pitchFamily="34" charset="-120"/>
              </a:rPr>
              <a:t>75</a:t>
            </a:r>
            <a:endParaRPr lang="en-US" sz="2000" dirty="0"/>
          </a:p>
        </p:txBody>
      </p:sp>
      <p:sp>
        <p:nvSpPr>
          <p:cNvPr id="22" name="Shape 19"/>
          <p:cNvSpPr/>
          <p:nvPr/>
        </p:nvSpPr>
        <p:spPr>
          <a:xfrm>
            <a:off x="10433304" y="3291840"/>
            <a:ext cx="1298448" cy="512064"/>
          </a:xfrm>
          <a:prstGeom prst="rect">
            <a:avLst/>
          </a:prstGeom>
          <a:solidFill>
            <a:srgbClr val="FBE3E3"/>
          </a:solidFill>
          <a:ln w="9525">
            <a:solidFill>
              <a:srgbClr val="BFBFBF"/>
            </a:solidFill>
            <a:prstDash val="solid"/>
          </a:ln>
        </p:spPr>
        <p:txBody>
          <a:bodyPr/>
          <a:lstStyle/>
          <a:p>
            <a:endParaRPr lang="ja-JP" altLang="en-US"/>
          </a:p>
        </p:txBody>
      </p:sp>
      <p:sp>
        <p:nvSpPr>
          <p:cNvPr id="23" name="Text 20"/>
          <p:cNvSpPr txBox="1"/>
          <p:nvPr/>
        </p:nvSpPr>
        <p:spPr>
          <a:xfrm>
            <a:off x="10433304" y="3291840"/>
            <a:ext cx="1298448" cy="512064"/>
          </a:xfrm>
          <a:prstGeom prst="rect">
            <a:avLst/>
          </a:prstGeom>
          <a:noFill/>
          <a:ln/>
        </p:spPr>
        <p:txBody>
          <a:bodyPr wrap="square" lIns="0" tIns="0" rIns="0" bIns="0" rtlCol="0" anchor="ctr"/>
          <a:lstStyle/>
          <a:p>
            <a:pPr marL="0" indent="0" algn="ctr">
              <a:buNone/>
            </a:pPr>
            <a:r>
              <a:rPr lang="en-US" sz="2000" b="1" dirty="0">
                <a:solidFill>
                  <a:srgbClr val="000000"/>
                </a:solidFill>
                <a:latin typeface="游ゴシック" pitchFamily="34" charset="0"/>
                <a:ea typeface="游ゴシック" pitchFamily="34" charset="-122"/>
                <a:cs typeface="游ゴシック" pitchFamily="34" charset="-120"/>
              </a:rPr>
              <a:t>25</a:t>
            </a:r>
            <a:endParaRPr lang="en-US" sz="2000" dirty="0"/>
          </a:p>
        </p:txBody>
      </p:sp>
      <p:sp>
        <p:nvSpPr>
          <p:cNvPr id="24" name="Shape 21"/>
          <p:cNvSpPr/>
          <p:nvPr/>
        </p:nvSpPr>
        <p:spPr>
          <a:xfrm>
            <a:off x="4937760" y="3858768"/>
            <a:ext cx="2834640" cy="512064"/>
          </a:xfrm>
          <a:prstGeom prst="rect">
            <a:avLst/>
          </a:prstGeom>
          <a:solidFill>
            <a:srgbClr val="F2F2F2"/>
          </a:solidFill>
          <a:ln w="12700">
            <a:solidFill>
              <a:srgbClr val="BFBFBF"/>
            </a:solidFill>
            <a:prstDash val="solid"/>
          </a:ln>
        </p:spPr>
        <p:txBody>
          <a:bodyPr/>
          <a:lstStyle/>
          <a:p>
            <a:endParaRPr lang="ja-JP" altLang="en-US"/>
          </a:p>
        </p:txBody>
      </p:sp>
      <p:sp>
        <p:nvSpPr>
          <p:cNvPr id="25" name="Text 22"/>
          <p:cNvSpPr txBox="1"/>
          <p:nvPr/>
        </p:nvSpPr>
        <p:spPr>
          <a:xfrm>
            <a:off x="5010912" y="3858768"/>
            <a:ext cx="2688336" cy="512064"/>
          </a:xfrm>
          <a:prstGeom prst="rect">
            <a:avLst/>
          </a:prstGeom>
          <a:noFill/>
          <a:ln/>
        </p:spPr>
        <p:txBody>
          <a:bodyPr wrap="square" lIns="0" tIns="0" rIns="0" bIns="0" rtlCol="0" anchor="ctr"/>
          <a:lstStyle/>
          <a:p>
            <a:pPr marL="0" indent="0" algn="l">
              <a:buNone/>
            </a:pPr>
            <a:r>
              <a:rPr lang="en-US" sz="1500" b="1" dirty="0">
                <a:solidFill>
                  <a:srgbClr val="000000"/>
                </a:solidFill>
                <a:latin typeface="游ゴシック" pitchFamily="34" charset="0"/>
                <a:ea typeface="游ゴシック" pitchFamily="34" charset="-122"/>
                <a:cs typeface="游ゴシック" pitchFamily="34" charset="-120"/>
              </a:rPr>
              <a:t>瞬間音量 −30 dBFS 以上</a:t>
            </a:r>
            <a:endParaRPr lang="en-US" sz="1500" dirty="0"/>
          </a:p>
        </p:txBody>
      </p:sp>
      <p:sp>
        <p:nvSpPr>
          <p:cNvPr id="26" name="Shape 23"/>
          <p:cNvSpPr/>
          <p:nvPr/>
        </p:nvSpPr>
        <p:spPr>
          <a:xfrm>
            <a:off x="7818120" y="3858768"/>
            <a:ext cx="1261872" cy="512064"/>
          </a:xfrm>
          <a:prstGeom prst="rect">
            <a:avLst/>
          </a:prstGeom>
          <a:solidFill>
            <a:srgbClr val="FBE3E3"/>
          </a:solidFill>
          <a:ln w="9525">
            <a:solidFill>
              <a:srgbClr val="BFBFBF"/>
            </a:solidFill>
            <a:prstDash val="solid"/>
          </a:ln>
        </p:spPr>
        <p:txBody>
          <a:bodyPr/>
          <a:lstStyle/>
          <a:p>
            <a:endParaRPr lang="ja-JP" altLang="en-US"/>
          </a:p>
        </p:txBody>
      </p:sp>
      <p:sp>
        <p:nvSpPr>
          <p:cNvPr id="27" name="Text 24"/>
          <p:cNvSpPr txBox="1"/>
          <p:nvPr/>
        </p:nvSpPr>
        <p:spPr>
          <a:xfrm>
            <a:off x="7818120" y="3858768"/>
            <a:ext cx="1261872" cy="512064"/>
          </a:xfrm>
          <a:prstGeom prst="rect">
            <a:avLst/>
          </a:prstGeom>
          <a:noFill/>
          <a:ln/>
        </p:spPr>
        <p:txBody>
          <a:bodyPr wrap="square" lIns="0" tIns="0" rIns="0" bIns="0" rtlCol="0" anchor="ctr"/>
          <a:lstStyle/>
          <a:p>
            <a:pPr marL="0" indent="0" algn="ctr">
              <a:buNone/>
            </a:pPr>
            <a:r>
              <a:rPr lang="en-US" sz="2000" b="1" dirty="0">
                <a:solidFill>
                  <a:srgbClr val="000000"/>
                </a:solidFill>
                <a:latin typeface="游ゴシック" pitchFamily="34" charset="0"/>
                <a:ea typeface="游ゴシック" pitchFamily="34" charset="-122"/>
                <a:cs typeface="游ゴシック" pitchFamily="34" charset="-120"/>
              </a:rPr>
              <a:t>17</a:t>
            </a:r>
            <a:endParaRPr lang="en-US" sz="2000" dirty="0"/>
          </a:p>
        </p:txBody>
      </p:sp>
      <p:sp>
        <p:nvSpPr>
          <p:cNvPr id="28" name="Shape 25"/>
          <p:cNvSpPr/>
          <p:nvPr/>
        </p:nvSpPr>
        <p:spPr>
          <a:xfrm>
            <a:off x="9125712" y="3858768"/>
            <a:ext cx="1261872" cy="512064"/>
          </a:xfrm>
          <a:prstGeom prst="rect">
            <a:avLst/>
          </a:prstGeom>
          <a:solidFill>
            <a:srgbClr val="FFF3E0"/>
          </a:solidFill>
          <a:ln w="31750">
            <a:solidFill>
              <a:srgbClr val="156082"/>
            </a:solidFill>
            <a:prstDash val="solid"/>
          </a:ln>
        </p:spPr>
        <p:txBody>
          <a:bodyPr/>
          <a:lstStyle/>
          <a:p>
            <a:endParaRPr lang="ja-JP" altLang="en-US"/>
          </a:p>
        </p:txBody>
      </p:sp>
      <p:sp>
        <p:nvSpPr>
          <p:cNvPr id="29" name="Text 26"/>
          <p:cNvSpPr txBox="1"/>
          <p:nvPr/>
        </p:nvSpPr>
        <p:spPr>
          <a:xfrm>
            <a:off x="9125712" y="3858768"/>
            <a:ext cx="1261872" cy="512064"/>
          </a:xfrm>
          <a:prstGeom prst="rect">
            <a:avLst/>
          </a:prstGeom>
          <a:noFill/>
          <a:ln/>
        </p:spPr>
        <p:txBody>
          <a:bodyPr wrap="square" lIns="0" tIns="0" rIns="0" bIns="0" rtlCol="0" anchor="ctr"/>
          <a:lstStyle/>
          <a:p>
            <a:pPr marL="0" indent="0" algn="ctr">
              <a:buNone/>
            </a:pPr>
            <a:r>
              <a:rPr lang="en-US" sz="2000" b="1" dirty="0">
                <a:solidFill>
                  <a:srgbClr val="000000"/>
                </a:solidFill>
                <a:latin typeface="游ゴシック" pitchFamily="34" charset="0"/>
                <a:ea typeface="游ゴシック" pitchFamily="34" charset="-122"/>
                <a:cs typeface="游ゴシック" pitchFamily="34" charset="-120"/>
              </a:rPr>
              <a:t>6</a:t>
            </a:r>
            <a:endParaRPr lang="en-US" sz="2000" dirty="0"/>
          </a:p>
        </p:txBody>
      </p:sp>
      <p:sp>
        <p:nvSpPr>
          <p:cNvPr id="30" name="Shape 27"/>
          <p:cNvSpPr/>
          <p:nvPr/>
        </p:nvSpPr>
        <p:spPr>
          <a:xfrm>
            <a:off x="10433304" y="3858768"/>
            <a:ext cx="1298448" cy="512064"/>
          </a:xfrm>
          <a:prstGeom prst="rect">
            <a:avLst/>
          </a:prstGeom>
          <a:solidFill>
            <a:srgbClr val="F2F2F2"/>
          </a:solidFill>
          <a:ln w="9525">
            <a:solidFill>
              <a:srgbClr val="BFBFBF"/>
            </a:solidFill>
            <a:prstDash val="solid"/>
          </a:ln>
        </p:spPr>
        <p:txBody>
          <a:bodyPr/>
          <a:lstStyle/>
          <a:p>
            <a:endParaRPr lang="ja-JP" altLang="en-US"/>
          </a:p>
        </p:txBody>
      </p:sp>
      <p:sp>
        <p:nvSpPr>
          <p:cNvPr id="31" name="Text 28"/>
          <p:cNvSpPr txBox="1"/>
          <p:nvPr/>
        </p:nvSpPr>
        <p:spPr>
          <a:xfrm>
            <a:off x="10433304" y="3858768"/>
            <a:ext cx="1298448" cy="512064"/>
          </a:xfrm>
          <a:prstGeom prst="rect">
            <a:avLst/>
          </a:prstGeom>
          <a:noFill/>
          <a:ln/>
        </p:spPr>
        <p:txBody>
          <a:bodyPr wrap="square" lIns="0" tIns="0" rIns="0" bIns="0" rtlCol="0" anchor="ctr"/>
          <a:lstStyle/>
          <a:p>
            <a:pPr marL="0" indent="0" algn="ctr">
              <a:buNone/>
            </a:pPr>
            <a:r>
              <a:rPr lang="en-US" sz="2000" b="1" dirty="0">
                <a:solidFill>
                  <a:srgbClr val="000000"/>
                </a:solidFill>
                <a:latin typeface="游ゴシック" pitchFamily="34" charset="0"/>
                <a:ea typeface="游ゴシック" pitchFamily="34" charset="-122"/>
                <a:cs typeface="游ゴシック" pitchFamily="34" charset="-120"/>
              </a:rPr>
              <a:t>1</a:t>
            </a:r>
            <a:endParaRPr lang="en-US" sz="2000" dirty="0"/>
          </a:p>
        </p:txBody>
      </p:sp>
      <p:sp>
        <p:nvSpPr>
          <p:cNvPr id="32" name="Shape 29"/>
          <p:cNvSpPr/>
          <p:nvPr/>
        </p:nvSpPr>
        <p:spPr>
          <a:xfrm>
            <a:off x="4937760" y="4425696"/>
            <a:ext cx="2834640" cy="512064"/>
          </a:xfrm>
          <a:prstGeom prst="rect">
            <a:avLst/>
          </a:prstGeom>
          <a:solidFill>
            <a:srgbClr val="F2F2F2"/>
          </a:solidFill>
          <a:ln w="12700">
            <a:solidFill>
              <a:srgbClr val="BFBFBF"/>
            </a:solidFill>
            <a:prstDash val="solid"/>
          </a:ln>
        </p:spPr>
        <p:txBody>
          <a:bodyPr/>
          <a:lstStyle/>
          <a:p>
            <a:endParaRPr lang="ja-JP" altLang="en-US"/>
          </a:p>
        </p:txBody>
      </p:sp>
      <p:sp>
        <p:nvSpPr>
          <p:cNvPr id="33" name="Text 30"/>
          <p:cNvSpPr txBox="1"/>
          <p:nvPr/>
        </p:nvSpPr>
        <p:spPr>
          <a:xfrm>
            <a:off x="5010912" y="4425696"/>
            <a:ext cx="2688336" cy="512064"/>
          </a:xfrm>
          <a:prstGeom prst="rect">
            <a:avLst/>
          </a:prstGeom>
          <a:noFill/>
          <a:ln/>
        </p:spPr>
        <p:txBody>
          <a:bodyPr wrap="square" lIns="0" tIns="0" rIns="0" bIns="0" rtlCol="0" anchor="ctr"/>
          <a:lstStyle/>
          <a:p>
            <a:pPr marL="0" indent="0" algn="l">
              <a:buNone/>
            </a:pPr>
            <a:r>
              <a:rPr lang="en-US" sz="1500" b="1" dirty="0">
                <a:solidFill>
                  <a:srgbClr val="000000"/>
                </a:solidFill>
                <a:latin typeface="游ゴシック" pitchFamily="34" charset="0"/>
                <a:ea typeface="游ゴシック" pitchFamily="34" charset="-122"/>
                <a:cs typeface="游ゴシック" pitchFamily="34" charset="-120"/>
              </a:rPr>
              <a:t>＋暗騒音より 10 dB 以上大きい</a:t>
            </a:r>
            <a:endParaRPr lang="en-US" sz="1500" dirty="0"/>
          </a:p>
        </p:txBody>
      </p:sp>
      <p:sp>
        <p:nvSpPr>
          <p:cNvPr id="34" name="Shape 31"/>
          <p:cNvSpPr/>
          <p:nvPr/>
        </p:nvSpPr>
        <p:spPr>
          <a:xfrm>
            <a:off x="7818120" y="4425696"/>
            <a:ext cx="1261872" cy="512064"/>
          </a:xfrm>
          <a:prstGeom prst="rect">
            <a:avLst/>
          </a:prstGeom>
          <a:solidFill>
            <a:srgbClr val="F2F2F2"/>
          </a:solidFill>
          <a:ln w="9525">
            <a:solidFill>
              <a:srgbClr val="BFBFBF"/>
            </a:solidFill>
            <a:prstDash val="solid"/>
          </a:ln>
        </p:spPr>
        <p:txBody>
          <a:bodyPr/>
          <a:lstStyle/>
          <a:p>
            <a:endParaRPr lang="ja-JP" altLang="en-US"/>
          </a:p>
        </p:txBody>
      </p:sp>
      <p:sp>
        <p:nvSpPr>
          <p:cNvPr id="35" name="Text 32"/>
          <p:cNvSpPr txBox="1"/>
          <p:nvPr/>
        </p:nvSpPr>
        <p:spPr>
          <a:xfrm>
            <a:off x="7818120" y="4425696"/>
            <a:ext cx="1261872" cy="512064"/>
          </a:xfrm>
          <a:prstGeom prst="rect">
            <a:avLst/>
          </a:prstGeom>
          <a:noFill/>
          <a:ln/>
        </p:spPr>
        <p:txBody>
          <a:bodyPr wrap="square" lIns="0" tIns="0" rIns="0" bIns="0" rtlCol="0" anchor="ctr"/>
          <a:lstStyle/>
          <a:p>
            <a:pPr marL="0" indent="0" algn="ctr">
              <a:buNone/>
            </a:pPr>
            <a:r>
              <a:rPr lang="en-US" sz="2000" b="1" dirty="0">
                <a:solidFill>
                  <a:srgbClr val="000000"/>
                </a:solidFill>
                <a:latin typeface="游ゴシック" pitchFamily="34" charset="0"/>
                <a:ea typeface="游ゴシック" pitchFamily="34" charset="-122"/>
                <a:cs typeface="游ゴシック" pitchFamily="34" charset="-120"/>
              </a:rPr>
              <a:t>8</a:t>
            </a:r>
            <a:endParaRPr lang="en-US" sz="2000" dirty="0"/>
          </a:p>
        </p:txBody>
      </p:sp>
      <p:sp>
        <p:nvSpPr>
          <p:cNvPr id="36" name="Shape 33"/>
          <p:cNvSpPr/>
          <p:nvPr/>
        </p:nvSpPr>
        <p:spPr>
          <a:xfrm>
            <a:off x="9125712" y="4425696"/>
            <a:ext cx="1261872" cy="512064"/>
          </a:xfrm>
          <a:prstGeom prst="rect">
            <a:avLst/>
          </a:prstGeom>
          <a:solidFill>
            <a:srgbClr val="DDF3EA"/>
          </a:solidFill>
          <a:ln w="31750">
            <a:solidFill>
              <a:srgbClr val="156082"/>
            </a:solidFill>
            <a:prstDash val="solid"/>
          </a:ln>
        </p:spPr>
        <p:txBody>
          <a:bodyPr/>
          <a:lstStyle/>
          <a:p>
            <a:endParaRPr lang="ja-JP" altLang="en-US"/>
          </a:p>
        </p:txBody>
      </p:sp>
      <p:sp>
        <p:nvSpPr>
          <p:cNvPr id="37" name="Text 34"/>
          <p:cNvSpPr txBox="1"/>
          <p:nvPr/>
        </p:nvSpPr>
        <p:spPr>
          <a:xfrm>
            <a:off x="9125712" y="4425696"/>
            <a:ext cx="1261872" cy="512064"/>
          </a:xfrm>
          <a:prstGeom prst="rect">
            <a:avLst/>
          </a:prstGeom>
          <a:noFill/>
          <a:ln/>
        </p:spPr>
        <p:txBody>
          <a:bodyPr wrap="square" lIns="0" tIns="0" rIns="0" bIns="0" rtlCol="0" anchor="ctr"/>
          <a:lstStyle/>
          <a:p>
            <a:pPr marL="0" indent="0" algn="ctr">
              <a:buNone/>
            </a:pPr>
            <a:r>
              <a:rPr lang="en-US" sz="2000" b="1" dirty="0">
                <a:solidFill>
                  <a:srgbClr val="000000"/>
                </a:solidFill>
                <a:latin typeface="游ゴシック" pitchFamily="34" charset="0"/>
                <a:ea typeface="游ゴシック" pitchFamily="34" charset="-122"/>
                <a:cs typeface="游ゴシック" pitchFamily="34" charset="-120"/>
              </a:rPr>
              <a:t>3</a:t>
            </a:r>
            <a:endParaRPr lang="en-US" sz="2000" dirty="0"/>
          </a:p>
        </p:txBody>
      </p:sp>
      <p:sp>
        <p:nvSpPr>
          <p:cNvPr id="38" name="Shape 35"/>
          <p:cNvSpPr/>
          <p:nvPr/>
        </p:nvSpPr>
        <p:spPr>
          <a:xfrm>
            <a:off x="10433304" y="4425696"/>
            <a:ext cx="1298448" cy="512064"/>
          </a:xfrm>
          <a:prstGeom prst="rect">
            <a:avLst/>
          </a:prstGeom>
          <a:solidFill>
            <a:srgbClr val="F2F2F2"/>
          </a:solidFill>
          <a:ln w="9525">
            <a:solidFill>
              <a:srgbClr val="BFBFBF"/>
            </a:solidFill>
            <a:prstDash val="solid"/>
          </a:ln>
        </p:spPr>
        <p:txBody>
          <a:bodyPr/>
          <a:lstStyle/>
          <a:p>
            <a:endParaRPr lang="ja-JP" altLang="en-US"/>
          </a:p>
        </p:txBody>
      </p:sp>
      <p:sp>
        <p:nvSpPr>
          <p:cNvPr id="39" name="Text 36"/>
          <p:cNvSpPr txBox="1"/>
          <p:nvPr/>
        </p:nvSpPr>
        <p:spPr>
          <a:xfrm>
            <a:off x="10433304" y="4425696"/>
            <a:ext cx="1298448" cy="512064"/>
          </a:xfrm>
          <a:prstGeom prst="rect">
            <a:avLst/>
          </a:prstGeom>
          <a:noFill/>
          <a:ln/>
        </p:spPr>
        <p:txBody>
          <a:bodyPr wrap="square" lIns="0" tIns="0" rIns="0" bIns="0" rtlCol="0" anchor="ctr"/>
          <a:lstStyle/>
          <a:p>
            <a:pPr marL="0" indent="0" algn="ctr">
              <a:buNone/>
            </a:pPr>
            <a:r>
              <a:rPr lang="en-US" sz="2000" b="1" dirty="0">
                <a:solidFill>
                  <a:srgbClr val="000000"/>
                </a:solidFill>
                <a:latin typeface="游ゴシック" pitchFamily="34" charset="0"/>
                <a:ea typeface="游ゴシック" pitchFamily="34" charset="-122"/>
                <a:cs typeface="游ゴシック" pitchFamily="34" charset="-120"/>
              </a:rPr>
              <a:t>0</a:t>
            </a:r>
            <a:endParaRPr lang="en-US" sz="2000" dirty="0"/>
          </a:p>
        </p:txBody>
      </p:sp>
      <p:sp>
        <p:nvSpPr>
          <p:cNvPr id="40" name="Text 37"/>
          <p:cNvSpPr txBox="1"/>
          <p:nvPr/>
        </p:nvSpPr>
        <p:spPr>
          <a:xfrm>
            <a:off x="4937760" y="5029200"/>
            <a:ext cx="6793992" cy="274320"/>
          </a:xfrm>
          <a:prstGeom prst="rect">
            <a:avLst/>
          </a:prstGeom>
          <a:noFill/>
          <a:ln/>
        </p:spPr>
        <p:txBody>
          <a:bodyPr wrap="square" lIns="0" tIns="0" rIns="0" bIns="0" rtlCol="0" anchor="ctr"/>
          <a:lstStyle/>
          <a:p>
            <a:pPr marL="0" indent="0">
              <a:buNone/>
            </a:pPr>
            <a:r>
              <a:rPr lang="en-US" sz="1300" dirty="0">
                <a:solidFill>
                  <a:srgbClr val="595959"/>
                </a:solidFill>
                <a:latin typeface="游ゴシック" pitchFamily="34" charset="0"/>
                <a:ea typeface="游ゴシック" pitchFamily="34" charset="-122"/>
                <a:cs typeface="游ゴシック" pitchFamily="34" charset="-120"/>
              </a:rPr>
              <a:t>太枠が採用した組み合わせ（上：1 段目、下：2 </a:t>
            </a:r>
            <a:r>
              <a:rPr lang="en-US" sz="1300" dirty="0" err="1">
                <a:solidFill>
                  <a:srgbClr val="595959"/>
                </a:solidFill>
                <a:latin typeface="游ゴシック" pitchFamily="34" charset="0"/>
                <a:ea typeface="游ゴシック" pitchFamily="34" charset="-122"/>
                <a:cs typeface="游ゴシック" pitchFamily="34" charset="-120"/>
              </a:rPr>
              <a:t>段目</a:t>
            </a:r>
            <a:r>
              <a:rPr lang="en-US" sz="1300" dirty="0">
                <a:solidFill>
                  <a:srgbClr val="595959"/>
                </a:solidFill>
                <a:latin typeface="游ゴシック" pitchFamily="34" charset="0"/>
                <a:ea typeface="游ゴシック" pitchFamily="34" charset="-122"/>
                <a:cs typeface="游ゴシック" pitchFamily="34" charset="-120"/>
              </a:rPr>
              <a:t>）。</a:t>
            </a:r>
          </a:p>
          <a:p>
            <a:pPr marL="0" indent="0">
              <a:buNone/>
            </a:pPr>
            <a:r>
              <a:rPr lang="en-US" sz="1300" dirty="0" err="1">
                <a:solidFill>
                  <a:srgbClr val="595959"/>
                </a:solidFill>
                <a:latin typeface="游ゴシック" pitchFamily="34" charset="0"/>
                <a:ea typeface="游ゴシック" pitchFamily="34" charset="-122"/>
                <a:cs typeface="游ゴシック" pitchFamily="34" charset="-120"/>
              </a:rPr>
              <a:t>起動から</a:t>
            </a:r>
            <a:r>
              <a:rPr lang="en-US" sz="1300" dirty="0">
                <a:solidFill>
                  <a:srgbClr val="595959"/>
                </a:solidFill>
                <a:latin typeface="游ゴシック" pitchFamily="34" charset="0"/>
                <a:ea typeface="游ゴシック" pitchFamily="34" charset="-122"/>
                <a:cs typeface="游ゴシック" pitchFamily="34" charset="-120"/>
              </a:rPr>
              <a:t> 1 分は相対の条件を使わない</a:t>
            </a:r>
            <a:endParaRPr lang="en-US" sz="1300" dirty="0"/>
          </a:p>
        </p:txBody>
      </p:sp>
      <p:sp>
        <p:nvSpPr>
          <p:cNvPr id="41" name="Shape 38"/>
          <p:cNvSpPr/>
          <p:nvPr/>
        </p:nvSpPr>
        <p:spPr>
          <a:xfrm>
            <a:off x="457200" y="5440680"/>
            <a:ext cx="5120640" cy="1051560"/>
          </a:xfrm>
          <a:prstGeom prst="rect">
            <a:avLst/>
          </a:prstGeom>
          <a:solidFill>
            <a:srgbClr val="DDEBF3"/>
          </a:solidFill>
          <a:ln w="19050">
            <a:solidFill>
              <a:srgbClr val="156082"/>
            </a:solidFill>
            <a:prstDash val="solid"/>
          </a:ln>
        </p:spPr>
        <p:txBody>
          <a:bodyPr/>
          <a:lstStyle/>
          <a:p>
            <a:endParaRPr lang="ja-JP" altLang="en-US"/>
          </a:p>
        </p:txBody>
      </p:sp>
      <p:sp>
        <p:nvSpPr>
          <p:cNvPr id="42" name="Text 39"/>
          <p:cNvSpPr txBox="1"/>
          <p:nvPr/>
        </p:nvSpPr>
        <p:spPr>
          <a:xfrm>
            <a:off x="530352" y="5440680"/>
            <a:ext cx="4974336" cy="1051560"/>
          </a:xfrm>
          <a:prstGeom prst="rect">
            <a:avLst/>
          </a:prstGeom>
          <a:noFill/>
          <a:ln/>
        </p:spPr>
        <p:txBody>
          <a:bodyPr wrap="square" lIns="0" tIns="0" rIns="0" bIns="0" rtlCol="0" anchor="ctr"/>
          <a:lstStyle/>
          <a:p>
            <a:pPr marL="0" indent="0" algn="ctr">
              <a:buNone/>
            </a:pPr>
            <a:r>
              <a:rPr lang="en-US" sz="1500" b="1" dirty="0">
                <a:solidFill>
                  <a:srgbClr val="000000"/>
                </a:solidFill>
                <a:latin typeface="游ゴシック" pitchFamily="34" charset="0"/>
                <a:ea typeface="游ゴシック" pitchFamily="34" charset="-122"/>
                <a:cs typeface="游ゴシック" pitchFamily="34" charset="-120"/>
              </a:rPr>
              <a:t>1 段目：確率 0.7 以上 ＋ 瞬間音量 −30 dBFS 以上</a:t>
            </a:r>
            <a:endParaRPr lang="en-US" sz="1500" dirty="0"/>
          </a:p>
          <a:p>
            <a:pPr marL="0" indent="0" algn="ctr">
              <a:buNone/>
            </a:pPr>
            <a:r>
              <a:rPr lang="en-US" sz="1500" b="1" dirty="0">
                <a:solidFill>
                  <a:srgbClr val="000000"/>
                </a:solidFill>
                <a:latin typeface="游ゴシック" pitchFamily="34" charset="0"/>
                <a:ea typeface="游ゴシック" pitchFamily="34" charset="-122"/>
                <a:cs typeface="游ゴシック" pitchFamily="34" charset="-120"/>
              </a:rPr>
              <a:t>→ 1 時間で 80 件/時（6-1）</a:t>
            </a:r>
            <a:endParaRPr lang="en-US" sz="1500" dirty="0"/>
          </a:p>
        </p:txBody>
      </p:sp>
      <p:sp>
        <p:nvSpPr>
          <p:cNvPr id="43" name="Shape 40"/>
          <p:cNvSpPr/>
          <p:nvPr/>
        </p:nvSpPr>
        <p:spPr>
          <a:xfrm>
            <a:off x="5669280" y="5806440"/>
            <a:ext cx="457200" cy="329184"/>
          </a:xfrm>
          <a:prstGeom prst="rightArrow">
            <a:avLst/>
          </a:prstGeom>
          <a:solidFill>
            <a:srgbClr val="156082"/>
          </a:solidFill>
          <a:ln w="12700">
            <a:solidFill>
              <a:srgbClr val="156082"/>
            </a:solidFill>
            <a:prstDash val="solid"/>
          </a:ln>
        </p:spPr>
        <p:txBody>
          <a:bodyPr/>
          <a:lstStyle/>
          <a:p>
            <a:endParaRPr lang="ja-JP" altLang="en-US"/>
          </a:p>
        </p:txBody>
      </p:sp>
      <p:sp>
        <p:nvSpPr>
          <p:cNvPr id="44" name="Shape 41"/>
          <p:cNvSpPr/>
          <p:nvPr/>
        </p:nvSpPr>
        <p:spPr>
          <a:xfrm>
            <a:off x="6217920" y="5440680"/>
            <a:ext cx="5513832" cy="1051560"/>
          </a:xfrm>
          <a:prstGeom prst="rect">
            <a:avLst/>
          </a:prstGeom>
          <a:solidFill>
            <a:srgbClr val="DDF3EA"/>
          </a:solidFill>
          <a:ln w="19050">
            <a:solidFill>
              <a:srgbClr val="008A5E"/>
            </a:solidFill>
            <a:prstDash val="solid"/>
          </a:ln>
        </p:spPr>
        <p:txBody>
          <a:bodyPr/>
          <a:lstStyle/>
          <a:p>
            <a:endParaRPr lang="ja-JP" altLang="en-US"/>
          </a:p>
        </p:txBody>
      </p:sp>
      <p:sp>
        <p:nvSpPr>
          <p:cNvPr id="45" name="Text 42"/>
          <p:cNvSpPr txBox="1"/>
          <p:nvPr/>
        </p:nvSpPr>
        <p:spPr>
          <a:xfrm>
            <a:off x="6291072" y="5440680"/>
            <a:ext cx="5367528" cy="1051560"/>
          </a:xfrm>
          <a:prstGeom prst="rect">
            <a:avLst/>
          </a:prstGeom>
          <a:noFill/>
          <a:ln/>
        </p:spPr>
        <p:txBody>
          <a:bodyPr wrap="square" lIns="0" tIns="0" rIns="0" bIns="0" rtlCol="0" anchor="ctr"/>
          <a:lstStyle/>
          <a:p>
            <a:pPr marL="0" indent="0" algn="ctr">
              <a:buNone/>
            </a:pPr>
            <a:r>
              <a:rPr lang="en-US" sz="1500" b="1" dirty="0">
                <a:solidFill>
                  <a:srgbClr val="000000"/>
                </a:solidFill>
                <a:latin typeface="游ゴシック" pitchFamily="34" charset="0"/>
                <a:ea typeface="游ゴシック" pitchFamily="34" charset="-122"/>
                <a:cs typeface="游ゴシック" pitchFamily="34" charset="-120"/>
              </a:rPr>
              <a:t>2 段目：＋ 直近 1 分の暗騒音（音量の下位 10%）より 10 dB 大きい音だけ通す → 3.5 件/時（6-3）</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6-3　対策の効き目</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ctr"/>
          <a:lstStyle/>
          <a:p>
            <a:pPr marL="0" indent="0" algn="ctr">
              <a:buNone/>
            </a:pPr>
            <a:r>
              <a:rPr lang="en-US" sz="2800" b="1" dirty="0">
                <a:solidFill>
                  <a:srgbClr val="FF0000"/>
                </a:solidFill>
                <a:latin typeface="游ゴシック" pitchFamily="34" charset="0"/>
                <a:ea typeface="游ゴシック" pitchFamily="34" charset="-122"/>
                <a:cs typeface="游ゴシック" pitchFamily="34" charset="-120"/>
              </a:rPr>
              <a:t>2,117 窓のうち通知まで届いたのは、実際に鳴った 2 回だけ</a:t>
            </a:r>
            <a:endParaRPr lang="en-US" sz="2800" dirty="0"/>
          </a:p>
        </p:txBody>
      </p:sp>
      <p:sp>
        <p:nvSpPr>
          <p:cNvPr id="5" name="Shape 3"/>
          <p:cNvSpPr/>
          <p:nvPr/>
        </p:nvSpPr>
        <p:spPr>
          <a:xfrm>
            <a:off x="457200" y="2194560"/>
            <a:ext cx="2926080" cy="658368"/>
          </a:xfrm>
          <a:prstGeom prst="rect">
            <a:avLst/>
          </a:prstGeom>
          <a:solidFill>
            <a:srgbClr val="BFBFBF"/>
          </a:solidFill>
          <a:ln w="12700">
            <a:solidFill>
              <a:srgbClr val="BFBFBF"/>
            </a:solidFill>
            <a:prstDash val="solid"/>
          </a:ln>
        </p:spPr>
        <p:txBody>
          <a:bodyPr/>
          <a:lstStyle/>
          <a:p>
            <a:endParaRPr lang="ja-JP" altLang="en-US"/>
          </a:p>
        </p:txBody>
      </p:sp>
      <p:sp>
        <p:nvSpPr>
          <p:cNvPr id="6" name="Text 4"/>
          <p:cNvSpPr txBox="1"/>
          <p:nvPr/>
        </p:nvSpPr>
        <p:spPr>
          <a:xfrm>
            <a:off x="502920" y="2194560"/>
            <a:ext cx="2834640" cy="658368"/>
          </a:xfrm>
          <a:prstGeom prst="rect">
            <a:avLst/>
          </a:prstGeom>
          <a:noFill/>
          <a:ln/>
        </p:spPr>
        <p:txBody>
          <a:bodyPr wrap="square" lIns="0" tIns="0" rIns="0" bIns="0" rtlCol="0" anchor="ctr"/>
          <a:lstStyle/>
          <a:p>
            <a:pPr marL="0" indent="0">
              <a:buNone/>
            </a:pPr>
            <a:r>
              <a:rPr lang="en-US" sz="2400" b="1" dirty="0">
                <a:solidFill>
                  <a:srgbClr val="000000"/>
                </a:solidFill>
                <a:latin typeface="游ゴシック" pitchFamily="34" charset="0"/>
                <a:ea typeface="游ゴシック" pitchFamily="34" charset="-122"/>
                <a:cs typeface="游ゴシック" pitchFamily="34" charset="-120"/>
              </a:rPr>
              <a:t>2,117</a:t>
            </a:r>
            <a:endParaRPr lang="en-US" sz="2400" dirty="0"/>
          </a:p>
        </p:txBody>
      </p:sp>
      <p:sp>
        <p:nvSpPr>
          <p:cNvPr id="7" name="Text 5"/>
          <p:cNvSpPr txBox="1"/>
          <p:nvPr/>
        </p:nvSpPr>
        <p:spPr>
          <a:xfrm>
            <a:off x="3520440" y="2194560"/>
            <a:ext cx="3611880" cy="658368"/>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34 分のすべての窓</a:t>
            </a:r>
            <a:endParaRPr lang="en-US" sz="1600" dirty="0"/>
          </a:p>
        </p:txBody>
      </p:sp>
      <p:sp>
        <p:nvSpPr>
          <p:cNvPr id="8" name="Shape 6"/>
          <p:cNvSpPr/>
          <p:nvPr/>
        </p:nvSpPr>
        <p:spPr>
          <a:xfrm>
            <a:off x="457200" y="2971800"/>
            <a:ext cx="2240280" cy="658368"/>
          </a:xfrm>
          <a:prstGeom prst="rect">
            <a:avLst/>
          </a:prstGeom>
          <a:solidFill>
            <a:srgbClr val="9DC3E6"/>
          </a:solidFill>
          <a:ln w="12700">
            <a:solidFill>
              <a:srgbClr val="9DC3E6"/>
            </a:solidFill>
            <a:prstDash val="solid"/>
          </a:ln>
        </p:spPr>
        <p:txBody>
          <a:bodyPr/>
          <a:lstStyle/>
          <a:p>
            <a:endParaRPr lang="ja-JP" altLang="en-US"/>
          </a:p>
        </p:txBody>
      </p:sp>
      <p:sp>
        <p:nvSpPr>
          <p:cNvPr id="9" name="Text 7"/>
          <p:cNvSpPr txBox="1"/>
          <p:nvPr/>
        </p:nvSpPr>
        <p:spPr>
          <a:xfrm>
            <a:off x="502920" y="2971800"/>
            <a:ext cx="2148840" cy="658368"/>
          </a:xfrm>
          <a:prstGeom prst="rect">
            <a:avLst/>
          </a:prstGeom>
          <a:noFill/>
          <a:ln/>
        </p:spPr>
        <p:txBody>
          <a:bodyPr wrap="square" lIns="0" tIns="0" rIns="0" bIns="0" rtlCol="0" anchor="ctr"/>
          <a:lstStyle/>
          <a:p>
            <a:pPr marL="0" indent="0">
              <a:buNone/>
            </a:pPr>
            <a:r>
              <a:rPr lang="en-US" sz="2400" b="1" dirty="0">
                <a:solidFill>
                  <a:srgbClr val="000000"/>
                </a:solidFill>
                <a:latin typeface="游ゴシック" pitchFamily="34" charset="0"/>
                <a:ea typeface="游ゴシック" pitchFamily="34" charset="-122"/>
                <a:cs typeface="游ゴシック" pitchFamily="34" charset="-120"/>
              </a:rPr>
              <a:t>53</a:t>
            </a:r>
            <a:endParaRPr lang="en-US" sz="2400" dirty="0"/>
          </a:p>
        </p:txBody>
      </p:sp>
      <p:sp>
        <p:nvSpPr>
          <p:cNvPr id="10" name="Text 8"/>
          <p:cNvSpPr txBox="1"/>
          <p:nvPr/>
        </p:nvSpPr>
        <p:spPr>
          <a:xfrm>
            <a:off x="2834640" y="2971800"/>
            <a:ext cx="4297680" cy="658368"/>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モデルが対象の音だと確信した窓（確率 0.7 以上）</a:t>
            </a:r>
            <a:endParaRPr lang="en-US" sz="1600" dirty="0"/>
          </a:p>
        </p:txBody>
      </p:sp>
      <p:sp>
        <p:nvSpPr>
          <p:cNvPr id="11" name="Shape 9"/>
          <p:cNvSpPr/>
          <p:nvPr/>
        </p:nvSpPr>
        <p:spPr>
          <a:xfrm>
            <a:off x="457200" y="3749040"/>
            <a:ext cx="1554480" cy="658368"/>
          </a:xfrm>
          <a:prstGeom prst="rect">
            <a:avLst/>
          </a:prstGeom>
          <a:solidFill>
            <a:srgbClr val="5B9BD5"/>
          </a:solidFill>
          <a:ln w="12700">
            <a:solidFill>
              <a:srgbClr val="5B9BD5"/>
            </a:solidFill>
            <a:prstDash val="solid"/>
          </a:ln>
        </p:spPr>
        <p:txBody>
          <a:bodyPr/>
          <a:lstStyle/>
          <a:p>
            <a:endParaRPr lang="ja-JP" altLang="en-US"/>
          </a:p>
        </p:txBody>
      </p:sp>
      <p:sp>
        <p:nvSpPr>
          <p:cNvPr id="12" name="Text 10"/>
          <p:cNvSpPr txBox="1"/>
          <p:nvPr/>
        </p:nvSpPr>
        <p:spPr>
          <a:xfrm>
            <a:off x="502920" y="3749040"/>
            <a:ext cx="1463040" cy="658368"/>
          </a:xfrm>
          <a:prstGeom prst="rect">
            <a:avLst/>
          </a:prstGeom>
          <a:noFill/>
          <a:ln/>
        </p:spPr>
        <p:txBody>
          <a:bodyPr wrap="square" lIns="0" tIns="0" rIns="0" bIns="0" rtlCol="0" anchor="ctr"/>
          <a:lstStyle/>
          <a:p>
            <a:pPr marL="0" indent="0">
              <a:buNone/>
            </a:pPr>
            <a:r>
              <a:rPr lang="en-US" sz="2400" b="1" dirty="0">
                <a:solidFill>
                  <a:srgbClr val="FFFFFF"/>
                </a:solidFill>
                <a:latin typeface="游ゴシック" pitchFamily="34" charset="0"/>
                <a:ea typeface="游ゴシック" pitchFamily="34" charset="-122"/>
                <a:cs typeface="游ゴシック" pitchFamily="34" charset="-120"/>
              </a:rPr>
              <a:t>19</a:t>
            </a:r>
            <a:endParaRPr lang="en-US" sz="2400" dirty="0"/>
          </a:p>
        </p:txBody>
      </p:sp>
      <p:sp>
        <p:nvSpPr>
          <p:cNvPr id="13" name="Text 11"/>
          <p:cNvSpPr txBox="1"/>
          <p:nvPr/>
        </p:nvSpPr>
        <p:spPr>
          <a:xfrm>
            <a:off x="2148840" y="3749040"/>
            <a:ext cx="4983480" cy="658368"/>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そのうち瞬間音量 −30 dBFS 以上（1 段目で残る）</a:t>
            </a:r>
            <a:endParaRPr lang="en-US" sz="1600" dirty="0"/>
          </a:p>
        </p:txBody>
      </p:sp>
      <p:sp>
        <p:nvSpPr>
          <p:cNvPr id="14" name="Shape 12"/>
          <p:cNvSpPr/>
          <p:nvPr/>
        </p:nvSpPr>
        <p:spPr>
          <a:xfrm>
            <a:off x="457200" y="4526280"/>
            <a:ext cx="868680" cy="658368"/>
          </a:xfrm>
          <a:prstGeom prst="rect">
            <a:avLst/>
          </a:prstGeom>
          <a:solidFill>
            <a:srgbClr val="008A5E"/>
          </a:solidFill>
          <a:ln w="12700">
            <a:solidFill>
              <a:srgbClr val="008A5E"/>
            </a:solidFill>
            <a:prstDash val="solid"/>
          </a:ln>
        </p:spPr>
        <p:txBody>
          <a:bodyPr/>
          <a:lstStyle/>
          <a:p>
            <a:endParaRPr lang="ja-JP" altLang="en-US"/>
          </a:p>
        </p:txBody>
      </p:sp>
      <p:sp>
        <p:nvSpPr>
          <p:cNvPr id="15" name="Text 13"/>
          <p:cNvSpPr txBox="1"/>
          <p:nvPr/>
        </p:nvSpPr>
        <p:spPr>
          <a:xfrm>
            <a:off x="502920" y="4526280"/>
            <a:ext cx="777240" cy="658368"/>
          </a:xfrm>
          <a:prstGeom prst="rect">
            <a:avLst/>
          </a:prstGeom>
          <a:noFill/>
          <a:ln/>
        </p:spPr>
        <p:txBody>
          <a:bodyPr wrap="square" lIns="0" tIns="0" rIns="0" bIns="0" rtlCol="0" anchor="ctr"/>
          <a:lstStyle/>
          <a:p>
            <a:pPr marL="0" indent="0">
              <a:buNone/>
            </a:pPr>
            <a:r>
              <a:rPr lang="en-US" sz="2400" b="1" dirty="0">
                <a:solidFill>
                  <a:srgbClr val="FFFFFF"/>
                </a:solidFill>
                <a:latin typeface="游ゴシック" pitchFamily="34" charset="0"/>
                <a:ea typeface="游ゴシック" pitchFamily="34" charset="-122"/>
                <a:cs typeface="游ゴシック" pitchFamily="34" charset="-120"/>
              </a:rPr>
              <a:t>2</a:t>
            </a:r>
            <a:endParaRPr lang="en-US" sz="2400" dirty="0"/>
          </a:p>
        </p:txBody>
      </p:sp>
      <p:sp>
        <p:nvSpPr>
          <p:cNvPr id="16" name="Text 14"/>
          <p:cNvSpPr txBox="1"/>
          <p:nvPr/>
        </p:nvSpPr>
        <p:spPr>
          <a:xfrm>
            <a:off x="1463040" y="4526280"/>
            <a:ext cx="5669280" cy="658368"/>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そのうち暗騒音より 10 dB 以上大きい ＝ 通知</a:t>
            </a:r>
            <a:endParaRPr lang="en-US" sz="1600" dirty="0"/>
          </a:p>
        </p:txBody>
      </p:sp>
      <p:sp>
        <p:nvSpPr>
          <p:cNvPr id="17" name="Text 15"/>
          <p:cNvSpPr txBox="1"/>
          <p:nvPr/>
        </p:nvSpPr>
        <p:spPr>
          <a:xfrm>
            <a:off x="457200" y="5349240"/>
            <a:ext cx="6583680" cy="777240"/>
          </a:xfrm>
          <a:prstGeom prst="rect">
            <a:avLst/>
          </a:prstGeom>
          <a:noFill/>
          <a:ln/>
        </p:spPr>
        <p:txBody>
          <a:bodyPr wrap="square" lIns="0" tIns="0" rIns="0" bIns="0" rtlCol="0" anchor="t"/>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2 段目が無ければ 19 回（34 件/</a:t>
            </a:r>
            <a:r>
              <a:rPr lang="en-US" sz="1600" dirty="0" err="1">
                <a:solidFill>
                  <a:srgbClr val="000000"/>
                </a:solidFill>
                <a:latin typeface="游ゴシック" pitchFamily="34" charset="0"/>
                <a:ea typeface="游ゴシック" pitchFamily="34" charset="-122"/>
                <a:cs typeface="游ゴシック" pitchFamily="34" charset="-120"/>
              </a:rPr>
              <a:t>時）通知していた</a:t>
            </a:r>
            <a:r>
              <a:rPr lang="en-US" sz="1600" dirty="0">
                <a:solidFill>
                  <a:srgbClr val="000000"/>
                </a:solidFill>
                <a:latin typeface="游ゴシック" pitchFamily="34" charset="0"/>
                <a:ea typeface="游ゴシック" pitchFamily="34" charset="-122"/>
                <a:cs typeface="游ゴシック" pitchFamily="34" charset="-120"/>
              </a:rPr>
              <a:t>。</a:t>
            </a:r>
          </a:p>
          <a:p>
            <a:pPr marL="0" indent="0">
              <a:buNone/>
            </a:pPr>
            <a:r>
              <a:rPr lang="en-US" sz="1600" dirty="0" err="1">
                <a:solidFill>
                  <a:srgbClr val="000000"/>
                </a:solidFill>
                <a:latin typeface="游ゴシック" pitchFamily="34" charset="0"/>
                <a:ea typeface="游ゴシック" pitchFamily="34" charset="-122"/>
                <a:cs typeface="游ゴシック" pitchFamily="34" charset="-120"/>
              </a:rPr>
              <a:t>残った</a:t>
            </a:r>
            <a:r>
              <a:rPr lang="en-US" sz="1600" dirty="0">
                <a:solidFill>
                  <a:srgbClr val="000000"/>
                </a:solidFill>
                <a:latin typeface="游ゴシック" pitchFamily="34" charset="0"/>
                <a:ea typeface="游ゴシック" pitchFamily="34" charset="-122"/>
                <a:cs typeface="游ゴシック" pitchFamily="34" charset="-120"/>
              </a:rPr>
              <a:t> 2 回は暗騒音 +19 dB・+13 dB の実際の物音</a:t>
            </a:r>
            <a:endParaRPr lang="en-US" sz="1600" dirty="0"/>
          </a:p>
        </p:txBody>
      </p:sp>
      <p:sp>
        <p:nvSpPr>
          <p:cNvPr id="18" name="Text 16"/>
          <p:cNvSpPr txBox="1"/>
          <p:nvPr/>
        </p:nvSpPr>
        <p:spPr>
          <a:xfrm>
            <a:off x="7315200" y="2148840"/>
            <a:ext cx="4416552" cy="411480"/>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通し試験（同じ夜・同じ規則）</a:t>
            </a:r>
            <a:endParaRPr lang="en-US" sz="1800" dirty="0"/>
          </a:p>
        </p:txBody>
      </p:sp>
      <p:pic>
        <p:nvPicPr>
          <p:cNvPr id="19" name="Image 0" descr="/home/claude/v4/icons/FaCheckCircle_008A5E.png"/>
          <p:cNvPicPr>
            <a:picLocks noChangeAspect="1"/>
          </p:cNvPicPr>
          <p:nvPr/>
        </p:nvPicPr>
        <p:blipFill>
          <a:blip r:embed="rId3"/>
          <a:stretch>
            <a:fillRect/>
          </a:stretch>
        </p:blipFill>
        <p:spPr>
          <a:xfrm>
            <a:off x="7315200" y="2724912"/>
            <a:ext cx="365760" cy="365760"/>
          </a:xfrm>
          <a:prstGeom prst="rect">
            <a:avLst/>
          </a:prstGeom>
        </p:spPr>
      </p:pic>
      <p:sp>
        <p:nvSpPr>
          <p:cNvPr id="20" name="Text 17"/>
          <p:cNvSpPr txBox="1"/>
          <p:nvPr/>
        </p:nvSpPr>
        <p:spPr>
          <a:xfrm>
            <a:off x="7772400" y="2651760"/>
            <a:ext cx="3959352" cy="292608"/>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無音 60 秒</a:t>
            </a:r>
            <a:endParaRPr lang="en-US" sz="1600" dirty="0"/>
          </a:p>
        </p:txBody>
      </p:sp>
      <p:sp>
        <p:nvSpPr>
          <p:cNvPr id="21" name="Text 18"/>
          <p:cNvSpPr txBox="1"/>
          <p:nvPr/>
        </p:nvSpPr>
        <p:spPr>
          <a:xfrm>
            <a:off x="7772400" y="2944368"/>
            <a:ext cx="3959352" cy="347472"/>
          </a:xfrm>
          <a:prstGeom prst="rect">
            <a:avLst/>
          </a:prstGeom>
          <a:noFill/>
          <a:ln/>
        </p:spPr>
        <p:txBody>
          <a:bodyPr wrap="square" lIns="0" tIns="0" rIns="0" bIns="0" rtlCol="0" anchor="t"/>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通知 0</a:t>
            </a:r>
            <a:endParaRPr lang="en-US" sz="1400" dirty="0"/>
          </a:p>
        </p:txBody>
      </p:sp>
      <p:pic>
        <p:nvPicPr>
          <p:cNvPr id="22" name="Image 1" descr="/home/claude/v4/icons/FaCheckCircle_008A5E.png"/>
          <p:cNvPicPr>
            <a:picLocks noChangeAspect="1"/>
          </p:cNvPicPr>
          <p:nvPr/>
        </p:nvPicPr>
        <p:blipFill>
          <a:blip r:embed="rId3"/>
          <a:stretch>
            <a:fillRect/>
          </a:stretch>
        </p:blipFill>
        <p:spPr>
          <a:xfrm>
            <a:off x="7315200" y="3410712"/>
            <a:ext cx="365760" cy="365760"/>
          </a:xfrm>
          <a:prstGeom prst="rect">
            <a:avLst/>
          </a:prstGeom>
        </p:spPr>
      </p:pic>
      <p:sp>
        <p:nvSpPr>
          <p:cNvPr id="23" name="Text 19"/>
          <p:cNvSpPr txBox="1"/>
          <p:nvPr/>
        </p:nvSpPr>
        <p:spPr>
          <a:xfrm>
            <a:off x="7772400" y="3337560"/>
            <a:ext cx="3959352" cy="292608"/>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対象の音のクリップ 6 本</a:t>
            </a:r>
            <a:endParaRPr lang="en-US" sz="1600" dirty="0"/>
          </a:p>
        </p:txBody>
      </p:sp>
      <p:sp>
        <p:nvSpPr>
          <p:cNvPr id="24" name="Text 20"/>
          <p:cNvSpPr txBox="1"/>
          <p:nvPr/>
        </p:nvSpPr>
        <p:spPr>
          <a:xfrm>
            <a:off x="7772400" y="3630168"/>
            <a:ext cx="3959352" cy="347472"/>
          </a:xfrm>
          <a:prstGeom prst="rect">
            <a:avLst/>
          </a:prstGeom>
          <a:noFill/>
          <a:ln/>
        </p:spPr>
        <p:txBody>
          <a:bodyPr wrap="square" lIns="0" tIns="0" rIns="0" bIns="0" rtlCol="0" anchor="t"/>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4 本を検出（2 本は確率 0.7 未満）</a:t>
            </a:r>
            <a:endParaRPr lang="en-US" sz="1400" dirty="0"/>
          </a:p>
        </p:txBody>
      </p:sp>
      <p:pic>
        <p:nvPicPr>
          <p:cNvPr id="25" name="Image 2" descr="/home/claude/v4/icons/FaCheckCircle_008A5E.png"/>
          <p:cNvPicPr>
            <a:picLocks noChangeAspect="1"/>
          </p:cNvPicPr>
          <p:nvPr/>
        </p:nvPicPr>
        <p:blipFill>
          <a:blip r:embed="rId3"/>
          <a:stretch>
            <a:fillRect/>
          </a:stretch>
        </p:blipFill>
        <p:spPr>
          <a:xfrm>
            <a:off x="7315200" y="4096512"/>
            <a:ext cx="365760" cy="365760"/>
          </a:xfrm>
          <a:prstGeom prst="rect">
            <a:avLst/>
          </a:prstGeom>
        </p:spPr>
      </p:pic>
      <p:sp>
        <p:nvSpPr>
          <p:cNvPr id="26" name="Text 21"/>
          <p:cNvSpPr txBox="1"/>
          <p:nvPr/>
        </p:nvSpPr>
        <p:spPr>
          <a:xfrm>
            <a:off x="7772400" y="4023360"/>
            <a:ext cx="3959352" cy="292608"/>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対象外のクリップ 4 本</a:t>
            </a:r>
            <a:endParaRPr lang="en-US" sz="1600" dirty="0"/>
          </a:p>
        </p:txBody>
      </p:sp>
      <p:sp>
        <p:nvSpPr>
          <p:cNvPr id="27" name="Text 22"/>
          <p:cNvSpPr txBox="1"/>
          <p:nvPr/>
        </p:nvSpPr>
        <p:spPr>
          <a:xfrm>
            <a:off x="7772400" y="4315968"/>
            <a:ext cx="3959352" cy="347472"/>
          </a:xfrm>
          <a:prstGeom prst="rect">
            <a:avLst/>
          </a:prstGeom>
          <a:noFill/>
          <a:ln/>
        </p:spPr>
        <p:txBody>
          <a:bodyPr wrap="square" lIns="0" tIns="0" rIns="0" bIns="0" rtlCol="0" anchor="t"/>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通知 0</a:t>
            </a:r>
            <a:endParaRPr lang="en-US" sz="1400" dirty="0"/>
          </a:p>
        </p:txBody>
      </p:sp>
      <p:pic>
        <p:nvPicPr>
          <p:cNvPr id="28" name="Image 3" descr="/home/claude/v4/icons/FaCheckCircle_008A5E.png"/>
          <p:cNvPicPr>
            <a:picLocks noChangeAspect="1"/>
          </p:cNvPicPr>
          <p:nvPr/>
        </p:nvPicPr>
        <p:blipFill>
          <a:blip r:embed="rId3"/>
          <a:stretch>
            <a:fillRect/>
          </a:stretch>
        </p:blipFill>
        <p:spPr>
          <a:xfrm>
            <a:off x="7315200" y="4782312"/>
            <a:ext cx="365760" cy="365760"/>
          </a:xfrm>
          <a:prstGeom prst="rect">
            <a:avLst/>
          </a:prstGeom>
        </p:spPr>
      </p:pic>
      <p:sp>
        <p:nvSpPr>
          <p:cNvPr id="29" name="Text 23"/>
          <p:cNvSpPr txBox="1"/>
          <p:nvPr/>
        </p:nvSpPr>
        <p:spPr>
          <a:xfrm>
            <a:off x="7772400" y="4709160"/>
            <a:ext cx="3959352" cy="292608"/>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対象外の生活音 12 回</a:t>
            </a:r>
            <a:endParaRPr lang="en-US" sz="1600" dirty="0"/>
          </a:p>
        </p:txBody>
      </p:sp>
      <p:sp>
        <p:nvSpPr>
          <p:cNvPr id="30" name="Text 24"/>
          <p:cNvSpPr txBox="1"/>
          <p:nvPr/>
        </p:nvSpPr>
        <p:spPr>
          <a:xfrm>
            <a:off x="7772400" y="5001768"/>
            <a:ext cx="3959352" cy="347472"/>
          </a:xfrm>
          <a:prstGeom prst="rect">
            <a:avLst/>
          </a:prstGeom>
          <a:noFill/>
          <a:ln/>
        </p:spPr>
        <p:txBody>
          <a:bodyPr wrap="square" lIns="0" tIns="0" rIns="0" bIns="0" rtlCol="0" anchor="t"/>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通知 2（咳ばらい→くしゃみ）</a:t>
            </a:r>
            <a:endParaRPr lang="en-US" sz="1400" dirty="0"/>
          </a:p>
        </p:txBody>
      </p:sp>
      <p:pic>
        <p:nvPicPr>
          <p:cNvPr id="31" name="Image 4" descr="/home/claude/v4/icons/FaCheckCircle_008A5E.png"/>
          <p:cNvPicPr>
            <a:picLocks noChangeAspect="1"/>
          </p:cNvPicPr>
          <p:nvPr/>
        </p:nvPicPr>
        <p:blipFill>
          <a:blip r:embed="rId3"/>
          <a:stretch>
            <a:fillRect/>
          </a:stretch>
        </p:blipFill>
        <p:spPr>
          <a:xfrm>
            <a:off x="7315200" y="5468112"/>
            <a:ext cx="365760" cy="365760"/>
          </a:xfrm>
          <a:prstGeom prst="rect">
            <a:avLst/>
          </a:prstGeom>
        </p:spPr>
      </p:pic>
      <p:sp>
        <p:nvSpPr>
          <p:cNvPr id="32" name="Text 25"/>
          <p:cNvSpPr txBox="1"/>
          <p:nvPr/>
        </p:nvSpPr>
        <p:spPr>
          <a:xfrm>
            <a:off x="7772400" y="5394960"/>
            <a:ext cx="3959352" cy="292608"/>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板の判定と PC の再生</a:t>
            </a:r>
            <a:endParaRPr lang="en-US" sz="1600" dirty="0"/>
          </a:p>
        </p:txBody>
      </p:sp>
      <p:sp>
        <p:nvSpPr>
          <p:cNvPr id="33" name="Text 26"/>
          <p:cNvSpPr txBox="1"/>
          <p:nvPr/>
        </p:nvSpPr>
        <p:spPr>
          <a:xfrm>
            <a:off x="7772400" y="5687568"/>
            <a:ext cx="3959352" cy="347472"/>
          </a:xfrm>
          <a:prstGeom prst="rect">
            <a:avLst/>
          </a:prstGeom>
          <a:noFill/>
          <a:ln/>
        </p:spPr>
        <p:txBody>
          <a:bodyPr wrap="square" lIns="0" tIns="0" rIns="0" bIns="0" rtlCol="0" anchor="t"/>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1 窓を除き一致（起動直後）</a:t>
            </a:r>
            <a:endParaRPr lang="en-US" sz="1400" dirty="0"/>
          </a:p>
        </p:txBody>
      </p:sp>
      <p:sp>
        <p:nvSpPr>
          <p:cNvPr id="34" name="Text 27"/>
          <p:cNvSpPr txBox="1"/>
          <p:nvPr/>
        </p:nvSpPr>
        <p:spPr>
          <a:xfrm>
            <a:off x="457200" y="6172200"/>
            <a:ext cx="11274552" cy="320040"/>
          </a:xfrm>
          <a:prstGeom prst="rect">
            <a:avLst/>
          </a:prstGeom>
          <a:noFill/>
          <a:ln/>
        </p:spPr>
        <p:txBody>
          <a:bodyPr wrap="square" lIns="0" tIns="0" rIns="0" bIns="0" rtlCol="0" anchor="ctr"/>
          <a:lstStyle/>
          <a:p>
            <a:pPr marL="0" indent="0">
              <a:buNone/>
            </a:pPr>
            <a:r>
              <a:rPr lang="en-US" sz="1300" dirty="0">
                <a:solidFill>
                  <a:srgbClr val="595959"/>
                </a:solidFill>
                <a:latin typeface="游ゴシック" pitchFamily="34" charset="0"/>
                <a:ea typeface="游ゴシック" pitchFamily="34" charset="-122"/>
                <a:cs typeface="游ゴシック" pitchFamily="34" charset="-120"/>
              </a:rPr>
              <a:t>2026-09-28 00:27〜01:08、ESC-10 版</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7　実験 3：モデル差し替え</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Shape 2"/>
          <p:cNvSpPr/>
          <p:nvPr/>
        </p:nvSpPr>
        <p:spPr>
          <a:xfrm>
            <a:off x="0" y="1051560"/>
            <a:ext cx="12191695" cy="1097280"/>
          </a:xfrm>
          <a:prstGeom prst="rect">
            <a:avLst/>
          </a:prstGeom>
          <a:solidFill>
            <a:srgbClr val="DDEBF3"/>
          </a:solidFill>
          <a:ln w="12700">
            <a:solidFill>
              <a:srgbClr val="DDEBF3"/>
            </a:solidFill>
            <a:prstDash val="solid"/>
          </a:ln>
        </p:spPr>
        <p:txBody>
          <a:bodyPr/>
          <a:lstStyle/>
          <a:p>
            <a:endParaRPr lang="ja-JP" altLang="en-US"/>
          </a:p>
        </p:txBody>
      </p:sp>
      <p:sp>
        <p:nvSpPr>
          <p:cNvPr id="5" name="Text 3"/>
          <p:cNvSpPr txBox="1"/>
          <p:nvPr/>
        </p:nvSpPr>
        <p:spPr>
          <a:xfrm>
            <a:off x="457200" y="1097280"/>
            <a:ext cx="11274552" cy="1005840"/>
          </a:xfrm>
          <a:prstGeom prst="rect">
            <a:avLst/>
          </a:prstGeom>
          <a:noFill/>
          <a:ln/>
        </p:spPr>
        <p:txBody>
          <a:bodyPr wrap="square" lIns="0" tIns="0" rIns="0" bIns="0" rtlCol="0" anchor="ctr"/>
          <a:lstStyle/>
          <a:p>
            <a:pPr marL="0" indent="0">
              <a:buNone/>
            </a:pPr>
            <a:r>
              <a:rPr lang="en-US" sz="2800" b="1" dirty="0">
                <a:solidFill>
                  <a:srgbClr val="FF0000"/>
                </a:solidFill>
                <a:latin typeface="游ゴシック" pitchFamily="34" charset="0"/>
                <a:ea typeface="游ゴシック" pitchFamily="34" charset="-122"/>
                <a:cs typeface="游ゴシック" pitchFamily="34" charset="-120"/>
              </a:rPr>
              <a:t>1 行の切替で同じ検証が通り、基盤の数字は変わらなかった。弱点はモデル側に出た</a:t>
            </a:r>
            <a:endParaRPr lang="en-US" sz="2800" dirty="0"/>
          </a:p>
        </p:txBody>
      </p:sp>
      <p:sp>
        <p:nvSpPr>
          <p:cNvPr id="6" name="Text 4"/>
          <p:cNvSpPr txBox="1"/>
          <p:nvPr/>
        </p:nvSpPr>
        <p:spPr>
          <a:xfrm>
            <a:off x="457200" y="6217920"/>
            <a:ext cx="1234440" cy="420624"/>
          </a:xfrm>
          <a:prstGeom prst="rect">
            <a:avLst/>
          </a:prstGeom>
          <a:noFill/>
          <a:ln/>
        </p:spPr>
        <p:txBody>
          <a:bodyPr wrap="square" lIns="0" tIns="0" rIns="0" bIns="0" rtlCol="0" anchor="ctr"/>
          <a:lstStyle/>
          <a:p>
            <a:pPr marL="0" indent="0">
              <a:buNone/>
            </a:pPr>
            <a:r>
              <a:rPr lang="en-US" sz="1300" dirty="0">
                <a:solidFill>
                  <a:srgbClr val="595959"/>
                </a:solidFill>
                <a:latin typeface="游ゴシック" pitchFamily="34" charset="0"/>
                <a:ea typeface="游ゴシック" pitchFamily="34" charset="-122"/>
                <a:cs typeface="游ゴシック" pitchFamily="34" charset="-120"/>
              </a:rPr>
              <a:t>この章の流れ</a:t>
            </a:r>
            <a:endParaRPr lang="en-US" sz="1300" dirty="0"/>
          </a:p>
        </p:txBody>
      </p:sp>
      <p:sp>
        <p:nvSpPr>
          <p:cNvPr id="7" name="Shape 5"/>
          <p:cNvSpPr/>
          <p:nvPr/>
        </p:nvSpPr>
        <p:spPr>
          <a:xfrm>
            <a:off x="1737360" y="6217920"/>
            <a:ext cx="4850892" cy="420624"/>
          </a:xfrm>
          <a:prstGeom prst="rect">
            <a:avLst/>
          </a:prstGeom>
          <a:solidFill>
            <a:srgbClr val="FFFFFF"/>
          </a:solidFill>
          <a:ln w="15875">
            <a:solidFill>
              <a:srgbClr val="156082"/>
            </a:solidFill>
            <a:prstDash val="solid"/>
          </a:ln>
        </p:spPr>
        <p:txBody>
          <a:bodyPr/>
          <a:lstStyle/>
          <a:p>
            <a:endParaRPr lang="ja-JP" altLang="en-US"/>
          </a:p>
        </p:txBody>
      </p:sp>
      <p:sp>
        <p:nvSpPr>
          <p:cNvPr id="8" name="Text 6"/>
          <p:cNvSpPr txBox="1"/>
          <p:nvPr/>
        </p:nvSpPr>
        <p:spPr>
          <a:xfrm>
            <a:off x="1783080" y="6217920"/>
            <a:ext cx="47594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7-1 何を変えたか</a:t>
            </a:r>
            <a:endParaRPr lang="en-US" sz="1400" dirty="0"/>
          </a:p>
        </p:txBody>
      </p:sp>
      <p:sp>
        <p:nvSpPr>
          <p:cNvPr id="9" name="Shape 7"/>
          <p:cNvSpPr/>
          <p:nvPr/>
        </p:nvSpPr>
        <p:spPr>
          <a:xfrm>
            <a:off x="666140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10" name="Shape 8"/>
          <p:cNvSpPr/>
          <p:nvPr/>
        </p:nvSpPr>
        <p:spPr>
          <a:xfrm>
            <a:off x="6880860" y="6217920"/>
            <a:ext cx="4850892" cy="420624"/>
          </a:xfrm>
          <a:prstGeom prst="rect">
            <a:avLst/>
          </a:prstGeom>
          <a:solidFill>
            <a:srgbClr val="FFFFFF"/>
          </a:solidFill>
          <a:ln w="15875">
            <a:solidFill>
              <a:srgbClr val="156082"/>
            </a:solidFill>
            <a:prstDash val="solid"/>
          </a:ln>
        </p:spPr>
        <p:txBody>
          <a:bodyPr/>
          <a:lstStyle/>
          <a:p>
            <a:endParaRPr lang="ja-JP" altLang="en-US"/>
          </a:p>
        </p:txBody>
      </p:sp>
      <p:sp>
        <p:nvSpPr>
          <p:cNvPr id="11" name="Text 9"/>
          <p:cNvSpPr txBox="1"/>
          <p:nvPr/>
        </p:nvSpPr>
        <p:spPr>
          <a:xfrm>
            <a:off x="6926580" y="6217920"/>
            <a:ext cx="47594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7-2 結果</a:t>
            </a:r>
            <a:endParaRPr lang="en-US" sz="1400" dirty="0"/>
          </a:p>
        </p:txBody>
      </p:sp>
      <p:sp>
        <p:nvSpPr>
          <p:cNvPr id="12" name="Shape 10"/>
          <p:cNvSpPr/>
          <p:nvPr/>
        </p:nvSpPr>
        <p:spPr>
          <a:xfrm>
            <a:off x="457200" y="2331720"/>
            <a:ext cx="5394960" cy="640080"/>
          </a:xfrm>
          <a:prstGeom prst="rect">
            <a:avLst/>
          </a:prstGeom>
          <a:solidFill>
            <a:srgbClr val="DDEBF3"/>
          </a:solidFill>
          <a:ln w="15875">
            <a:solidFill>
              <a:srgbClr val="156082"/>
            </a:solidFill>
            <a:prstDash val="solid"/>
          </a:ln>
        </p:spPr>
        <p:txBody>
          <a:bodyPr/>
          <a:lstStyle/>
          <a:p>
            <a:endParaRPr lang="ja-JP" altLang="en-US"/>
          </a:p>
        </p:txBody>
      </p:sp>
      <p:sp>
        <p:nvSpPr>
          <p:cNvPr id="13" name="Text 11"/>
          <p:cNvSpPr txBox="1"/>
          <p:nvPr/>
        </p:nvSpPr>
        <p:spPr>
          <a:xfrm>
            <a:off x="548640" y="2331720"/>
            <a:ext cx="5212080" cy="640080"/>
          </a:xfrm>
          <a:prstGeom prst="rect">
            <a:avLst/>
          </a:prstGeom>
          <a:noFill/>
          <a:ln/>
        </p:spPr>
        <p:txBody>
          <a:bodyPr wrap="square" lIns="0" tIns="0" rIns="0" bIns="0" rtlCol="0" anchor="ctr"/>
          <a:lstStyle/>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判定・通知・ログ</a:t>
            </a:r>
            <a:endParaRPr lang="en-US" sz="1700" dirty="0"/>
          </a:p>
        </p:txBody>
      </p:sp>
      <p:sp>
        <p:nvSpPr>
          <p:cNvPr id="14" name="Shape 12"/>
          <p:cNvSpPr/>
          <p:nvPr/>
        </p:nvSpPr>
        <p:spPr>
          <a:xfrm>
            <a:off x="457200" y="3063240"/>
            <a:ext cx="5394960" cy="640080"/>
          </a:xfrm>
          <a:prstGeom prst="rect">
            <a:avLst/>
          </a:prstGeom>
          <a:solidFill>
            <a:srgbClr val="FBE9D3"/>
          </a:solidFill>
          <a:ln w="31750">
            <a:solidFill>
              <a:srgbClr val="E07B00"/>
            </a:solidFill>
            <a:prstDash val="solid"/>
          </a:ln>
        </p:spPr>
        <p:txBody>
          <a:bodyPr/>
          <a:lstStyle/>
          <a:p>
            <a:endParaRPr lang="ja-JP" altLang="en-US"/>
          </a:p>
        </p:txBody>
      </p:sp>
      <p:sp>
        <p:nvSpPr>
          <p:cNvPr id="15" name="Text 13"/>
          <p:cNvSpPr txBox="1"/>
          <p:nvPr/>
        </p:nvSpPr>
        <p:spPr>
          <a:xfrm>
            <a:off x="548640" y="3063240"/>
            <a:ext cx="5212080" cy="64008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モデル：ESC-10 版 ⇄ FSD50K 版</a:t>
            </a:r>
          </a:p>
          <a:p>
            <a:pPr marL="0" indent="0" algn="ctr">
              <a:buNone/>
            </a:pPr>
            <a:r>
              <a:rPr lang="en-US" sz="1200" b="1" dirty="0">
                <a:solidFill>
                  <a:srgbClr val="000000"/>
                </a:solidFill>
                <a:latin typeface="游ゴシック" pitchFamily="34" charset="0"/>
                <a:ea typeface="游ゴシック" pitchFamily="34" charset="-122"/>
                <a:cs typeface="游ゴシック" pitchFamily="34" charset="-120"/>
              </a:rPr>
              <a:t>（AED_MODEL を 1 行）</a:t>
            </a:r>
            <a:endParaRPr lang="en-US" sz="1200" dirty="0"/>
          </a:p>
        </p:txBody>
      </p:sp>
      <p:sp>
        <p:nvSpPr>
          <p:cNvPr id="16" name="Shape 14"/>
          <p:cNvSpPr/>
          <p:nvPr/>
        </p:nvSpPr>
        <p:spPr>
          <a:xfrm>
            <a:off x="457200" y="3794760"/>
            <a:ext cx="5394960" cy="640080"/>
          </a:xfrm>
          <a:prstGeom prst="rect">
            <a:avLst/>
          </a:prstGeom>
          <a:solidFill>
            <a:srgbClr val="DDEBF3"/>
          </a:solidFill>
          <a:ln w="15875">
            <a:solidFill>
              <a:srgbClr val="156082"/>
            </a:solidFill>
            <a:prstDash val="solid"/>
          </a:ln>
        </p:spPr>
        <p:txBody>
          <a:bodyPr/>
          <a:lstStyle/>
          <a:p>
            <a:endParaRPr lang="ja-JP" altLang="en-US"/>
          </a:p>
        </p:txBody>
      </p:sp>
      <p:sp>
        <p:nvSpPr>
          <p:cNvPr id="17" name="Text 15"/>
          <p:cNvSpPr txBox="1"/>
          <p:nvPr/>
        </p:nvSpPr>
        <p:spPr>
          <a:xfrm>
            <a:off x="548640" y="3794760"/>
            <a:ext cx="5212080" cy="640080"/>
          </a:xfrm>
          <a:prstGeom prst="rect">
            <a:avLst/>
          </a:prstGeom>
          <a:noFill/>
          <a:ln/>
        </p:spPr>
        <p:txBody>
          <a:bodyPr wrap="square" lIns="0" tIns="0" rIns="0" bIns="0" rtlCol="0" anchor="ctr"/>
          <a:lstStyle/>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前処理（log-mel）</a:t>
            </a:r>
            <a:endParaRPr lang="en-US" sz="1700" dirty="0"/>
          </a:p>
        </p:txBody>
      </p:sp>
      <p:sp>
        <p:nvSpPr>
          <p:cNvPr id="18" name="Shape 16"/>
          <p:cNvSpPr/>
          <p:nvPr/>
        </p:nvSpPr>
        <p:spPr>
          <a:xfrm>
            <a:off x="457200" y="4526280"/>
            <a:ext cx="5394960" cy="640080"/>
          </a:xfrm>
          <a:prstGeom prst="rect">
            <a:avLst/>
          </a:prstGeom>
          <a:solidFill>
            <a:srgbClr val="DDEBF3"/>
          </a:solidFill>
          <a:ln w="15875">
            <a:solidFill>
              <a:srgbClr val="156082"/>
            </a:solidFill>
            <a:prstDash val="solid"/>
          </a:ln>
        </p:spPr>
        <p:txBody>
          <a:bodyPr/>
          <a:lstStyle/>
          <a:p>
            <a:endParaRPr lang="ja-JP" altLang="en-US"/>
          </a:p>
        </p:txBody>
      </p:sp>
      <p:sp>
        <p:nvSpPr>
          <p:cNvPr id="19" name="Text 17"/>
          <p:cNvSpPr txBox="1"/>
          <p:nvPr/>
        </p:nvSpPr>
        <p:spPr>
          <a:xfrm>
            <a:off x="548640" y="4526280"/>
            <a:ext cx="5212080" cy="640080"/>
          </a:xfrm>
          <a:prstGeom prst="rect">
            <a:avLst/>
          </a:prstGeom>
          <a:noFill/>
          <a:ln/>
        </p:spPr>
        <p:txBody>
          <a:bodyPr wrap="square" lIns="0" tIns="0" rIns="0" bIns="0" rtlCol="0" anchor="ctr"/>
          <a:lstStyle/>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タスク構成・μT-Kernel</a:t>
            </a:r>
            <a:endParaRPr lang="en-US" sz="1700" dirty="0"/>
          </a:p>
        </p:txBody>
      </p:sp>
      <p:sp>
        <p:nvSpPr>
          <p:cNvPr id="20" name="Shape 18"/>
          <p:cNvSpPr/>
          <p:nvPr/>
        </p:nvSpPr>
        <p:spPr>
          <a:xfrm>
            <a:off x="457200" y="5257800"/>
            <a:ext cx="5394960" cy="640080"/>
          </a:xfrm>
          <a:prstGeom prst="rect">
            <a:avLst/>
          </a:prstGeom>
          <a:solidFill>
            <a:srgbClr val="F2F2F2"/>
          </a:solidFill>
          <a:ln w="15875">
            <a:solidFill>
              <a:srgbClr val="A6A6A6"/>
            </a:solidFill>
            <a:prstDash val="solid"/>
          </a:ln>
        </p:spPr>
        <p:txBody>
          <a:bodyPr/>
          <a:lstStyle/>
          <a:p>
            <a:endParaRPr lang="ja-JP" altLang="en-US"/>
          </a:p>
        </p:txBody>
      </p:sp>
      <p:sp>
        <p:nvSpPr>
          <p:cNvPr id="21" name="Text 19"/>
          <p:cNvSpPr txBox="1"/>
          <p:nvPr/>
        </p:nvSpPr>
        <p:spPr>
          <a:xfrm>
            <a:off x="548640" y="5257800"/>
            <a:ext cx="5212080" cy="640080"/>
          </a:xfrm>
          <a:prstGeom prst="rect">
            <a:avLst/>
          </a:prstGeom>
          <a:noFill/>
          <a:ln/>
        </p:spPr>
        <p:txBody>
          <a:bodyPr wrap="square" lIns="0" tIns="0" rIns="0" bIns="0" rtlCol="0" anchor="ctr"/>
          <a:lstStyle/>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ボード STM32N6570-DK</a:t>
            </a:r>
            <a:endParaRPr lang="en-US" sz="1700" dirty="0"/>
          </a:p>
        </p:txBody>
      </p:sp>
      <p:sp>
        <p:nvSpPr>
          <p:cNvPr id="22" name="Text 20"/>
          <p:cNvSpPr txBox="1"/>
          <p:nvPr/>
        </p:nvSpPr>
        <p:spPr>
          <a:xfrm>
            <a:off x="457200" y="5989320"/>
            <a:ext cx="5394960" cy="228600"/>
          </a:xfrm>
          <a:prstGeom prst="rect">
            <a:avLst/>
          </a:prstGeom>
          <a:noFill/>
          <a:ln/>
        </p:spPr>
        <p:txBody>
          <a:bodyPr wrap="square" lIns="0" tIns="0" rIns="0" bIns="0" rtlCol="0" anchor="ctr"/>
          <a:lstStyle/>
          <a:p>
            <a:pPr marL="0" indent="0" algn="ctr">
              <a:buNone/>
            </a:pPr>
            <a:r>
              <a:rPr lang="en-US" sz="1300" dirty="0">
                <a:solidFill>
                  <a:srgbClr val="595959"/>
                </a:solidFill>
                <a:latin typeface="游ゴシック" pitchFamily="34" charset="0"/>
                <a:ea typeface="游ゴシック" pitchFamily="34" charset="-122"/>
                <a:cs typeface="游ゴシック" pitchFamily="34" charset="-120"/>
              </a:rPr>
              <a:t>オレンジだけを替えた</a:t>
            </a:r>
            <a:endParaRPr lang="en-US" sz="1300" dirty="0"/>
          </a:p>
        </p:txBody>
      </p:sp>
      <p:sp>
        <p:nvSpPr>
          <p:cNvPr id="23" name="Shape 21"/>
          <p:cNvSpPr/>
          <p:nvPr/>
        </p:nvSpPr>
        <p:spPr>
          <a:xfrm>
            <a:off x="6172200" y="2331720"/>
            <a:ext cx="5559552" cy="411480"/>
          </a:xfrm>
          <a:prstGeom prst="rect">
            <a:avLst/>
          </a:prstGeom>
          <a:solidFill>
            <a:srgbClr val="008A5E"/>
          </a:solidFill>
          <a:ln w="12700">
            <a:solidFill>
              <a:srgbClr val="008A5E"/>
            </a:solidFill>
            <a:prstDash val="solid"/>
          </a:ln>
        </p:spPr>
        <p:txBody>
          <a:bodyPr/>
          <a:lstStyle/>
          <a:p>
            <a:endParaRPr lang="ja-JP" altLang="en-US"/>
          </a:p>
        </p:txBody>
      </p:sp>
      <p:sp>
        <p:nvSpPr>
          <p:cNvPr id="24" name="Text 22"/>
          <p:cNvSpPr txBox="1"/>
          <p:nvPr/>
        </p:nvSpPr>
        <p:spPr>
          <a:xfrm>
            <a:off x="6245352" y="2331720"/>
            <a:ext cx="5413248"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游ゴシック" pitchFamily="34" charset="0"/>
                <a:ea typeface="游ゴシック" pitchFamily="34" charset="-122"/>
                <a:cs typeface="游ゴシック" pitchFamily="34" charset="-120"/>
              </a:rPr>
              <a:t>基盤の数字：変わらない</a:t>
            </a:r>
            <a:endParaRPr lang="en-US" sz="1600" dirty="0"/>
          </a:p>
        </p:txBody>
      </p:sp>
      <p:sp>
        <p:nvSpPr>
          <p:cNvPr id="25" name="Text 23"/>
          <p:cNvSpPr txBox="1"/>
          <p:nvPr/>
        </p:nvSpPr>
        <p:spPr>
          <a:xfrm>
            <a:off x="6263640" y="2788920"/>
            <a:ext cx="2926080" cy="457200"/>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音の取りこぼし</a:t>
            </a:r>
            <a:endParaRPr lang="en-US" sz="1600" dirty="0"/>
          </a:p>
        </p:txBody>
      </p:sp>
      <p:sp>
        <p:nvSpPr>
          <p:cNvPr id="26" name="Text 24"/>
          <p:cNvSpPr txBox="1"/>
          <p:nvPr/>
        </p:nvSpPr>
        <p:spPr>
          <a:xfrm>
            <a:off x="9098280" y="2788920"/>
            <a:ext cx="2542032" cy="457200"/>
          </a:xfrm>
          <a:prstGeom prst="rect">
            <a:avLst/>
          </a:prstGeom>
          <a:noFill/>
          <a:ln/>
        </p:spPr>
        <p:txBody>
          <a:bodyPr wrap="square" lIns="0" tIns="0" rIns="0" bIns="0" rtlCol="0" anchor="ctr"/>
          <a:lstStyle/>
          <a:p>
            <a:pPr marL="0" indent="0">
              <a:buNone/>
            </a:pPr>
            <a:r>
              <a:rPr lang="en-US" sz="2000" b="1" dirty="0">
                <a:solidFill>
                  <a:srgbClr val="008A5E"/>
                </a:solidFill>
                <a:latin typeface="游ゴシック" pitchFamily="34" charset="0"/>
                <a:ea typeface="游ゴシック" pitchFamily="34" charset="-122"/>
                <a:cs typeface="游ゴシック" pitchFamily="34" charset="-120"/>
              </a:rPr>
              <a:t>0 → 0</a:t>
            </a:r>
            <a:endParaRPr lang="en-US" sz="2000" dirty="0"/>
          </a:p>
        </p:txBody>
      </p:sp>
      <p:sp>
        <p:nvSpPr>
          <p:cNvPr id="27" name="Text 25"/>
          <p:cNvSpPr txBox="1"/>
          <p:nvPr/>
        </p:nvSpPr>
        <p:spPr>
          <a:xfrm>
            <a:off x="6263640" y="3291840"/>
            <a:ext cx="2926080" cy="457200"/>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自己検証・前処理の一致</a:t>
            </a:r>
            <a:endParaRPr lang="en-US" sz="1600" dirty="0"/>
          </a:p>
        </p:txBody>
      </p:sp>
      <p:sp>
        <p:nvSpPr>
          <p:cNvPr id="28" name="Text 26"/>
          <p:cNvSpPr txBox="1"/>
          <p:nvPr/>
        </p:nvSpPr>
        <p:spPr>
          <a:xfrm>
            <a:off x="9098280" y="3291840"/>
            <a:ext cx="2542032" cy="457200"/>
          </a:xfrm>
          <a:prstGeom prst="rect">
            <a:avLst/>
          </a:prstGeom>
          <a:noFill/>
          <a:ln/>
        </p:spPr>
        <p:txBody>
          <a:bodyPr wrap="square" lIns="0" tIns="0" rIns="0" bIns="0" rtlCol="0" anchor="ctr"/>
          <a:lstStyle/>
          <a:p>
            <a:pPr marL="0" indent="0">
              <a:buNone/>
            </a:pPr>
            <a:r>
              <a:rPr lang="en-US" sz="2000" b="1" dirty="0">
                <a:solidFill>
                  <a:srgbClr val="008A5E"/>
                </a:solidFill>
                <a:latin typeface="游ゴシック" pitchFamily="34" charset="0"/>
                <a:ea typeface="游ゴシック" pitchFamily="34" charset="-122"/>
                <a:cs typeface="游ゴシック" pitchFamily="34" charset="-120"/>
              </a:rPr>
              <a:t>通過 → 通過</a:t>
            </a:r>
            <a:endParaRPr lang="en-US" sz="2000" dirty="0"/>
          </a:p>
        </p:txBody>
      </p:sp>
      <p:sp>
        <p:nvSpPr>
          <p:cNvPr id="29" name="Text 27"/>
          <p:cNvSpPr txBox="1"/>
          <p:nvPr/>
        </p:nvSpPr>
        <p:spPr>
          <a:xfrm>
            <a:off x="6263640" y="3794760"/>
            <a:ext cx="2926080" cy="457200"/>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推論の時間</a:t>
            </a:r>
            <a:endParaRPr lang="en-US" sz="1600" dirty="0"/>
          </a:p>
        </p:txBody>
      </p:sp>
      <p:sp>
        <p:nvSpPr>
          <p:cNvPr id="30" name="Text 28"/>
          <p:cNvSpPr txBox="1"/>
          <p:nvPr/>
        </p:nvSpPr>
        <p:spPr>
          <a:xfrm>
            <a:off x="9098280" y="3794760"/>
            <a:ext cx="2542032" cy="457200"/>
          </a:xfrm>
          <a:prstGeom prst="rect">
            <a:avLst/>
          </a:prstGeom>
          <a:noFill/>
          <a:ln/>
        </p:spPr>
        <p:txBody>
          <a:bodyPr wrap="square" lIns="0" tIns="0" rIns="0" bIns="0" rtlCol="0" anchor="ctr"/>
          <a:lstStyle/>
          <a:p>
            <a:pPr marL="0" indent="0">
              <a:buNone/>
            </a:pPr>
            <a:r>
              <a:rPr lang="en-US" sz="2000" b="1" dirty="0">
                <a:solidFill>
                  <a:srgbClr val="008A5E"/>
                </a:solidFill>
                <a:latin typeface="游ゴシック" pitchFamily="34" charset="0"/>
                <a:ea typeface="游ゴシック" pitchFamily="34" charset="-122"/>
                <a:cs typeface="游ゴシック" pitchFamily="34" charset="-120"/>
              </a:rPr>
              <a:t>41.1 → 3.55 ms</a:t>
            </a:r>
            <a:endParaRPr lang="en-US" sz="2000" dirty="0"/>
          </a:p>
        </p:txBody>
      </p:sp>
      <p:sp>
        <p:nvSpPr>
          <p:cNvPr id="31" name="Shape 29"/>
          <p:cNvSpPr/>
          <p:nvPr/>
        </p:nvSpPr>
        <p:spPr>
          <a:xfrm>
            <a:off x="6172200" y="4389120"/>
            <a:ext cx="5559552" cy="411480"/>
          </a:xfrm>
          <a:prstGeom prst="rect">
            <a:avLst/>
          </a:prstGeom>
          <a:solidFill>
            <a:srgbClr val="C00000"/>
          </a:solidFill>
          <a:ln w="12700">
            <a:solidFill>
              <a:srgbClr val="C00000"/>
            </a:solidFill>
            <a:prstDash val="solid"/>
          </a:ln>
        </p:spPr>
        <p:txBody>
          <a:bodyPr/>
          <a:lstStyle/>
          <a:p>
            <a:endParaRPr lang="ja-JP" altLang="en-US"/>
          </a:p>
        </p:txBody>
      </p:sp>
      <p:sp>
        <p:nvSpPr>
          <p:cNvPr id="32" name="Text 30"/>
          <p:cNvSpPr txBox="1"/>
          <p:nvPr/>
        </p:nvSpPr>
        <p:spPr>
          <a:xfrm>
            <a:off x="6245352" y="4389120"/>
            <a:ext cx="5413248"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游ゴシック" pitchFamily="34" charset="0"/>
                <a:ea typeface="游ゴシック" pitchFamily="34" charset="-122"/>
                <a:cs typeface="游ゴシック" pitchFamily="34" charset="-120"/>
              </a:rPr>
              <a:t>モデルの数字：悪化</a:t>
            </a:r>
            <a:endParaRPr lang="en-US" sz="1600" dirty="0"/>
          </a:p>
        </p:txBody>
      </p:sp>
      <p:sp>
        <p:nvSpPr>
          <p:cNvPr id="33" name="Text 31"/>
          <p:cNvSpPr txBox="1"/>
          <p:nvPr/>
        </p:nvSpPr>
        <p:spPr>
          <a:xfrm>
            <a:off x="6263640" y="4846320"/>
            <a:ext cx="2926080" cy="457200"/>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生活音の誤報</a:t>
            </a:r>
            <a:endParaRPr lang="en-US" sz="1600" dirty="0"/>
          </a:p>
        </p:txBody>
      </p:sp>
      <p:sp>
        <p:nvSpPr>
          <p:cNvPr id="34" name="Text 32"/>
          <p:cNvSpPr txBox="1"/>
          <p:nvPr/>
        </p:nvSpPr>
        <p:spPr>
          <a:xfrm>
            <a:off x="9098280" y="4846320"/>
            <a:ext cx="2542032" cy="457200"/>
          </a:xfrm>
          <a:prstGeom prst="rect">
            <a:avLst/>
          </a:prstGeom>
          <a:noFill/>
          <a:ln/>
        </p:spPr>
        <p:txBody>
          <a:bodyPr wrap="square" lIns="0" tIns="0" rIns="0" bIns="0" rtlCol="0" anchor="ctr"/>
          <a:lstStyle/>
          <a:p>
            <a:pPr marL="0" indent="0">
              <a:buNone/>
            </a:pPr>
            <a:r>
              <a:rPr lang="en-US" sz="2000" b="1" dirty="0">
                <a:solidFill>
                  <a:srgbClr val="C00000"/>
                </a:solidFill>
                <a:latin typeface="游ゴシック" pitchFamily="34" charset="0"/>
                <a:ea typeface="游ゴシック" pitchFamily="34" charset="-122"/>
                <a:cs typeface="游ゴシック" pitchFamily="34" charset="-120"/>
              </a:rPr>
              <a:t>2/10 → 9/10</a:t>
            </a:r>
            <a:endParaRPr lang="en-US" sz="2000" dirty="0"/>
          </a:p>
        </p:txBody>
      </p:sp>
      <p:sp>
        <p:nvSpPr>
          <p:cNvPr id="35" name="Text 33"/>
          <p:cNvSpPr txBox="1"/>
          <p:nvPr/>
        </p:nvSpPr>
        <p:spPr>
          <a:xfrm>
            <a:off x="6263640" y="5349240"/>
            <a:ext cx="2926080" cy="457200"/>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放置中の通知</a:t>
            </a:r>
            <a:endParaRPr lang="en-US" sz="1600" dirty="0"/>
          </a:p>
        </p:txBody>
      </p:sp>
      <p:sp>
        <p:nvSpPr>
          <p:cNvPr id="36" name="Text 34"/>
          <p:cNvSpPr txBox="1"/>
          <p:nvPr/>
        </p:nvSpPr>
        <p:spPr>
          <a:xfrm>
            <a:off x="9098280" y="5349240"/>
            <a:ext cx="2542032" cy="457200"/>
          </a:xfrm>
          <a:prstGeom prst="rect">
            <a:avLst/>
          </a:prstGeom>
          <a:noFill/>
          <a:ln/>
        </p:spPr>
        <p:txBody>
          <a:bodyPr wrap="square" lIns="0" tIns="0" rIns="0" bIns="0" rtlCol="0" anchor="ctr"/>
          <a:lstStyle/>
          <a:p>
            <a:pPr marL="0" indent="0">
              <a:buNone/>
            </a:pPr>
            <a:r>
              <a:rPr lang="en-US" sz="2000" b="1" dirty="0">
                <a:solidFill>
                  <a:srgbClr val="C00000"/>
                </a:solidFill>
                <a:latin typeface="游ゴシック" pitchFamily="34" charset="0"/>
                <a:ea typeface="游ゴシック" pitchFamily="34" charset="-122"/>
                <a:cs typeface="游ゴシック" pitchFamily="34" charset="-120"/>
              </a:rPr>
              <a:t>3.5 → 250 件/時</a:t>
            </a:r>
            <a:endParaRPr lang="en-US" sz="2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7-1　何を変えたか</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t"/>
          <a:lstStyle/>
          <a:p>
            <a:pPr marL="0" indent="0">
              <a:buNone/>
            </a:pPr>
            <a:r>
              <a:rPr lang="en-US" sz="2800" b="1" dirty="0">
                <a:solidFill>
                  <a:srgbClr val="FF0000"/>
                </a:solidFill>
                <a:latin typeface="游ゴシック" pitchFamily="34" charset="0"/>
                <a:ea typeface="游ゴシック" pitchFamily="34" charset="-122"/>
                <a:cs typeface="游ゴシック" pitchFamily="34" charset="-120"/>
              </a:rPr>
              <a:t>変えたのはモデルだけ。重みが内蔵 RAM </a:t>
            </a:r>
            <a:r>
              <a:rPr lang="en-US" sz="2800" b="1" dirty="0" err="1">
                <a:solidFill>
                  <a:srgbClr val="FF0000"/>
                </a:solidFill>
                <a:latin typeface="游ゴシック" pitchFamily="34" charset="0"/>
                <a:ea typeface="游ゴシック" pitchFamily="34" charset="-122"/>
                <a:cs typeface="游ゴシック" pitchFamily="34" charset="-120"/>
              </a:rPr>
              <a:t>に入り</a:t>
            </a:r>
            <a:r>
              <a:rPr lang="en-US" sz="2800" b="1" dirty="0">
                <a:solidFill>
                  <a:srgbClr val="FF0000"/>
                </a:solidFill>
                <a:latin typeface="游ゴシック" pitchFamily="34" charset="0"/>
                <a:ea typeface="游ゴシック" pitchFamily="34" charset="-122"/>
                <a:cs typeface="游ゴシック" pitchFamily="34" charset="-120"/>
              </a:rPr>
              <a:t>、</a:t>
            </a:r>
          </a:p>
          <a:p>
            <a:pPr marL="0" indent="0">
              <a:buNone/>
            </a:pPr>
            <a:r>
              <a:rPr lang="en-US" sz="2800" b="1" dirty="0" err="1">
                <a:solidFill>
                  <a:srgbClr val="FF0000"/>
                </a:solidFill>
                <a:latin typeface="游ゴシック" pitchFamily="34" charset="0"/>
                <a:ea typeface="游ゴシック" pitchFamily="34" charset="-122"/>
                <a:cs typeface="游ゴシック" pitchFamily="34" charset="-120"/>
              </a:rPr>
              <a:t>推論は</a:t>
            </a:r>
            <a:r>
              <a:rPr lang="en-US" sz="2800" b="1" dirty="0">
                <a:solidFill>
                  <a:srgbClr val="FF0000"/>
                </a:solidFill>
                <a:latin typeface="游ゴシック" pitchFamily="34" charset="0"/>
                <a:ea typeface="游ゴシック" pitchFamily="34" charset="-122"/>
                <a:cs typeface="游ゴシック" pitchFamily="34" charset="-120"/>
              </a:rPr>
              <a:t> 41 → 3.55 ms</a:t>
            </a:r>
            <a:endParaRPr lang="en-US" sz="2800" dirty="0"/>
          </a:p>
        </p:txBody>
      </p:sp>
      <p:sp>
        <p:nvSpPr>
          <p:cNvPr id="5" name="Shape 3"/>
          <p:cNvSpPr/>
          <p:nvPr/>
        </p:nvSpPr>
        <p:spPr>
          <a:xfrm>
            <a:off x="457200" y="2194560"/>
            <a:ext cx="5532120" cy="3246120"/>
          </a:xfrm>
          <a:prstGeom prst="rect">
            <a:avLst/>
          </a:prstGeom>
          <a:solidFill>
            <a:srgbClr val="FFFFFF"/>
          </a:solidFill>
          <a:ln w="19050">
            <a:solidFill>
              <a:srgbClr val="156082"/>
            </a:solidFill>
            <a:prstDash val="solid"/>
          </a:ln>
        </p:spPr>
        <p:txBody>
          <a:bodyPr/>
          <a:lstStyle/>
          <a:p>
            <a:endParaRPr lang="ja-JP" altLang="en-US"/>
          </a:p>
        </p:txBody>
      </p:sp>
      <p:sp>
        <p:nvSpPr>
          <p:cNvPr id="6" name="Shape 4"/>
          <p:cNvSpPr/>
          <p:nvPr/>
        </p:nvSpPr>
        <p:spPr>
          <a:xfrm>
            <a:off x="457200" y="2194560"/>
            <a:ext cx="5532120" cy="548640"/>
          </a:xfrm>
          <a:prstGeom prst="rect">
            <a:avLst/>
          </a:prstGeom>
          <a:solidFill>
            <a:srgbClr val="156082"/>
          </a:solidFill>
          <a:ln w="12700">
            <a:solidFill>
              <a:srgbClr val="156082"/>
            </a:solidFill>
            <a:prstDash val="solid"/>
          </a:ln>
        </p:spPr>
        <p:txBody>
          <a:bodyPr/>
          <a:lstStyle/>
          <a:p>
            <a:endParaRPr lang="ja-JP" altLang="en-US"/>
          </a:p>
        </p:txBody>
      </p:sp>
      <p:sp>
        <p:nvSpPr>
          <p:cNvPr id="7" name="Text 5"/>
          <p:cNvSpPr txBox="1"/>
          <p:nvPr/>
        </p:nvSpPr>
        <p:spPr>
          <a:xfrm>
            <a:off x="530352" y="2194560"/>
            <a:ext cx="5385816"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游ゴシック" pitchFamily="34" charset="0"/>
                <a:ea typeface="游ゴシック" pitchFamily="34" charset="-122"/>
                <a:cs typeface="游ゴシック" pitchFamily="34" charset="-120"/>
              </a:rPr>
              <a:t>ESC-10 </a:t>
            </a:r>
            <a:r>
              <a:rPr lang="en-US" sz="2000" b="1" dirty="0" err="1">
                <a:solidFill>
                  <a:srgbClr val="FFFFFF"/>
                </a:solidFill>
                <a:latin typeface="游ゴシック" pitchFamily="34" charset="0"/>
                <a:ea typeface="游ゴシック" pitchFamily="34" charset="-122"/>
                <a:cs typeface="游ゴシック" pitchFamily="34" charset="-120"/>
              </a:rPr>
              <a:t>版（既定</a:t>
            </a:r>
            <a:r>
              <a:rPr lang="ja-JP" altLang="en-US" sz="2000" b="1" dirty="0">
                <a:solidFill>
                  <a:srgbClr val="FFFFFF"/>
                </a:solidFill>
                <a:latin typeface="游ゴシック" pitchFamily="34" charset="0"/>
                <a:ea typeface="游ゴシック" pitchFamily="34" charset="-122"/>
                <a:cs typeface="游ゴシック" pitchFamily="34" charset="-120"/>
              </a:rPr>
              <a:t>、動作例</a:t>
            </a:r>
            <a:r>
              <a:rPr lang="en-US" altLang="ja-JP" sz="2000" b="1" dirty="0">
                <a:solidFill>
                  <a:srgbClr val="FFFFFF"/>
                </a:solidFill>
                <a:latin typeface="游ゴシック" pitchFamily="34" charset="0"/>
                <a:ea typeface="游ゴシック" pitchFamily="34" charset="-122"/>
                <a:cs typeface="游ゴシック" pitchFamily="34" charset="-120"/>
              </a:rPr>
              <a:t>1</a:t>
            </a:r>
            <a:r>
              <a:rPr lang="en-US" sz="2000" b="1" dirty="0">
                <a:solidFill>
                  <a:srgbClr val="FFFFFF"/>
                </a:solidFill>
                <a:latin typeface="游ゴシック" pitchFamily="34" charset="0"/>
                <a:ea typeface="游ゴシック" pitchFamily="34" charset="-122"/>
                <a:cs typeface="游ゴシック" pitchFamily="34" charset="-120"/>
              </a:rPr>
              <a:t>）</a:t>
            </a:r>
            <a:endParaRPr lang="en-US" sz="2000" dirty="0"/>
          </a:p>
        </p:txBody>
      </p:sp>
      <p:sp>
        <p:nvSpPr>
          <p:cNvPr id="8" name="Text 6"/>
          <p:cNvSpPr txBox="1"/>
          <p:nvPr/>
        </p:nvSpPr>
        <p:spPr>
          <a:xfrm>
            <a:off x="640080" y="2834640"/>
            <a:ext cx="1280160" cy="502920"/>
          </a:xfrm>
          <a:prstGeom prst="rect">
            <a:avLst/>
          </a:prstGeom>
          <a:noFill/>
          <a:ln/>
        </p:spPr>
        <p:txBody>
          <a:bodyPr wrap="square" lIns="0" tIns="0" rIns="0" bIns="0" rtlCol="0" anchor="ctr"/>
          <a:lstStyle/>
          <a:p>
            <a:pPr marL="0" indent="0">
              <a:buNone/>
            </a:pPr>
            <a:r>
              <a:rPr lang="en-US" sz="1500" b="1" dirty="0">
                <a:solidFill>
                  <a:srgbClr val="595959"/>
                </a:solidFill>
                <a:latin typeface="游ゴシック" pitchFamily="34" charset="0"/>
                <a:ea typeface="游ゴシック" pitchFamily="34" charset="-122"/>
                <a:cs typeface="游ゴシック" pitchFamily="34" charset="-120"/>
              </a:rPr>
              <a:t>モデル</a:t>
            </a:r>
            <a:endParaRPr lang="en-US" sz="1500" dirty="0"/>
          </a:p>
        </p:txBody>
      </p:sp>
      <p:sp>
        <p:nvSpPr>
          <p:cNvPr id="9" name="Text 7"/>
          <p:cNvSpPr txBox="1"/>
          <p:nvPr/>
        </p:nvSpPr>
        <p:spPr>
          <a:xfrm>
            <a:off x="1920240" y="2834640"/>
            <a:ext cx="3886200" cy="502920"/>
          </a:xfrm>
          <a:prstGeom prst="rect">
            <a:avLst/>
          </a:prstGeom>
          <a:noFill/>
          <a:ln/>
        </p:spPr>
        <p:txBody>
          <a:bodyPr wrap="square" lIns="0" tIns="0" rIns="0" bIns="0" rtlCol="0" anchor="ct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YAMNet-1024（ST model zoo）</a:t>
            </a:r>
            <a:endParaRPr lang="en-US" sz="1700" dirty="0"/>
          </a:p>
        </p:txBody>
      </p:sp>
      <p:sp>
        <p:nvSpPr>
          <p:cNvPr id="10" name="Text 8"/>
          <p:cNvSpPr txBox="1"/>
          <p:nvPr/>
        </p:nvSpPr>
        <p:spPr>
          <a:xfrm>
            <a:off x="640080" y="3401568"/>
            <a:ext cx="1280160" cy="502920"/>
          </a:xfrm>
          <a:prstGeom prst="rect">
            <a:avLst/>
          </a:prstGeom>
          <a:noFill/>
          <a:ln/>
        </p:spPr>
        <p:txBody>
          <a:bodyPr wrap="square" lIns="0" tIns="0" rIns="0" bIns="0" rtlCol="0" anchor="ctr"/>
          <a:lstStyle/>
          <a:p>
            <a:pPr marL="0" indent="0">
              <a:buNone/>
            </a:pPr>
            <a:r>
              <a:rPr lang="en-US" sz="1500" b="1" dirty="0">
                <a:solidFill>
                  <a:srgbClr val="595959"/>
                </a:solidFill>
                <a:latin typeface="游ゴシック" pitchFamily="34" charset="0"/>
                <a:ea typeface="游ゴシック" pitchFamily="34" charset="-122"/>
                <a:cs typeface="游ゴシック" pitchFamily="34" charset="-120"/>
              </a:rPr>
              <a:t>知らせる音</a:t>
            </a:r>
            <a:endParaRPr lang="en-US" sz="1500" dirty="0"/>
          </a:p>
        </p:txBody>
      </p:sp>
      <p:sp>
        <p:nvSpPr>
          <p:cNvPr id="11" name="Text 9"/>
          <p:cNvSpPr txBox="1"/>
          <p:nvPr/>
        </p:nvSpPr>
        <p:spPr>
          <a:xfrm>
            <a:off x="1920240" y="3401568"/>
            <a:ext cx="3886200" cy="502920"/>
          </a:xfrm>
          <a:prstGeom prst="rect">
            <a:avLst/>
          </a:prstGeom>
          <a:noFill/>
          <a:ln/>
        </p:spPr>
        <p:txBody>
          <a:bodyPr wrap="square" lIns="0" tIns="0" rIns="0" bIns="0" rtlCol="0" anchor="ctr"/>
          <a:lstStyle/>
          <a:p>
            <a:pPr marL="0" indent="0">
              <a:buNone/>
            </a:pPr>
            <a:r>
              <a:rPr lang="en-US" sz="1700" dirty="0" err="1">
                <a:solidFill>
                  <a:srgbClr val="000000"/>
                </a:solidFill>
                <a:latin typeface="游ゴシック" pitchFamily="34" charset="0"/>
                <a:ea typeface="游ゴシック" pitchFamily="34" charset="-122"/>
                <a:cs typeface="游ゴシック" pitchFamily="34" charset="-120"/>
              </a:rPr>
              <a:t>犬・泣き声・くしゃみ</a:t>
            </a:r>
            <a:endParaRPr lang="en-US" sz="17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1700" dirty="0">
                <a:solidFill>
                  <a:srgbClr val="000000"/>
                </a:solidFill>
                <a:latin typeface="游ゴシック" pitchFamily="34" charset="0"/>
                <a:ea typeface="游ゴシック" pitchFamily="34" charset="-122"/>
                <a:cs typeface="游ゴシック" pitchFamily="34" charset="-120"/>
              </a:rPr>
              <a:t>（10種のうち3</a:t>
            </a:r>
            <a:r>
              <a:rPr lang="ja-JP" altLang="en-US" sz="1700" dirty="0">
                <a:solidFill>
                  <a:srgbClr val="000000"/>
                </a:solidFill>
                <a:latin typeface="游ゴシック" pitchFamily="34" charset="0"/>
                <a:ea typeface="游ゴシック" pitchFamily="34" charset="-122"/>
                <a:cs typeface="游ゴシック" pitchFamily="34" charset="-120"/>
              </a:rPr>
              <a:t>種</a:t>
            </a:r>
            <a:r>
              <a:rPr lang="en-US" sz="1700" dirty="0">
                <a:solidFill>
                  <a:srgbClr val="000000"/>
                </a:solidFill>
                <a:latin typeface="游ゴシック" pitchFamily="34" charset="0"/>
                <a:ea typeface="游ゴシック" pitchFamily="34" charset="-122"/>
                <a:cs typeface="游ゴシック" pitchFamily="34" charset="-120"/>
              </a:rPr>
              <a:t>）</a:t>
            </a:r>
            <a:endParaRPr lang="en-US" sz="1700" dirty="0"/>
          </a:p>
        </p:txBody>
      </p:sp>
      <p:sp>
        <p:nvSpPr>
          <p:cNvPr id="12" name="Text 10"/>
          <p:cNvSpPr txBox="1"/>
          <p:nvPr/>
        </p:nvSpPr>
        <p:spPr>
          <a:xfrm>
            <a:off x="640080" y="3968496"/>
            <a:ext cx="1280160" cy="502920"/>
          </a:xfrm>
          <a:prstGeom prst="rect">
            <a:avLst/>
          </a:prstGeom>
          <a:noFill/>
          <a:ln/>
        </p:spPr>
        <p:txBody>
          <a:bodyPr wrap="square" lIns="0" tIns="0" rIns="0" bIns="0" rtlCol="0" anchor="ctr"/>
          <a:lstStyle/>
          <a:p>
            <a:pPr marL="0" indent="0">
              <a:buNone/>
            </a:pPr>
            <a:r>
              <a:rPr lang="en-US" sz="1500" b="1" dirty="0">
                <a:solidFill>
                  <a:srgbClr val="595959"/>
                </a:solidFill>
                <a:latin typeface="游ゴシック" pitchFamily="34" charset="0"/>
                <a:ea typeface="游ゴシック" pitchFamily="34" charset="-122"/>
                <a:cs typeface="游ゴシック" pitchFamily="34" charset="-120"/>
              </a:rPr>
              <a:t>重み</a:t>
            </a:r>
            <a:endParaRPr lang="en-US" sz="1500" dirty="0"/>
          </a:p>
        </p:txBody>
      </p:sp>
      <p:sp>
        <p:nvSpPr>
          <p:cNvPr id="13" name="Text 11"/>
          <p:cNvSpPr txBox="1"/>
          <p:nvPr/>
        </p:nvSpPr>
        <p:spPr>
          <a:xfrm>
            <a:off x="1920240" y="3968496"/>
            <a:ext cx="3886200" cy="502920"/>
          </a:xfrm>
          <a:prstGeom prst="rect">
            <a:avLst/>
          </a:prstGeom>
          <a:noFill/>
          <a:ln/>
        </p:spPr>
        <p:txBody>
          <a:bodyPr wrap="square" lIns="0" tIns="0" rIns="0" bIns="0" rtlCol="0" anchor="ct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3.1 MiB・外部フラッシュ</a:t>
            </a:r>
            <a:endParaRPr lang="en-US" sz="1700" dirty="0"/>
          </a:p>
        </p:txBody>
      </p:sp>
      <p:sp>
        <p:nvSpPr>
          <p:cNvPr id="14" name="Text 12"/>
          <p:cNvSpPr txBox="1"/>
          <p:nvPr/>
        </p:nvSpPr>
        <p:spPr>
          <a:xfrm>
            <a:off x="640080" y="4617720"/>
            <a:ext cx="1280160" cy="640080"/>
          </a:xfrm>
          <a:prstGeom prst="rect">
            <a:avLst/>
          </a:prstGeom>
          <a:noFill/>
          <a:ln/>
        </p:spPr>
        <p:txBody>
          <a:bodyPr wrap="square" lIns="0" tIns="0" rIns="0" bIns="0" rtlCol="0" anchor="ctr"/>
          <a:lstStyle/>
          <a:p>
            <a:pPr marL="0" indent="0">
              <a:buNone/>
            </a:pPr>
            <a:r>
              <a:rPr lang="en-US" sz="1500" b="1" dirty="0">
                <a:solidFill>
                  <a:srgbClr val="595959"/>
                </a:solidFill>
                <a:latin typeface="游ゴシック" pitchFamily="34" charset="0"/>
                <a:ea typeface="游ゴシック" pitchFamily="34" charset="-122"/>
                <a:cs typeface="游ゴシック" pitchFamily="34" charset="-120"/>
              </a:rPr>
              <a:t>推論</a:t>
            </a:r>
            <a:endParaRPr lang="en-US" sz="1500" dirty="0"/>
          </a:p>
        </p:txBody>
      </p:sp>
      <p:sp>
        <p:nvSpPr>
          <p:cNvPr id="15" name="Text 13"/>
          <p:cNvSpPr txBox="1"/>
          <p:nvPr/>
        </p:nvSpPr>
        <p:spPr>
          <a:xfrm>
            <a:off x="1920240" y="4572000"/>
            <a:ext cx="3886200" cy="731520"/>
          </a:xfrm>
          <a:prstGeom prst="rect">
            <a:avLst/>
          </a:prstGeom>
          <a:noFill/>
          <a:ln/>
        </p:spPr>
        <p:txBody>
          <a:bodyPr wrap="square" lIns="0" tIns="0" rIns="0" bIns="0" rtlCol="0" anchor="ctr"/>
          <a:lstStyle/>
          <a:p>
            <a:pPr marL="0" indent="0">
              <a:buNone/>
            </a:pPr>
            <a:r>
              <a:rPr lang="en-US" sz="3600" b="1" dirty="0">
                <a:solidFill>
                  <a:srgbClr val="000000"/>
                </a:solidFill>
                <a:latin typeface="游ゴシック" pitchFamily="34" charset="0"/>
                <a:ea typeface="游ゴシック" pitchFamily="34" charset="-122"/>
                <a:cs typeface="游ゴシック" pitchFamily="34" charset="-120"/>
              </a:rPr>
              <a:t>41.1 ms</a:t>
            </a:r>
            <a:endParaRPr lang="en-US" sz="3600" dirty="0"/>
          </a:p>
        </p:txBody>
      </p:sp>
      <p:sp>
        <p:nvSpPr>
          <p:cNvPr id="16" name="Shape 14"/>
          <p:cNvSpPr/>
          <p:nvPr/>
        </p:nvSpPr>
        <p:spPr>
          <a:xfrm>
            <a:off x="6199632" y="2194560"/>
            <a:ext cx="5532120" cy="3246120"/>
          </a:xfrm>
          <a:prstGeom prst="rect">
            <a:avLst/>
          </a:prstGeom>
          <a:solidFill>
            <a:srgbClr val="FFFFFF"/>
          </a:solidFill>
          <a:ln w="19050">
            <a:solidFill>
              <a:srgbClr val="E07B00"/>
            </a:solidFill>
            <a:prstDash val="solid"/>
          </a:ln>
        </p:spPr>
        <p:txBody>
          <a:bodyPr/>
          <a:lstStyle/>
          <a:p>
            <a:endParaRPr lang="ja-JP" altLang="en-US"/>
          </a:p>
        </p:txBody>
      </p:sp>
      <p:sp>
        <p:nvSpPr>
          <p:cNvPr id="17" name="Shape 15"/>
          <p:cNvSpPr/>
          <p:nvPr/>
        </p:nvSpPr>
        <p:spPr>
          <a:xfrm>
            <a:off x="6199632" y="2194560"/>
            <a:ext cx="5532120" cy="548640"/>
          </a:xfrm>
          <a:prstGeom prst="rect">
            <a:avLst/>
          </a:prstGeom>
          <a:solidFill>
            <a:srgbClr val="E07B00"/>
          </a:solidFill>
          <a:ln w="12700">
            <a:solidFill>
              <a:srgbClr val="E07B00"/>
            </a:solidFill>
            <a:prstDash val="solid"/>
          </a:ln>
        </p:spPr>
        <p:txBody>
          <a:bodyPr/>
          <a:lstStyle/>
          <a:p>
            <a:endParaRPr lang="ja-JP" altLang="en-US"/>
          </a:p>
        </p:txBody>
      </p:sp>
      <p:sp>
        <p:nvSpPr>
          <p:cNvPr id="18" name="Text 16"/>
          <p:cNvSpPr txBox="1"/>
          <p:nvPr/>
        </p:nvSpPr>
        <p:spPr>
          <a:xfrm>
            <a:off x="6272784" y="2194560"/>
            <a:ext cx="5385816"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游ゴシック" pitchFamily="34" charset="0"/>
                <a:ea typeface="游ゴシック" pitchFamily="34" charset="-122"/>
                <a:cs typeface="游ゴシック" pitchFamily="34" charset="-120"/>
              </a:rPr>
              <a:t>FSD50K 版(</a:t>
            </a:r>
            <a:r>
              <a:rPr lang="ja-JP" altLang="en-US" sz="2000" b="1" dirty="0">
                <a:solidFill>
                  <a:srgbClr val="FFFFFF"/>
                </a:solidFill>
                <a:latin typeface="游ゴシック" pitchFamily="34" charset="0"/>
                <a:ea typeface="游ゴシック" pitchFamily="34" charset="-122"/>
                <a:cs typeface="游ゴシック" pitchFamily="34" charset="-120"/>
              </a:rPr>
              <a:t>動作例</a:t>
            </a:r>
            <a:r>
              <a:rPr lang="en-US" altLang="ja-JP" sz="2000" b="1" dirty="0">
                <a:solidFill>
                  <a:srgbClr val="FFFFFF"/>
                </a:solidFill>
                <a:latin typeface="游ゴシック" pitchFamily="34" charset="0"/>
                <a:ea typeface="游ゴシック" pitchFamily="34" charset="-122"/>
                <a:cs typeface="游ゴシック" pitchFamily="34" charset="-120"/>
              </a:rPr>
              <a:t>2</a:t>
            </a:r>
            <a:r>
              <a:rPr lang="en-US" sz="2000" b="1" dirty="0">
                <a:solidFill>
                  <a:srgbClr val="FFFFFF"/>
                </a:solidFill>
                <a:latin typeface="游ゴシック" pitchFamily="34" charset="0"/>
                <a:ea typeface="游ゴシック" pitchFamily="34" charset="-122"/>
                <a:cs typeface="游ゴシック" pitchFamily="34" charset="-120"/>
              </a:rPr>
              <a:t>)</a:t>
            </a:r>
            <a:endParaRPr lang="en-US" sz="2000" dirty="0"/>
          </a:p>
        </p:txBody>
      </p:sp>
      <p:sp>
        <p:nvSpPr>
          <p:cNvPr id="19" name="Text 17"/>
          <p:cNvSpPr txBox="1"/>
          <p:nvPr/>
        </p:nvSpPr>
        <p:spPr>
          <a:xfrm>
            <a:off x="6382512" y="2834640"/>
            <a:ext cx="1280160" cy="502920"/>
          </a:xfrm>
          <a:prstGeom prst="rect">
            <a:avLst/>
          </a:prstGeom>
          <a:noFill/>
          <a:ln/>
        </p:spPr>
        <p:txBody>
          <a:bodyPr wrap="square" lIns="0" tIns="0" rIns="0" bIns="0" rtlCol="0" anchor="ctr"/>
          <a:lstStyle/>
          <a:p>
            <a:pPr marL="0" indent="0">
              <a:buNone/>
            </a:pPr>
            <a:r>
              <a:rPr lang="en-US" sz="1500" b="1" dirty="0">
                <a:solidFill>
                  <a:srgbClr val="595959"/>
                </a:solidFill>
                <a:latin typeface="游ゴシック" pitchFamily="34" charset="0"/>
                <a:ea typeface="游ゴシック" pitchFamily="34" charset="-122"/>
                <a:cs typeface="游ゴシック" pitchFamily="34" charset="-120"/>
              </a:rPr>
              <a:t>モデル</a:t>
            </a:r>
            <a:endParaRPr lang="en-US" sz="1500" dirty="0"/>
          </a:p>
        </p:txBody>
      </p:sp>
      <p:sp>
        <p:nvSpPr>
          <p:cNvPr id="20" name="Text 18"/>
          <p:cNvSpPr txBox="1"/>
          <p:nvPr/>
        </p:nvSpPr>
        <p:spPr>
          <a:xfrm>
            <a:off x="7662672" y="2834640"/>
            <a:ext cx="3886200" cy="502920"/>
          </a:xfrm>
          <a:prstGeom prst="rect">
            <a:avLst/>
          </a:prstGeom>
          <a:noFill/>
          <a:ln/>
        </p:spPr>
        <p:txBody>
          <a:bodyPr wrap="square" lIns="0" tIns="0" rIns="0" bIns="0" rtlCol="0" anchor="ct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YAMNet-256（ST model zoo）</a:t>
            </a:r>
            <a:endParaRPr lang="en-US" sz="1700" dirty="0"/>
          </a:p>
        </p:txBody>
      </p:sp>
      <p:sp>
        <p:nvSpPr>
          <p:cNvPr id="21" name="Text 19"/>
          <p:cNvSpPr txBox="1"/>
          <p:nvPr/>
        </p:nvSpPr>
        <p:spPr>
          <a:xfrm>
            <a:off x="6382512" y="3401568"/>
            <a:ext cx="1280160" cy="502920"/>
          </a:xfrm>
          <a:prstGeom prst="rect">
            <a:avLst/>
          </a:prstGeom>
          <a:noFill/>
          <a:ln/>
        </p:spPr>
        <p:txBody>
          <a:bodyPr wrap="square" lIns="0" tIns="0" rIns="0" bIns="0" rtlCol="0" anchor="ctr"/>
          <a:lstStyle/>
          <a:p>
            <a:pPr marL="0" indent="0">
              <a:buNone/>
            </a:pPr>
            <a:r>
              <a:rPr lang="en-US" sz="1500" b="1" dirty="0">
                <a:solidFill>
                  <a:srgbClr val="595959"/>
                </a:solidFill>
                <a:latin typeface="游ゴシック" pitchFamily="34" charset="0"/>
                <a:ea typeface="游ゴシック" pitchFamily="34" charset="-122"/>
                <a:cs typeface="游ゴシック" pitchFamily="34" charset="-120"/>
              </a:rPr>
              <a:t>知らせる音</a:t>
            </a:r>
            <a:endParaRPr lang="en-US" sz="1500" dirty="0"/>
          </a:p>
        </p:txBody>
      </p:sp>
      <p:sp>
        <p:nvSpPr>
          <p:cNvPr id="22" name="Text 20"/>
          <p:cNvSpPr txBox="1"/>
          <p:nvPr/>
        </p:nvSpPr>
        <p:spPr>
          <a:xfrm>
            <a:off x="7662672" y="3401568"/>
            <a:ext cx="3886200" cy="502920"/>
          </a:xfrm>
          <a:prstGeom prst="rect">
            <a:avLst/>
          </a:prstGeom>
          <a:noFill/>
          <a:ln/>
        </p:spPr>
        <p:txBody>
          <a:bodyPr wrap="square" lIns="0" tIns="0" rIns="0" bIns="0" rtlCol="0" anchor="ctr"/>
          <a:lstStyle/>
          <a:p>
            <a:pPr marL="0" indent="0">
              <a:buNone/>
            </a:pPr>
            <a:r>
              <a:rPr lang="en-US" sz="1700" dirty="0" err="1">
                <a:solidFill>
                  <a:srgbClr val="000000"/>
                </a:solidFill>
                <a:latin typeface="游ゴシック" pitchFamily="34" charset="0"/>
                <a:ea typeface="游ゴシック" pitchFamily="34" charset="-122"/>
                <a:cs typeface="游ゴシック" pitchFamily="34" charset="-120"/>
              </a:rPr>
              <a:t>ノック・ガラス・泣き声・話し声</a:t>
            </a:r>
            <a:endParaRPr lang="en-US" sz="17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1700" dirty="0">
                <a:solidFill>
                  <a:srgbClr val="000000"/>
                </a:solidFill>
                <a:latin typeface="游ゴシック" pitchFamily="34" charset="0"/>
                <a:ea typeface="游ゴシック" pitchFamily="34" charset="-122"/>
                <a:cs typeface="游ゴシック" pitchFamily="34" charset="-120"/>
              </a:rPr>
              <a:t>（5種のうち4</a:t>
            </a:r>
            <a:r>
              <a:rPr lang="ja-JP" altLang="en-US" sz="1700" dirty="0">
                <a:solidFill>
                  <a:srgbClr val="000000"/>
                </a:solidFill>
                <a:latin typeface="游ゴシック" pitchFamily="34" charset="0"/>
                <a:ea typeface="游ゴシック" pitchFamily="34" charset="-122"/>
                <a:cs typeface="游ゴシック" pitchFamily="34" charset="-120"/>
              </a:rPr>
              <a:t>種</a:t>
            </a:r>
            <a:r>
              <a:rPr lang="en-US" sz="1700" dirty="0">
                <a:solidFill>
                  <a:srgbClr val="000000"/>
                </a:solidFill>
                <a:latin typeface="游ゴシック" pitchFamily="34" charset="0"/>
                <a:ea typeface="游ゴシック" pitchFamily="34" charset="-122"/>
                <a:cs typeface="游ゴシック" pitchFamily="34" charset="-120"/>
              </a:rPr>
              <a:t>）</a:t>
            </a:r>
            <a:endParaRPr lang="en-US" sz="1700" dirty="0"/>
          </a:p>
        </p:txBody>
      </p:sp>
      <p:sp>
        <p:nvSpPr>
          <p:cNvPr id="23" name="Text 21"/>
          <p:cNvSpPr txBox="1"/>
          <p:nvPr/>
        </p:nvSpPr>
        <p:spPr>
          <a:xfrm>
            <a:off x="6382512" y="3968496"/>
            <a:ext cx="1280160" cy="502920"/>
          </a:xfrm>
          <a:prstGeom prst="rect">
            <a:avLst/>
          </a:prstGeom>
          <a:noFill/>
          <a:ln/>
        </p:spPr>
        <p:txBody>
          <a:bodyPr wrap="square" lIns="0" tIns="0" rIns="0" bIns="0" rtlCol="0" anchor="ctr"/>
          <a:lstStyle/>
          <a:p>
            <a:pPr marL="0" indent="0">
              <a:buNone/>
            </a:pPr>
            <a:r>
              <a:rPr lang="en-US" sz="1500" b="1" dirty="0">
                <a:solidFill>
                  <a:srgbClr val="595959"/>
                </a:solidFill>
                <a:latin typeface="游ゴシック" pitchFamily="34" charset="0"/>
                <a:ea typeface="游ゴシック" pitchFamily="34" charset="-122"/>
                <a:cs typeface="游ゴシック" pitchFamily="34" charset="-120"/>
              </a:rPr>
              <a:t>重み</a:t>
            </a:r>
            <a:endParaRPr lang="en-US" sz="1500" dirty="0"/>
          </a:p>
        </p:txBody>
      </p:sp>
      <p:sp>
        <p:nvSpPr>
          <p:cNvPr id="24" name="Text 22"/>
          <p:cNvSpPr txBox="1"/>
          <p:nvPr/>
        </p:nvSpPr>
        <p:spPr>
          <a:xfrm>
            <a:off x="7662672" y="3968496"/>
            <a:ext cx="3886200" cy="502920"/>
          </a:xfrm>
          <a:prstGeom prst="rect">
            <a:avLst/>
          </a:prstGeom>
          <a:noFill/>
          <a:ln/>
        </p:spPr>
        <p:txBody>
          <a:bodyPr wrap="square" lIns="0" tIns="0" rIns="0" bIns="0" rtlCol="0" anchor="ct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148 KB・内蔵 RAM（AXISRAM4）</a:t>
            </a:r>
            <a:endParaRPr lang="en-US" sz="1700" dirty="0"/>
          </a:p>
        </p:txBody>
      </p:sp>
      <p:sp>
        <p:nvSpPr>
          <p:cNvPr id="25" name="Text 23"/>
          <p:cNvSpPr txBox="1"/>
          <p:nvPr/>
        </p:nvSpPr>
        <p:spPr>
          <a:xfrm>
            <a:off x="6382512" y="4617720"/>
            <a:ext cx="1280160" cy="640080"/>
          </a:xfrm>
          <a:prstGeom prst="rect">
            <a:avLst/>
          </a:prstGeom>
          <a:noFill/>
          <a:ln/>
        </p:spPr>
        <p:txBody>
          <a:bodyPr wrap="square" lIns="0" tIns="0" rIns="0" bIns="0" rtlCol="0" anchor="ctr"/>
          <a:lstStyle/>
          <a:p>
            <a:pPr marL="0" indent="0">
              <a:buNone/>
            </a:pPr>
            <a:r>
              <a:rPr lang="en-US" sz="1500" b="1" dirty="0">
                <a:solidFill>
                  <a:srgbClr val="595959"/>
                </a:solidFill>
                <a:latin typeface="游ゴシック" pitchFamily="34" charset="0"/>
                <a:ea typeface="游ゴシック" pitchFamily="34" charset="-122"/>
                <a:cs typeface="游ゴシック" pitchFamily="34" charset="-120"/>
              </a:rPr>
              <a:t>推論</a:t>
            </a:r>
            <a:endParaRPr lang="en-US" sz="1500" dirty="0"/>
          </a:p>
        </p:txBody>
      </p:sp>
      <p:sp>
        <p:nvSpPr>
          <p:cNvPr id="26" name="Text 24"/>
          <p:cNvSpPr txBox="1"/>
          <p:nvPr/>
        </p:nvSpPr>
        <p:spPr>
          <a:xfrm>
            <a:off x="7662672" y="4572000"/>
            <a:ext cx="3886200" cy="731520"/>
          </a:xfrm>
          <a:prstGeom prst="rect">
            <a:avLst/>
          </a:prstGeom>
          <a:noFill/>
          <a:ln/>
        </p:spPr>
        <p:txBody>
          <a:bodyPr wrap="square" lIns="0" tIns="0" rIns="0" bIns="0" rtlCol="0" anchor="ctr"/>
          <a:lstStyle/>
          <a:p>
            <a:pPr marL="0" indent="0">
              <a:buNone/>
            </a:pPr>
            <a:r>
              <a:rPr lang="en-US" sz="3600" b="1" dirty="0">
                <a:solidFill>
                  <a:srgbClr val="008A5E"/>
                </a:solidFill>
                <a:latin typeface="游ゴシック" pitchFamily="34" charset="0"/>
                <a:ea typeface="游ゴシック" pitchFamily="34" charset="-122"/>
                <a:cs typeface="游ゴシック" pitchFamily="34" charset="-120"/>
              </a:rPr>
              <a:t>3.55 ms</a:t>
            </a:r>
            <a:endParaRPr lang="en-US" sz="3600" dirty="0"/>
          </a:p>
        </p:txBody>
      </p:sp>
      <p:sp>
        <p:nvSpPr>
          <p:cNvPr id="27" name="Shape 25"/>
          <p:cNvSpPr/>
          <p:nvPr/>
        </p:nvSpPr>
        <p:spPr>
          <a:xfrm>
            <a:off x="457200" y="5596128"/>
            <a:ext cx="11274552" cy="914400"/>
          </a:xfrm>
          <a:prstGeom prst="rect">
            <a:avLst/>
          </a:prstGeom>
          <a:solidFill>
            <a:srgbClr val="F2F2F2"/>
          </a:solidFill>
          <a:ln w="12700">
            <a:solidFill>
              <a:srgbClr val="BFBFBF"/>
            </a:solidFill>
            <a:prstDash val="solid"/>
          </a:ln>
        </p:spPr>
        <p:txBody>
          <a:bodyPr/>
          <a:lstStyle/>
          <a:p>
            <a:endParaRPr lang="ja-JP" altLang="en-US"/>
          </a:p>
        </p:txBody>
      </p:sp>
      <p:sp>
        <p:nvSpPr>
          <p:cNvPr id="28" name="Text 26"/>
          <p:cNvSpPr txBox="1"/>
          <p:nvPr/>
        </p:nvSpPr>
        <p:spPr>
          <a:xfrm>
            <a:off x="640080" y="5596128"/>
            <a:ext cx="10908792" cy="914400"/>
          </a:xfrm>
          <a:prstGeom prst="rect">
            <a:avLst/>
          </a:prstGeom>
          <a:noFill/>
          <a:ln/>
        </p:spPr>
        <p:txBody>
          <a:bodyPr wrap="square" lIns="0" tIns="0" rIns="0" bIns="0" rtlCol="0" anchor="ctr"/>
          <a:lstStyle/>
          <a:p>
            <a:pPr marL="0" indent="0">
              <a:buNone/>
            </a:pPr>
            <a:r>
              <a:rPr lang="en-US" sz="1600" dirty="0" err="1">
                <a:solidFill>
                  <a:srgbClr val="000000"/>
                </a:solidFill>
                <a:latin typeface="游ゴシック" pitchFamily="34" charset="0"/>
                <a:ea typeface="游ゴシック" pitchFamily="34" charset="-122"/>
                <a:cs typeface="游ゴシック" pitchFamily="34" charset="-120"/>
              </a:rPr>
              <a:t>変えていないもの：音の経路・前処理・タスク構成・判定規則・ログ・検証手順</a:t>
            </a:r>
            <a:r>
              <a:rPr lang="en-US" sz="1600" dirty="0">
                <a:solidFill>
                  <a:srgbClr val="000000"/>
                </a:solidFill>
                <a:latin typeface="游ゴシック" pitchFamily="34" charset="0"/>
                <a:ea typeface="游ゴシック" pitchFamily="34" charset="-122"/>
                <a:cs typeface="游ゴシック" pitchFamily="34" charset="-120"/>
              </a:rPr>
              <a:t>。</a:t>
            </a:r>
          </a:p>
          <a:p>
            <a:pPr marL="0" indent="0">
              <a:buNone/>
            </a:pPr>
            <a:r>
              <a:rPr lang="en-US" sz="1600" dirty="0">
                <a:solidFill>
                  <a:srgbClr val="000000"/>
                </a:solidFill>
                <a:latin typeface="游ゴシック" pitchFamily="34" charset="0"/>
                <a:ea typeface="游ゴシック" pitchFamily="34" charset="-122"/>
                <a:cs typeface="游ゴシック" pitchFamily="34" charset="-120"/>
              </a:rPr>
              <a:t>int8 化の定数はモデルから読むので、切替は AED_MODEL の 1 行</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0584"/>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7-2　結果：基盤は同じ、モデルの弱点が出た</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ctr"/>
          <a:lstStyle/>
          <a:p>
            <a:pPr marL="0" indent="0">
              <a:buNone/>
            </a:pPr>
            <a:r>
              <a:rPr lang="en-US" sz="2800" b="1" dirty="0">
                <a:solidFill>
                  <a:srgbClr val="FF0000"/>
                </a:solidFill>
                <a:latin typeface="游ゴシック" pitchFamily="34" charset="0"/>
                <a:ea typeface="游ゴシック" pitchFamily="34" charset="-122"/>
                <a:cs typeface="游ゴシック" pitchFamily="34" charset="-120"/>
              </a:rPr>
              <a:t>「その他」の無いモデルは、知らない音をほぼガラスかノックにする</a:t>
            </a:r>
            <a:endParaRPr lang="en-US" sz="2800" dirty="0"/>
          </a:p>
        </p:txBody>
      </p:sp>
      <p:graphicFrame>
        <p:nvGraphicFramePr>
          <p:cNvPr id="28" name="Table 0"/>
          <p:cNvGraphicFramePr>
            <a:graphicFrameLocks noGrp="1"/>
          </p:cNvGraphicFramePr>
          <p:nvPr>
            <p:extLst>
              <p:ext uri="{D42A27DB-BD31-4B8C-83A1-F6EECF244321}">
                <p14:modId xmlns:p14="http://schemas.microsoft.com/office/powerpoint/2010/main" val="3749695813"/>
              </p:ext>
            </p:extLst>
          </p:nvPr>
        </p:nvGraphicFramePr>
        <p:xfrm>
          <a:off x="457200" y="2194560"/>
          <a:ext cx="7613780" cy="3779520"/>
        </p:xfrm>
        <a:graphic>
          <a:graphicData uri="http://schemas.openxmlformats.org/drawingml/2006/table">
            <a:tbl>
              <a:tblPr/>
              <a:tblGrid>
                <a:gridCol w="2913916">
                  <a:extLst>
                    <a:ext uri="{9D8B030D-6E8A-4147-A177-3AD203B41FA5}">
                      <a16:colId xmlns:a16="http://schemas.microsoft.com/office/drawing/2014/main" val="20000"/>
                    </a:ext>
                  </a:extLst>
                </a:gridCol>
                <a:gridCol w="1785948">
                  <a:extLst>
                    <a:ext uri="{9D8B030D-6E8A-4147-A177-3AD203B41FA5}">
                      <a16:colId xmlns:a16="http://schemas.microsoft.com/office/drawing/2014/main" val="20001"/>
                    </a:ext>
                  </a:extLst>
                </a:gridCol>
                <a:gridCol w="2913916">
                  <a:extLst>
                    <a:ext uri="{9D8B030D-6E8A-4147-A177-3AD203B41FA5}">
                      <a16:colId xmlns:a16="http://schemas.microsoft.com/office/drawing/2014/main" val="20002"/>
                    </a:ext>
                  </a:extLst>
                </a:gridCol>
              </a:tblGrid>
              <a:tr h="512064">
                <a:tc>
                  <a:txBody>
                    <a:bodyPr/>
                    <a:lstStyle/>
                    <a:p>
                      <a:pPr marL="0" indent="0">
                        <a:buNone/>
                      </a:pP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tc>
                  <a:txBody>
                    <a:bodyPr/>
                    <a:lstStyle/>
                    <a:p>
                      <a:pPr marL="0" indent="0">
                        <a:buNone/>
                      </a:pPr>
                      <a:r>
                        <a:rPr lang="en-US" sz="1700" b="1" dirty="0">
                          <a:solidFill>
                            <a:srgbClr val="FFFFFF"/>
                          </a:solidFill>
                          <a:latin typeface="游ゴシック" pitchFamily="34" charset="0"/>
                          <a:ea typeface="游ゴシック" pitchFamily="34" charset="-122"/>
                          <a:cs typeface="游ゴシック" pitchFamily="34" charset="-120"/>
                        </a:rPr>
                        <a:t>ESC-10 版</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tc>
                  <a:txBody>
                    <a:bodyPr/>
                    <a:lstStyle/>
                    <a:p>
                      <a:pPr marL="0" indent="0">
                        <a:buNone/>
                      </a:pPr>
                      <a:r>
                        <a:rPr lang="en-US" sz="1700" b="1" dirty="0">
                          <a:solidFill>
                            <a:srgbClr val="FFFFFF"/>
                          </a:solidFill>
                          <a:latin typeface="游ゴシック" pitchFamily="34" charset="0"/>
                          <a:ea typeface="游ゴシック" pitchFamily="34" charset="-122"/>
                          <a:cs typeface="游ゴシック" pitchFamily="34" charset="-120"/>
                        </a:rPr>
                        <a:t>FSD50K 版</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extLst>
                  <a:ext uri="{0D108BD9-81ED-4DB2-BD59-A6C34878D82A}">
                    <a16:rowId xmlns:a16="http://schemas.microsoft.com/office/drawing/2014/main" val="10000"/>
                  </a:ext>
                </a:extLst>
              </a:tr>
              <a:tr h="512064">
                <a:tc>
                  <a:txBody>
                    <a:bodyP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自己検証・前処理の一致</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700" b="1" dirty="0">
                          <a:solidFill>
                            <a:srgbClr val="008A5E"/>
                          </a:solidFill>
                          <a:latin typeface="游ゴシック" pitchFamily="34" charset="0"/>
                          <a:ea typeface="游ゴシック" pitchFamily="34" charset="-122"/>
                          <a:cs typeface="游ゴシック" pitchFamily="34" charset="-120"/>
                        </a:rPr>
                        <a:t>通過・差 0</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700" b="1" dirty="0">
                          <a:solidFill>
                            <a:srgbClr val="008A5E"/>
                          </a:solidFill>
                          <a:latin typeface="游ゴシック" pitchFamily="34" charset="0"/>
                          <a:ea typeface="游ゴシック" pitchFamily="34" charset="-122"/>
                          <a:cs typeface="游ゴシック" pitchFamily="34" charset="-120"/>
                        </a:rPr>
                        <a:t>通過・差 0</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1"/>
                  </a:ext>
                </a:extLst>
              </a:tr>
              <a:tr h="512064">
                <a:tc>
                  <a:txBody>
                    <a:bodyP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音の取りこぼし</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700" b="1" dirty="0">
                          <a:solidFill>
                            <a:srgbClr val="008A5E"/>
                          </a:solidFill>
                          <a:latin typeface="游ゴシック" pitchFamily="34" charset="0"/>
                          <a:ea typeface="游ゴシック" pitchFamily="34" charset="-122"/>
                          <a:cs typeface="游ゴシック" pitchFamily="34" charset="-120"/>
                        </a:rPr>
                        <a:t>0</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700" b="1" dirty="0">
                          <a:solidFill>
                            <a:srgbClr val="008A5E"/>
                          </a:solidFill>
                          <a:latin typeface="游ゴシック" pitchFamily="34" charset="0"/>
                          <a:ea typeface="游ゴシック" pitchFamily="34" charset="-122"/>
                          <a:cs typeface="游ゴシック" pitchFamily="34" charset="-120"/>
                        </a:rPr>
                        <a:t>0</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12064">
                <a:tc>
                  <a:txBody>
                    <a:bodyP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対象の音のクリップ</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4/6</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5/6</a:t>
                      </a:r>
                    </a:p>
                    <a:p>
                      <a:pPr marL="0" indent="0">
                        <a:buNone/>
                      </a:pPr>
                      <a:r>
                        <a:rPr lang="en-US" sz="1700" dirty="0">
                          <a:solidFill>
                            <a:srgbClr val="000000"/>
                          </a:solidFill>
                          <a:latin typeface="游ゴシック" pitchFamily="34" charset="0"/>
                          <a:ea typeface="游ゴシック" pitchFamily="34" charset="-122"/>
                          <a:cs typeface="游ゴシック" pitchFamily="34" charset="-120"/>
                        </a:rPr>
                        <a:t>（ノック 2/2、話し声 2/2）</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3"/>
                  </a:ext>
                </a:extLst>
              </a:tr>
              <a:tr h="512064">
                <a:tc>
                  <a:txBody>
                    <a:bodyP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対象外の生活音の誤報</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2/10（咳ばらい→くしゃみ）</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700" b="1" dirty="0">
                          <a:solidFill>
                            <a:srgbClr val="C00000"/>
                          </a:solidFill>
                          <a:latin typeface="游ゴシック" pitchFamily="34" charset="0"/>
                          <a:ea typeface="游ゴシック" pitchFamily="34" charset="-122"/>
                          <a:cs typeface="游ゴシック" pitchFamily="34" charset="-120"/>
                        </a:rPr>
                        <a:t>9/10（ガラス・ノックと判定）</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12064">
                <a:tc>
                  <a:txBody>
                    <a:bodyP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放置中の通知</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3.5 件/時</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700" b="1" dirty="0">
                          <a:solidFill>
                            <a:srgbClr val="C00000"/>
                          </a:solidFill>
                          <a:latin typeface="游ゴシック" pitchFamily="34" charset="0"/>
                          <a:ea typeface="游ゴシック" pitchFamily="34" charset="-122"/>
                          <a:cs typeface="游ゴシック" pitchFamily="34" charset="-120"/>
                        </a:rPr>
                        <a:t>250 件/時</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5"/>
                  </a:ext>
                </a:extLst>
              </a:tr>
              <a:tr h="512064">
                <a:tc>
                  <a:txBody>
                    <a:bodyP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暗騒音の窓で確率 0.7 以上</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2.5%</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700" b="1" dirty="0">
                          <a:solidFill>
                            <a:srgbClr val="C00000"/>
                          </a:solidFill>
                          <a:latin typeface="游ゴシック" pitchFamily="34" charset="0"/>
                          <a:ea typeface="游ゴシック" pitchFamily="34" charset="-122"/>
                          <a:cs typeface="游ゴシック" pitchFamily="34" charset="-120"/>
                        </a:rPr>
                        <a:t>66%</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ext 3"/>
          <p:cNvSpPr txBox="1"/>
          <p:nvPr/>
        </p:nvSpPr>
        <p:spPr>
          <a:xfrm>
            <a:off x="8390086" y="2395729"/>
            <a:ext cx="3593592" cy="2377440"/>
          </a:xfrm>
          <a:prstGeom prst="rect">
            <a:avLst/>
          </a:prstGeom>
          <a:noFill/>
          <a:ln/>
        </p:spPr>
        <p:txBody>
          <a:bodyPr wrap="square" lIns="0" tIns="0" rIns="0" bIns="0" rtlCol="0" anchor="t"/>
          <a:lstStyle/>
          <a:p>
            <a:pPr marL="0" indent="0">
              <a:buNone/>
            </a:pPr>
            <a:r>
              <a:rPr lang="en-US" sz="1700" dirty="0" err="1">
                <a:solidFill>
                  <a:srgbClr val="000000"/>
                </a:solidFill>
                <a:latin typeface="游ゴシック" pitchFamily="34" charset="0"/>
                <a:ea typeface="游ゴシック" pitchFamily="34" charset="-122"/>
                <a:cs typeface="游ゴシック" pitchFamily="34" charset="-120"/>
              </a:rPr>
              <a:t>暗騒音は音量の条件で止まる</a:t>
            </a:r>
            <a:r>
              <a:rPr lang="en-US" sz="1700" dirty="0">
                <a:solidFill>
                  <a:srgbClr val="000000"/>
                </a:solidFill>
                <a:latin typeface="游ゴシック" pitchFamily="34" charset="0"/>
                <a:ea typeface="游ゴシック" pitchFamily="34" charset="-122"/>
                <a:cs typeface="游ゴシック" pitchFamily="34" charset="-120"/>
              </a:rPr>
              <a:t>。</a:t>
            </a:r>
          </a:p>
          <a:p>
            <a:pPr marL="0" indent="0">
              <a:buNone/>
            </a:pPr>
            <a:r>
              <a:rPr lang="en-US" sz="1700" b="1" dirty="0" err="1">
                <a:solidFill>
                  <a:srgbClr val="000000"/>
                </a:solidFill>
                <a:latin typeface="游ゴシック" pitchFamily="34" charset="0"/>
                <a:ea typeface="游ゴシック" pitchFamily="34" charset="-122"/>
                <a:cs typeface="游ゴシック" pitchFamily="34" charset="-120"/>
              </a:rPr>
              <a:t>しかし食器・咳・椅子など実際に鳴った音は暗騒音より大きい</a:t>
            </a:r>
            <a:r>
              <a:rPr lang="en-US" sz="1700" dirty="0" err="1">
                <a:solidFill>
                  <a:srgbClr val="000000"/>
                </a:solidFill>
                <a:latin typeface="游ゴシック" pitchFamily="34" charset="0"/>
                <a:ea typeface="游ゴシック" pitchFamily="34" charset="-122"/>
                <a:cs typeface="游ゴシック" pitchFamily="34" charset="-120"/>
              </a:rPr>
              <a:t>ので判定まで進み、そこでモデルがガラスかノックと</a:t>
            </a:r>
            <a:r>
              <a:rPr lang="ja-JP" altLang="en-US" sz="1700" dirty="0">
                <a:solidFill>
                  <a:srgbClr val="000000"/>
                </a:solidFill>
                <a:latin typeface="游ゴシック" pitchFamily="34" charset="0"/>
                <a:ea typeface="游ゴシック" pitchFamily="34" charset="-122"/>
                <a:cs typeface="游ゴシック" pitchFamily="34" charset="-120"/>
              </a:rPr>
              <a:t>誤答</a:t>
            </a:r>
            <a:endParaRPr lang="en-US" sz="1700" dirty="0"/>
          </a:p>
        </p:txBody>
      </p:sp>
      <p:sp>
        <p:nvSpPr>
          <p:cNvPr id="7" name="Shape 4"/>
          <p:cNvSpPr/>
          <p:nvPr/>
        </p:nvSpPr>
        <p:spPr>
          <a:xfrm>
            <a:off x="8390086" y="4054151"/>
            <a:ext cx="3593592" cy="1691640"/>
          </a:xfrm>
          <a:prstGeom prst="rect">
            <a:avLst/>
          </a:prstGeom>
          <a:solidFill>
            <a:srgbClr val="DDEBF3"/>
          </a:solidFill>
          <a:ln w="15875">
            <a:solidFill>
              <a:srgbClr val="156082"/>
            </a:solidFill>
            <a:prstDash val="solid"/>
          </a:ln>
        </p:spPr>
        <p:txBody>
          <a:bodyPr/>
          <a:lstStyle/>
          <a:p>
            <a:endParaRPr lang="ja-JP" altLang="en-US"/>
          </a:p>
        </p:txBody>
      </p:sp>
      <p:sp>
        <p:nvSpPr>
          <p:cNvPr id="8" name="Text 5"/>
          <p:cNvSpPr txBox="1"/>
          <p:nvPr/>
        </p:nvSpPr>
        <p:spPr>
          <a:xfrm>
            <a:off x="8527246" y="4054151"/>
            <a:ext cx="3319272" cy="1691640"/>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既定は ESC-10 版。FSD50K版は同梱して切替可能にした。</a:t>
            </a:r>
          </a:p>
          <a:p>
            <a:pPr marL="0" indent="0">
              <a:buNone/>
            </a:pPr>
            <a:br>
              <a:rPr lang="en-US" sz="1700" b="1" dirty="0">
                <a:solidFill>
                  <a:srgbClr val="000000"/>
                </a:solidFill>
                <a:latin typeface="游ゴシック" pitchFamily="34" charset="0"/>
                <a:ea typeface="游ゴシック" pitchFamily="34" charset="-122"/>
                <a:cs typeface="游ゴシック" pitchFamily="34" charset="-120"/>
              </a:rPr>
            </a:br>
            <a:r>
              <a:rPr lang="ja-JP" altLang="en-US" sz="1700" b="1" dirty="0">
                <a:solidFill>
                  <a:srgbClr val="000000"/>
                </a:solidFill>
                <a:latin typeface="游ゴシック" pitchFamily="34" charset="0"/>
                <a:ea typeface="游ゴシック" pitchFamily="34" charset="-122"/>
                <a:cs typeface="游ゴシック" pitchFamily="34" charset="-120"/>
              </a:rPr>
              <a:t>→</a:t>
            </a:r>
            <a:r>
              <a:rPr lang="en-US" sz="1700" b="1" dirty="0">
                <a:solidFill>
                  <a:srgbClr val="000000"/>
                </a:solidFill>
                <a:latin typeface="游ゴシック" pitchFamily="34" charset="0"/>
                <a:ea typeface="游ゴシック" pitchFamily="34" charset="-122"/>
                <a:cs typeface="游ゴシック" pitchFamily="34" charset="-120"/>
              </a:rPr>
              <a:t>「</a:t>
            </a:r>
            <a:r>
              <a:rPr lang="en-US" sz="1700" b="1" dirty="0" err="1">
                <a:solidFill>
                  <a:srgbClr val="000000"/>
                </a:solidFill>
                <a:latin typeface="游ゴシック" pitchFamily="34" charset="0"/>
                <a:ea typeface="游ゴシック" pitchFamily="34" charset="-122"/>
                <a:cs typeface="游ゴシック" pitchFamily="34" charset="-120"/>
              </a:rPr>
              <a:t>その他」クラス付きの版</a:t>
            </a:r>
            <a:endParaRPr lang="en-US" sz="1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8　動作例：屋内音の検知と通知</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Shape 2"/>
          <p:cNvSpPr/>
          <p:nvPr/>
        </p:nvSpPr>
        <p:spPr>
          <a:xfrm>
            <a:off x="0" y="1051560"/>
            <a:ext cx="12191695" cy="1097280"/>
          </a:xfrm>
          <a:prstGeom prst="rect">
            <a:avLst/>
          </a:prstGeom>
          <a:solidFill>
            <a:srgbClr val="DDEBF3"/>
          </a:solidFill>
          <a:ln w="12700">
            <a:solidFill>
              <a:srgbClr val="DDEBF3"/>
            </a:solidFill>
            <a:prstDash val="solid"/>
          </a:ln>
        </p:spPr>
        <p:txBody>
          <a:bodyPr/>
          <a:lstStyle/>
          <a:p>
            <a:endParaRPr lang="ja-JP" altLang="en-US"/>
          </a:p>
        </p:txBody>
      </p:sp>
      <p:sp>
        <p:nvSpPr>
          <p:cNvPr id="5" name="Text 3"/>
          <p:cNvSpPr txBox="1"/>
          <p:nvPr/>
        </p:nvSpPr>
        <p:spPr>
          <a:xfrm>
            <a:off x="457200" y="1097280"/>
            <a:ext cx="11274552" cy="1005840"/>
          </a:xfrm>
          <a:prstGeom prst="rect">
            <a:avLst/>
          </a:prstGeom>
          <a:noFill/>
          <a:ln/>
        </p:spPr>
        <p:txBody>
          <a:bodyPr wrap="square" lIns="0" tIns="0" rIns="0" bIns="0" rtlCol="0" anchor="ctr"/>
          <a:lstStyle/>
          <a:p>
            <a:pPr marL="0" indent="0">
              <a:buNone/>
            </a:pPr>
            <a:r>
              <a:rPr lang="en-US" sz="2800" b="1" dirty="0">
                <a:solidFill>
                  <a:srgbClr val="FF0000"/>
                </a:solidFill>
                <a:latin typeface="游ゴシック" pitchFamily="34" charset="0"/>
                <a:ea typeface="游ゴシック" pitchFamily="34" charset="-122"/>
                <a:cs typeface="游ゴシック" pitchFamily="34" charset="-120"/>
              </a:rPr>
              <a:t>基盤を実際の部屋で動かした。使えるかを決めたのはモデルだった</a:t>
            </a:r>
            <a:endParaRPr lang="en-US" sz="2800" dirty="0"/>
          </a:p>
        </p:txBody>
      </p:sp>
      <p:sp>
        <p:nvSpPr>
          <p:cNvPr id="6" name="Text 4"/>
          <p:cNvSpPr txBox="1"/>
          <p:nvPr/>
        </p:nvSpPr>
        <p:spPr>
          <a:xfrm>
            <a:off x="457200" y="6217920"/>
            <a:ext cx="1234440" cy="420624"/>
          </a:xfrm>
          <a:prstGeom prst="rect">
            <a:avLst/>
          </a:prstGeom>
          <a:noFill/>
          <a:ln/>
        </p:spPr>
        <p:txBody>
          <a:bodyPr wrap="square" lIns="0" tIns="0" rIns="0" bIns="0" rtlCol="0" anchor="ctr"/>
          <a:lstStyle/>
          <a:p>
            <a:pPr marL="0" indent="0">
              <a:buNone/>
            </a:pPr>
            <a:r>
              <a:rPr lang="en-US" sz="1300" dirty="0">
                <a:solidFill>
                  <a:srgbClr val="595959"/>
                </a:solidFill>
                <a:latin typeface="游ゴシック" pitchFamily="34" charset="0"/>
                <a:ea typeface="游ゴシック" pitchFamily="34" charset="-122"/>
                <a:cs typeface="游ゴシック" pitchFamily="34" charset="-120"/>
              </a:rPr>
              <a:t>この章の流れ</a:t>
            </a:r>
            <a:endParaRPr lang="en-US" sz="1300" dirty="0"/>
          </a:p>
        </p:txBody>
      </p:sp>
      <p:sp>
        <p:nvSpPr>
          <p:cNvPr id="7" name="Shape 5"/>
          <p:cNvSpPr/>
          <p:nvPr/>
        </p:nvSpPr>
        <p:spPr>
          <a:xfrm>
            <a:off x="1737360" y="6217920"/>
            <a:ext cx="3136392" cy="420624"/>
          </a:xfrm>
          <a:prstGeom prst="rect">
            <a:avLst/>
          </a:prstGeom>
          <a:solidFill>
            <a:srgbClr val="FFFFFF"/>
          </a:solidFill>
          <a:ln w="15875">
            <a:solidFill>
              <a:srgbClr val="156082"/>
            </a:solidFill>
            <a:prstDash val="solid"/>
          </a:ln>
        </p:spPr>
        <p:txBody>
          <a:bodyPr/>
          <a:lstStyle/>
          <a:p>
            <a:endParaRPr lang="ja-JP" altLang="en-US"/>
          </a:p>
        </p:txBody>
      </p:sp>
      <p:sp>
        <p:nvSpPr>
          <p:cNvPr id="8" name="Text 6"/>
          <p:cNvSpPr txBox="1"/>
          <p:nvPr/>
        </p:nvSpPr>
        <p:spPr>
          <a:xfrm>
            <a:off x="1783080" y="6217920"/>
            <a:ext cx="30449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8-1 ESC-10 版の動作例</a:t>
            </a:r>
            <a:endParaRPr lang="en-US" sz="1400" dirty="0"/>
          </a:p>
        </p:txBody>
      </p:sp>
      <p:sp>
        <p:nvSpPr>
          <p:cNvPr id="9" name="Shape 7"/>
          <p:cNvSpPr/>
          <p:nvPr/>
        </p:nvSpPr>
        <p:spPr>
          <a:xfrm>
            <a:off x="494690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10" name="Shape 8"/>
          <p:cNvSpPr/>
          <p:nvPr/>
        </p:nvSpPr>
        <p:spPr>
          <a:xfrm>
            <a:off x="5166360" y="6217920"/>
            <a:ext cx="3136392" cy="420624"/>
          </a:xfrm>
          <a:prstGeom prst="rect">
            <a:avLst/>
          </a:prstGeom>
          <a:solidFill>
            <a:srgbClr val="FFFFFF"/>
          </a:solidFill>
          <a:ln w="15875">
            <a:solidFill>
              <a:srgbClr val="156082"/>
            </a:solidFill>
            <a:prstDash val="solid"/>
          </a:ln>
        </p:spPr>
        <p:txBody>
          <a:bodyPr/>
          <a:lstStyle/>
          <a:p>
            <a:endParaRPr lang="ja-JP" altLang="en-US"/>
          </a:p>
        </p:txBody>
      </p:sp>
      <p:sp>
        <p:nvSpPr>
          <p:cNvPr id="11" name="Text 9"/>
          <p:cNvSpPr txBox="1"/>
          <p:nvPr/>
        </p:nvSpPr>
        <p:spPr>
          <a:xfrm>
            <a:off x="5212080" y="6217920"/>
            <a:ext cx="30449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8-2 FSD50K 版の動作例</a:t>
            </a:r>
            <a:endParaRPr lang="en-US" sz="1400" dirty="0"/>
          </a:p>
        </p:txBody>
      </p:sp>
      <p:sp>
        <p:nvSpPr>
          <p:cNvPr id="41" name="Shape 7b"/>
          <p:cNvSpPr/>
          <p:nvPr/>
        </p:nvSpPr>
        <p:spPr>
          <a:xfrm>
            <a:off x="837590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42" name="Shape 8b"/>
          <p:cNvSpPr/>
          <p:nvPr/>
        </p:nvSpPr>
        <p:spPr>
          <a:xfrm>
            <a:off x="8595360" y="6217920"/>
            <a:ext cx="3136392" cy="420624"/>
          </a:xfrm>
          <a:prstGeom prst="rect">
            <a:avLst/>
          </a:prstGeom>
          <a:solidFill>
            <a:srgbClr val="FFFFFF"/>
          </a:solidFill>
          <a:ln w="15875">
            <a:solidFill>
              <a:srgbClr val="156082"/>
            </a:solidFill>
            <a:prstDash val="solid"/>
          </a:ln>
        </p:spPr>
        <p:txBody>
          <a:bodyPr/>
          <a:lstStyle/>
          <a:p>
            <a:endParaRPr lang="ja-JP" altLang="en-US"/>
          </a:p>
        </p:txBody>
      </p:sp>
      <p:sp>
        <p:nvSpPr>
          <p:cNvPr id="43" name="Text 9b"/>
          <p:cNvSpPr txBox="1"/>
          <p:nvPr/>
        </p:nvSpPr>
        <p:spPr>
          <a:xfrm>
            <a:off x="8641080" y="6217920"/>
            <a:ext cx="30449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8-3 使えるものだったか</a:t>
            </a:r>
            <a:endParaRPr lang="en-US" sz="1400" dirty="0"/>
          </a:p>
        </p:txBody>
      </p:sp>
      <p:sp>
        <p:nvSpPr>
          <p:cNvPr id="12" name="Shape 10"/>
          <p:cNvSpPr/>
          <p:nvPr/>
        </p:nvSpPr>
        <p:spPr>
          <a:xfrm>
            <a:off x="485335" y="3611880"/>
            <a:ext cx="1371600" cy="1371600"/>
          </a:xfrm>
          <a:prstGeom prst="ellipse">
            <a:avLst/>
          </a:prstGeom>
          <a:solidFill>
            <a:srgbClr val="DDEBF3"/>
          </a:solidFill>
          <a:ln w="12700">
            <a:solidFill>
              <a:srgbClr val="DDEBF3"/>
            </a:solidFill>
            <a:prstDash val="solid"/>
          </a:ln>
        </p:spPr>
        <p:txBody>
          <a:bodyPr/>
          <a:lstStyle/>
          <a:p>
            <a:endParaRPr lang="ja-JP" altLang="en-US"/>
          </a:p>
        </p:txBody>
      </p:sp>
      <p:pic>
        <p:nvPicPr>
          <p:cNvPr id="13" name="Image 0" descr="/home/claude/v4/icons/FaVolumeUp_156082.png"/>
          <p:cNvPicPr>
            <a:picLocks noChangeAspect="1"/>
          </p:cNvPicPr>
          <p:nvPr/>
        </p:nvPicPr>
        <p:blipFill>
          <a:blip r:embed="rId3"/>
          <a:stretch>
            <a:fillRect/>
          </a:stretch>
        </p:blipFill>
        <p:spPr>
          <a:xfrm>
            <a:off x="805375" y="3931920"/>
            <a:ext cx="731520" cy="731520"/>
          </a:xfrm>
          <a:prstGeom prst="rect">
            <a:avLst/>
          </a:prstGeom>
        </p:spPr>
      </p:pic>
      <p:sp>
        <p:nvSpPr>
          <p:cNvPr id="14" name="Text 11"/>
          <p:cNvSpPr txBox="1"/>
          <p:nvPr/>
        </p:nvSpPr>
        <p:spPr>
          <a:xfrm>
            <a:off x="211015" y="5074920"/>
            <a:ext cx="1920240" cy="411480"/>
          </a:xfrm>
          <a:prstGeom prst="rect">
            <a:avLst/>
          </a:prstGeom>
          <a:noFill/>
          <a:ln/>
        </p:spPr>
        <p:txBody>
          <a:bodyPr wrap="square" lIns="0" tIns="0" rIns="0" bIns="0" rtlCol="0" anchor="ctr"/>
          <a:lstStyle/>
          <a:p>
            <a:pPr marL="0" indent="0" algn="ctr">
              <a:buNone/>
            </a:pPr>
            <a:r>
              <a:rPr lang="ja-JP" altLang="en-US" b="1" dirty="0">
                <a:solidFill>
                  <a:srgbClr val="000000"/>
                </a:solidFill>
                <a:latin typeface="游ゴシック" pitchFamily="34" charset="0"/>
                <a:ea typeface="游ゴシック" pitchFamily="34" charset="-122"/>
              </a:rPr>
              <a:t>犬の鳴き声</a:t>
            </a:r>
            <a:endParaRPr lang="en-US" sz="1800" dirty="0"/>
          </a:p>
        </p:txBody>
      </p:sp>
      <p:sp>
        <p:nvSpPr>
          <p:cNvPr id="15" name="Shape 12"/>
          <p:cNvSpPr/>
          <p:nvPr/>
        </p:nvSpPr>
        <p:spPr>
          <a:xfrm>
            <a:off x="2357981" y="3972887"/>
            <a:ext cx="1005840" cy="457200"/>
          </a:xfrm>
          <a:prstGeom prst="rightArrow">
            <a:avLst/>
          </a:prstGeom>
          <a:solidFill>
            <a:srgbClr val="156082"/>
          </a:solidFill>
          <a:ln w="12700">
            <a:solidFill>
              <a:srgbClr val="156082"/>
            </a:solidFill>
            <a:prstDash val="solid"/>
          </a:ln>
        </p:spPr>
        <p:txBody>
          <a:bodyPr/>
          <a:lstStyle/>
          <a:p>
            <a:endParaRPr lang="ja-JP" altLang="en-US"/>
          </a:p>
        </p:txBody>
      </p:sp>
      <p:sp>
        <p:nvSpPr>
          <p:cNvPr id="16" name="Text 13"/>
          <p:cNvSpPr txBox="1"/>
          <p:nvPr/>
        </p:nvSpPr>
        <p:spPr>
          <a:xfrm>
            <a:off x="2161751" y="3520093"/>
            <a:ext cx="1280160" cy="365760"/>
          </a:xfrm>
          <a:prstGeom prst="rect">
            <a:avLst/>
          </a:prstGeom>
          <a:noFill/>
          <a:ln/>
        </p:spPr>
        <p:txBody>
          <a:bodyPr wrap="square" lIns="0" tIns="0" rIns="0" bIns="0" rtlCol="0" anchor="ctr"/>
          <a:lstStyle/>
          <a:p>
            <a:pPr marL="0" indent="0" algn="ctr">
              <a:buNone/>
            </a:pPr>
            <a:r>
              <a:rPr lang="en-US" sz="1600" b="1" dirty="0">
                <a:solidFill>
                  <a:srgbClr val="156082"/>
                </a:solidFill>
                <a:latin typeface="游ゴシック" pitchFamily="34" charset="0"/>
                <a:ea typeface="游ゴシック" pitchFamily="34" charset="-122"/>
                <a:cs typeface="游ゴシック" pitchFamily="34" charset="-120"/>
              </a:rPr>
              <a:t>約 1.6 秒</a:t>
            </a:r>
            <a:endParaRPr lang="en-US" sz="1600" dirty="0"/>
          </a:p>
        </p:txBody>
      </p:sp>
      <p:sp>
        <p:nvSpPr>
          <p:cNvPr id="20" name="Text 17"/>
          <p:cNvSpPr txBox="1"/>
          <p:nvPr/>
        </p:nvSpPr>
        <p:spPr>
          <a:xfrm>
            <a:off x="3589900" y="5303520"/>
            <a:ext cx="4023360" cy="365760"/>
          </a:xfrm>
          <a:prstGeom prst="rect">
            <a:avLst/>
          </a:prstGeom>
          <a:noFill/>
          <a:ln/>
        </p:spPr>
        <p:txBody>
          <a:bodyPr wrap="square" lIns="0" tIns="0" rIns="0" bIns="0" rtlCol="0" anchor="ctr"/>
          <a:lstStyle/>
          <a:p>
            <a:pPr marL="0" indent="0" algn="ctr">
              <a:buNone/>
            </a:pPr>
            <a:r>
              <a:rPr lang="en-US" sz="1400" dirty="0">
                <a:solidFill>
                  <a:srgbClr val="595959"/>
                </a:solidFill>
                <a:latin typeface="游ゴシック" pitchFamily="34" charset="0"/>
                <a:ea typeface="游ゴシック" pitchFamily="34" charset="-122"/>
                <a:cs typeface="游ゴシック" pitchFamily="34" charset="-120"/>
              </a:rPr>
              <a:t>画面全体を音の色に（模式図）</a:t>
            </a:r>
            <a:endParaRPr lang="en-US" sz="1400" dirty="0"/>
          </a:p>
        </p:txBody>
      </p:sp>
      <p:sp>
        <p:nvSpPr>
          <p:cNvPr id="21" name="Shape 18"/>
          <p:cNvSpPr/>
          <p:nvPr/>
        </p:nvSpPr>
        <p:spPr>
          <a:xfrm>
            <a:off x="7961659" y="3999513"/>
            <a:ext cx="3879669" cy="806171"/>
          </a:xfrm>
          <a:prstGeom prst="rect">
            <a:avLst/>
          </a:prstGeom>
          <a:solidFill>
            <a:srgbClr val="F2F2F2"/>
          </a:solidFill>
          <a:ln w="12700">
            <a:solidFill>
              <a:srgbClr val="BFBFBF"/>
            </a:solidFill>
            <a:prstDash val="solid"/>
          </a:ln>
        </p:spPr>
        <p:txBody>
          <a:bodyPr/>
          <a:lstStyle/>
          <a:p>
            <a:endParaRPr lang="ja-JP" altLang="en-US"/>
          </a:p>
        </p:txBody>
      </p:sp>
      <p:pic>
        <p:nvPicPr>
          <p:cNvPr id="22" name="Image 1" descr="/home/claude/v4/icons/FaLightbulb_C00000.png"/>
          <p:cNvPicPr>
            <a:picLocks noChangeAspect="1"/>
          </p:cNvPicPr>
          <p:nvPr/>
        </p:nvPicPr>
        <p:blipFill>
          <a:blip r:embed="rId4"/>
          <a:stretch>
            <a:fillRect/>
          </a:stretch>
        </p:blipFill>
        <p:spPr>
          <a:xfrm>
            <a:off x="8266475" y="4244951"/>
            <a:ext cx="349317" cy="349317"/>
          </a:xfrm>
          <a:prstGeom prst="rect">
            <a:avLst/>
          </a:prstGeom>
        </p:spPr>
      </p:pic>
      <p:sp>
        <p:nvSpPr>
          <p:cNvPr id="23" name="Text 19"/>
          <p:cNvSpPr txBox="1"/>
          <p:nvPr/>
        </p:nvSpPr>
        <p:spPr>
          <a:xfrm>
            <a:off x="8843244" y="4037502"/>
            <a:ext cx="2770632" cy="779381"/>
          </a:xfrm>
          <a:prstGeom prst="rect">
            <a:avLst/>
          </a:prstGeom>
          <a:noFill/>
          <a:ln/>
        </p:spPr>
        <p:txBody>
          <a:bodyPr wrap="square" lIns="0" tIns="0" rIns="0" bIns="0" rtlCol="0" anchor="ctr"/>
          <a:lstStyle/>
          <a:p>
            <a:pPr marL="0" indent="0">
              <a:buNone/>
            </a:pPr>
            <a:r>
              <a:rPr lang="en-US" sz="1400" b="1" dirty="0">
                <a:solidFill>
                  <a:srgbClr val="000000"/>
                </a:solidFill>
                <a:latin typeface="游ゴシック" pitchFamily="34" charset="0"/>
                <a:ea typeface="游ゴシック" pitchFamily="34" charset="-122"/>
                <a:cs typeface="游ゴシック" pitchFamily="34" charset="-120"/>
              </a:rPr>
              <a:t>赤 LED が 1 </a:t>
            </a:r>
            <a:r>
              <a:rPr lang="en-US" sz="1400" b="1" dirty="0" err="1">
                <a:solidFill>
                  <a:srgbClr val="000000"/>
                </a:solidFill>
                <a:latin typeface="游ゴシック" pitchFamily="34" charset="0"/>
                <a:ea typeface="游ゴシック" pitchFamily="34" charset="-122"/>
                <a:cs typeface="游ゴシック" pitchFamily="34" charset="-120"/>
              </a:rPr>
              <a:t>秒点灯</a:t>
            </a:r>
            <a:endParaRPr lang="en-US" sz="1400" b="1" dirty="0">
              <a:solidFill>
                <a:srgbClr val="000000"/>
              </a:solidFill>
              <a:latin typeface="游ゴシック" pitchFamily="34" charset="0"/>
              <a:ea typeface="游ゴシック" pitchFamily="34" charset="-122"/>
              <a:cs typeface="游ゴシック" pitchFamily="34" charset="-120"/>
            </a:endParaRPr>
          </a:p>
          <a:p>
            <a:pPr marL="0" indent="0">
              <a:buNone/>
            </a:pPr>
            <a:r>
              <a:rPr lang="en-US" sz="1400" b="1" dirty="0">
                <a:solidFill>
                  <a:srgbClr val="000000"/>
                </a:solidFill>
                <a:latin typeface="游ゴシック" pitchFamily="34" charset="0"/>
                <a:ea typeface="游ゴシック" pitchFamily="34" charset="-122"/>
              </a:rPr>
              <a:t>(</a:t>
            </a:r>
            <a:r>
              <a:rPr lang="ja-JP" altLang="en-US" sz="1400" b="1" dirty="0">
                <a:solidFill>
                  <a:srgbClr val="000000"/>
                </a:solidFill>
                <a:latin typeface="游ゴシック" pitchFamily="34" charset="0"/>
                <a:ea typeface="游ゴシック" pitchFamily="34" charset="-122"/>
              </a:rPr>
              <a:t>検出が続くあいだは点いたまま</a:t>
            </a:r>
            <a:r>
              <a:rPr lang="en-US" sz="1400" b="1" dirty="0">
                <a:solidFill>
                  <a:srgbClr val="000000"/>
                </a:solidFill>
                <a:latin typeface="游ゴシック" pitchFamily="34" charset="0"/>
                <a:ea typeface="游ゴシック" pitchFamily="34" charset="-122"/>
              </a:rPr>
              <a:t>)</a:t>
            </a:r>
            <a:endParaRPr lang="en-US" sz="1400" dirty="0"/>
          </a:p>
        </p:txBody>
      </p:sp>
      <p:pic>
        <p:nvPicPr>
          <p:cNvPr id="29" name="図 28">
            <a:extLst>
              <a:ext uri="{FF2B5EF4-FFF2-40B4-BE49-F238E27FC236}">
                <a16:creationId xmlns:a16="http://schemas.microsoft.com/office/drawing/2014/main" id="{D8337933-2446-4302-B828-EE79C401D6D8}"/>
              </a:ext>
            </a:extLst>
          </p:cNvPr>
          <p:cNvPicPr>
            <a:picLocks noChangeAspect="1"/>
          </p:cNvPicPr>
          <p:nvPr/>
        </p:nvPicPr>
        <p:blipFill>
          <a:blip r:embed="rId5"/>
          <a:stretch>
            <a:fillRect/>
          </a:stretch>
        </p:blipFill>
        <p:spPr>
          <a:xfrm>
            <a:off x="8801642" y="2452597"/>
            <a:ext cx="2500782" cy="1406313"/>
          </a:xfrm>
          <a:prstGeom prst="rect">
            <a:avLst/>
          </a:prstGeom>
        </p:spPr>
      </p:pic>
      <p:pic>
        <p:nvPicPr>
          <p:cNvPr id="32" name="図 31">
            <a:extLst>
              <a:ext uri="{FF2B5EF4-FFF2-40B4-BE49-F238E27FC236}">
                <a16:creationId xmlns:a16="http://schemas.microsoft.com/office/drawing/2014/main" id="{CB98C626-2C60-456A-BC8D-F7669D745410}"/>
              </a:ext>
            </a:extLst>
          </p:cNvPr>
          <p:cNvPicPr>
            <a:picLocks noChangeAspect="1"/>
          </p:cNvPicPr>
          <p:nvPr/>
        </p:nvPicPr>
        <p:blipFill>
          <a:blip r:embed="rId6"/>
          <a:stretch>
            <a:fillRect/>
          </a:stretch>
        </p:blipFill>
        <p:spPr>
          <a:xfrm>
            <a:off x="8015802" y="4995475"/>
            <a:ext cx="3598074" cy="810965"/>
          </a:xfrm>
          <a:prstGeom prst="rect">
            <a:avLst/>
          </a:prstGeom>
        </p:spPr>
      </p:pic>
      <p:pic>
        <p:nvPicPr>
          <p:cNvPr id="40" name="図 39">
            <a:extLst>
              <a:ext uri="{FF2B5EF4-FFF2-40B4-BE49-F238E27FC236}">
                <a16:creationId xmlns:a16="http://schemas.microsoft.com/office/drawing/2014/main" id="{B9688EDA-A0C7-4C7D-9E85-8B61F35EB5C3}"/>
              </a:ext>
            </a:extLst>
          </p:cNvPr>
          <p:cNvPicPr>
            <a:picLocks noChangeAspect="1"/>
          </p:cNvPicPr>
          <p:nvPr/>
        </p:nvPicPr>
        <p:blipFill rotWithShape="1">
          <a:blip r:embed="rId7"/>
          <a:srcRect l="10968" t="16695" r="14342" b="22784"/>
          <a:stretch/>
        </p:blipFill>
        <p:spPr>
          <a:xfrm>
            <a:off x="3586404" y="2834902"/>
            <a:ext cx="3959877" cy="240519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a:extLst>
              <a:ext uri="{FF2B5EF4-FFF2-40B4-BE49-F238E27FC236}">
                <a16:creationId xmlns:a16="http://schemas.microsoft.com/office/drawing/2014/main" id="{4C8D1016-1C72-4D7E-A176-420D1C6B84B4}"/>
              </a:ext>
            </a:extLst>
          </p:cNvPr>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3" name="Text 0">
            <a:extLst>
              <a:ext uri="{FF2B5EF4-FFF2-40B4-BE49-F238E27FC236}">
                <a16:creationId xmlns:a16="http://schemas.microsoft.com/office/drawing/2014/main" id="{59E76627-4ACF-43CA-8F49-BE4DAAD434A3}"/>
              </a:ext>
            </a:extLst>
          </p:cNvPr>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8-1　</a:t>
            </a:r>
            <a:r>
              <a:rPr lang="en-US" altLang="ja-JP" sz="3200" b="1" dirty="0">
                <a:solidFill>
                  <a:srgbClr val="000000"/>
                </a:solidFill>
                <a:latin typeface="游ゴシック" pitchFamily="34" charset="0"/>
                <a:ea typeface="游ゴシック" pitchFamily="34" charset="-122"/>
                <a:cs typeface="游ゴシック" pitchFamily="34" charset="-120"/>
              </a:rPr>
              <a:t>ESC-10 </a:t>
            </a:r>
            <a:r>
              <a:rPr lang="ja-JP" altLang="en-US" sz="3200" b="1" dirty="0">
                <a:solidFill>
                  <a:srgbClr val="000000"/>
                </a:solidFill>
                <a:latin typeface="游ゴシック" pitchFamily="34" charset="0"/>
                <a:ea typeface="游ゴシック" pitchFamily="34" charset="-122"/>
                <a:cs typeface="游ゴシック" pitchFamily="34" charset="-120"/>
              </a:rPr>
              <a:t>版の動作例</a:t>
            </a:r>
            <a:endParaRPr lang="en-US" sz="3000" dirty="0"/>
          </a:p>
        </p:txBody>
      </p:sp>
      <p:sp>
        <p:nvSpPr>
          <p:cNvPr id="5" name="テキスト ボックス 4">
            <a:extLst>
              <a:ext uri="{FF2B5EF4-FFF2-40B4-BE49-F238E27FC236}">
                <a16:creationId xmlns:a16="http://schemas.microsoft.com/office/drawing/2014/main" id="{CF2DBF40-3B1F-44CF-AAB3-5E0B0048F945}"/>
              </a:ext>
            </a:extLst>
          </p:cNvPr>
          <p:cNvSpPr txBox="1"/>
          <p:nvPr/>
        </p:nvSpPr>
        <p:spPr>
          <a:xfrm>
            <a:off x="656512" y="1384611"/>
            <a:ext cx="10878670" cy="523220"/>
          </a:xfrm>
          <a:prstGeom prst="rect">
            <a:avLst/>
          </a:prstGeom>
          <a:noFill/>
        </p:spPr>
        <p:txBody>
          <a:bodyPr wrap="square">
            <a:spAutoFit/>
          </a:bodyPr>
          <a:lstStyle/>
          <a:p>
            <a:pPr algn="ctr"/>
            <a:r>
              <a:rPr lang="ja-JP" altLang="en-US" sz="2800" b="1" dirty="0">
                <a:solidFill>
                  <a:srgbClr val="FF0000"/>
                </a:solidFill>
              </a:rPr>
              <a:t>音から平均 </a:t>
            </a:r>
            <a:r>
              <a:rPr lang="en-US" altLang="ja-JP" sz="2800" b="1" dirty="0">
                <a:solidFill>
                  <a:srgbClr val="FF0000"/>
                </a:solidFill>
              </a:rPr>
              <a:t>1.6 </a:t>
            </a:r>
            <a:r>
              <a:rPr lang="ja-JP" altLang="en-US" sz="2800" b="1" dirty="0">
                <a:solidFill>
                  <a:srgbClr val="FF0000"/>
                </a:solidFill>
              </a:rPr>
              <a:t>秒で、画面全体を音の種類の色に変えて知らせる</a:t>
            </a:r>
          </a:p>
        </p:txBody>
      </p:sp>
      <p:sp>
        <p:nvSpPr>
          <p:cNvPr id="6" name="Text 28">
            <a:extLst>
              <a:ext uri="{FF2B5EF4-FFF2-40B4-BE49-F238E27FC236}">
                <a16:creationId xmlns:a16="http://schemas.microsoft.com/office/drawing/2014/main" id="{5B3BCF02-55FA-494E-B3F6-BD4CA5BAFBC7}"/>
              </a:ext>
            </a:extLst>
          </p:cNvPr>
          <p:cNvSpPr txBox="1"/>
          <p:nvPr/>
        </p:nvSpPr>
        <p:spPr>
          <a:xfrm>
            <a:off x="457200" y="6108647"/>
            <a:ext cx="4021015" cy="685800"/>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LED：通知で赤が 1 </a:t>
            </a:r>
            <a:r>
              <a:rPr lang="en-US" sz="1600" dirty="0" err="1">
                <a:solidFill>
                  <a:srgbClr val="000000"/>
                </a:solidFill>
                <a:latin typeface="游ゴシック" pitchFamily="34" charset="0"/>
                <a:ea typeface="游ゴシック" pitchFamily="34" charset="-122"/>
                <a:cs typeface="游ゴシック" pitchFamily="34" charset="-120"/>
              </a:rPr>
              <a:t>秒点灯</a:t>
            </a:r>
            <a:r>
              <a:rPr lang="en-US" sz="1600" dirty="0">
                <a:solidFill>
                  <a:srgbClr val="000000"/>
                </a:solidFill>
                <a:latin typeface="游ゴシック" pitchFamily="34" charset="0"/>
                <a:ea typeface="游ゴシック" pitchFamily="34" charset="-122"/>
                <a:cs typeface="游ゴシック" pitchFamily="34" charset="-120"/>
              </a:rPr>
              <a:t>(</a:t>
            </a:r>
            <a:r>
              <a:rPr lang="ja-JP" altLang="en-US" sz="1600" dirty="0">
                <a:solidFill>
                  <a:srgbClr val="000000"/>
                </a:solidFill>
                <a:latin typeface="游ゴシック" pitchFamily="34" charset="0"/>
                <a:ea typeface="游ゴシック" pitchFamily="34" charset="-122"/>
                <a:cs typeface="游ゴシック" pitchFamily="34" charset="-120"/>
              </a:rPr>
              <a:t>前述</a:t>
            </a:r>
            <a:r>
              <a:rPr lang="en-US" sz="1600" dirty="0">
                <a:solidFill>
                  <a:srgbClr val="000000"/>
                </a:solidFill>
                <a:latin typeface="游ゴシック" pitchFamily="34" charset="0"/>
                <a:ea typeface="游ゴシック" pitchFamily="34" charset="-122"/>
                <a:cs typeface="游ゴシック" pitchFamily="34" charset="-120"/>
              </a:rPr>
              <a:t>)、</a:t>
            </a:r>
          </a:p>
          <a:p>
            <a:pPr marL="0" indent="0">
              <a:buNone/>
            </a:pPr>
            <a:r>
              <a:rPr lang="ja-JP" altLang="en-US" sz="1600" dirty="0">
                <a:solidFill>
                  <a:srgbClr val="000000"/>
                </a:solidFill>
                <a:latin typeface="游ゴシック" pitchFamily="34" charset="0"/>
                <a:ea typeface="游ゴシック" pitchFamily="34" charset="-122"/>
                <a:cs typeface="游ゴシック" pitchFamily="34" charset="-120"/>
              </a:rPr>
              <a:t>　　　</a:t>
            </a:r>
            <a:r>
              <a:rPr lang="en-US" sz="1600" dirty="0" err="1">
                <a:solidFill>
                  <a:srgbClr val="000000"/>
                </a:solidFill>
                <a:latin typeface="游ゴシック" pitchFamily="34" charset="0"/>
                <a:ea typeface="游ゴシック" pitchFamily="34" charset="-122"/>
                <a:cs typeface="游ゴシック" pitchFamily="34" charset="-120"/>
              </a:rPr>
              <a:t>緑の点滅は</a:t>
            </a:r>
            <a:r>
              <a:rPr lang="ja-JP" altLang="en-US" sz="1600" dirty="0">
                <a:solidFill>
                  <a:srgbClr val="000000"/>
                </a:solidFill>
                <a:latin typeface="游ゴシック" pitchFamily="34" charset="0"/>
                <a:ea typeface="游ゴシック" pitchFamily="34" charset="-122"/>
                <a:cs typeface="游ゴシック" pitchFamily="34" charset="-120"/>
              </a:rPr>
              <a:t>マイコン</a:t>
            </a:r>
            <a:r>
              <a:rPr lang="en-US" sz="1600" dirty="0" err="1">
                <a:solidFill>
                  <a:srgbClr val="000000"/>
                </a:solidFill>
                <a:latin typeface="游ゴシック" pitchFamily="34" charset="0"/>
                <a:ea typeface="游ゴシック" pitchFamily="34" charset="-122"/>
                <a:cs typeface="游ゴシック" pitchFamily="34" charset="-120"/>
              </a:rPr>
              <a:t>動作中の印</a:t>
            </a:r>
            <a:r>
              <a:rPr lang="en-US" sz="1600" dirty="0">
                <a:solidFill>
                  <a:srgbClr val="000000"/>
                </a:solidFill>
                <a:latin typeface="游ゴシック" pitchFamily="34" charset="0"/>
                <a:ea typeface="游ゴシック" pitchFamily="34" charset="-122"/>
                <a:cs typeface="游ゴシック" pitchFamily="34" charset="-120"/>
              </a:rPr>
              <a:t>　　</a:t>
            </a:r>
            <a:endParaRPr lang="en-US" sz="1600" dirty="0"/>
          </a:p>
        </p:txBody>
      </p:sp>
      <p:pic>
        <p:nvPicPr>
          <p:cNvPr id="7" name="図 6">
            <a:extLst>
              <a:ext uri="{FF2B5EF4-FFF2-40B4-BE49-F238E27FC236}">
                <a16:creationId xmlns:a16="http://schemas.microsoft.com/office/drawing/2014/main" id="{1C18A2B2-21E2-4074-A4BC-8091208B729F}"/>
              </a:ext>
            </a:extLst>
          </p:cNvPr>
          <p:cNvPicPr>
            <a:picLocks noChangeAspect="1"/>
          </p:cNvPicPr>
          <p:nvPr/>
        </p:nvPicPr>
        <p:blipFill>
          <a:blip r:embed="rId2"/>
          <a:stretch>
            <a:fillRect/>
          </a:stretch>
        </p:blipFill>
        <p:spPr>
          <a:xfrm>
            <a:off x="4937252" y="6265021"/>
            <a:ext cx="6291617" cy="426757"/>
          </a:xfrm>
          <a:prstGeom prst="rect">
            <a:avLst/>
          </a:prstGeom>
        </p:spPr>
      </p:pic>
      <p:pic>
        <p:nvPicPr>
          <p:cNvPr id="8" name="図 7">
            <a:extLst>
              <a:ext uri="{FF2B5EF4-FFF2-40B4-BE49-F238E27FC236}">
                <a16:creationId xmlns:a16="http://schemas.microsoft.com/office/drawing/2014/main" id="{8579621D-BB78-4804-B6F6-EF6B4534D789}"/>
              </a:ext>
            </a:extLst>
          </p:cNvPr>
          <p:cNvPicPr>
            <a:picLocks noChangeAspect="1"/>
          </p:cNvPicPr>
          <p:nvPr/>
        </p:nvPicPr>
        <p:blipFill rotWithShape="1">
          <a:blip r:embed="rId3"/>
          <a:srcRect l="24014" t="18468" r="36871" b="9112"/>
          <a:stretch/>
        </p:blipFill>
        <p:spPr>
          <a:xfrm rot="5400000">
            <a:off x="6298838" y="1997021"/>
            <a:ext cx="1768454" cy="2454406"/>
          </a:xfrm>
          <a:prstGeom prst="rect">
            <a:avLst/>
          </a:prstGeom>
        </p:spPr>
      </p:pic>
      <p:pic>
        <p:nvPicPr>
          <p:cNvPr id="9" name="図 8">
            <a:extLst>
              <a:ext uri="{FF2B5EF4-FFF2-40B4-BE49-F238E27FC236}">
                <a16:creationId xmlns:a16="http://schemas.microsoft.com/office/drawing/2014/main" id="{1DD9C4FC-6EBE-40FA-8F33-FAE51C694BC8}"/>
              </a:ext>
            </a:extLst>
          </p:cNvPr>
          <p:cNvPicPr>
            <a:picLocks noChangeAspect="1"/>
          </p:cNvPicPr>
          <p:nvPr/>
        </p:nvPicPr>
        <p:blipFill rotWithShape="1">
          <a:blip r:embed="rId4"/>
          <a:srcRect l="3503" t="20588" r="6971" b="33907"/>
          <a:stretch/>
        </p:blipFill>
        <p:spPr>
          <a:xfrm>
            <a:off x="1282504" y="2413292"/>
            <a:ext cx="3272589" cy="2216837"/>
          </a:xfrm>
          <a:prstGeom prst="rect">
            <a:avLst/>
          </a:prstGeom>
        </p:spPr>
      </p:pic>
      <p:sp>
        <p:nvSpPr>
          <p:cNvPr id="10" name="Text 7">
            <a:extLst>
              <a:ext uri="{FF2B5EF4-FFF2-40B4-BE49-F238E27FC236}">
                <a16:creationId xmlns:a16="http://schemas.microsoft.com/office/drawing/2014/main" id="{9B4C303A-462E-42B5-9761-E08CB143EFE8}"/>
              </a:ext>
            </a:extLst>
          </p:cNvPr>
          <p:cNvSpPr txBox="1"/>
          <p:nvPr/>
        </p:nvSpPr>
        <p:spPr>
          <a:xfrm>
            <a:off x="1180904" y="5267649"/>
            <a:ext cx="3835791" cy="41148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待機：READY と、1 </a:t>
            </a:r>
            <a:r>
              <a:rPr lang="en-US" sz="1600" b="1" dirty="0" err="1">
                <a:solidFill>
                  <a:srgbClr val="000000"/>
                </a:solidFill>
                <a:latin typeface="游ゴシック" pitchFamily="34" charset="0"/>
                <a:ea typeface="游ゴシック" pitchFamily="34" charset="-122"/>
                <a:cs typeface="游ゴシック" pitchFamily="34" charset="-120"/>
              </a:rPr>
              <a:t>秒ごとに変わる数字（生存表示</a:t>
            </a:r>
            <a:r>
              <a:rPr lang="en-US" sz="1600" b="1" dirty="0">
                <a:solidFill>
                  <a:srgbClr val="000000"/>
                </a:solidFill>
                <a:latin typeface="游ゴシック" pitchFamily="34" charset="0"/>
                <a:ea typeface="游ゴシック" pitchFamily="34" charset="-122"/>
                <a:cs typeface="游ゴシック" pitchFamily="34" charset="-120"/>
              </a:rPr>
              <a:t>）</a:t>
            </a:r>
            <a:endParaRPr lang="en-US" sz="1600" dirty="0"/>
          </a:p>
        </p:txBody>
      </p:sp>
      <p:pic>
        <p:nvPicPr>
          <p:cNvPr id="13" name="図 12">
            <a:extLst>
              <a:ext uri="{FF2B5EF4-FFF2-40B4-BE49-F238E27FC236}">
                <a16:creationId xmlns:a16="http://schemas.microsoft.com/office/drawing/2014/main" id="{C54865C4-A97D-4E2D-840B-5B45C7DB4909}"/>
              </a:ext>
            </a:extLst>
          </p:cNvPr>
          <p:cNvPicPr>
            <a:picLocks noChangeAspect="1"/>
          </p:cNvPicPr>
          <p:nvPr/>
        </p:nvPicPr>
        <p:blipFill rotWithShape="1">
          <a:blip r:embed="rId5"/>
          <a:srcRect l="17813" t="-13" r="33802" b="820"/>
          <a:stretch/>
        </p:blipFill>
        <p:spPr>
          <a:xfrm rot="5400000">
            <a:off x="8355126" y="2879958"/>
            <a:ext cx="2002622" cy="2308728"/>
          </a:xfrm>
          <a:prstGeom prst="rect">
            <a:avLst/>
          </a:prstGeom>
        </p:spPr>
      </p:pic>
      <p:sp>
        <p:nvSpPr>
          <p:cNvPr id="14" name="Text 11">
            <a:extLst>
              <a:ext uri="{FF2B5EF4-FFF2-40B4-BE49-F238E27FC236}">
                <a16:creationId xmlns:a16="http://schemas.microsoft.com/office/drawing/2014/main" id="{55B7245A-FAD2-4350-9677-7C157CBCCD09}"/>
              </a:ext>
            </a:extLst>
          </p:cNvPr>
          <p:cNvSpPr txBox="1"/>
          <p:nvPr/>
        </p:nvSpPr>
        <p:spPr>
          <a:xfrm>
            <a:off x="6460323" y="5074486"/>
            <a:ext cx="3611880" cy="41148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通知：画面全体を音の色に（3 秒）</a:t>
            </a:r>
            <a:endParaRPr lang="en-US" sz="1600" dirty="0"/>
          </a:p>
        </p:txBody>
      </p:sp>
      <p:sp>
        <p:nvSpPr>
          <p:cNvPr id="15" name="Text 17">
            <a:extLst>
              <a:ext uri="{FF2B5EF4-FFF2-40B4-BE49-F238E27FC236}">
                <a16:creationId xmlns:a16="http://schemas.microsoft.com/office/drawing/2014/main" id="{C88A9F3E-DD70-435E-BB6C-2BB179F35A81}"/>
              </a:ext>
            </a:extLst>
          </p:cNvPr>
          <p:cNvSpPr txBox="1"/>
          <p:nvPr/>
        </p:nvSpPr>
        <p:spPr>
          <a:xfrm>
            <a:off x="6396133" y="5337839"/>
            <a:ext cx="3611880" cy="41148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履歴：直近 3 件を画面の下に残す</a:t>
            </a:r>
            <a:endParaRPr lang="en-US" sz="1600" dirty="0"/>
          </a:p>
        </p:txBody>
      </p:sp>
    </p:spTree>
    <p:extLst>
      <p:ext uri="{BB962C8B-B14F-4D97-AF65-F5344CB8AC3E}">
        <p14:creationId xmlns:p14="http://schemas.microsoft.com/office/powerpoint/2010/main" val="401708735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a:extLst>
              <a:ext uri="{FF2B5EF4-FFF2-40B4-BE49-F238E27FC236}">
                <a16:creationId xmlns:a16="http://schemas.microsoft.com/office/drawing/2014/main" id="{6E3AAA85-7A6D-4BDA-B87A-65F3C42296A2}"/>
              </a:ext>
            </a:extLst>
          </p:cNvPr>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3" name="Text 0">
            <a:extLst>
              <a:ext uri="{FF2B5EF4-FFF2-40B4-BE49-F238E27FC236}">
                <a16:creationId xmlns:a16="http://schemas.microsoft.com/office/drawing/2014/main" id="{2DE760AC-2A35-477B-8E79-1CDB90FF9197}"/>
              </a:ext>
            </a:extLst>
          </p:cNvPr>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8-1　</a:t>
            </a:r>
            <a:r>
              <a:rPr lang="ja-JP" altLang="en-US" sz="3200" b="1" dirty="0">
                <a:solidFill>
                  <a:srgbClr val="000000"/>
                </a:solidFill>
                <a:latin typeface="游ゴシック" pitchFamily="34" charset="0"/>
                <a:ea typeface="游ゴシック" pitchFamily="34" charset="-122"/>
                <a:cs typeface="游ゴシック" pitchFamily="34" charset="-120"/>
              </a:rPr>
              <a:t>動画</a:t>
            </a:r>
            <a:endParaRPr lang="en-US" sz="3000" dirty="0"/>
          </a:p>
        </p:txBody>
      </p:sp>
      <p:pic>
        <p:nvPicPr>
          <p:cNvPr id="4" name="PXL_20260930_090236430">
            <a:hlinkClick r:id="" action="ppaction://media"/>
            <a:extLst>
              <a:ext uri="{FF2B5EF4-FFF2-40B4-BE49-F238E27FC236}">
                <a16:creationId xmlns:a16="http://schemas.microsoft.com/office/drawing/2014/main" id="{BAEDF1DD-7EDB-4216-985E-BFCF4006759F}"/>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rot="5400000">
            <a:off x="5548116" y="2415609"/>
            <a:ext cx="4300598" cy="2436855"/>
          </a:xfrm>
          <a:prstGeom prst="rect">
            <a:avLst/>
          </a:prstGeom>
        </p:spPr>
      </p:pic>
      <p:sp>
        <p:nvSpPr>
          <p:cNvPr id="5" name="テキスト ボックス 4">
            <a:extLst>
              <a:ext uri="{FF2B5EF4-FFF2-40B4-BE49-F238E27FC236}">
                <a16:creationId xmlns:a16="http://schemas.microsoft.com/office/drawing/2014/main" id="{A2FC7A5E-A810-4487-982C-7FC1B84CCC0F}"/>
              </a:ext>
            </a:extLst>
          </p:cNvPr>
          <p:cNvSpPr txBox="1"/>
          <p:nvPr/>
        </p:nvSpPr>
        <p:spPr>
          <a:xfrm>
            <a:off x="6770594" y="5896094"/>
            <a:ext cx="1855641" cy="400110"/>
          </a:xfrm>
          <a:prstGeom prst="rect">
            <a:avLst/>
          </a:prstGeom>
          <a:noFill/>
        </p:spPr>
        <p:txBody>
          <a:bodyPr wrap="square" rtlCol="0">
            <a:spAutoFit/>
          </a:bodyPr>
          <a:lstStyle/>
          <a:p>
            <a:pPr algn="ctr"/>
            <a:r>
              <a:rPr kumimoji="1" lang="ja-JP" altLang="en-US" sz="2000" dirty="0"/>
              <a:t>咳</a:t>
            </a:r>
            <a:r>
              <a:rPr kumimoji="1" lang="en-US" altLang="ja-JP" sz="2000" dirty="0"/>
              <a:t>:SNEEZE</a:t>
            </a:r>
            <a:endParaRPr kumimoji="1" lang="ja-JP" altLang="en-US" sz="2000" dirty="0"/>
          </a:p>
        </p:txBody>
      </p:sp>
      <p:pic>
        <p:nvPicPr>
          <p:cNvPr id="6" name="PXL_20260930_090436471">
            <a:hlinkClick r:id="" action="ppaction://media"/>
            <a:extLst>
              <a:ext uri="{FF2B5EF4-FFF2-40B4-BE49-F238E27FC236}">
                <a16:creationId xmlns:a16="http://schemas.microsoft.com/office/drawing/2014/main" id="{1C28F46B-E05B-4ABE-B5F6-0325CE869259}"/>
              </a:ext>
            </a:extLst>
          </p:cNvPr>
          <p:cNvPicPr>
            <a:picLocks noChangeAspect="1"/>
          </p:cNvPicPr>
          <p:nvPr>
            <a:videoFile r:link="rId4"/>
            <p:extLst>
              <p:ext uri="{DAA4B4D4-6D71-4841-9C94-3DE7FCFB9230}">
                <p14:media xmlns:p14="http://schemas.microsoft.com/office/powerpoint/2010/main" r:embed="rId3"/>
              </p:ext>
            </p:extLst>
          </p:nvPr>
        </p:nvPicPr>
        <p:blipFill>
          <a:blip r:embed="rId7"/>
          <a:stretch>
            <a:fillRect/>
          </a:stretch>
        </p:blipFill>
        <p:spPr>
          <a:xfrm>
            <a:off x="2167996" y="1498190"/>
            <a:ext cx="2436856" cy="4300333"/>
          </a:xfrm>
          <a:prstGeom prst="rect">
            <a:avLst/>
          </a:prstGeom>
        </p:spPr>
      </p:pic>
      <p:sp>
        <p:nvSpPr>
          <p:cNvPr id="8" name="テキスト ボックス 7">
            <a:extLst>
              <a:ext uri="{FF2B5EF4-FFF2-40B4-BE49-F238E27FC236}">
                <a16:creationId xmlns:a16="http://schemas.microsoft.com/office/drawing/2014/main" id="{F814A251-3FAF-4570-AD5F-4AAB69FA128E}"/>
              </a:ext>
            </a:extLst>
          </p:cNvPr>
          <p:cNvSpPr txBox="1"/>
          <p:nvPr/>
        </p:nvSpPr>
        <p:spPr>
          <a:xfrm>
            <a:off x="2690162" y="5926872"/>
            <a:ext cx="1392524" cy="369332"/>
          </a:xfrm>
          <a:prstGeom prst="rect">
            <a:avLst/>
          </a:prstGeom>
          <a:noFill/>
        </p:spPr>
        <p:txBody>
          <a:bodyPr wrap="square">
            <a:spAutoFit/>
          </a:bodyPr>
          <a:lstStyle/>
          <a:p>
            <a:pPr algn="ctr"/>
            <a:r>
              <a:rPr kumimoji="1" lang="ja-JP" altLang="en-US" sz="1800" dirty="0"/>
              <a:t>犬</a:t>
            </a:r>
            <a:r>
              <a:rPr kumimoji="1" lang="en-US" altLang="ja-JP" sz="1800" dirty="0"/>
              <a:t>:DOG</a:t>
            </a:r>
            <a:endParaRPr kumimoji="1" lang="ja-JP" altLang="en-US" sz="1800" dirty="0"/>
          </a:p>
        </p:txBody>
      </p:sp>
    </p:spTree>
    <p:extLst>
      <p:ext uri="{BB962C8B-B14F-4D97-AF65-F5344CB8AC3E}">
        <p14:creationId xmlns:p14="http://schemas.microsoft.com/office/powerpoint/2010/main" val="2216632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300" fill="hold"/>
                                        <p:tgtEl>
                                          <p:spTgt spid="4"/>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6776"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fill="hold" display="0">
                  <p:stCondLst>
                    <p:cond delay="indefinite"/>
                  </p:stCondLst>
                </p:cTn>
                <p:tgtEl>
                  <p:spTgt spid="4"/>
                </p:tgtEl>
              </p:cMediaNode>
            </p:video>
            <p:seq concurrent="1" nextAc="seek">
              <p:cTn id="12" restart="whenNotActive" fill="hold" evtFilter="cancelBubble" nodeType="interactiveSeq">
                <p:stCondLst>
                  <p:cond evt="onClick" delay="0">
                    <p:tgtEl>
                      <p:spTgt spid="4"/>
                    </p:tgtEl>
                  </p:cond>
                </p:stCondLst>
                <p:endSync evt="end" delay="0">
                  <p:rtn val="all"/>
                </p:endSync>
                <p:childTnLst>
                  <p:par>
                    <p:cTn id="13" fill="hold">
                      <p:stCondLst>
                        <p:cond delay="0"/>
                      </p:stCondLst>
                      <p:childTnLst>
                        <p:par>
                          <p:cTn id="14" fill="hold">
                            <p:stCondLst>
                              <p:cond delay="0"/>
                            </p:stCondLst>
                            <p:childTnLst>
                              <p:par>
                                <p:cTn id="15" presetID="2" presetClass="mediacall" presetSubtype="0" fill="hold" nodeType="clickEffect">
                                  <p:stCondLst>
                                    <p:cond delay="0"/>
                                  </p:stCondLst>
                                  <p:childTnLst>
                                    <p:cmd type="call" cmd="togglePause">
                                      <p:cBhvr>
                                        <p:cTn id="16" dur="1" fill="hold"/>
                                        <p:tgtEl>
                                          <p:spTgt spid="4"/>
                                        </p:tgtEl>
                                      </p:cBhvr>
                                    </p:cmd>
                                  </p:childTnLst>
                                </p:cTn>
                              </p:par>
                            </p:childTnLst>
                          </p:cTn>
                        </p:par>
                      </p:childTnLst>
                    </p:cTn>
                  </p:par>
                </p:childTnLst>
              </p:cTn>
              <p:nextCondLst>
                <p:cond evt="onClick" delay="0">
                  <p:tgtEl>
                    <p:spTgt spid="4"/>
                  </p:tgtEl>
                </p:cond>
              </p:nextCondLst>
            </p:seq>
            <p:video>
              <p:cMediaNode vol="80000">
                <p:cTn id="17" fill="hold" display="0">
                  <p:stCondLst>
                    <p:cond delay="indefinite"/>
                  </p:stCondLst>
                </p:cTn>
                <p:tgtEl>
                  <p:spTgt spid="6"/>
                </p:tgtEl>
              </p:cMediaNode>
            </p:video>
            <p:seq concurrent="1" nextAc="seek">
              <p:cTn id="18" restart="whenNotActive" fill="hold" evtFilter="cancelBubble" nodeType="interactiveSeq">
                <p:stCondLst>
                  <p:cond evt="onClick" delay="0">
                    <p:tgtEl>
                      <p:spTgt spid="6"/>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8-2　</a:t>
            </a:r>
            <a:r>
              <a:rPr lang="en-US" altLang="ja-JP" sz="3200" b="1" dirty="0">
                <a:solidFill>
                  <a:srgbClr val="000000"/>
                </a:solidFill>
                <a:latin typeface="游ゴシック" pitchFamily="34" charset="0"/>
                <a:ea typeface="游ゴシック" pitchFamily="34" charset="-122"/>
                <a:cs typeface="游ゴシック" pitchFamily="34" charset="-120"/>
              </a:rPr>
              <a:t>FSD50K </a:t>
            </a:r>
            <a:r>
              <a:rPr lang="ja-JP" altLang="en-US" sz="3200" b="1" dirty="0">
                <a:solidFill>
                  <a:srgbClr val="000000"/>
                </a:solidFill>
                <a:latin typeface="游ゴシック" pitchFamily="34" charset="0"/>
                <a:ea typeface="游ゴシック" pitchFamily="34" charset="-122"/>
                <a:cs typeface="游ゴシック" pitchFamily="34" charset="-120"/>
              </a:rPr>
              <a:t>版の動作例</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274320" y="1280431"/>
            <a:ext cx="5456653" cy="560172"/>
          </a:xfrm>
          <a:prstGeom prst="rect">
            <a:avLst/>
          </a:prstGeom>
          <a:noFill/>
          <a:ln/>
        </p:spPr>
        <p:txBody>
          <a:bodyPr wrap="square" lIns="0" tIns="0" rIns="0" bIns="0" rtlCol="0" anchor="ctr"/>
          <a:lstStyle/>
          <a:p>
            <a:pPr marL="0" indent="0">
              <a:buNone/>
            </a:pPr>
            <a:r>
              <a:rPr lang="en-US" altLang="ja-JP" sz="2800" dirty="0"/>
              <a:t>ESC-10</a:t>
            </a:r>
            <a:r>
              <a:rPr lang="ja-JP" altLang="en-US" sz="2800" dirty="0"/>
              <a:t>版と基本は同様だが</a:t>
            </a:r>
            <a:endParaRPr lang="en-US" altLang="ja-JP" sz="2800" dirty="0"/>
          </a:p>
          <a:p>
            <a:pPr marL="0" indent="0">
              <a:buNone/>
            </a:pPr>
            <a:r>
              <a:rPr lang="ja-JP" altLang="en-US" sz="2800" dirty="0"/>
              <a:t>ターゲットが</a:t>
            </a:r>
            <a:r>
              <a:rPr lang="en-US" altLang="ja-JP" sz="2800" dirty="0"/>
              <a:t>4</a:t>
            </a:r>
            <a:r>
              <a:rPr lang="ja-JP" altLang="en-US" sz="2800" dirty="0"/>
              <a:t>種類に増えた</a:t>
            </a:r>
            <a:endParaRPr lang="en-US" sz="2800" dirty="0"/>
          </a:p>
        </p:txBody>
      </p:sp>
      <p:sp>
        <p:nvSpPr>
          <p:cNvPr id="21" name="Text 19"/>
          <p:cNvSpPr txBox="1"/>
          <p:nvPr/>
        </p:nvSpPr>
        <p:spPr>
          <a:xfrm>
            <a:off x="626633" y="5524170"/>
            <a:ext cx="548640" cy="411480"/>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色</a:t>
            </a:r>
            <a:endParaRPr lang="en-US" sz="1600" dirty="0"/>
          </a:p>
        </p:txBody>
      </p:sp>
      <p:sp>
        <p:nvSpPr>
          <p:cNvPr id="22" name="Shape 20"/>
          <p:cNvSpPr/>
          <p:nvPr/>
        </p:nvSpPr>
        <p:spPr>
          <a:xfrm>
            <a:off x="1220993" y="5935650"/>
            <a:ext cx="411480" cy="274320"/>
          </a:xfrm>
          <a:prstGeom prst="rect">
            <a:avLst/>
          </a:prstGeom>
          <a:solidFill>
            <a:srgbClr val="FFD400"/>
          </a:solidFill>
          <a:ln w="12700">
            <a:solidFill>
              <a:srgbClr val="404040"/>
            </a:solidFill>
            <a:prstDash val="solid"/>
          </a:ln>
        </p:spPr>
        <p:txBody>
          <a:bodyPr/>
          <a:lstStyle/>
          <a:p>
            <a:endParaRPr lang="ja-JP" altLang="en-US"/>
          </a:p>
        </p:txBody>
      </p:sp>
      <p:sp>
        <p:nvSpPr>
          <p:cNvPr id="23" name="Text 21"/>
          <p:cNvSpPr txBox="1"/>
          <p:nvPr/>
        </p:nvSpPr>
        <p:spPr>
          <a:xfrm>
            <a:off x="1723913" y="5862498"/>
            <a:ext cx="2103120" cy="411480"/>
          </a:xfrm>
          <a:prstGeom prst="rect">
            <a:avLst/>
          </a:prstGeom>
          <a:noFill/>
          <a:ln/>
        </p:spPr>
        <p:txBody>
          <a:bodyPr wrap="square" lIns="0" tIns="0" rIns="0" bIns="0" rtlCol="0" anchor="ctr"/>
          <a:lstStyle/>
          <a:p>
            <a:pPr marL="0" indent="0">
              <a:buNone/>
            </a:pPr>
            <a:r>
              <a:rPr lang="ja-JP" altLang="en-US" sz="1600" dirty="0">
                <a:solidFill>
                  <a:srgbClr val="000000"/>
                </a:solidFill>
                <a:latin typeface="游ゴシック" pitchFamily="34" charset="0"/>
                <a:ea typeface="游ゴシック" pitchFamily="34" charset="-122"/>
                <a:cs typeface="游ゴシック" pitchFamily="34" charset="-120"/>
              </a:rPr>
              <a:t>犬→</a:t>
            </a:r>
            <a:r>
              <a:rPr lang="en-US" sz="1600" dirty="0" err="1">
                <a:solidFill>
                  <a:srgbClr val="000000"/>
                </a:solidFill>
                <a:latin typeface="游ゴシック" pitchFamily="34" charset="0"/>
                <a:ea typeface="游ゴシック" pitchFamily="34" charset="-122"/>
                <a:cs typeface="游ゴシック" pitchFamily="34" charset="-120"/>
              </a:rPr>
              <a:t>ノック</a:t>
            </a:r>
            <a:endParaRPr lang="en-US" sz="1600" dirty="0"/>
          </a:p>
        </p:txBody>
      </p:sp>
      <p:sp>
        <p:nvSpPr>
          <p:cNvPr id="24" name="Shape 22"/>
          <p:cNvSpPr/>
          <p:nvPr/>
        </p:nvSpPr>
        <p:spPr>
          <a:xfrm>
            <a:off x="3872753" y="5935650"/>
            <a:ext cx="411480" cy="274320"/>
          </a:xfrm>
          <a:prstGeom prst="rect">
            <a:avLst/>
          </a:prstGeom>
          <a:solidFill>
            <a:srgbClr val="E53935"/>
          </a:solidFill>
          <a:ln w="12700">
            <a:solidFill>
              <a:srgbClr val="404040"/>
            </a:solidFill>
            <a:prstDash val="solid"/>
          </a:ln>
        </p:spPr>
        <p:txBody>
          <a:bodyPr/>
          <a:lstStyle/>
          <a:p>
            <a:endParaRPr lang="ja-JP" altLang="en-US"/>
          </a:p>
        </p:txBody>
      </p:sp>
      <p:sp>
        <p:nvSpPr>
          <p:cNvPr id="25" name="Text 23"/>
          <p:cNvSpPr txBox="1"/>
          <p:nvPr/>
        </p:nvSpPr>
        <p:spPr>
          <a:xfrm>
            <a:off x="4375673" y="5862498"/>
            <a:ext cx="2103120" cy="411480"/>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ガラス</a:t>
            </a:r>
            <a:endParaRPr lang="en-US" sz="1600" dirty="0"/>
          </a:p>
        </p:txBody>
      </p:sp>
      <p:sp>
        <p:nvSpPr>
          <p:cNvPr id="26" name="Shape 24"/>
          <p:cNvSpPr/>
          <p:nvPr/>
        </p:nvSpPr>
        <p:spPr>
          <a:xfrm>
            <a:off x="6524513" y="5935650"/>
            <a:ext cx="411480" cy="274320"/>
          </a:xfrm>
          <a:prstGeom prst="rect">
            <a:avLst/>
          </a:prstGeom>
          <a:solidFill>
            <a:srgbClr val="FB8C00"/>
          </a:solidFill>
          <a:ln w="12700">
            <a:solidFill>
              <a:srgbClr val="404040"/>
            </a:solidFill>
            <a:prstDash val="solid"/>
          </a:ln>
        </p:spPr>
        <p:txBody>
          <a:bodyPr/>
          <a:lstStyle/>
          <a:p>
            <a:endParaRPr lang="ja-JP" altLang="en-US"/>
          </a:p>
        </p:txBody>
      </p:sp>
      <p:sp>
        <p:nvSpPr>
          <p:cNvPr id="27" name="Text 25"/>
          <p:cNvSpPr txBox="1"/>
          <p:nvPr/>
        </p:nvSpPr>
        <p:spPr>
          <a:xfrm>
            <a:off x="7027433" y="5862498"/>
            <a:ext cx="2103120" cy="411480"/>
          </a:xfrm>
          <a:prstGeom prst="rect">
            <a:avLst/>
          </a:prstGeom>
          <a:noFill/>
          <a:ln/>
        </p:spPr>
        <p:txBody>
          <a:bodyPr wrap="square" lIns="0" tIns="0" rIns="0" bIns="0" rtlCol="0" anchor="ctr"/>
          <a:lstStyle/>
          <a:p>
            <a:pPr marL="0" indent="0">
              <a:buNone/>
            </a:pPr>
            <a:r>
              <a:rPr lang="en-US" sz="1600" dirty="0" err="1">
                <a:solidFill>
                  <a:srgbClr val="000000"/>
                </a:solidFill>
                <a:latin typeface="游ゴシック" pitchFamily="34" charset="0"/>
                <a:ea typeface="游ゴシック" pitchFamily="34" charset="-122"/>
                <a:cs typeface="游ゴシック" pitchFamily="34" charset="-120"/>
              </a:rPr>
              <a:t>泣き声</a:t>
            </a:r>
            <a:endParaRPr lang="en-US" sz="16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1600" dirty="0">
                <a:solidFill>
                  <a:srgbClr val="000000"/>
                </a:solidFill>
                <a:latin typeface="游ゴシック" pitchFamily="34" charset="0"/>
                <a:ea typeface="游ゴシック" pitchFamily="34" charset="-122"/>
                <a:cs typeface="游ゴシック" pitchFamily="34" charset="-120"/>
              </a:rPr>
              <a:t>(</a:t>
            </a:r>
            <a:r>
              <a:rPr lang="ja-JP" altLang="en-US" sz="1600" dirty="0">
                <a:solidFill>
                  <a:srgbClr val="000000"/>
                </a:solidFill>
                <a:latin typeface="游ゴシック" pitchFamily="34" charset="0"/>
                <a:ea typeface="游ゴシック" pitchFamily="34" charset="-122"/>
                <a:cs typeface="游ゴシック" pitchFamily="34" charset="-120"/>
              </a:rPr>
              <a:t>同一だが単語変更</a:t>
            </a:r>
            <a:r>
              <a:rPr lang="en-US" sz="1600" dirty="0">
                <a:solidFill>
                  <a:srgbClr val="000000"/>
                </a:solidFill>
                <a:latin typeface="游ゴシック" pitchFamily="34" charset="0"/>
                <a:ea typeface="游ゴシック" pitchFamily="34" charset="-122"/>
                <a:cs typeface="游ゴシック" pitchFamily="34" charset="-120"/>
              </a:rPr>
              <a:t>)</a:t>
            </a:r>
            <a:endParaRPr lang="en-US" sz="1600" dirty="0"/>
          </a:p>
        </p:txBody>
      </p:sp>
      <p:sp>
        <p:nvSpPr>
          <p:cNvPr id="28" name="Shape 26"/>
          <p:cNvSpPr/>
          <p:nvPr/>
        </p:nvSpPr>
        <p:spPr>
          <a:xfrm>
            <a:off x="9176273" y="5935650"/>
            <a:ext cx="411480" cy="274320"/>
          </a:xfrm>
          <a:prstGeom prst="rect">
            <a:avLst/>
          </a:prstGeom>
          <a:solidFill>
            <a:srgbClr val="1E88E5"/>
          </a:solidFill>
          <a:ln w="12700">
            <a:solidFill>
              <a:srgbClr val="404040"/>
            </a:solidFill>
            <a:prstDash val="solid"/>
          </a:ln>
        </p:spPr>
        <p:txBody>
          <a:bodyPr/>
          <a:lstStyle/>
          <a:p>
            <a:endParaRPr lang="ja-JP" altLang="en-US"/>
          </a:p>
        </p:txBody>
      </p:sp>
      <p:sp>
        <p:nvSpPr>
          <p:cNvPr id="29" name="Text 27"/>
          <p:cNvSpPr txBox="1"/>
          <p:nvPr/>
        </p:nvSpPr>
        <p:spPr>
          <a:xfrm>
            <a:off x="9679193" y="5875020"/>
            <a:ext cx="2103120" cy="411480"/>
          </a:xfrm>
          <a:prstGeom prst="rect">
            <a:avLst/>
          </a:prstGeom>
          <a:noFill/>
          <a:ln/>
        </p:spPr>
        <p:txBody>
          <a:bodyPr wrap="square" lIns="0" tIns="0" rIns="0" bIns="0" rtlCol="0" anchor="ctr"/>
          <a:lstStyle/>
          <a:p>
            <a:pPr marL="0" indent="0">
              <a:buNone/>
            </a:pPr>
            <a:r>
              <a:rPr lang="ja-JP" altLang="en-US" sz="1600" dirty="0">
                <a:solidFill>
                  <a:srgbClr val="000000"/>
                </a:solidFill>
                <a:latin typeface="游ゴシック" pitchFamily="34" charset="0"/>
                <a:ea typeface="游ゴシック" pitchFamily="34" charset="-122"/>
                <a:cs typeface="游ゴシック" pitchFamily="34" charset="-120"/>
              </a:rPr>
              <a:t>咳→</a:t>
            </a:r>
            <a:r>
              <a:rPr lang="en-US" sz="1600" dirty="0" err="1">
                <a:solidFill>
                  <a:srgbClr val="000000"/>
                </a:solidFill>
                <a:latin typeface="游ゴシック" pitchFamily="34" charset="0"/>
                <a:ea typeface="游ゴシック" pitchFamily="34" charset="-122"/>
                <a:cs typeface="游ゴシック" pitchFamily="34" charset="-120"/>
              </a:rPr>
              <a:t>話し声</a:t>
            </a:r>
            <a:endParaRPr lang="en-US" sz="1600" dirty="0"/>
          </a:p>
        </p:txBody>
      </p:sp>
      <p:sp>
        <p:nvSpPr>
          <p:cNvPr id="31" name="TextBox 30"/>
          <p:cNvSpPr txBox="1"/>
          <p:nvPr/>
        </p:nvSpPr>
        <p:spPr>
          <a:xfrm>
            <a:off x="511150" y="2233833"/>
            <a:ext cx="274320" cy="274320"/>
          </a:xfrm>
          <a:prstGeom prst="rect">
            <a:avLst/>
          </a:prstGeom>
          <a:noFill/>
        </p:spPr>
        <p:txBody>
          <a:bodyPr wrap="none" lIns="0" tIns="0" rIns="0" bIns="0">
            <a:spAutoFit/>
          </a:bodyPr>
          <a:lstStyle/>
          <a:p>
            <a:r>
              <a:rPr sz="1200" b="1">
                <a:solidFill>
                  <a:srgbClr val="FFFFFF"/>
                </a:solidFill>
                <a:latin typeface="Consolas"/>
              </a:rPr>
              <a:t>7</a:t>
            </a:r>
          </a:p>
        </p:txBody>
      </p:sp>
      <p:sp>
        <p:nvSpPr>
          <p:cNvPr id="32" name="TextBox 31"/>
          <p:cNvSpPr txBox="1"/>
          <p:nvPr/>
        </p:nvSpPr>
        <p:spPr>
          <a:xfrm>
            <a:off x="8369990" y="2487958"/>
            <a:ext cx="324213" cy="184666"/>
          </a:xfrm>
          <a:prstGeom prst="rect">
            <a:avLst/>
          </a:prstGeom>
          <a:noFill/>
        </p:spPr>
        <p:txBody>
          <a:bodyPr wrap="square" lIns="0" tIns="0" rIns="0" bIns="0">
            <a:spAutoFit/>
          </a:bodyPr>
          <a:lstStyle/>
          <a:p>
            <a:r>
              <a:rPr sz="1200" b="1">
                <a:solidFill>
                  <a:srgbClr val="FFFFFF"/>
                </a:solidFill>
                <a:latin typeface="Consolas"/>
              </a:rPr>
              <a:t>8</a:t>
            </a:r>
          </a:p>
        </p:txBody>
      </p:sp>
      <p:pic>
        <p:nvPicPr>
          <p:cNvPr id="11" name="図 10">
            <a:extLst>
              <a:ext uri="{FF2B5EF4-FFF2-40B4-BE49-F238E27FC236}">
                <a16:creationId xmlns:a16="http://schemas.microsoft.com/office/drawing/2014/main" id="{5C6C8035-331E-4E74-A506-89B66EE87F9E}"/>
              </a:ext>
            </a:extLst>
          </p:cNvPr>
          <p:cNvPicPr>
            <a:picLocks noChangeAspect="1"/>
          </p:cNvPicPr>
          <p:nvPr/>
        </p:nvPicPr>
        <p:blipFill rotWithShape="1">
          <a:blip r:embed="rId3"/>
          <a:srcRect l="17723" t="23431" r="20559" b="41708"/>
          <a:stretch/>
        </p:blipFill>
        <p:spPr>
          <a:xfrm>
            <a:off x="5911850" y="2090762"/>
            <a:ext cx="3071288" cy="2311911"/>
          </a:xfrm>
          <a:prstGeom prst="rect">
            <a:avLst/>
          </a:prstGeom>
        </p:spPr>
      </p:pic>
      <p:pic>
        <p:nvPicPr>
          <p:cNvPr id="12" name="図 11">
            <a:extLst>
              <a:ext uri="{FF2B5EF4-FFF2-40B4-BE49-F238E27FC236}">
                <a16:creationId xmlns:a16="http://schemas.microsoft.com/office/drawing/2014/main" id="{89369906-775A-4903-B3EF-70C0E41E3D8A}"/>
              </a:ext>
            </a:extLst>
          </p:cNvPr>
          <p:cNvPicPr>
            <a:picLocks noChangeAspect="1"/>
          </p:cNvPicPr>
          <p:nvPr/>
        </p:nvPicPr>
        <p:blipFill rotWithShape="1">
          <a:blip r:embed="rId4"/>
          <a:srcRect l="22579" t="25686" r="16900" b="42328"/>
          <a:stretch/>
        </p:blipFill>
        <p:spPr>
          <a:xfrm>
            <a:off x="8045895" y="3093551"/>
            <a:ext cx="3071288" cy="2163299"/>
          </a:xfrm>
          <a:prstGeom prst="rect">
            <a:avLst/>
          </a:prstGeom>
        </p:spPr>
      </p:pic>
      <p:pic>
        <p:nvPicPr>
          <p:cNvPr id="14" name="図 13">
            <a:extLst>
              <a:ext uri="{FF2B5EF4-FFF2-40B4-BE49-F238E27FC236}">
                <a16:creationId xmlns:a16="http://schemas.microsoft.com/office/drawing/2014/main" id="{64BB7010-9C61-4F43-9EA2-11B9E33EE557}"/>
              </a:ext>
            </a:extLst>
          </p:cNvPr>
          <p:cNvPicPr>
            <a:picLocks noChangeAspect="1"/>
          </p:cNvPicPr>
          <p:nvPr/>
        </p:nvPicPr>
        <p:blipFill rotWithShape="1">
          <a:blip r:embed="rId5"/>
          <a:srcRect l="17793" t="13583" b="42500"/>
          <a:stretch/>
        </p:blipFill>
        <p:spPr>
          <a:xfrm>
            <a:off x="848417" y="2233833"/>
            <a:ext cx="3606742" cy="2567884"/>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a:extLst>
              <a:ext uri="{FF2B5EF4-FFF2-40B4-BE49-F238E27FC236}">
                <a16:creationId xmlns:a16="http://schemas.microsoft.com/office/drawing/2014/main" id="{96750ADA-62B2-4AF2-9B0A-FDDF47C1C871}"/>
              </a:ext>
            </a:extLst>
          </p:cNvPr>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3" name="Text 0">
            <a:extLst>
              <a:ext uri="{FF2B5EF4-FFF2-40B4-BE49-F238E27FC236}">
                <a16:creationId xmlns:a16="http://schemas.microsoft.com/office/drawing/2014/main" id="{86472AC0-8914-4CFF-A135-41BBF389C40D}"/>
              </a:ext>
            </a:extLst>
          </p:cNvPr>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8-2　</a:t>
            </a:r>
            <a:r>
              <a:rPr lang="ja-JP" altLang="en-US" sz="3200" b="1" dirty="0">
                <a:solidFill>
                  <a:srgbClr val="000000"/>
                </a:solidFill>
                <a:latin typeface="游ゴシック" pitchFamily="34" charset="0"/>
                <a:ea typeface="游ゴシック" pitchFamily="34" charset="-122"/>
                <a:cs typeface="游ゴシック" pitchFamily="34" charset="-120"/>
              </a:rPr>
              <a:t>動画</a:t>
            </a:r>
            <a:endParaRPr lang="en-US" sz="3000" dirty="0"/>
          </a:p>
        </p:txBody>
      </p:sp>
      <p:pic>
        <p:nvPicPr>
          <p:cNvPr id="4" name="PXL_20260930_085814847">
            <a:hlinkClick r:id="" action="ppaction://media"/>
            <a:extLst>
              <a:ext uri="{FF2B5EF4-FFF2-40B4-BE49-F238E27FC236}">
                <a16:creationId xmlns:a16="http://schemas.microsoft.com/office/drawing/2014/main" id="{B0C8AF0F-225D-4580-8B96-5FCCEB08AA16}"/>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6845829" y="1305560"/>
            <a:ext cx="2493885" cy="4400973"/>
          </a:xfrm>
          <a:prstGeom prst="rect">
            <a:avLst/>
          </a:prstGeom>
        </p:spPr>
      </p:pic>
      <p:sp>
        <p:nvSpPr>
          <p:cNvPr id="5" name="テキスト ボックス 4">
            <a:extLst>
              <a:ext uri="{FF2B5EF4-FFF2-40B4-BE49-F238E27FC236}">
                <a16:creationId xmlns:a16="http://schemas.microsoft.com/office/drawing/2014/main" id="{CE228AB7-AE89-4DD9-BFF5-CEE14248B9A9}"/>
              </a:ext>
            </a:extLst>
          </p:cNvPr>
          <p:cNvSpPr txBox="1"/>
          <p:nvPr/>
        </p:nvSpPr>
        <p:spPr>
          <a:xfrm>
            <a:off x="7164950" y="5880705"/>
            <a:ext cx="1855641" cy="400110"/>
          </a:xfrm>
          <a:prstGeom prst="rect">
            <a:avLst/>
          </a:prstGeom>
          <a:noFill/>
        </p:spPr>
        <p:txBody>
          <a:bodyPr wrap="square" rtlCol="0">
            <a:spAutoFit/>
          </a:bodyPr>
          <a:lstStyle/>
          <a:p>
            <a:pPr algn="ctr"/>
            <a:r>
              <a:rPr kumimoji="1" lang="ja-JP" altLang="en-US" sz="2000" dirty="0"/>
              <a:t>発話</a:t>
            </a:r>
            <a:r>
              <a:rPr kumimoji="1" lang="en-US" altLang="ja-JP" sz="2000" dirty="0"/>
              <a:t>:VOICE</a:t>
            </a:r>
            <a:endParaRPr kumimoji="1" lang="ja-JP" altLang="en-US" sz="2000" dirty="0"/>
          </a:p>
        </p:txBody>
      </p:sp>
      <p:pic>
        <p:nvPicPr>
          <p:cNvPr id="6" name="PXL_20260930_085712537">
            <a:hlinkClick r:id="" action="ppaction://media"/>
            <a:extLst>
              <a:ext uri="{FF2B5EF4-FFF2-40B4-BE49-F238E27FC236}">
                <a16:creationId xmlns:a16="http://schemas.microsoft.com/office/drawing/2014/main" id="{268244E4-E4C9-42C3-A4CB-0EB7C9EA90F6}"/>
              </a:ext>
            </a:extLst>
          </p:cNvPr>
          <p:cNvPicPr>
            <a:picLocks noChangeAspect="1"/>
          </p:cNvPicPr>
          <p:nvPr>
            <a:videoFile r:link="rId4"/>
            <p:extLst>
              <p:ext uri="{DAA4B4D4-6D71-4841-9C94-3DE7FCFB9230}">
                <p14:media xmlns:p14="http://schemas.microsoft.com/office/powerpoint/2010/main" r:embed="rId3"/>
              </p:ext>
            </p:extLst>
          </p:nvPr>
        </p:nvPicPr>
        <p:blipFill>
          <a:blip r:embed="rId7"/>
          <a:stretch>
            <a:fillRect/>
          </a:stretch>
        </p:blipFill>
        <p:spPr>
          <a:xfrm rot="5400000">
            <a:off x="1091080" y="2259183"/>
            <a:ext cx="4400975" cy="2493732"/>
          </a:xfrm>
          <a:prstGeom prst="rect">
            <a:avLst/>
          </a:prstGeom>
        </p:spPr>
      </p:pic>
      <p:sp>
        <p:nvSpPr>
          <p:cNvPr id="7" name="テキスト ボックス 6">
            <a:extLst>
              <a:ext uri="{FF2B5EF4-FFF2-40B4-BE49-F238E27FC236}">
                <a16:creationId xmlns:a16="http://schemas.microsoft.com/office/drawing/2014/main" id="{66173811-A2C2-4784-B2FF-FC6CE6B7B744}"/>
              </a:ext>
            </a:extLst>
          </p:cNvPr>
          <p:cNvSpPr txBox="1"/>
          <p:nvPr/>
        </p:nvSpPr>
        <p:spPr>
          <a:xfrm>
            <a:off x="2363746" y="5880705"/>
            <a:ext cx="1855641" cy="400110"/>
          </a:xfrm>
          <a:prstGeom prst="rect">
            <a:avLst/>
          </a:prstGeom>
          <a:noFill/>
        </p:spPr>
        <p:txBody>
          <a:bodyPr wrap="square" rtlCol="0">
            <a:spAutoFit/>
          </a:bodyPr>
          <a:lstStyle/>
          <a:p>
            <a:pPr algn="ctr"/>
            <a:r>
              <a:rPr kumimoji="1" lang="ja-JP" altLang="en-US" sz="2000" dirty="0"/>
              <a:t>泣き声</a:t>
            </a:r>
            <a:r>
              <a:rPr kumimoji="1" lang="en-US" altLang="ja-JP" sz="2000" dirty="0"/>
              <a:t>:CRY</a:t>
            </a:r>
            <a:endParaRPr kumimoji="1" lang="ja-JP" altLang="en-US" sz="2000" dirty="0"/>
          </a:p>
        </p:txBody>
      </p:sp>
    </p:spTree>
    <p:extLst>
      <p:ext uri="{BB962C8B-B14F-4D97-AF65-F5344CB8AC3E}">
        <p14:creationId xmlns:p14="http://schemas.microsoft.com/office/powerpoint/2010/main" val="32355913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534" fill="hold"/>
                                        <p:tgtEl>
                                          <p:spTgt spid="4"/>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3234"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fill="hold" display="0">
                  <p:stCondLst>
                    <p:cond delay="indefinite"/>
                  </p:stCondLst>
                </p:cTn>
                <p:tgtEl>
                  <p:spTgt spid="4"/>
                </p:tgtEl>
              </p:cMediaNode>
            </p:video>
            <p:seq concurrent="1" nextAc="seek">
              <p:cTn id="12" restart="whenNotActive" fill="hold" evtFilter="cancelBubble" nodeType="interactiveSeq">
                <p:stCondLst>
                  <p:cond evt="onClick" delay="0">
                    <p:tgtEl>
                      <p:spTgt spid="4"/>
                    </p:tgtEl>
                  </p:cond>
                </p:stCondLst>
                <p:endSync evt="end" delay="0">
                  <p:rtn val="all"/>
                </p:endSync>
                <p:childTnLst>
                  <p:par>
                    <p:cTn id="13" fill="hold">
                      <p:stCondLst>
                        <p:cond delay="0"/>
                      </p:stCondLst>
                      <p:childTnLst>
                        <p:par>
                          <p:cTn id="14" fill="hold">
                            <p:stCondLst>
                              <p:cond delay="0"/>
                            </p:stCondLst>
                            <p:childTnLst>
                              <p:par>
                                <p:cTn id="15" presetID="2" presetClass="mediacall" presetSubtype="0" fill="hold" nodeType="clickEffect">
                                  <p:stCondLst>
                                    <p:cond delay="0"/>
                                  </p:stCondLst>
                                  <p:childTnLst>
                                    <p:cmd type="call" cmd="togglePause">
                                      <p:cBhvr>
                                        <p:cTn id="16" dur="1" fill="hold"/>
                                        <p:tgtEl>
                                          <p:spTgt spid="4"/>
                                        </p:tgtEl>
                                      </p:cBhvr>
                                    </p:cmd>
                                  </p:childTnLst>
                                </p:cTn>
                              </p:par>
                            </p:childTnLst>
                          </p:cTn>
                        </p:par>
                      </p:childTnLst>
                    </p:cTn>
                  </p:par>
                </p:childTnLst>
              </p:cTn>
              <p:nextCondLst>
                <p:cond evt="onClick" delay="0">
                  <p:tgtEl>
                    <p:spTgt spid="4"/>
                  </p:tgtEl>
                </p:cond>
              </p:nextCondLst>
            </p:seq>
            <p:video>
              <p:cMediaNode vol="80000">
                <p:cTn id="17" fill="hold" display="0">
                  <p:stCondLst>
                    <p:cond delay="indefinite"/>
                  </p:stCondLst>
                </p:cTn>
                <p:tgtEl>
                  <p:spTgt spid="6"/>
                </p:tgtEl>
              </p:cMediaNode>
            </p:video>
            <p:seq concurrent="1" nextAc="seek">
              <p:cTn id="18" restart="whenNotActive" fill="hold" evtFilter="cancelBubble" nodeType="interactiveSeq">
                <p:stCondLst>
                  <p:cond evt="onClick" delay="0">
                    <p:tgtEl>
                      <p:spTgt spid="6"/>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8-3　使えるものだったか</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ctr"/>
          <a:lstStyle/>
          <a:p>
            <a:pPr marL="0" indent="0" algn="ctr">
              <a:buNone/>
            </a:pPr>
            <a:r>
              <a:rPr lang="en-US" sz="2800" b="1" dirty="0">
                <a:solidFill>
                  <a:srgbClr val="FF0000"/>
                </a:solidFill>
                <a:latin typeface="游ゴシック" pitchFamily="34" charset="0"/>
                <a:ea typeface="游ゴシック" pitchFamily="34" charset="-122"/>
                <a:cs typeface="游ゴシック" pitchFamily="34" charset="-120"/>
              </a:rPr>
              <a:t>どちらの版もそのままでは製品にならない。足りないのはモデル</a:t>
            </a:r>
            <a:endParaRPr lang="en-US" sz="2800" dirty="0"/>
          </a:p>
        </p:txBody>
      </p:sp>
      <p:sp>
        <p:nvSpPr>
          <p:cNvPr id="5" name="Shape 3"/>
          <p:cNvSpPr/>
          <p:nvPr/>
        </p:nvSpPr>
        <p:spPr>
          <a:xfrm>
            <a:off x="1188720" y="2240280"/>
            <a:ext cx="2788920" cy="1737360"/>
          </a:xfrm>
          <a:prstGeom prst="rect">
            <a:avLst/>
          </a:prstGeom>
          <a:solidFill>
            <a:srgbClr val="EEF4FA"/>
          </a:solidFill>
          <a:ln w="12700">
            <a:solidFill>
              <a:srgbClr val="BFBFBF"/>
            </a:solidFill>
            <a:prstDash val="solid"/>
          </a:ln>
        </p:spPr>
        <p:txBody>
          <a:bodyPr/>
          <a:lstStyle/>
          <a:p>
            <a:endParaRPr lang="ja-JP" altLang="en-US"/>
          </a:p>
        </p:txBody>
      </p:sp>
      <p:sp>
        <p:nvSpPr>
          <p:cNvPr id="6" name="Shape 4"/>
          <p:cNvSpPr/>
          <p:nvPr/>
        </p:nvSpPr>
        <p:spPr>
          <a:xfrm>
            <a:off x="3977640" y="2240280"/>
            <a:ext cx="2788920" cy="1737360"/>
          </a:xfrm>
          <a:prstGeom prst="rect">
            <a:avLst/>
          </a:prstGeom>
          <a:solidFill>
            <a:srgbClr val="E6F4EE"/>
          </a:solidFill>
          <a:ln w="25400">
            <a:solidFill>
              <a:srgbClr val="008A5E"/>
            </a:solidFill>
            <a:prstDash val="dash"/>
          </a:ln>
        </p:spPr>
        <p:txBody>
          <a:bodyPr/>
          <a:lstStyle/>
          <a:p>
            <a:endParaRPr lang="ja-JP" altLang="en-US"/>
          </a:p>
        </p:txBody>
      </p:sp>
      <p:sp>
        <p:nvSpPr>
          <p:cNvPr id="7" name="Shape 5"/>
          <p:cNvSpPr/>
          <p:nvPr/>
        </p:nvSpPr>
        <p:spPr>
          <a:xfrm>
            <a:off x="1188720" y="3977640"/>
            <a:ext cx="2788920" cy="1737360"/>
          </a:xfrm>
          <a:prstGeom prst="rect">
            <a:avLst/>
          </a:prstGeom>
          <a:solidFill>
            <a:srgbClr val="F7F7F7"/>
          </a:solidFill>
          <a:ln w="12700">
            <a:solidFill>
              <a:srgbClr val="BFBFBF"/>
            </a:solidFill>
            <a:prstDash val="solid"/>
          </a:ln>
        </p:spPr>
        <p:txBody>
          <a:bodyPr/>
          <a:lstStyle/>
          <a:p>
            <a:endParaRPr lang="ja-JP" altLang="en-US"/>
          </a:p>
        </p:txBody>
      </p:sp>
      <p:sp>
        <p:nvSpPr>
          <p:cNvPr id="8" name="Shape 6"/>
          <p:cNvSpPr/>
          <p:nvPr/>
        </p:nvSpPr>
        <p:spPr>
          <a:xfrm>
            <a:off x="3977640" y="3977640"/>
            <a:ext cx="2788920" cy="1737360"/>
          </a:xfrm>
          <a:prstGeom prst="rect">
            <a:avLst/>
          </a:prstGeom>
          <a:solidFill>
            <a:srgbClr val="FFF7EE"/>
          </a:solidFill>
          <a:ln w="12700">
            <a:solidFill>
              <a:srgbClr val="BFBFBF"/>
            </a:solidFill>
            <a:prstDash val="solid"/>
          </a:ln>
        </p:spPr>
        <p:txBody>
          <a:bodyPr/>
          <a:lstStyle/>
          <a:p>
            <a:endParaRPr lang="ja-JP" altLang="en-US"/>
          </a:p>
        </p:txBody>
      </p:sp>
      <p:sp>
        <p:nvSpPr>
          <p:cNvPr id="9" name="Shape 7"/>
          <p:cNvSpPr/>
          <p:nvPr/>
        </p:nvSpPr>
        <p:spPr>
          <a:xfrm>
            <a:off x="1202729" y="2994426"/>
            <a:ext cx="384048" cy="384048"/>
          </a:xfrm>
          <a:prstGeom prst="ellipse">
            <a:avLst/>
          </a:prstGeom>
          <a:solidFill>
            <a:srgbClr val="156082"/>
          </a:solidFill>
          <a:ln w="12700">
            <a:solidFill>
              <a:srgbClr val="156082"/>
            </a:solidFill>
            <a:prstDash val="solid"/>
          </a:ln>
        </p:spPr>
        <p:txBody>
          <a:bodyPr/>
          <a:lstStyle/>
          <a:p>
            <a:endParaRPr lang="ja-JP" altLang="en-US"/>
          </a:p>
        </p:txBody>
      </p:sp>
      <p:sp>
        <p:nvSpPr>
          <p:cNvPr id="10" name="Text 8"/>
          <p:cNvSpPr txBox="1"/>
          <p:nvPr/>
        </p:nvSpPr>
        <p:spPr>
          <a:xfrm>
            <a:off x="1623353" y="2695602"/>
            <a:ext cx="2360911" cy="1005607"/>
          </a:xfrm>
          <a:prstGeom prst="rect">
            <a:avLst/>
          </a:prstGeom>
          <a:noFill/>
          <a:ln/>
        </p:spPr>
        <p:txBody>
          <a:bodyPr wrap="square" lIns="0" tIns="0" rIns="0" bIns="0" rtlCol="0" anchor="t"/>
          <a:lstStyle/>
          <a:p>
            <a:pPr marL="0" indent="0">
              <a:buNone/>
            </a:pPr>
            <a:r>
              <a:rPr lang="en-US" sz="1500" b="1" dirty="0">
                <a:solidFill>
                  <a:srgbClr val="000000"/>
                </a:solidFill>
                <a:latin typeface="游ゴシック" pitchFamily="34" charset="0"/>
                <a:ea typeface="游ゴシック" pitchFamily="34" charset="-122"/>
                <a:cs typeface="游ゴシック" pitchFamily="34" charset="-120"/>
              </a:rPr>
              <a:t>ESC-10 版</a:t>
            </a:r>
            <a:endParaRPr lang="en-US" sz="1500" b="1" dirty="0"/>
          </a:p>
          <a:p>
            <a:pPr marL="0" indent="0">
              <a:buNone/>
            </a:pPr>
            <a:r>
              <a:rPr lang="en-US" sz="1500" dirty="0">
                <a:solidFill>
                  <a:srgbClr val="000000"/>
                </a:solidFill>
                <a:latin typeface="游ゴシック" pitchFamily="34" charset="0"/>
                <a:ea typeface="游ゴシック" pitchFamily="34" charset="-122"/>
                <a:cs typeface="游ゴシック" pitchFamily="34" charset="-120"/>
              </a:rPr>
              <a:t>誤報は少ない（3.5 件/</a:t>
            </a:r>
            <a:r>
              <a:rPr lang="en-US" sz="1500" dirty="0" err="1">
                <a:solidFill>
                  <a:srgbClr val="000000"/>
                </a:solidFill>
                <a:latin typeface="游ゴシック" pitchFamily="34" charset="0"/>
                <a:ea typeface="游ゴシック" pitchFamily="34" charset="-122"/>
                <a:cs typeface="游ゴシック" pitchFamily="34" charset="-120"/>
              </a:rPr>
              <a:t>時）が、知らせる音が部屋の用途に合わない</a:t>
            </a:r>
            <a:endParaRPr lang="en-US" sz="1500" dirty="0"/>
          </a:p>
        </p:txBody>
      </p:sp>
      <p:sp>
        <p:nvSpPr>
          <p:cNvPr id="11" name="Shape 9"/>
          <p:cNvSpPr/>
          <p:nvPr/>
        </p:nvSpPr>
        <p:spPr>
          <a:xfrm>
            <a:off x="4128516" y="4677156"/>
            <a:ext cx="384048" cy="384048"/>
          </a:xfrm>
          <a:prstGeom prst="ellipse">
            <a:avLst/>
          </a:prstGeom>
          <a:solidFill>
            <a:srgbClr val="E07B00"/>
          </a:solidFill>
          <a:ln w="12700">
            <a:solidFill>
              <a:srgbClr val="E07B00"/>
            </a:solidFill>
            <a:prstDash val="solid"/>
          </a:ln>
        </p:spPr>
        <p:txBody>
          <a:bodyPr/>
          <a:lstStyle/>
          <a:p>
            <a:endParaRPr lang="ja-JP" altLang="en-US"/>
          </a:p>
        </p:txBody>
      </p:sp>
      <p:sp>
        <p:nvSpPr>
          <p:cNvPr id="12" name="Text 10"/>
          <p:cNvSpPr txBox="1"/>
          <p:nvPr/>
        </p:nvSpPr>
        <p:spPr>
          <a:xfrm>
            <a:off x="4667719" y="4512213"/>
            <a:ext cx="2011680" cy="740898"/>
          </a:xfrm>
          <a:prstGeom prst="rect">
            <a:avLst/>
          </a:prstGeom>
          <a:noFill/>
          <a:ln/>
        </p:spPr>
        <p:txBody>
          <a:bodyPr wrap="square" lIns="0" tIns="0" rIns="0" bIns="0" rtlCol="0" anchor="t"/>
          <a:lstStyle/>
          <a:p>
            <a:pPr marL="0" indent="0">
              <a:buNone/>
            </a:pPr>
            <a:r>
              <a:rPr lang="en-US" sz="1500" b="1" dirty="0">
                <a:solidFill>
                  <a:srgbClr val="000000"/>
                </a:solidFill>
                <a:latin typeface="游ゴシック" pitchFamily="34" charset="0"/>
                <a:ea typeface="游ゴシック" pitchFamily="34" charset="-122"/>
                <a:cs typeface="游ゴシック" pitchFamily="34" charset="-120"/>
              </a:rPr>
              <a:t>FSD50K 版</a:t>
            </a:r>
            <a:endParaRPr lang="en-US" sz="1500" b="1" dirty="0"/>
          </a:p>
          <a:p>
            <a:pPr marL="0" indent="0">
              <a:buNone/>
            </a:pPr>
            <a:r>
              <a:rPr lang="en-US" sz="1500" dirty="0">
                <a:solidFill>
                  <a:srgbClr val="000000"/>
                </a:solidFill>
                <a:latin typeface="游ゴシック" pitchFamily="34" charset="0"/>
                <a:ea typeface="游ゴシック" pitchFamily="34" charset="-122"/>
                <a:cs typeface="游ゴシック" pitchFamily="34" charset="-120"/>
              </a:rPr>
              <a:t>知らせる音は合うが、誤報 250 件/時</a:t>
            </a:r>
            <a:endParaRPr lang="en-US" sz="1500" dirty="0"/>
          </a:p>
        </p:txBody>
      </p:sp>
      <p:sp>
        <p:nvSpPr>
          <p:cNvPr id="13" name="Text 11"/>
          <p:cNvSpPr txBox="1"/>
          <p:nvPr/>
        </p:nvSpPr>
        <p:spPr>
          <a:xfrm>
            <a:off x="4160520" y="2377440"/>
            <a:ext cx="2468880" cy="1508760"/>
          </a:xfrm>
          <a:prstGeom prst="rect">
            <a:avLst/>
          </a:prstGeom>
          <a:noFill/>
          <a:ln/>
        </p:spPr>
        <p:txBody>
          <a:bodyPr wrap="square" lIns="0" tIns="0" rIns="0" bIns="0" rtlCol="0" anchor="t"/>
          <a:lstStyle/>
          <a:p>
            <a:pPr marL="0" indent="0" algn="ctr">
              <a:buNone/>
            </a:pPr>
            <a:r>
              <a:rPr lang="ja-JP" altLang="en-US" sz="2400" b="1" dirty="0"/>
              <a:t>理想</a:t>
            </a:r>
            <a:endParaRPr lang="en-US" sz="2400" b="1" dirty="0"/>
          </a:p>
          <a:p>
            <a:pPr marL="0" indent="0">
              <a:buNone/>
            </a:pPr>
            <a:r>
              <a:rPr lang="en-US" sz="1500" b="1" dirty="0">
                <a:solidFill>
                  <a:srgbClr val="008A5E"/>
                </a:solidFill>
                <a:latin typeface="游ゴシック" pitchFamily="34" charset="0"/>
                <a:ea typeface="游ゴシック" pitchFamily="34" charset="-122"/>
                <a:cs typeface="游ゴシック" pitchFamily="34" charset="-120"/>
              </a:rPr>
              <a:t>「</a:t>
            </a:r>
            <a:r>
              <a:rPr lang="en-US" sz="1500" b="1" dirty="0" err="1">
                <a:solidFill>
                  <a:srgbClr val="008A5E"/>
                </a:solidFill>
                <a:latin typeface="游ゴシック" pitchFamily="34" charset="0"/>
                <a:ea typeface="游ゴシック" pitchFamily="34" charset="-122"/>
                <a:cs typeface="游ゴシック" pitchFamily="34" charset="-120"/>
              </a:rPr>
              <a:t>その他」クラス付きの</a:t>
            </a:r>
            <a:endParaRPr lang="en-US" sz="1500" b="1" dirty="0">
              <a:solidFill>
                <a:srgbClr val="008A5E"/>
              </a:solidFill>
              <a:latin typeface="游ゴシック" pitchFamily="34" charset="0"/>
              <a:ea typeface="游ゴシック" pitchFamily="34" charset="-122"/>
              <a:cs typeface="游ゴシック" pitchFamily="34" charset="-120"/>
            </a:endParaRPr>
          </a:p>
          <a:p>
            <a:pPr marL="0" indent="0">
              <a:buNone/>
            </a:pPr>
            <a:r>
              <a:rPr lang="en-US" sz="1500" b="1" dirty="0" err="1">
                <a:solidFill>
                  <a:srgbClr val="008A5E"/>
                </a:solidFill>
                <a:latin typeface="游ゴシック" pitchFamily="34" charset="0"/>
                <a:ea typeface="游ゴシック" pitchFamily="34" charset="-122"/>
                <a:cs typeface="游ゴシック" pitchFamily="34" charset="-120"/>
              </a:rPr>
              <a:t>モデル（基盤はそのまま</a:t>
            </a:r>
            <a:r>
              <a:rPr lang="en-US" sz="1500" b="1" dirty="0">
                <a:solidFill>
                  <a:srgbClr val="008A5E"/>
                </a:solidFill>
                <a:latin typeface="游ゴシック" pitchFamily="34" charset="0"/>
                <a:ea typeface="游ゴシック" pitchFamily="34" charset="-122"/>
                <a:cs typeface="游ゴシック" pitchFamily="34" charset="-120"/>
              </a:rPr>
              <a:t>）</a:t>
            </a:r>
            <a:endParaRPr lang="en-US" sz="1500" dirty="0"/>
          </a:p>
        </p:txBody>
      </p:sp>
      <p:sp>
        <p:nvSpPr>
          <p:cNvPr id="14" name="Shape 12"/>
          <p:cNvSpPr/>
          <p:nvPr/>
        </p:nvSpPr>
        <p:spPr>
          <a:xfrm>
            <a:off x="1188720" y="5788152"/>
            <a:ext cx="5577840" cy="0"/>
          </a:xfrm>
          <a:prstGeom prst="line">
            <a:avLst/>
          </a:prstGeom>
          <a:noFill/>
          <a:ln w="19050">
            <a:solidFill>
              <a:srgbClr val="000000"/>
            </a:solidFill>
            <a:prstDash val="solid"/>
          </a:ln>
        </p:spPr>
        <p:txBody>
          <a:bodyPr/>
          <a:lstStyle/>
          <a:p>
            <a:endParaRPr lang="ja-JP" altLang="en-US"/>
          </a:p>
        </p:txBody>
      </p:sp>
      <p:sp>
        <p:nvSpPr>
          <p:cNvPr id="15" name="Text 13"/>
          <p:cNvSpPr txBox="1"/>
          <p:nvPr/>
        </p:nvSpPr>
        <p:spPr>
          <a:xfrm>
            <a:off x="1188720" y="5824728"/>
            <a:ext cx="5577840" cy="320040"/>
          </a:xfrm>
          <a:prstGeom prst="rect">
            <a:avLst/>
          </a:prstGeom>
          <a:noFill/>
          <a:ln/>
        </p:spPr>
        <p:txBody>
          <a:bodyPr wrap="square" lIns="0" tIns="0" rIns="0" bIns="0" rtlCol="0" anchor="ctr"/>
          <a:lstStyle/>
          <a:p>
            <a:pPr marL="0" indent="0" algn="r">
              <a:buNone/>
            </a:pPr>
            <a:r>
              <a:rPr lang="en-US" sz="1500" b="1" dirty="0">
                <a:solidFill>
                  <a:srgbClr val="000000"/>
                </a:solidFill>
                <a:latin typeface="游ゴシック" pitchFamily="34" charset="0"/>
                <a:ea typeface="游ゴシック" pitchFamily="34" charset="-122"/>
                <a:cs typeface="游ゴシック" pitchFamily="34" charset="-120"/>
              </a:rPr>
              <a:t>知らせる音が用途に合う →</a:t>
            </a:r>
            <a:endParaRPr lang="en-US" sz="1500" dirty="0"/>
          </a:p>
        </p:txBody>
      </p:sp>
      <p:sp>
        <p:nvSpPr>
          <p:cNvPr id="16" name="Text 14"/>
          <p:cNvSpPr txBox="1"/>
          <p:nvPr/>
        </p:nvSpPr>
        <p:spPr>
          <a:xfrm rot="16200000">
            <a:off x="-548640" y="3794760"/>
            <a:ext cx="2377440" cy="365760"/>
          </a:xfrm>
          <a:prstGeom prst="rect">
            <a:avLst/>
          </a:prstGeom>
          <a:noFill/>
          <a:ln/>
        </p:spPr>
        <p:txBody>
          <a:bodyPr wrap="square" lIns="0" tIns="0" rIns="0" bIns="0" rtlCol="0" anchor="ctr"/>
          <a:lstStyle/>
          <a:p>
            <a:pPr marL="0" indent="0" algn="ctr">
              <a:buNone/>
            </a:pPr>
            <a:r>
              <a:rPr lang="en-US" sz="1500" b="1" dirty="0">
                <a:solidFill>
                  <a:srgbClr val="000000"/>
                </a:solidFill>
                <a:latin typeface="游ゴシック" pitchFamily="34" charset="0"/>
                <a:ea typeface="游ゴシック" pitchFamily="34" charset="-122"/>
                <a:cs typeface="游ゴシック" pitchFamily="34" charset="-120"/>
              </a:rPr>
              <a:t>誤報が少ない →</a:t>
            </a:r>
            <a:endParaRPr lang="en-US" sz="1500" dirty="0"/>
          </a:p>
        </p:txBody>
      </p:sp>
      <p:sp>
        <p:nvSpPr>
          <p:cNvPr id="17" name="Text 15"/>
          <p:cNvSpPr txBox="1"/>
          <p:nvPr/>
        </p:nvSpPr>
        <p:spPr>
          <a:xfrm>
            <a:off x="7223760" y="2240280"/>
            <a:ext cx="4507992" cy="274320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rgbClr val="000000"/>
                </a:solidFill>
                <a:latin typeface="游ゴシック" pitchFamily="34" charset="0"/>
                <a:ea typeface="游ゴシック" pitchFamily="34" charset="-122"/>
                <a:cs typeface="游ゴシック" pitchFamily="34" charset="-120"/>
              </a:rPr>
              <a:t>ESC-10 </a:t>
            </a:r>
            <a:r>
              <a:rPr lang="en-US" sz="1700" dirty="0" err="1">
                <a:solidFill>
                  <a:srgbClr val="000000"/>
                </a:solidFill>
                <a:latin typeface="游ゴシック" pitchFamily="34" charset="0"/>
                <a:ea typeface="游ゴシック" pitchFamily="34" charset="-122"/>
                <a:cs typeface="游ゴシック" pitchFamily="34" charset="-120"/>
              </a:rPr>
              <a:t>版は誤報は少ないが、犬</a:t>
            </a:r>
            <a:r>
              <a:rPr lang="ja-JP" altLang="en-US" sz="1700" dirty="0">
                <a:solidFill>
                  <a:srgbClr val="000000"/>
                </a:solidFill>
                <a:latin typeface="游ゴシック" pitchFamily="34" charset="0"/>
                <a:ea typeface="游ゴシック" pitchFamily="34" charset="-122"/>
                <a:cs typeface="游ゴシック" pitchFamily="34" charset="-120"/>
              </a:rPr>
              <a:t>、</a:t>
            </a:r>
            <a:r>
              <a:rPr lang="en-US" sz="1700" dirty="0" err="1">
                <a:solidFill>
                  <a:srgbClr val="000000"/>
                </a:solidFill>
                <a:latin typeface="游ゴシック" pitchFamily="34" charset="0"/>
                <a:ea typeface="游ゴシック" pitchFamily="34" charset="-122"/>
                <a:cs typeface="游ゴシック" pitchFamily="34" charset="-120"/>
              </a:rPr>
              <a:t>泣き声</a:t>
            </a:r>
            <a:r>
              <a:rPr lang="ja-JP" altLang="en-US" sz="1700" dirty="0">
                <a:solidFill>
                  <a:srgbClr val="000000"/>
                </a:solidFill>
                <a:latin typeface="游ゴシック" pitchFamily="34" charset="0"/>
                <a:ea typeface="游ゴシック" pitchFamily="34" charset="-122"/>
                <a:cs typeface="游ゴシック" pitchFamily="34" charset="-120"/>
              </a:rPr>
              <a:t>、</a:t>
            </a:r>
            <a:r>
              <a:rPr lang="en-US" sz="1700" dirty="0" err="1">
                <a:solidFill>
                  <a:srgbClr val="000000"/>
                </a:solidFill>
                <a:latin typeface="游ゴシック" pitchFamily="34" charset="0"/>
                <a:ea typeface="游ゴシック" pitchFamily="34" charset="-122"/>
                <a:cs typeface="游ゴシック" pitchFamily="34" charset="-120"/>
              </a:rPr>
              <a:t>くしゃみは部屋の知らせとして弱い</a:t>
            </a:r>
            <a:endParaRPr lang="en-US" sz="1700" dirty="0"/>
          </a:p>
          <a:p>
            <a:pPr marL="342900" indent="-342900">
              <a:spcAft>
                <a:spcPts val="1000"/>
              </a:spcAft>
              <a:buSzPct val="100000"/>
              <a:buChar char="•"/>
            </a:pPr>
            <a:r>
              <a:rPr lang="en-US" sz="1700" dirty="0">
                <a:solidFill>
                  <a:srgbClr val="000000"/>
                </a:solidFill>
                <a:latin typeface="游ゴシック" pitchFamily="34" charset="0"/>
                <a:ea typeface="游ゴシック" pitchFamily="34" charset="-122"/>
                <a:cs typeface="游ゴシック" pitchFamily="34" charset="-120"/>
              </a:rPr>
              <a:t>FSD50K 版は知らせる音は合うが、誤報が多すぎる</a:t>
            </a:r>
            <a:endParaRPr lang="en-US" sz="1700" dirty="0"/>
          </a:p>
          <a:p>
            <a:pPr marL="342900" indent="-342900">
              <a:spcAft>
                <a:spcPts val="1000"/>
              </a:spcAft>
              <a:buSzPct val="100000"/>
              <a:buChar char="•"/>
            </a:pPr>
            <a:r>
              <a:rPr lang="en-US" sz="1700" dirty="0">
                <a:solidFill>
                  <a:srgbClr val="000000"/>
                </a:solidFill>
                <a:latin typeface="游ゴシック" pitchFamily="34" charset="0"/>
                <a:ea typeface="游ゴシック" pitchFamily="34" charset="-122"/>
                <a:cs typeface="游ゴシック" pitchFamily="34" charset="-120"/>
              </a:rPr>
              <a:t>2 つの版を同じ基盤・同じ手順で測れたので、弱いのがモデルだと数字で分かった</a:t>
            </a:r>
            <a:endParaRPr lang="en-US" sz="1700" dirty="0"/>
          </a:p>
        </p:txBody>
      </p:sp>
      <p:sp>
        <p:nvSpPr>
          <p:cNvPr id="18" name="Shape 16"/>
          <p:cNvSpPr/>
          <p:nvPr/>
        </p:nvSpPr>
        <p:spPr>
          <a:xfrm>
            <a:off x="7223760" y="5074920"/>
            <a:ext cx="4507992" cy="1188720"/>
          </a:xfrm>
          <a:prstGeom prst="rect">
            <a:avLst/>
          </a:prstGeom>
          <a:solidFill>
            <a:srgbClr val="DDEBF3"/>
          </a:solidFill>
          <a:ln w="15875">
            <a:solidFill>
              <a:srgbClr val="156082"/>
            </a:solidFill>
            <a:prstDash val="solid"/>
          </a:ln>
        </p:spPr>
        <p:txBody>
          <a:bodyPr/>
          <a:lstStyle/>
          <a:p>
            <a:endParaRPr lang="ja-JP" altLang="en-US"/>
          </a:p>
        </p:txBody>
      </p:sp>
      <p:sp>
        <p:nvSpPr>
          <p:cNvPr id="19" name="Text 17"/>
          <p:cNvSpPr txBox="1"/>
          <p:nvPr/>
        </p:nvSpPr>
        <p:spPr>
          <a:xfrm>
            <a:off x="7360920" y="5074920"/>
            <a:ext cx="4233672" cy="1188720"/>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判定・通知・時間の保証はそのまま使える。替えるのはモデルだけ</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9　限界と展開</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Shape 2"/>
          <p:cNvSpPr/>
          <p:nvPr/>
        </p:nvSpPr>
        <p:spPr>
          <a:xfrm>
            <a:off x="0" y="1051560"/>
            <a:ext cx="12191695" cy="1097280"/>
          </a:xfrm>
          <a:prstGeom prst="rect">
            <a:avLst/>
          </a:prstGeom>
          <a:solidFill>
            <a:srgbClr val="DDEBF3"/>
          </a:solidFill>
          <a:ln w="12700">
            <a:solidFill>
              <a:srgbClr val="DDEBF3"/>
            </a:solidFill>
            <a:prstDash val="solid"/>
          </a:ln>
        </p:spPr>
        <p:txBody>
          <a:bodyPr/>
          <a:lstStyle/>
          <a:p>
            <a:endParaRPr lang="ja-JP" altLang="en-US"/>
          </a:p>
        </p:txBody>
      </p:sp>
      <p:sp>
        <p:nvSpPr>
          <p:cNvPr id="5" name="Text 3"/>
          <p:cNvSpPr txBox="1"/>
          <p:nvPr/>
        </p:nvSpPr>
        <p:spPr>
          <a:xfrm>
            <a:off x="457200" y="1097280"/>
            <a:ext cx="11274552" cy="1005840"/>
          </a:xfrm>
          <a:prstGeom prst="rect">
            <a:avLst/>
          </a:prstGeom>
          <a:noFill/>
          <a:ln/>
        </p:spPr>
        <p:txBody>
          <a:bodyPr wrap="square" lIns="0" tIns="0" rIns="0" bIns="0" rtlCol="0" anchor="ctr"/>
          <a:lstStyle/>
          <a:p>
            <a:pPr marL="0" indent="0">
              <a:buNone/>
            </a:pPr>
            <a:r>
              <a:rPr lang="en-US" sz="2400" b="1" dirty="0" err="1">
                <a:latin typeface="游ゴシック" pitchFamily="34" charset="0"/>
                <a:ea typeface="游ゴシック" pitchFamily="34" charset="-122"/>
                <a:cs typeface="游ゴシック" pitchFamily="34" charset="-120"/>
              </a:rPr>
              <a:t>足りないのはモデルと時間</a:t>
            </a:r>
            <a:r>
              <a:rPr lang="en-US" sz="2400" b="1" dirty="0">
                <a:latin typeface="游ゴシック" pitchFamily="34" charset="0"/>
                <a:ea typeface="游ゴシック" pitchFamily="34" charset="-122"/>
                <a:cs typeface="游ゴシック" pitchFamily="34" charset="-120"/>
              </a:rPr>
              <a:t>。</a:t>
            </a:r>
          </a:p>
          <a:p>
            <a:pPr marL="0" indent="0">
              <a:buNone/>
            </a:pPr>
            <a:r>
              <a:rPr lang="en-US" sz="3600" b="1" dirty="0" err="1">
                <a:solidFill>
                  <a:srgbClr val="FF0000"/>
                </a:solidFill>
                <a:latin typeface="游ゴシック" pitchFamily="34" charset="0"/>
                <a:ea typeface="游ゴシック" pitchFamily="34" charset="-122"/>
                <a:cs typeface="游ゴシック" pitchFamily="34" charset="-120"/>
              </a:rPr>
              <a:t>基盤はそのまま他の用途に使える</a:t>
            </a:r>
            <a:endParaRPr lang="en-US" sz="3600" dirty="0"/>
          </a:p>
        </p:txBody>
      </p:sp>
      <p:sp>
        <p:nvSpPr>
          <p:cNvPr id="6" name="Text 4"/>
          <p:cNvSpPr txBox="1"/>
          <p:nvPr/>
        </p:nvSpPr>
        <p:spPr>
          <a:xfrm>
            <a:off x="457200" y="6217920"/>
            <a:ext cx="1234440" cy="420624"/>
          </a:xfrm>
          <a:prstGeom prst="rect">
            <a:avLst/>
          </a:prstGeom>
          <a:noFill/>
          <a:ln/>
        </p:spPr>
        <p:txBody>
          <a:bodyPr wrap="square" lIns="0" tIns="0" rIns="0" bIns="0" rtlCol="0" anchor="ctr"/>
          <a:lstStyle/>
          <a:p>
            <a:pPr marL="0" indent="0">
              <a:buNone/>
            </a:pPr>
            <a:r>
              <a:rPr lang="en-US" sz="1300" dirty="0">
                <a:solidFill>
                  <a:srgbClr val="595959"/>
                </a:solidFill>
                <a:latin typeface="游ゴシック" pitchFamily="34" charset="0"/>
                <a:ea typeface="游ゴシック" pitchFamily="34" charset="-122"/>
                <a:cs typeface="游ゴシック" pitchFamily="34" charset="-120"/>
              </a:rPr>
              <a:t>この章の流れ</a:t>
            </a:r>
            <a:endParaRPr lang="en-US" sz="1300" dirty="0"/>
          </a:p>
        </p:txBody>
      </p:sp>
      <p:sp>
        <p:nvSpPr>
          <p:cNvPr id="7" name="Shape 5"/>
          <p:cNvSpPr/>
          <p:nvPr/>
        </p:nvSpPr>
        <p:spPr>
          <a:xfrm>
            <a:off x="1737360" y="6217920"/>
            <a:ext cx="4850892" cy="420624"/>
          </a:xfrm>
          <a:prstGeom prst="rect">
            <a:avLst/>
          </a:prstGeom>
          <a:solidFill>
            <a:srgbClr val="FFFFFF"/>
          </a:solidFill>
          <a:ln w="15875">
            <a:solidFill>
              <a:srgbClr val="156082"/>
            </a:solidFill>
            <a:prstDash val="solid"/>
          </a:ln>
        </p:spPr>
        <p:txBody>
          <a:bodyPr/>
          <a:lstStyle/>
          <a:p>
            <a:endParaRPr lang="ja-JP" altLang="en-US"/>
          </a:p>
        </p:txBody>
      </p:sp>
      <p:sp>
        <p:nvSpPr>
          <p:cNvPr id="8" name="Text 6"/>
          <p:cNvSpPr txBox="1"/>
          <p:nvPr/>
        </p:nvSpPr>
        <p:spPr>
          <a:xfrm>
            <a:off x="1783080" y="6217920"/>
            <a:ext cx="47594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9-1 限界と次の一手</a:t>
            </a:r>
            <a:endParaRPr lang="en-US" sz="1400" dirty="0"/>
          </a:p>
        </p:txBody>
      </p:sp>
      <p:sp>
        <p:nvSpPr>
          <p:cNvPr id="9" name="Shape 7"/>
          <p:cNvSpPr/>
          <p:nvPr/>
        </p:nvSpPr>
        <p:spPr>
          <a:xfrm>
            <a:off x="666140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10" name="Shape 8"/>
          <p:cNvSpPr/>
          <p:nvPr/>
        </p:nvSpPr>
        <p:spPr>
          <a:xfrm>
            <a:off x="6880860" y="6217920"/>
            <a:ext cx="4850892" cy="420624"/>
          </a:xfrm>
          <a:prstGeom prst="rect">
            <a:avLst/>
          </a:prstGeom>
          <a:solidFill>
            <a:srgbClr val="FFFFFF"/>
          </a:solidFill>
          <a:ln w="15875">
            <a:solidFill>
              <a:srgbClr val="156082"/>
            </a:solidFill>
            <a:prstDash val="solid"/>
          </a:ln>
        </p:spPr>
        <p:txBody>
          <a:bodyPr/>
          <a:lstStyle/>
          <a:p>
            <a:endParaRPr lang="ja-JP" altLang="en-US"/>
          </a:p>
        </p:txBody>
      </p:sp>
      <p:sp>
        <p:nvSpPr>
          <p:cNvPr id="11" name="Text 9"/>
          <p:cNvSpPr txBox="1"/>
          <p:nvPr/>
        </p:nvSpPr>
        <p:spPr>
          <a:xfrm>
            <a:off x="6926580" y="6217920"/>
            <a:ext cx="47594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9-2 展開</a:t>
            </a:r>
            <a:endParaRPr lang="en-US" sz="1400" dirty="0"/>
          </a:p>
        </p:txBody>
      </p:sp>
      <p:sp>
        <p:nvSpPr>
          <p:cNvPr id="12" name="Shape 10"/>
          <p:cNvSpPr/>
          <p:nvPr/>
        </p:nvSpPr>
        <p:spPr>
          <a:xfrm>
            <a:off x="457200" y="2331720"/>
            <a:ext cx="5394960" cy="3703320"/>
          </a:xfrm>
          <a:prstGeom prst="rect">
            <a:avLst/>
          </a:prstGeom>
          <a:solidFill>
            <a:srgbClr val="F2F2F2"/>
          </a:solidFill>
          <a:ln w="12700">
            <a:solidFill>
              <a:srgbClr val="BFBFBF"/>
            </a:solidFill>
            <a:prstDash val="solid"/>
          </a:ln>
        </p:spPr>
        <p:txBody>
          <a:bodyPr/>
          <a:lstStyle/>
          <a:p>
            <a:endParaRPr lang="ja-JP" altLang="en-US"/>
          </a:p>
        </p:txBody>
      </p:sp>
      <p:sp>
        <p:nvSpPr>
          <p:cNvPr id="13" name="Text 11"/>
          <p:cNvSpPr txBox="1"/>
          <p:nvPr/>
        </p:nvSpPr>
        <p:spPr>
          <a:xfrm>
            <a:off x="640080" y="2377440"/>
            <a:ext cx="2743200" cy="457200"/>
          </a:xfrm>
          <a:prstGeom prst="rect">
            <a:avLst/>
          </a:prstGeom>
          <a:noFill/>
          <a:ln/>
        </p:spPr>
        <p:txBody>
          <a:bodyPr wrap="square" lIns="0" tIns="0" rIns="0" bIns="0" rtlCol="0" anchor="ctr"/>
          <a:lstStyle/>
          <a:p>
            <a:pPr marL="0" indent="0">
              <a:buNone/>
            </a:pPr>
            <a:r>
              <a:rPr lang="en-US" sz="2200" b="1" dirty="0">
                <a:solidFill>
                  <a:srgbClr val="000000"/>
                </a:solidFill>
                <a:latin typeface="游ゴシック" pitchFamily="34" charset="0"/>
                <a:ea typeface="游ゴシック" pitchFamily="34" charset="-122"/>
                <a:cs typeface="游ゴシック" pitchFamily="34" charset="-120"/>
              </a:rPr>
              <a:t>限界</a:t>
            </a:r>
            <a:endParaRPr lang="en-US" sz="2200" dirty="0"/>
          </a:p>
        </p:txBody>
      </p:sp>
      <p:sp>
        <p:nvSpPr>
          <p:cNvPr id="14" name="Shape 12"/>
          <p:cNvSpPr/>
          <p:nvPr/>
        </p:nvSpPr>
        <p:spPr>
          <a:xfrm>
            <a:off x="640080" y="2926080"/>
            <a:ext cx="5029200" cy="1325880"/>
          </a:xfrm>
          <a:prstGeom prst="rect">
            <a:avLst/>
          </a:prstGeom>
          <a:solidFill>
            <a:srgbClr val="FBE9D3"/>
          </a:solidFill>
          <a:ln w="12700">
            <a:solidFill>
              <a:srgbClr val="E07B00"/>
            </a:solidFill>
            <a:prstDash val="solid"/>
          </a:ln>
        </p:spPr>
        <p:txBody>
          <a:bodyPr/>
          <a:lstStyle/>
          <a:p>
            <a:endParaRPr lang="ja-JP" altLang="en-US"/>
          </a:p>
        </p:txBody>
      </p:sp>
      <p:sp>
        <p:nvSpPr>
          <p:cNvPr id="15" name="Text 13"/>
          <p:cNvSpPr txBox="1"/>
          <p:nvPr/>
        </p:nvSpPr>
        <p:spPr>
          <a:xfrm>
            <a:off x="713232" y="2926080"/>
            <a:ext cx="4882896" cy="1325880"/>
          </a:xfrm>
          <a:prstGeom prst="rect">
            <a:avLst/>
          </a:prstGeom>
          <a:noFill/>
          <a:ln/>
        </p:spPr>
        <p:txBody>
          <a:bodyPr wrap="square" lIns="0" tIns="0" rIns="0" bIns="0" rtlCol="0" anchor="ctr"/>
          <a:lstStyle/>
          <a:p>
            <a:pPr marL="0" indent="0" algn="l">
              <a:buNone/>
            </a:pPr>
            <a:r>
              <a:rPr lang="en-US" sz="1600" b="1" dirty="0">
                <a:solidFill>
                  <a:srgbClr val="000000"/>
                </a:solidFill>
                <a:latin typeface="游ゴシック" pitchFamily="34" charset="0"/>
                <a:ea typeface="游ゴシック" pitchFamily="34" charset="-122"/>
                <a:cs typeface="游ゴシック" pitchFamily="34" charset="-120"/>
              </a:rPr>
              <a:t>モデルの問題（2 つ）</a:t>
            </a:r>
            <a:endParaRPr lang="en-US" sz="1600" dirty="0"/>
          </a:p>
          <a:p>
            <a:pPr marL="0" indent="0" algn="l">
              <a:buNone/>
            </a:pPr>
            <a:r>
              <a:rPr lang="en-US" sz="1600" b="1" dirty="0">
                <a:solidFill>
                  <a:srgbClr val="000000"/>
                </a:solidFill>
                <a:latin typeface="游ゴシック" pitchFamily="34" charset="0"/>
                <a:ea typeface="游ゴシック" pitchFamily="34" charset="-122"/>
                <a:cs typeface="游ゴシック" pitchFamily="34" charset="-120"/>
              </a:rPr>
              <a:t>知らせる音が用途に合わない／音量の判定は設置場所しだい</a:t>
            </a:r>
            <a:endParaRPr lang="en-US" sz="1600" dirty="0"/>
          </a:p>
        </p:txBody>
      </p:sp>
      <p:sp>
        <p:nvSpPr>
          <p:cNvPr id="16" name="Shape 14"/>
          <p:cNvSpPr/>
          <p:nvPr/>
        </p:nvSpPr>
        <p:spPr>
          <a:xfrm>
            <a:off x="640080" y="4434840"/>
            <a:ext cx="5029200" cy="1417320"/>
          </a:xfrm>
          <a:prstGeom prst="rect">
            <a:avLst/>
          </a:prstGeom>
          <a:solidFill>
            <a:srgbClr val="FFFFFF"/>
          </a:solidFill>
          <a:ln w="12700">
            <a:solidFill>
              <a:srgbClr val="A6A6A6"/>
            </a:solidFill>
            <a:prstDash val="solid"/>
          </a:ln>
        </p:spPr>
        <p:txBody>
          <a:bodyPr/>
          <a:lstStyle/>
          <a:p>
            <a:endParaRPr lang="ja-JP" altLang="en-US"/>
          </a:p>
        </p:txBody>
      </p:sp>
      <p:sp>
        <p:nvSpPr>
          <p:cNvPr id="17" name="Text 15"/>
          <p:cNvSpPr txBox="1"/>
          <p:nvPr/>
        </p:nvSpPr>
        <p:spPr>
          <a:xfrm>
            <a:off x="713232" y="4434840"/>
            <a:ext cx="4882896" cy="1417320"/>
          </a:xfrm>
          <a:prstGeom prst="rect">
            <a:avLst/>
          </a:prstGeom>
          <a:noFill/>
          <a:ln/>
        </p:spPr>
        <p:txBody>
          <a:bodyPr wrap="square" lIns="0" tIns="0" rIns="0" bIns="0" rtlCol="0" anchor="ctr"/>
          <a:lstStyle/>
          <a:p>
            <a:pPr marL="0" indent="0" algn="l">
              <a:buNone/>
            </a:pPr>
            <a:r>
              <a:rPr lang="en-US" sz="1600" b="1" dirty="0">
                <a:solidFill>
                  <a:srgbClr val="000000"/>
                </a:solidFill>
                <a:latin typeface="游ゴシック" pitchFamily="34" charset="0"/>
                <a:ea typeface="游ゴシック" pitchFamily="34" charset="-122"/>
                <a:cs typeface="游ゴシック" pitchFamily="34" charset="-120"/>
              </a:rPr>
              <a:t>時間切れの問題（4 つ）</a:t>
            </a:r>
            <a:endParaRPr lang="en-US" sz="1600" dirty="0"/>
          </a:p>
          <a:p>
            <a:pPr marL="0" indent="0" algn="l">
              <a:buNone/>
            </a:pPr>
            <a:r>
              <a:rPr lang="en-US" sz="1600" b="1" dirty="0">
                <a:solidFill>
                  <a:srgbClr val="000000"/>
                </a:solidFill>
                <a:latin typeface="游ゴシック" pitchFamily="34" charset="0"/>
                <a:ea typeface="游ゴシック" pitchFamily="34" charset="-122"/>
                <a:cs typeface="游ゴシック" pitchFamily="34" charset="-120"/>
              </a:rPr>
              <a:t>マイクの飽和・遅延 1〜2 秒・省電力・FSD50K 版はデバッガ起動のみ</a:t>
            </a:r>
            <a:endParaRPr lang="en-US" sz="1600" dirty="0"/>
          </a:p>
        </p:txBody>
      </p:sp>
      <p:sp>
        <p:nvSpPr>
          <p:cNvPr id="18" name="Shape 16"/>
          <p:cNvSpPr/>
          <p:nvPr/>
        </p:nvSpPr>
        <p:spPr>
          <a:xfrm>
            <a:off x="5989320" y="3931920"/>
            <a:ext cx="548640" cy="457200"/>
          </a:xfrm>
          <a:prstGeom prst="rightArrow">
            <a:avLst/>
          </a:prstGeom>
          <a:solidFill>
            <a:srgbClr val="156082"/>
          </a:solidFill>
          <a:ln w="12700">
            <a:solidFill>
              <a:srgbClr val="156082"/>
            </a:solidFill>
            <a:prstDash val="solid"/>
          </a:ln>
        </p:spPr>
        <p:txBody>
          <a:bodyPr/>
          <a:lstStyle/>
          <a:p>
            <a:endParaRPr lang="ja-JP" altLang="en-US"/>
          </a:p>
        </p:txBody>
      </p:sp>
      <p:sp>
        <p:nvSpPr>
          <p:cNvPr id="19" name="Shape 17"/>
          <p:cNvSpPr/>
          <p:nvPr/>
        </p:nvSpPr>
        <p:spPr>
          <a:xfrm>
            <a:off x="6675120" y="2331720"/>
            <a:ext cx="5056632" cy="3703320"/>
          </a:xfrm>
          <a:prstGeom prst="rect">
            <a:avLst/>
          </a:prstGeom>
          <a:solidFill>
            <a:srgbClr val="DDEBF3"/>
          </a:solidFill>
          <a:ln w="19050">
            <a:solidFill>
              <a:srgbClr val="156082"/>
            </a:solidFill>
            <a:prstDash val="solid"/>
          </a:ln>
        </p:spPr>
        <p:txBody>
          <a:bodyPr/>
          <a:lstStyle/>
          <a:p>
            <a:endParaRPr lang="ja-JP" altLang="en-US"/>
          </a:p>
        </p:txBody>
      </p:sp>
      <p:sp>
        <p:nvSpPr>
          <p:cNvPr id="20" name="Text 18"/>
          <p:cNvSpPr txBox="1"/>
          <p:nvPr/>
        </p:nvSpPr>
        <p:spPr>
          <a:xfrm>
            <a:off x="6858000" y="2377440"/>
            <a:ext cx="2743200" cy="457200"/>
          </a:xfrm>
          <a:prstGeom prst="rect">
            <a:avLst/>
          </a:prstGeom>
          <a:noFill/>
          <a:ln/>
        </p:spPr>
        <p:txBody>
          <a:bodyPr wrap="square" lIns="0" tIns="0" rIns="0" bIns="0" rtlCol="0" anchor="ctr"/>
          <a:lstStyle/>
          <a:p>
            <a:pPr marL="0" indent="0">
              <a:buNone/>
            </a:pPr>
            <a:r>
              <a:rPr lang="en-US" sz="2200" b="1" dirty="0">
                <a:solidFill>
                  <a:srgbClr val="000000"/>
                </a:solidFill>
                <a:latin typeface="游ゴシック" pitchFamily="34" charset="0"/>
                <a:ea typeface="游ゴシック" pitchFamily="34" charset="-122"/>
                <a:cs typeface="游ゴシック" pitchFamily="34" charset="-120"/>
              </a:rPr>
              <a:t>展開</a:t>
            </a:r>
            <a:endParaRPr lang="en-US" sz="2200" dirty="0"/>
          </a:p>
        </p:txBody>
      </p:sp>
      <p:sp>
        <p:nvSpPr>
          <p:cNvPr id="21" name="Shape 19"/>
          <p:cNvSpPr/>
          <p:nvPr/>
        </p:nvSpPr>
        <p:spPr>
          <a:xfrm>
            <a:off x="7178040" y="2971800"/>
            <a:ext cx="914400" cy="914400"/>
          </a:xfrm>
          <a:prstGeom prst="ellipse">
            <a:avLst/>
          </a:prstGeom>
          <a:solidFill>
            <a:srgbClr val="FFFFFF"/>
          </a:solidFill>
          <a:ln w="12700">
            <a:solidFill>
              <a:srgbClr val="FFFFFF"/>
            </a:solidFill>
            <a:prstDash val="solid"/>
          </a:ln>
        </p:spPr>
        <p:txBody>
          <a:bodyPr/>
          <a:lstStyle/>
          <a:p>
            <a:endParaRPr lang="ja-JP" altLang="en-US"/>
          </a:p>
        </p:txBody>
      </p:sp>
      <p:pic>
        <p:nvPicPr>
          <p:cNvPr id="22" name="Image 0" descr="/home/claude/v4/icons/FaIndustry_156082.png"/>
          <p:cNvPicPr>
            <a:picLocks noChangeAspect="1"/>
          </p:cNvPicPr>
          <p:nvPr/>
        </p:nvPicPr>
        <p:blipFill>
          <a:blip r:embed="rId3"/>
          <a:stretch>
            <a:fillRect/>
          </a:stretch>
        </p:blipFill>
        <p:spPr>
          <a:xfrm>
            <a:off x="7379208" y="3172968"/>
            <a:ext cx="512064" cy="512064"/>
          </a:xfrm>
          <a:prstGeom prst="rect">
            <a:avLst/>
          </a:prstGeom>
        </p:spPr>
      </p:pic>
      <p:sp>
        <p:nvSpPr>
          <p:cNvPr id="23" name="Text 20"/>
          <p:cNvSpPr txBox="1"/>
          <p:nvPr/>
        </p:nvSpPr>
        <p:spPr>
          <a:xfrm>
            <a:off x="6903720" y="3931920"/>
            <a:ext cx="1508760" cy="548640"/>
          </a:xfrm>
          <a:prstGeom prst="rect">
            <a:avLst/>
          </a:prstGeom>
          <a:noFill/>
          <a:ln/>
        </p:spPr>
        <p:txBody>
          <a:bodyPr wrap="square" lIns="0" tIns="0" rIns="0" bIns="0" rtlCol="0" anchor="t"/>
          <a:lstStyle/>
          <a:p>
            <a:pPr marL="0" indent="0" algn="ctr">
              <a:buNone/>
            </a:pPr>
            <a:r>
              <a:rPr lang="en-US" sz="1500" b="1" dirty="0">
                <a:solidFill>
                  <a:srgbClr val="000000"/>
                </a:solidFill>
                <a:latin typeface="游ゴシック" pitchFamily="34" charset="0"/>
                <a:ea typeface="游ゴシック" pitchFamily="34" charset="-122"/>
                <a:cs typeface="游ゴシック" pitchFamily="34" charset="-120"/>
              </a:rPr>
              <a:t>機械の異音監視</a:t>
            </a:r>
            <a:endParaRPr lang="en-US" sz="1500" dirty="0"/>
          </a:p>
        </p:txBody>
      </p:sp>
      <p:sp>
        <p:nvSpPr>
          <p:cNvPr id="24" name="Shape 21"/>
          <p:cNvSpPr/>
          <p:nvPr/>
        </p:nvSpPr>
        <p:spPr>
          <a:xfrm>
            <a:off x="8778240" y="2971800"/>
            <a:ext cx="914400" cy="914400"/>
          </a:xfrm>
          <a:prstGeom prst="ellipse">
            <a:avLst/>
          </a:prstGeom>
          <a:solidFill>
            <a:srgbClr val="FFFFFF"/>
          </a:solidFill>
          <a:ln w="12700">
            <a:solidFill>
              <a:srgbClr val="FFFFFF"/>
            </a:solidFill>
            <a:prstDash val="solid"/>
          </a:ln>
        </p:spPr>
        <p:txBody>
          <a:bodyPr/>
          <a:lstStyle/>
          <a:p>
            <a:endParaRPr lang="ja-JP" altLang="en-US"/>
          </a:p>
        </p:txBody>
      </p:sp>
      <p:pic>
        <p:nvPicPr>
          <p:cNvPr id="25" name="Image 1" descr="/home/claude/v4/icons/FaHome_156082.png"/>
          <p:cNvPicPr>
            <a:picLocks noChangeAspect="1"/>
          </p:cNvPicPr>
          <p:nvPr/>
        </p:nvPicPr>
        <p:blipFill>
          <a:blip r:embed="rId4"/>
          <a:stretch>
            <a:fillRect/>
          </a:stretch>
        </p:blipFill>
        <p:spPr>
          <a:xfrm>
            <a:off x="8979408" y="3172968"/>
            <a:ext cx="512064" cy="512064"/>
          </a:xfrm>
          <a:prstGeom prst="rect">
            <a:avLst/>
          </a:prstGeom>
        </p:spPr>
      </p:pic>
      <p:sp>
        <p:nvSpPr>
          <p:cNvPr id="26" name="Text 22"/>
          <p:cNvSpPr txBox="1"/>
          <p:nvPr/>
        </p:nvSpPr>
        <p:spPr>
          <a:xfrm>
            <a:off x="8503920" y="3931920"/>
            <a:ext cx="1508760" cy="548640"/>
          </a:xfrm>
          <a:prstGeom prst="rect">
            <a:avLst/>
          </a:prstGeom>
          <a:noFill/>
          <a:ln/>
        </p:spPr>
        <p:txBody>
          <a:bodyPr wrap="square" lIns="0" tIns="0" rIns="0" bIns="0" rtlCol="0" anchor="t"/>
          <a:lstStyle/>
          <a:p>
            <a:pPr marL="0" indent="0" algn="ctr">
              <a:buNone/>
            </a:pPr>
            <a:r>
              <a:rPr lang="en-US" sz="1500" b="1" dirty="0">
                <a:solidFill>
                  <a:srgbClr val="000000"/>
                </a:solidFill>
                <a:latin typeface="游ゴシック" pitchFamily="34" charset="0"/>
                <a:ea typeface="游ゴシック" pitchFamily="34" charset="-122"/>
                <a:cs typeface="游ゴシック" pitchFamily="34" charset="-120"/>
              </a:rPr>
              <a:t>見守り・防犯</a:t>
            </a:r>
            <a:endParaRPr lang="en-US" sz="1500" dirty="0"/>
          </a:p>
        </p:txBody>
      </p:sp>
      <p:sp>
        <p:nvSpPr>
          <p:cNvPr id="27" name="Shape 23"/>
          <p:cNvSpPr/>
          <p:nvPr/>
        </p:nvSpPr>
        <p:spPr>
          <a:xfrm>
            <a:off x="10378440" y="2971800"/>
            <a:ext cx="914400" cy="914400"/>
          </a:xfrm>
          <a:prstGeom prst="ellipse">
            <a:avLst/>
          </a:prstGeom>
          <a:solidFill>
            <a:srgbClr val="FFFFFF"/>
          </a:solidFill>
          <a:ln w="12700">
            <a:solidFill>
              <a:srgbClr val="FFFFFF"/>
            </a:solidFill>
            <a:prstDash val="solid"/>
          </a:ln>
        </p:spPr>
        <p:txBody>
          <a:bodyPr/>
          <a:lstStyle/>
          <a:p>
            <a:endParaRPr lang="ja-JP" altLang="en-US"/>
          </a:p>
        </p:txBody>
      </p:sp>
      <p:pic>
        <p:nvPicPr>
          <p:cNvPr id="28" name="Image 2" descr="/home/claude/v4/icons/FaMicrochip_156082.png"/>
          <p:cNvPicPr>
            <a:picLocks noChangeAspect="1"/>
          </p:cNvPicPr>
          <p:nvPr/>
        </p:nvPicPr>
        <p:blipFill>
          <a:blip r:embed="rId5"/>
          <a:stretch>
            <a:fillRect/>
          </a:stretch>
        </p:blipFill>
        <p:spPr>
          <a:xfrm>
            <a:off x="10579608" y="3172968"/>
            <a:ext cx="512064" cy="512064"/>
          </a:xfrm>
          <a:prstGeom prst="rect">
            <a:avLst/>
          </a:prstGeom>
        </p:spPr>
      </p:pic>
      <p:sp>
        <p:nvSpPr>
          <p:cNvPr id="29" name="Text 24"/>
          <p:cNvSpPr txBox="1"/>
          <p:nvPr/>
        </p:nvSpPr>
        <p:spPr>
          <a:xfrm>
            <a:off x="10104120" y="3931920"/>
            <a:ext cx="1508760" cy="548640"/>
          </a:xfrm>
          <a:prstGeom prst="rect">
            <a:avLst/>
          </a:prstGeom>
          <a:noFill/>
          <a:ln/>
        </p:spPr>
        <p:txBody>
          <a:bodyPr wrap="square" lIns="0" tIns="0" rIns="0" bIns="0" rtlCol="0" anchor="t"/>
          <a:lstStyle/>
          <a:p>
            <a:pPr marL="0" indent="0" algn="ctr">
              <a:buNone/>
            </a:pPr>
            <a:r>
              <a:rPr lang="en-US" sz="1500" b="1" dirty="0">
                <a:solidFill>
                  <a:srgbClr val="000000"/>
                </a:solidFill>
                <a:latin typeface="游ゴシック" pitchFamily="34" charset="0"/>
                <a:ea typeface="游ゴシック" pitchFamily="34" charset="-122"/>
                <a:cs typeface="游ゴシック" pitchFamily="34" charset="-120"/>
              </a:rPr>
              <a:t>既存の制御装置</a:t>
            </a:r>
            <a:endParaRPr lang="en-US" sz="1500" dirty="0"/>
          </a:p>
        </p:txBody>
      </p:sp>
      <p:sp>
        <p:nvSpPr>
          <p:cNvPr id="30" name="Text 25"/>
          <p:cNvSpPr txBox="1"/>
          <p:nvPr/>
        </p:nvSpPr>
        <p:spPr>
          <a:xfrm>
            <a:off x="6858000" y="4663440"/>
            <a:ext cx="4690872" cy="1234440"/>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落とせない周期処理に推論を足す装置なら、同じ基盤と同じ確かめ方が使える</a:t>
            </a:r>
            <a:endParaRPr lang="en-US" sz="1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9-1　限界と次の一手</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ctr"/>
          <a:lstStyle/>
          <a:p>
            <a:pPr marL="0" indent="0" algn="ctr">
              <a:buNone/>
            </a:pPr>
            <a:r>
              <a:rPr lang="en-US" sz="2800" b="1" dirty="0">
                <a:solidFill>
                  <a:srgbClr val="FF0000"/>
                </a:solidFill>
                <a:latin typeface="游ゴシック" pitchFamily="34" charset="0"/>
                <a:ea typeface="游ゴシック" pitchFamily="34" charset="-122"/>
                <a:cs typeface="游ゴシック" pitchFamily="34" charset="-120"/>
              </a:rPr>
              <a:t>上 2 つはモデル、下 4 つは時間切れ。基盤の主張には影響しない</a:t>
            </a:r>
            <a:endParaRPr lang="en-US" sz="2800" dirty="0"/>
          </a:p>
        </p:txBody>
      </p:sp>
      <p:sp>
        <p:nvSpPr>
          <p:cNvPr id="5" name="Shape 3"/>
          <p:cNvSpPr/>
          <p:nvPr/>
        </p:nvSpPr>
        <p:spPr>
          <a:xfrm>
            <a:off x="1737360" y="2194560"/>
            <a:ext cx="4754880" cy="457200"/>
          </a:xfrm>
          <a:prstGeom prst="rect">
            <a:avLst/>
          </a:prstGeom>
          <a:solidFill>
            <a:srgbClr val="156082"/>
          </a:solidFill>
          <a:ln w="12700">
            <a:solidFill>
              <a:srgbClr val="156082"/>
            </a:solidFill>
            <a:prstDash val="solid"/>
          </a:ln>
        </p:spPr>
        <p:txBody>
          <a:bodyPr/>
          <a:lstStyle/>
          <a:p>
            <a:endParaRPr lang="ja-JP" altLang="en-US"/>
          </a:p>
        </p:txBody>
      </p:sp>
      <p:sp>
        <p:nvSpPr>
          <p:cNvPr id="6" name="Text 4"/>
          <p:cNvSpPr txBox="1"/>
          <p:nvPr/>
        </p:nvSpPr>
        <p:spPr>
          <a:xfrm>
            <a:off x="1810512" y="2194560"/>
            <a:ext cx="4608576"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游ゴシック" pitchFamily="34" charset="0"/>
                <a:ea typeface="游ゴシック" pitchFamily="34" charset="-122"/>
                <a:cs typeface="游ゴシック" pitchFamily="34" charset="-120"/>
              </a:rPr>
              <a:t>限界</a:t>
            </a:r>
            <a:endParaRPr lang="en-US" sz="1700" dirty="0"/>
          </a:p>
        </p:txBody>
      </p:sp>
      <p:sp>
        <p:nvSpPr>
          <p:cNvPr id="7" name="Shape 5"/>
          <p:cNvSpPr/>
          <p:nvPr/>
        </p:nvSpPr>
        <p:spPr>
          <a:xfrm>
            <a:off x="6537960" y="2194560"/>
            <a:ext cx="5193792" cy="457200"/>
          </a:xfrm>
          <a:prstGeom prst="rect">
            <a:avLst/>
          </a:prstGeom>
          <a:solidFill>
            <a:srgbClr val="156082"/>
          </a:solidFill>
          <a:ln w="12700">
            <a:solidFill>
              <a:srgbClr val="156082"/>
            </a:solidFill>
            <a:prstDash val="solid"/>
          </a:ln>
        </p:spPr>
        <p:txBody>
          <a:bodyPr/>
          <a:lstStyle/>
          <a:p>
            <a:endParaRPr lang="ja-JP" altLang="en-US"/>
          </a:p>
        </p:txBody>
      </p:sp>
      <p:sp>
        <p:nvSpPr>
          <p:cNvPr id="8" name="Text 6"/>
          <p:cNvSpPr txBox="1"/>
          <p:nvPr/>
        </p:nvSpPr>
        <p:spPr>
          <a:xfrm>
            <a:off x="6611112" y="2194560"/>
            <a:ext cx="5047488"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游ゴシック" pitchFamily="34" charset="0"/>
                <a:ea typeface="游ゴシック" pitchFamily="34" charset="-122"/>
                <a:cs typeface="游ゴシック" pitchFamily="34" charset="-120"/>
              </a:rPr>
              <a:t>次の一手</a:t>
            </a:r>
            <a:endParaRPr lang="en-US" sz="1700" dirty="0"/>
          </a:p>
        </p:txBody>
      </p:sp>
      <p:sp>
        <p:nvSpPr>
          <p:cNvPr id="9" name="Shape 7"/>
          <p:cNvSpPr/>
          <p:nvPr/>
        </p:nvSpPr>
        <p:spPr>
          <a:xfrm>
            <a:off x="1737360" y="2697480"/>
            <a:ext cx="4754880" cy="493776"/>
          </a:xfrm>
          <a:prstGeom prst="rect">
            <a:avLst/>
          </a:prstGeom>
          <a:solidFill>
            <a:srgbClr val="F2F2F2"/>
          </a:solidFill>
          <a:ln w="9525">
            <a:solidFill>
              <a:srgbClr val="BFBFBF"/>
            </a:solidFill>
            <a:prstDash val="solid"/>
          </a:ln>
        </p:spPr>
        <p:txBody>
          <a:bodyPr/>
          <a:lstStyle/>
          <a:p>
            <a:endParaRPr lang="ja-JP" altLang="en-US"/>
          </a:p>
        </p:txBody>
      </p:sp>
      <p:sp>
        <p:nvSpPr>
          <p:cNvPr id="10" name="Shape 8"/>
          <p:cNvSpPr/>
          <p:nvPr/>
        </p:nvSpPr>
        <p:spPr>
          <a:xfrm>
            <a:off x="6537960" y="2697480"/>
            <a:ext cx="5193792" cy="493776"/>
          </a:xfrm>
          <a:prstGeom prst="rect">
            <a:avLst/>
          </a:prstGeom>
          <a:solidFill>
            <a:srgbClr val="F2F2F2"/>
          </a:solidFill>
          <a:ln w="9525">
            <a:solidFill>
              <a:srgbClr val="BFBFBF"/>
            </a:solidFill>
            <a:prstDash val="solid"/>
          </a:ln>
        </p:spPr>
        <p:txBody>
          <a:bodyPr/>
          <a:lstStyle/>
          <a:p>
            <a:endParaRPr lang="ja-JP" altLang="en-US"/>
          </a:p>
        </p:txBody>
      </p:sp>
      <p:sp>
        <p:nvSpPr>
          <p:cNvPr id="11" name="Text 9"/>
          <p:cNvSpPr txBox="1"/>
          <p:nvPr/>
        </p:nvSpPr>
        <p:spPr>
          <a:xfrm>
            <a:off x="1828800" y="2697480"/>
            <a:ext cx="4572000" cy="493776"/>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知らせる音が用途に合わない／4 種類まで</a:t>
            </a:r>
            <a:endParaRPr lang="en-US" sz="1600" dirty="0"/>
          </a:p>
        </p:txBody>
      </p:sp>
      <p:sp>
        <p:nvSpPr>
          <p:cNvPr id="12" name="Text 10"/>
          <p:cNvSpPr txBox="1"/>
          <p:nvPr/>
        </p:nvSpPr>
        <p:spPr>
          <a:xfrm>
            <a:off x="6629400" y="2697480"/>
            <a:ext cx="5029200" cy="493776"/>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a:t>
            </a:r>
            <a:r>
              <a:rPr lang="en-US" sz="1600" dirty="0" err="1">
                <a:solidFill>
                  <a:srgbClr val="000000"/>
                </a:solidFill>
                <a:latin typeface="游ゴシック" pitchFamily="34" charset="0"/>
                <a:ea typeface="游ゴシック" pitchFamily="34" charset="-122"/>
                <a:cs typeface="游ゴシック" pitchFamily="34" charset="-120"/>
              </a:rPr>
              <a:t>その他」クラス付きのモデルへ</a:t>
            </a:r>
            <a:endParaRPr lang="en-US" sz="16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1600" dirty="0">
                <a:solidFill>
                  <a:srgbClr val="000000"/>
                </a:solidFill>
                <a:latin typeface="游ゴシック" pitchFamily="34" charset="0"/>
                <a:ea typeface="游ゴシック" pitchFamily="34" charset="-122"/>
                <a:cs typeface="游ゴシック" pitchFamily="34" charset="-120"/>
              </a:rPr>
              <a:t>（切替の仕組みは済み）</a:t>
            </a:r>
            <a:endParaRPr lang="en-US" sz="1600" dirty="0"/>
          </a:p>
        </p:txBody>
      </p:sp>
      <p:sp>
        <p:nvSpPr>
          <p:cNvPr id="13" name="Shape 11"/>
          <p:cNvSpPr/>
          <p:nvPr/>
        </p:nvSpPr>
        <p:spPr>
          <a:xfrm>
            <a:off x="1737360" y="3246120"/>
            <a:ext cx="4754880" cy="493776"/>
          </a:xfrm>
          <a:prstGeom prst="rect">
            <a:avLst/>
          </a:prstGeom>
          <a:solidFill>
            <a:srgbClr val="FFFFFF"/>
          </a:solidFill>
          <a:ln w="9525">
            <a:solidFill>
              <a:srgbClr val="BFBFBF"/>
            </a:solidFill>
            <a:prstDash val="solid"/>
          </a:ln>
        </p:spPr>
        <p:txBody>
          <a:bodyPr/>
          <a:lstStyle/>
          <a:p>
            <a:endParaRPr lang="ja-JP" altLang="en-US"/>
          </a:p>
        </p:txBody>
      </p:sp>
      <p:sp>
        <p:nvSpPr>
          <p:cNvPr id="14" name="Shape 12"/>
          <p:cNvSpPr/>
          <p:nvPr/>
        </p:nvSpPr>
        <p:spPr>
          <a:xfrm>
            <a:off x="6537960" y="3246120"/>
            <a:ext cx="5193792" cy="493776"/>
          </a:xfrm>
          <a:prstGeom prst="rect">
            <a:avLst/>
          </a:prstGeom>
          <a:solidFill>
            <a:srgbClr val="FFFFFF"/>
          </a:solidFill>
          <a:ln w="9525">
            <a:solidFill>
              <a:srgbClr val="BFBFBF"/>
            </a:solidFill>
            <a:prstDash val="solid"/>
          </a:ln>
        </p:spPr>
        <p:txBody>
          <a:bodyPr/>
          <a:lstStyle/>
          <a:p>
            <a:endParaRPr lang="ja-JP" altLang="en-US"/>
          </a:p>
        </p:txBody>
      </p:sp>
      <p:sp>
        <p:nvSpPr>
          <p:cNvPr id="15" name="Text 13"/>
          <p:cNvSpPr txBox="1"/>
          <p:nvPr/>
        </p:nvSpPr>
        <p:spPr>
          <a:xfrm>
            <a:off x="1828800" y="3246120"/>
            <a:ext cx="4572000" cy="493776"/>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音量による判定は設置場所しだい</a:t>
            </a:r>
            <a:endParaRPr lang="en-US" sz="1600" dirty="0"/>
          </a:p>
        </p:txBody>
      </p:sp>
      <p:sp>
        <p:nvSpPr>
          <p:cNvPr id="16" name="Text 14"/>
          <p:cNvSpPr txBox="1"/>
          <p:nvPr/>
        </p:nvSpPr>
        <p:spPr>
          <a:xfrm>
            <a:off x="6629400" y="3246120"/>
            <a:ext cx="5029200" cy="493776"/>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背景音を学習したモデル</a:t>
            </a:r>
            <a:endParaRPr lang="en-US" sz="1600" dirty="0"/>
          </a:p>
        </p:txBody>
      </p:sp>
      <p:sp>
        <p:nvSpPr>
          <p:cNvPr id="17" name="Shape 15"/>
          <p:cNvSpPr/>
          <p:nvPr/>
        </p:nvSpPr>
        <p:spPr>
          <a:xfrm>
            <a:off x="1737360" y="3794760"/>
            <a:ext cx="4754880" cy="493776"/>
          </a:xfrm>
          <a:prstGeom prst="rect">
            <a:avLst/>
          </a:prstGeom>
          <a:solidFill>
            <a:srgbClr val="F2F2F2"/>
          </a:solidFill>
          <a:ln w="9525">
            <a:solidFill>
              <a:srgbClr val="BFBFBF"/>
            </a:solidFill>
            <a:prstDash val="solid"/>
          </a:ln>
        </p:spPr>
        <p:txBody>
          <a:bodyPr/>
          <a:lstStyle/>
          <a:p>
            <a:endParaRPr lang="ja-JP" altLang="en-US"/>
          </a:p>
        </p:txBody>
      </p:sp>
      <p:sp>
        <p:nvSpPr>
          <p:cNvPr id="18" name="Shape 16"/>
          <p:cNvSpPr/>
          <p:nvPr/>
        </p:nvSpPr>
        <p:spPr>
          <a:xfrm>
            <a:off x="6537960" y="3794760"/>
            <a:ext cx="5193792" cy="493776"/>
          </a:xfrm>
          <a:prstGeom prst="rect">
            <a:avLst/>
          </a:prstGeom>
          <a:solidFill>
            <a:srgbClr val="F2F2F2"/>
          </a:solidFill>
          <a:ln w="9525">
            <a:solidFill>
              <a:srgbClr val="BFBFBF"/>
            </a:solidFill>
            <a:prstDash val="solid"/>
          </a:ln>
        </p:spPr>
        <p:txBody>
          <a:bodyPr/>
          <a:lstStyle/>
          <a:p>
            <a:endParaRPr lang="ja-JP" altLang="en-US"/>
          </a:p>
        </p:txBody>
      </p:sp>
      <p:sp>
        <p:nvSpPr>
          <p:cNvPr id="19" name="Text 17"/>
          <p:cNvSpPr txBox="1"/>
          <p:nvPr/>
        </p:nvSpPr>
        <p:spPr>
          <a:xfrm>
            <a:off x="1828800" y="3794760"/>
            <a:ext cx="4572000" cy="493776"/>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10 cm ではマイクが飽和する</a:t>
            </a:r>
            <a:endParaRPr lang="en-US" sz="1600" dirty="0"/>
          </a:p>
        </p:txBody>
      </p:sp>
      <p:sp>
        <p:nvSpPr>
          <p:cNvPr id="20" name="Text 18"/>
          <p:cNvSpPr txBox="1"/>
          <p:nvPr/>
        </p:nvSpPr>
        <p:spPr>
          <a:xfrm>
            <a:off x="6629400" y="3794760"/>
            <a:ext cx="5029200" cy="493776"/>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設置距離の目安を手順書に。ゲインの切替</a:t>
            </a:r>
            <a:endParaRPr lang="en-US" sz="1600" dirty="0"/>
          </a:p>
        </p:txBody>
      </p:sp>
      <p:sp>
        <p:nvSpPr>
          <p:cNvPr id="21" name="Shape 19"/>
          <p:cNvSpPr/>
          <p:nvPr/>
        </p:nvSpPr>
        <p:spPr>
          <a:xfrm>
            <a:off x="1737360" y="4343400"/>
            <a:ext cx="4754880" cy="493776"/>
          </a:xfrm>
          <a:prstGeom prst="rect">
            <a:avLst/>
          </a:prstGeom>
          <a:solidFill>
            <a:srgbClr val="FFFFFF"/>
          </a:solidFill>
          <a:ln w="9525">
            <a:solidFill>
              <a:srgbClr val="BFBFBF"/>
            </a:solidFill>
            <a:prstDash val="solid"/>
          </a:ln>
        </p:spPr>
        <p:txBody>
          <a:bodyPr/>
          <a:lstStyle/>
          <a:p>
            <a:endParaRPr lang="ja-JP" altLang="en-US"/>
          </a:p>
        </p:txBody>
      </p:sp>
      <p:sp>
        <p:nvSpPr>
          <p:cNvPr id="22" name="Shape 20"/>
          <p:cNvSpPr/>
          <p:nvPr/>
        </p:nvSpPr>
        <p:spPr>
          <a:xfrm>
            <a:off x="6537960" y="4343400"/>
            <a:ext cx="5193792" cy="493776"/>
          </a:xfrm>
          <a:prstGeom prst="rect">
            <a:avLst/>
          </a:prstGeom>
          <a:solidFill>
            <a:srgbClr val="FFFFFF"/>
          </a:solidFill>
          <a:ln w="9525">
            <a:solidFill>
              <a:srgbClr val="BFBFBF"/>
            </a:solidFill>
            <a:prstDash val="solid"/>
          </a:ln>
        </p:spPr>
        <p:txBody>
          <a:bodyPr/>
          <a:lstStyle/>
          <a:p>
            <a:endParaRPr lang="ja-JP" altLang="en-US"/>
          </a:p>
        </p:txBody>
      </p:sp>
      <p:sp>
        <p:nvSpPr>
          <p:cNvPr id="23" name="Text 21"/>
          <p:cNvSpPr txBox="1"/>
          <p:nvPr/>
        </p:nvSpPr>
        <p:spPr>
          <a:xfrm>
            <a:off x="1828800" y="4343400"/>
            <a:ext cx="4572000" cy="493776"/>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遅延 1〜2 秒</a:t>
            </a:r>
            <a:endParaRPr lang="en-US" sz="1600" dirty="0"/>
          </a:p>
        </p:txBody>
      </p:sp>
      <p:sp>
        <p:nvSpPr>
          <p:cNvPr id="24" name="Text 22"/>
          <p:cNvSpPr txBox="1"/>
          <p:nvPr/>
        </p:nvSpPr>
        <p:spPr>
          <a:xfrm>
            <a:off x="6629400" y="4343400"/>
            <a:ext cx="5029200" cy="493776"/>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窓をずらす間隔を縮めて約半分に</a:t>
            </a:r>
            <a:endParaRPr lang="en-US" sz="1600" dirty="0"/>
          </a:p>
        </p:txBody>
      </p:sp>
      <p:sp>
        <p:nvSpPr>
          <p:cNvPr id="25" name="Shape 23"/>
          <p:cNvSpPr/>
          <p:nvPr/>
        </p:nvSpPr>
        <p:spPr>
          <a:xfrm>
            <a:off x="1737360" y="4892040"/>
            <a:ext cx="4754880" cy="493776"/>
          </a:xfrm>
          <a:prstGeom prst="rect">
            <a:avLst/>
          </a:prstGeom>
          <a:solidFill>
            <a:srgbClr val="F2F2F2"/>
          </a:solidFill>
          <a:ln w="9525">
            <a:solidFill>
              <a:srgbClr val="BFBFBF"/>
            </a:solidFill>
            <a:prstDash val="solid"/>
          </a:ln>
        </p:spPr>
        <p:txBody>
          <a:bodyPr/>
          <a:lstStyle/>
          <a:p>
            <a:endParaRPr lang="ja-JP" altLang="en-US"/>
          </a:p>
        </p:txBody>
      </p:sp>
      <p:sp>
        <p:nvSpPr>
          <p:cNvPr id="26" name="Shape 24"/>
          <p:cNvSpPr/>
          <p:nvPr/>
        </p:nvSpPr>
        <p:spPr>
          <a:xfrm>
            <a:off x="6537960" y="4892040"/>
            <a:ext cx="5193792" cy="493776"/>
          </a:xfrm>
          <a:prstGeom prst="rect">
            <a:avLst/>
          </a:prstGeom>
          <a:solidFill>
            <a:srgbClr val="F2F2F2"/>
          </a:solidFill>
          <a:ln w="9525">
            <a:solidFill>
              <a:srgbClr val="BFBFBF"/>
            </a:solidFill>
            <a:prstDash val="solid"/>
          </a:ln>
        </p:spPr>
        <p:txBody>
          <a:bodyPr/>
          <a:lstStyle/>
          <a:p>
            <a:endParaRPr lang="ja-JP" altLang="en-US"/>
          </a:p>
        </p:txBody>
      </p:sp>
      <p:sp>
        <p:nvSpPr>
          <p:cNvPr id="27" name="Text 25"/>
          <p:cNvSpPr txBox="1"/>
          <p:nvPr/>
        </p:nvSpPr>
        <p:spPr>
          <a:xfrm>
            <a:off x="1828800" y="4892040"/>
            <a:ext cx="4572000" cy="493776"/>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省電力は未計測</a:t>
            </a:r>
            <a:endParaRPr lang="en-US" sz="1600" dirty="0"/>
          </a:p>
        </p:txBody>
      </p:sp>
      <p:sp>
        <p:nvSpPr>
          <p:cNvPr id="28" name="Text 26"/>
          <p:cNvSpPr txBox="1"/>
          <p:nvPr/>
        </p:nvSpPr>
        <p:spPr>
          <a:xfrm>
            <a:off x="6629400" y="4892040"/>
            <a:ext cx="5029200" cy="493776"/>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空き 88% の間は待機命令（WFI）</a:t>
            </a:r>
            <a:endParaRPr lang="en-US" sz="1600" dirty="0"/>
          </a:p>
        </p:txBody>
      </p:sp>
      <p:sp>
        <p:nvSpPr>
          <p:cNvPr id="29" name="Shape 27"/>
          <p:cNvSpPr/>
          <p:nvPr/>
        </p:nvSpPr>
        <p:spPr>
          <a:xfrm>
            <a:off x="1737360" y="5440680"/>
            <a:ext cx="4754880" cy="493776"/>
          </a:xfrm>
          <a:prstGeom prst="rect">
            <a:avLst/>
          </a:prstGeom>
          <a:solidFill>
            <a:srgbClr val="FFFFFF"/>
          </a:solidFill>
          <a:ln w="9525">
            <a:solidFill>
              <a:srgbClr val="BFBFBF"/>
            </a:solidFill>
            <a:prstDash val="solid"/>
          </a:ln>
        </p:spPr>
        <p:txBody>
          <a:bodyPr/>
          <a:lstStyle/>
          <a:p>
            <a:endParaRPr lang="ja-JP" altLang="en-US"/>
          </a:p>
        </p:txBody>
      </p:sp>
      <p:sp>
        <p:nvSpPr>
          <p:cNvPr id="30" name="Shape 28"/>
          <p:cNvSpPr/>
          <p:nvPr/>
        </p:nvSpPr>
        <p:spPr>
          <a:xfrm>
            <a:off x="6537960" y="5440680"/>
            <a:ext cx="5193792" cy="493776"/>
          </a:xfrm>
          <a:prstGeom prst="rect">
            <a:avLst/>
          </a:prstGeom>
          <a:solidFill>
            <a:srgbClr val="FFFFFF"/>
          </a:solidFill>
          <a:ln w="9525">
            <a:solidFill>
              <a:srgbClr val="BFBFBF"/>
            </a:solidFill>
            <a:prstDash val="solid"/>
          </a:ln>
        </p:spPr>
        <p:txBody>
          <a:bodyPr/>
          <a:lstStyle/>
          <a:p>
            <a:endParaRPr lang="ja-JP" altLang="en-US"/>
          </a:p>
        </p:txBody>
      </p:sp>
      <p:sp>
        <p:nvSpPr>
          <p:cNvPr id="31" name="Text 29"/>
          <p:cNvSpPr txBox="1"/>
          <p:nvPr/>
        </p:nvSpPr>
        <p:spPr>
          <a:xfrm>
            <a:off x="1828800" y="5440680"/>
            <a:ext cx="4572000" cy="493776"/>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FSD50K 版はデバッガ起動のみ</a:t>
            </a:r>
            <a:endParaRPr lang="en-US" sz="1600" dirty="0"/>
          </a:p>
        </p:txBody>
      </p:sp>
      <p:sp>
        <p:nvSpPr>
          <p:cNvPr id="32" name="Text 30"/>
          <p:cNvSpPr txBox="1"/>
          <p:nvPr/>
        </p:nvSpPr>
        <p:spPr>
          <a:xfrm>
            <a:off x="6629400" y="5440680"/>
            <a:ext cx="5029200" cy="493776"/>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重みを実行像に入れ、ROM 領域を広げる</a:t>
            </a:r>
            <a:endParaRPr lang="en-US" sz="1600" dirty="0"/>
          </a:p>
        </p:txBody>
      </p:sp>
      <p:sp>
        <p:nvSpPr>
          <p:cNvPr id="33" name="Shape 31"/>
          <p:cNvSpPr/>
          <p:nvPr/>
        </p:nvSpPr>
        <p:spPr>
          <a:xfrm>
            <a:off x="457200" y="2697480"/>
            <a:ext cx="1188720" cy="1042416"/>
          </a:xfrm>
          <a:prstGeom prst="rect">
            <a:avLst/>
          </a:prstGeom>
          <a:solidFill>
            <a:srgbClr val="FBE9D3"/>
          </a:solidFill>
          <a:ln w="12700">
            <a:solidFill>
              <a:srgbClr val="E07B00"/>
            </a:solidFill>
            <a:prstDash val="solid"/>
          </a:ln>
        </p:spPr>
        <p:txBody>
          <a:bodyPr/>
          <a:lstStyle/>
          <a:p>
            <a:endParaRPr lang="ja-JP" altLang="en-US"/>
          </a:p>
        </p:txBody>
      </p:sp>
      <p:sp>
        <p:nvSpPr>
          <p:cNvPr id="34" name="Text 32"/>
          <p:cNvSpPr txBox="1"/>
          <p:nvPr/>
        </p:nvSpPr>
        <p:spPr>
          <a:xfrm>
            <a:off x="530352" y="2697480"/>
            <a:ext cx="1042416" cy="1042416"/>
          </a:xfrm>
          <a:prstGeom prst="rect">
            <a:avLst/>
          </a:prstGeom>
          <a:noFill/>
          <a:ln/>
        </p:spPr>
        <p:txBody>
          <a:bodyPr wrap="square" lIns="0" tIns="0" rIns="0" bIns="0" rtlCol="0" anchor="ctr"/>
          <a:lstStyle/>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モデル</a:t>
            </a:r>
            <a:endParaRPr lang="en-US" sz="1700" dirty="0"/>
          </a:p>
        </p:txBody>
      </p:sp>
      <p:sp>
        <p:nvSpPr>
          <p:cNvPr id="35" name="Shape 33"/>
          <p:cNvSpPr/>
          <p:nvPr/>
        </p:nvSpPr>
        <p:spPr>
          <a:xfrm>
            <a:off x="457200" y="3794760"/>
            <a:ext cx="1188720" cy="2139696"/>
          </a:xfrm>
          <a:prstGeom prst="rect">
            <a:avLst/>
          </a:prstGeom>
          <a:solidFill>
            <a:srgbClr val="F2F2F2"/>
          </a:solidFill>
          <a:ln w="12700">
            <a:solidFill>
              <a:srgbClr val="A6A6A6"/>
            </a:solidFill>
            <a:prstDash val="solid"/>
          </a:ln>
        </p:spPr>
        <p:txBody>
          <a:bodyPr/>
          <a:lstStyle/>
          <a:p>
            <a:endParaRPr lang="ja-JP" altLang="en-US"/>
          </a:p>
        </p:txBody>
      </p:sp>
      <p:sp>
        <p:nvSpPr>
          <p:cNvPr id="36" name="Text 34"/>
          <p:cNvSpPr txBox="1"/>
          <p:nvPr/>
        </p:nvSpPr>
        <p:spPr>
          <a:xfrm>
            <a:off x="530352" y="3794760"/>
            <a:ext cx="1042416" cy="2139696"/>
          </a:xfrm>
          <a:prstGeom prst="rect">
            <a:avLst/>
          </a:prstGeom>
          <a:noFill/>
          <a:ln/>
        </p:spPr>
        <p:txBody>
          <a:bodyPr wrap="square" lIns="0" tIns="0" rIns="0" bIns="0" rtlCol="0" anchor="ctr"/>
          <a:lstStyle/>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時間切れ</a:t>
            </a:r>
            <a:endParaRPr lang="en-US" sz="1700" dirty="0"/>
          </a:p>
        </p:txBody>
      </p:sp>
      <p:sp>
        <p:nvSpPr>
          <p:cNvPr id="37" name="Text 35"/>
          <p:cNvSpPr txBox="1"/>
          <p:nvPr/>
        </p:nvSpPr>
        <p:spPr>
          <a:xfrm>
            <a:off x="457200" y="6080760"/>
            <a:ext cx="11274552" cy="411480"/>
          </a:xfrm>
          <a:prstGeom prst="rect">
            <a:avLst/>
          </a:prstGeom>
          <a:noFill/>
          <a:ln/>
        </p:spPr>
        <p:txBody>
          <a:bodyPr wrap="square" lIns="0" tIns="0" rIns="0" bIns="0" rtlCol="0" anchor="ctr"/>
          <a:lstStyle/>
          <a:p>
            <a:pPr marL="0" indent="0">
              <a:buNone/>
            </a:pPr>
            <a:r>
              <a:rPr lang="en-US" sz="1600" dirty="0">
                <a:solidFill>
                  <a:srgbClr val="595959"/>
                </a:solidFill>
                <a:latin typeface="游ゴシック" pitchFamily="34" charset="0"/>
                <a:ea typeface="游ゴシック" pitchFamily="34" charset="-122"/>
                <a:cs typeface="游ゴシック" pitchFamily="34" charset="-120"/>
              </a:rPr>
              <a:t>基盤の主張（音を落とさずに推論と表示を同居させ、壊れ方が設計どおり）は、これらの影響を受けない</a:t>
            </a:r>
            <a:endParaRPr lang="en-US" sz="1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9-2</a:t>
            </a:r>
            <a:r>
              <a:rPr lang="ja-JP" altLang="en-US" sz="3000" b="1" dirty="0">
                <a:solidFill>
                  <a:srgbClr val="000000"/>
                </a:solidFill>
                <a:latin typeface="游ゴシック" pitchFamily="34" charset="0"/>
                <a:ea typeface="游ゴシック" pitchFamily="34" charset="-122"/>
                <a:cs typeface="游ゴシック" pitchFamily="34" charset="-120"/>
              </a:rPr>
              <a:t>　今後の展開</a:t>
            </a:r>
            <a:r>
              <a:rPr lang="en-US" sz="3000" b="1" dirty="0">
                <a:solidFill>
                  <a:srgbClr val="000000"/>
                </a:solidFill>
                <a:latin typeface="游ゴシック" pitchFamily="34" charset="0"/>
                <a:ea typeface="游ゴシック" pitchFamily="34" charset="-122"/>
                <a:cs typeface="游ゴシック" pitchFamily="34" charset="-120"/>
              </a:rPr>
              <a:t>：音は「落とせない周期処理」の代表</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ctr"/>
          <a:lstStyle/>
          <a:p>
            <a:pPr marL="0" indent="0" algn="ctr">
              <a:buNone/>
            </a:pPr>
            <a:r>
              <a:rPr lang="en-US" sz="2800" b="1" dirty="0">
                <a:solidFill>
                  <a:srgbClr val="FF0000"/>
                </a:solidFill>
                <a:latin typeface="游ゴシック" pitchFamily="34" charset="0"/>
                <a:ea typeface="游ゴシック" pitchFamily="34" charset="-122"/>
                <a:cs typeface="游ゴシック" pitchFamily="34" charset="-120"/>
              </a:rPr>
              <a:t>落とせない周期処理に推論を足し、壊れないことを数えて示せる</a:t>
            </a:r>
            <a:endParaRPr lang="en-US" sz="2800" dirty="0"/>
          </a:p>
        </p:txBody>
      </p:sp>
      <p:sp>
        <p:nvSpPr>
          <p:cNvPr id="5" name="Shape 3"/>
          <p:cNvSpPr/>
          <p:nvPr/>
        </p:nvSpPr>
        <p:spPr>
          <a:xfrm>
            <a:off x="457200" y="2194560"/>
            <a:ext cx="3611880" cy="2057400"/>
          </a:xfrm>
          <a:prstGeom prst="rect">
            <a:avLst/>
          </a:prstGeom>
          <a:solidFill>
            <a:srgbClr val="F2F2F2"/>
          </a:solidFill>
          <a:ln w="12700">
            <a:solidFill>
              <a:srgbClr val="BFBFBF"/>
            </a:solidFill>
            <a:prstDash val="solid"/>
          </a:ln>
        </p:spPr>
        <p:txBody>
          <a:bodyPr/>
          <a:lstStyle/>
          <a:p>
            <a:endParaRPr lang="ja-JP" altLang="en-US"/>
          </a:p>
        </p:txBody>
      </p:sp>
      <p:sp>
        <p:nvSpPr>
          <p:cNvPr id="6" name="Shape 4"/>
          <p:cNvSpPr/>
          <p:nvPr/>
        </p:nvSpPr>
        <p:spPr>
          <a:xfrm>
            <a:off x="594360" y="2331720"/>
            <a:ext cx="731520" cy="731520"/>
          </a:xfrm>
          <a:prstGeom prst="ellipse">
            <a:avLst/>
          </a:prstGeom>
          <a:solidFill>
            <a:srgbClr val="FFFFFF"/>
          </a:solidFill>
          <a:ln w="12700">
            <a:solidFill>
              <a:srgbClr val="FFFFFF"/>
            </a:solidFill>
            <a:prstDash val="solid"/>
          </a:ln>
        </p:spPr>
        <p:txBody>
          <a:bodyPr/>
          <a:lstStyle/>
          <a:p>
            <a:endParaRPr lang="ja-JP" altLang="en-US"/>
          </a:p>
        </p:txBody>
      </p:sp>
      <p:pic>
        <p:nvPicPr>
          <p:cNvPr id="7" name="Image 0" descr="/home/claude/v4/icons/FaIndustry_156082.png"/>
          <p:cNvPicPr>
            <a:picLocks noChangeAspect="1"/>
          </p:cNvPicPr>
          <p:nvPr/>
        </p:nvPicPr>
        <p:blipFill>
          <a:blip r:embed="rId3"/>
          <a:stretch>
            <a:fillRect/>
          </a:stretch>
        </p:blipFill>
        <p:spPr>
          <a:xfrm>
            <a:off x="731520" y="2468880"/>
            <a:ext cx="457200" cy="457200"/>
          </a:xfrm>
          <a:prstGeom prst="rect">
            <a:avLst/>
          </a:prstGeom>
        </p:spPr>
      </p:pic>
      <p:sp>
        <p:nvSpPr>
          <p:cNvPr id="8" name="Text 5"/>
          <p:cNvSpPr txBox="1"/>
          <p:nvPr/>
        </p:nvSpPr>
        <p:spPr>
          <a:xfrm>
            <a:off x="1417320" y="2286000"/>
            <a:ext cx="2560320" cy="822960"/>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回転機械・ポンプの異音監視</a:t>
            </a:r>
            <a:endParaRPr lang="en-US" sz="1700" dirty="0"/>
          </a:p>
        </p:txBody>
      </p:sp>
      <p:sp>
        <p:nvSpPr>
          <p:cNvPr id="9" name="Text 6"/>
          <p:cNvSpPr txBox="1"/>
          <p:nvPr/>
        </p:nvSpPr>
        <p:spPr>
          <a:xfrm>
            <a:off x="594360" y="3154680"/>
            <a:ext cx="3337560" cy="1051560"/>
          </a:xfrm>
          <a:prstGeom prst="rect">
            <a:avLst/>
          </a:prstGeom>
          <a:noFill/>
          <a:ln/>
        </p:spPr>
        <p:txBody>
          <a:bodyPr wrap="square" lIns="0" tIns="0" rIns="0" bIns="0" rtlCol="0" anchor="t"/>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サンプルの取りこぼし 0 を数えて示せる。暗騒音との差で切る判定は、機械ごとの定常音に自動で合う</a:t>
            </a:r>
            <a:endParaRPr lang="en-US" sz="1500" dirty="0"/>
          </a:p>
        </p:txBody>
      </p:sp>
      <p:sp>
        <p:nvSpPr>
          <p:cNvPr id="10" name="Shape 7"/>
          <p:cNvSpPr/>
          <p:nvPr/>
        </p:nvSpPr>
        <p:spPr>
          <a:xfrm>
            <a:off x="4288536" y="2194560"/>
            <a:ext cx="3611880" cy="2057400"/>
          </a:xfrm>
          <a:prstGeom prst="rect">
            <a:avLst/>
          </a:prstGeom>
          <a:solidFill>
            <a:srgbClr val="F2F2F2"/>
          </a:solidFill>
          <a:ln w="12700">
            <a:solidFill>
              <a:srgbClr val="BFBFBF"/>
            </a:solidFill>
            <a:prstDash val="solid"/>
          </a:ln>
        </p:spPr>
        <p:txBody>
          <a:bodyPr/>
          <a:lstStyle/>
          <a:p>
            <a:endParaRPr lang="ja-JP" altLang="en-US"/>
          </a:p>
        </p:txBody>
      </p:sp>
      <p:sp>
        <p:nvSpPr>
          <p:cNvPr id="11" name="Shape 8"/>
          <p:cNvSpPr/>
          <p:nvPr/>
        </p:nvSpPr>
        <p:spPr>
          <a:xfrm>
            <a:off x="4425696" y="2331720"/>
            <a:ext cx="731520" cy="731520"/>
          </a:xfrm>
          <a:prstGeom prst="ellipse">
            <a:avLst/>
          </a:prstGeom>
          <a:solidFill>
            <a:srgbClr val="FFFFFF"/>
          </a:solidFill>
          <a:ln w="12700">
            <a:solidFill>
              <a:srgbClr val="FFFFFF"/>
            </a:solidFill>
            <a:prstDash val="solid"/>
          </a:ln>
        </p:spPr>
        <p:txBody>
          <a:bodyPr/>
          <a:lstStyle/>
          <a:p>
            <a:endParaRPr lang="ja-JP" altLang="en-US"/>
          </a:p>
        </p:txBody>
      </p:sp>
      <p:pic>
        <p:nvPicPr>
          <p:cNvPr id="12" name="Image 1" descr="/home/claude/v4/icons/FaCogs_156082.png"/>
          <p:cNvPicPr>
            <a:picLocks noChangeAspect="1"/>
          </p:cNvPicPr>
          <p:nvPr/>
        </p:nvPicPr>
        <p:blipFill>
          <a:blip r:embed="rId4"/>
          <a:stretch>
            <a:fillRect/>
          </a:stretch>
        </p:blipFill>
        <p:spPr>
          <a:xfrm>
            <a:off x="4562856" y="2468880"/>
            <a:ext cx="457200" cy="457200"/>
          </a:xfrm>
          <a:prstGeom prst="rect">
            <a:avLst/>
          </a:prstGeom>
        </p:spPr>
      </p:pic>
      <p:sp>
        <p:nvSpPr>
          <p:cNvPr id="13" name="Text 9"/>
          <p:cNvSpPr txBox="1"/>
          <p:nvPr/>
        </p:nvSpPr>
        <p:spPr>
          <a:xfrm>
            <a:off x="5248656" y="2286000"/>
            <a:ext cx="2560320" cy="822960"/>
          </a:xfrm>
          <a:prstGeom prst="rect">
            <a:avLst/>
          </a:prstGeom>
          <a:noFill/>
          <a:ln/>
        </p:spPr>
        <p:txBody>
          <a:bodyPr wrap="square" lIns="0" tIns="0" rIns="0" bIns="0" rtlCol="0" anchor="ctr"/>
          <a:lstStyle/>
          <a:p>
            <a:pPr marL="0" indent="0">
              <a:buNone/>
            </a:pPr>
            <a:r>
              <a:rPr lang="en-US" sz="1700" b="1" dirty="0" err="1">
                <a:solidFill>
                  <a:srgbClr val="000000"/>
                </a:solidFill>
                <a:latin typeface="游ゴシック" pitchFamily="34" charset="0"/>
                <a:ea typeface="游ゴシック" pitchFamily="34" charset="-122"/>
                <a:cs typeface="游ゴシック" pitchFamily="34" charset="-120"/>
              </a:rPr>
              <a:t>工具の欠け・漏れ音</a:t>
            </a:r>
            <a:r>
              <a:rPr lang="en-US" sz="1700" b="1" dirty="0">
                <a:solidFill>
                  <a:srgbClr val="000000"/>
                </a:solidFill>
                <a:latin typeface="游ゴシック" pitchFamily="34" charset="0"/>
                <a:ea typeface="游ゴシック" pitchFamily="34" charset="-122"/>
                <a:cs typeface="游ゴシック" pitchFamily="34" charset="-120"/>
              </a:rPr>
              <a:t>・</a:t>
            </a:r>
          </a:p>
          <a:p>
            <a:pPr marL="0" indent="0">
              <a:buNone/>
            </a:pPr>
            <a:r>
              <a:rPr lang="en-US" sz="1700" b="1" dirty="0" err="1">
                <a:solidFill>
                  <a:srgbClr val="000000"/>
                </a:solidFill>
                <a:latin typeface="游ゴシック" pitchFamily="34" charset="0"/>
                <a:ea typeface="游ゴシック" pitchFamily="34" charset="-122"/>
                <a:cs typeface="游ゴシック" pitchFamily="34" charset="-120"/>
              </a:rPr>
              <a:t>古い設備の後付け監視</a:t>
            </a:r>
            <a:endParaRPr lang="en-US" sz="1700" dirty="0"/>
          </a:p>
        </p:txBody>
      </p:sp>
      <p:sp>
        <p:nvSpPr>
          <p:cNvPr id="14" name="Text 10"/>
          <p:cNvSpPr txBox="1"/>
          <p:nvPr/>
        </p:nvSpPr>
        <p:spPr>
          <a:xfrm>
            <a:off x="4425696" y="3154680"/>
            <a:ext cx="3337560" cy="1051560"/>
          </a:xfrm>
          <a:prstGeom prst="rect">
            <a:avLst/>
          </a:prstGeom>
          <a:noFill/>
          <a:ln/>
        </p:spPr>
        <p:txBody>
          <a:bodyPr wrap="square" lIns="0" tIns="0" rIns="0" bIns="0" rtlCol="0" anchor="t"/>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配線に触らずマイクだけで足せる。1〜2 秒で止められる</a:t>
            </a:r>
            <a:endParaRPr lang="en-US" sz="1500" dirty="0"/>
          </a:p>
        </p:txBody>
      </p:sp>
      <p:sp>
        <p:nvSpPr>
          <p:cNvPr id="15" name="Shape 11"/>
          <p:cNvSpPr/>
          <p:nvPr/>
        </p:nvSpPr>
        <p:spPr>
          <a:xfrm>
            <a:off x="8119872" y="2194560"/>
            <a:ext cx="3611880" cy="2057400"/>
          </a:xfrm>
          <a:prstGeom prst="rect">
            <a:avLst/>
          </a:prstGeom>
          <a:solidFill>
            <a:srgbClr val="F2F2F2"/>
          </a:solidFill>
          <a:ln w="12700">
            <a:solidFill>
              <a:srgbClr val="BFBFBF"/>
            </a:solidFill>
            <a:prstDash val="solid"/>
          </a:ln>
        </p:spPr>
        <p:txBody>
          <a:bodyPr/>
          <a:lstStyle/>
          <a:p>
            <a:endParaRPr lang="ja-JP" altLang="en-US"/>
          </a:p>
        </p:txBody>
      </p:sp>
      <p:sp>
        <p:nvSpPr>
          <p:cNvPr id="16" name="Shape 12"/>
          <p:cNvSpPr/>
          <p:nvPr/>
        </p:nvSpPr>
        <p:spPr>
          <a:xfrm>
            <a:off x="8257032" y="2331720"/>
            <a:ext cx="731520" cy="731520"/>
          </a:xfrm>
          <a:prstGeom prst="ellipse">
            <a:avLst/>
          </a:prstGeom>
          <a:solidFill>
            <a:srgbClr val="FFFFFF"/>
          </a:solidFill>
          <a:ln w="12700">
            <a:solidFill>
              <a:srgbClr val="FFFFFF"/>
            </a:solidFill>
            <a:prstDash val="solid"/>
          </a:ln>
        </p:spPr>
        <p:txBody>
          <a:bodyPr/>
          <a:lstStyle/>
          <a:p>
            <a:endParaRPr lang="ja-JP" altLang="en-US"/>
          </a:p>
        </p:txBody>
      </p:sp>
      <p:pic>
        <p:nvPicPr>
          <p:cNvPr id="17" name="Image 2" descr="/home/claude/v4/icons/FaHeadphones_156082.png"/>
          <p:cNvPicPr>
            <a:picLocks noChangeAspect="1"/>
          </p:cNvPicPr>
          <p:nvPr/>
        </p:nvPicPr>
        <p:blipFill>
          <a:blip r:embed="rId5"/>
          <a:stretch>
            <a:fillRect/>
          </a:stretch>
        </p:blipFill>
        <p:spPr>
          <a:xfrm>
            <a:off x="8394192" y="2468880"/>
            <a:ext cx="457200" cy="457200"/>
          </a:xfrm>
          <a:prstGeom prst="rect">
            <a:avLst/>
          </a:prstGeom>
        </p:spPr>
      </p:pic>
      <p:sp>
        <p:nvSpPr>
          <p:cNvPr id="18" name="Text 13"/>
          <p:cNvSpPr txBox="1"/>
          <p:nvPr/>
        </p:nvSpPr>
        <p:spPr>
          <a:xfrm>
            <a:off x="9079992" y="2286000"/>
            <a:ext cx="2560320" cy="822960"/>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打音検査・補聴器</a:t>
            </a:r>
            <a:endParaRPr lang="en-US" sz="1700" dirty="0"/>
          </a:p>
        </p:txBody>
      </p:sp>
      <p:sp>
        <p:nvSpPr>
          <p:cNvPr id="19" name="Text 14"/>
          <p:cNvSpPr txBox="1"/>
          <p:nvPr/>
        </p:nvSpPr>
        <p:spPr>
          <a:xfrm>
            <a:off x="8257032" y="3154680"/>
            <a:ext cx="3337560" cy="1051560"/>
          </a:xfrm>
          <a:prstGeom prst="rect">
            <a:avLst/>
          </a:prstGeom>
          <a:noFill/>
          <a:ln/>
        </p:spPr>
        <p:txBody>
          <a:bodyPr wrap="square" lIns="0" tIns="0" rIns="0" bIns="0" rtlCol="0" anchor="t"/>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計測器として使った音の折り返しが、そのまま製品の機能になる</a:t>
            </a:r>
            <a:endParaRPr lang="en-US" sz="1500" dirty="0"/>
          </a:p>
        </p:txBody>
      </p:sp>
      <p:sp>
        <p:nvSpPr>
          <p:cNvPr id="20" name="Shape 15"/>
          <p:cNvSpPr/>
          <p:nvPr/>
        </p:nvSpPr>
        <p:spPr>
          <a:xfrm>
            <a:off x="457200" y="4389120"/>
            <a:ext cx="3611880" cy="2057400"/>
          </a:xfrm>
          <a:prstGeom prst="rect">
            <a:avLst/>
          </a:prstGeom>
          <a:solidFill>
            <a:srgbClr val="F2F2F2"/>
          </a:solidFill>
          <a:ln w="12700">
            <a:solidFill>
              <a:srgbClr val="BFBFBF"/>
            </a:solidFill>
            <a:prstDash val="solid"/>
          </a:ln>
        </p:spPr>
        <p:txBody>
          <a:bodyPr/>
          <a:lstStyle/>
          <a:p>
            <a:endParaRPr lang="ja-JP" altLang="en-US"/>
          </a:p>
        </p:txBody>
      </p:sp>
      <p:sp>
        <p:nvSpPr>
          <p:cNvPr id="21" name="Shape 16"/>
          <p:cNvSpPr/>
          <p:nvPr/>
        </p:nvSpPr>
        <p:spPr>
          <a:xfrm>
            <a:off x="594360" y="4526280"/>
            <a:ext cx="731520" cy="731520"/>
          </a:xfrm>
          <a:prstGeom prst="ellipse">
            <a:avLst/>
          </a:prstGeom>
          <a:solidFill>
            <a:srgbClr val="FFFFFF"/>
          </a:solidFill>
          <a:ln w="12700">
            <a:solidFill>
              <a:srgbClr val="FFFFFF"/>
            </a:solidFill>
            <a:prstDash val="solid"/>
          </a:ln>
        </p:spPr>
        <p:txBody>
          <a:bodyPr/>
          <a:lstStyle/>
          <a:p>
            <a:endParaRPr lang="ja-JP" altLang="en-US"/>
          </a:p>
        </p:txBody>
      </p:sp>
      <p:pic>
        <p:nvPicPr>
          <p:cNvPr id="22" name="Image 3" descr="/home/claude/v4/icons/FaHome_156082.png"/>
          <p:cNvPicPr>
            <a:picLocks noChangeAspect="1"/>
          </p:cNvPicPr>
          <p:nvPr/>
        </p:nvPicPr>
        <p:blipFill>
          <a:blip r:embed="rId6"/>
          <a:stretch>
            <a:fillRect/>
          </a:stretch>
        </p:blipFill>
        <p:spPr>
          <a:xfrm>
            <a:off x="731520" y="4663440"/>
            <a:ext cx="457200" cy="457200"/>
          </a:xfrm>
          <a:prstGeom prst="rect">
            <a:avLst/>
          </a:prstGeom>
        </p:spPr>
      </p:pic>
      <p:sp>
        <p:nvSpPr>
          <p:cNvPr id="23" name="Text 17"/>
          <p:cNvSpPr txBox="1"/>
          <p:nvPr/>
        </p:nvSpPr>
        <p:spPr>
          <a:xfrm>
            <a:off x="1417320" y="4480560"/>
            <a:ext cx="2560320" cy="822960"/>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一人暮らしの見守り・窓とドアの防犯</a:t>
            </a:r>
            <a:endParaRPr lang="en-US" sz="1700" dirty="0"/>
          </a:p>
        </p:txBody>
      </p:sp>
      <p:sp>
        <p:nvSpPr>
          <p:cNvPr id="24" name="Text 18"/>
          <p:cNvSpPr txBox="1"/>
          <p:nvPr/>
        </p:nvSpPr>
        <p:spPr>
          <a:xfrm>
            <a:off x="594360" y="5349240"/>
            <a:ext cx="3337560" cy="1051560"/>
          </a:xfrm>
          <a:prstGeom prst="rect">
            <a:avLst/>
          </a:prstGeom>
          <a:noFill/>
          <a:ln/>
        </p:spPr>
        <p:txBody>
          <a:bodyPr wrap="square" lIns="0" tIns="0" rIns="0" bIns="0" rtlCol="0" anchor="t"/>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転倒音・呼び声、ガラスの破損・ノック。JSON で字幕装置やスマホへ</a:t>
            </a:r>
            <a:endParaRPr lang="en-US" sz="1500" dirty="0"/>
          </a:p>
        </p:txBody>
      </p:sp>
      <p:sp>
        <p:nvSpPr>
          <p:cNvPr id="25" name="Shape 19"/>
          <p:cNvSpPr/>
          <p:nvPr/>
        </p:nvSpPr>
        <p:spPr>
          <a:xfrm>
            <a:off x="4288536" y="4389120"/>
            <a:ext cx="3611880" cy="2057400"/>
          </a:xfrm>
          <a:prstGeom prst="rect">
            <a:avLst/>
          </a:prstGeom>
          <a:solidFill>
            <a:srgbClr val="F2F2F2"/>
          </a:solidFill>
          <a:ln w="12700">
            <a:solidFill>
              <a:srgbClr val="BFBFBF"/>
            </a:solidFill>
            <a:prstDash val="solid"/>
          </a:ln>
        </p:spPr>
        <p:txBody>
          <a:bodyPr/>
          <a:lstStyle/>
          <a:p>
            <a:endParaRPr lang="ja-JP" altLang="en-US"/>
          </a:p>
        </p:txBody>
      </p:sp>
      <p:sp>
        <p:nvSpPr>
          <p:cNvPr id="26" name="Shape 20"/>
          <p:cNvSpPr/>
          <p:nvPr/>
        </p:nvSpPr>
        <p:spPr>
          <a:xfrm>
            <a:off x="4425696" y="4526280"/>
            <a:ext cx="731520" cy="731520"/>
          </a:xfrm>
          <a:prstGeom prst="ellipse">
            <a:avLst/>
          </a:prstGeom>
          <a:solidFill>
            <a:srgbClr val="FFFFFF"/>
          </a:solidFill>
          <a:ln w="12700">
            <a:solidFill>
              <a:srgbClr val="FFFFFF"/>
            </a:solidFill>
            <a:prstDash val="solid"/>
          </a:ln>
        </p:spPr>
        <p:txBody>
          <a:bodyPr/>
          <a:lstStyle/>
          <a:p>
            <a:endParaRPr lang="ja-JP" altLang="en-US"/>
          </a:p>
        </p:txBody>
      </p:sp>
      <p:pic>
        <p:nvPicPr>
          <p:cNvPr id="27" name="Image 4" descr="/home/claude/v4/icons/FaMicrochip_156082.png"/>
          <p:cNvPicPr>
            <a:picLocks noChangeAspect="1"/>
          </p:cNvPicPr>
          <p:nvPr/>
        </p:nvPicPr>
        <p:blipFill>
          <a:blip r:embed="rId7"/>
          <a:stretch>
            <a:fillRect/>
          </a:stretch>
        </p:blipFill>
        <p:spPr>
          <a:xfrm>
            <a:off x="4562856" y="4663440"/>
            <a:ext cx="457200" cy="457200"/>
          </a:xfrm>
          <a:prstGeom prst="rect">
            <a:avLst/>
          </a:prstGeom>
        </p:spPr>
      </p:pic>
      <p:sp>
        <p:nvSpPr>
          <p:cNvPr id="28" name="Text 21"/>
          <p:cNvSpPr txBox="1"/>
          <p:nvPr/>
        </p:nvSpPr>
        <p:spPr>
          <a:xfrm>
            <a:off x="5248656" y="4480560"/>
            <a:ext cx="2560320" cy="822960"/>
          </a:xfrm>
          <a:prstGeom prst="rect">
            <a:avLst/>
          </a:prstGeom>
          <a:noFill/>
          <a:ln/>
        </p:spPr>
        <p:txBody>
          <a:bodyPr wrap="square" lIns="0" tIns="0" rIns="0" bIns="0" rtlCol="0" anchor="ctr"/>
          <a:lstStyle/>
          <a:p>
            <a:pPr marL="0" indent="0">
              <a:buNone/>
            </a:pPr>
            <a:r>
              <a:rPr lang="en-US" sz="1700" b="1" dirty="0" err="1">
                <a:solidFill>
                  <a:srgbClr val="000000"/>
                </a:solidFill>
                <a:latin typeface="游ゴシック" pitchFamily="34" charset="0"/>
                <a:ea typeface="游ゴシック" pitchFamily="34" charset="-122"/>
                <a:cs typeface="游ゴシック" pitchFamily="34" charset="-120"/>
              </a:rPr>
              <a:t>既存の制御装置に</a:t>
            </a:r>
            <a:endParaRPr lang="en-US" sz="1700" b="1" dirty="0">
              <a:solidFill>
                <a:srgbClr val="000000"/>
              </a:solidFill>
              <a:latin typeface="游ゴシック" pitchFamily="34" charset="0"/>
              <a:ea typeface="游ゴシック" pitchFamily="34" charset="-122"/>
              <a:cs typeface="游ゴシック" pitchFamily="34" charset="-120"/>
            </a:endParaRPr>
          </a:p>
          <a:p>
            <a:pPr marL="0" indent="0">
              <a:buNone/>
            </a:pPr>
            <a:r>
              <a:rPr lang="en-US" sz="1700" b="1" dirty="0">
                <a:solidFill>
                  <a:srgbClr val="000000"/>
                </a:solidFill>
                <a:latin typeface="游ゴシック" pitchFamily="34" charset="0"/>
                <a:ea typeface="游ゴシック" pitchFamily="34" charset="-122"/>
                <a:cs typeface="游ゴシック" pitchFamily="34" charset="-120"/>
              </a:rPr>
              <a:t>NPU 推論を足す</a:t>
            </a:r>
            <a:endParaRPr lang="en-US" sz="1700" dirty="0"/>
          </a:p>
        </p:txBody>
      </p:sp>
      <p:sp>
        <p:nvSpPr>
          <p:cNvPr id="29" name="Text 22"/>
          <p:cNvSpPr txBox="1"/>
          <p:nvPr/>
        </p:nvSpPr>
        <p:spPr>
          <a:xfrm>
            <a:off x="4425696" y="5349240"/>
            <a:ext cx="3337560" cy="1051560"/>
          </a:xfrm>
          <a:prstGeom prst="rect">
            <a:avLst/>
          </a:prstGeom>
          <a:noFill/>
          <a:ln/>
        </p:spPr>
        <p:txBody>
          <a:bodyPr wrap="square" lIns="0" tIns="0" rIns="0" bIns="0" rtlCol="0" anchor="t"/>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モータ制御やセンサの周期が上にある装置で、実験 1 の 3 条件がそのまま確かめ方になる</a:t>
            </a:r>
            <a:endParaRPr lang="en-US" sz="1500" dirty="0"/>
          </a:p>
        </p:txBody>
      </p:sp>
      <p:sp>
        <p:nvSpPr>
          <p:cNvPr id="30" name="Shape 23"/>
          <p:cNvSpPr/>
          <p:nvPr/>
        </p:nvSpPr>
        <p:spPr>
          <a:xfrm>
            <a:off x="8119872" y="4389120"/>
            <a:ext cx="3611880" cy="2057400"/>
          </a:xfrm>
          <a:prstGeom prst="rect">
            <a:avLst/>
          </a:prstGeom>
          <a:solidFill>
            <a:srgbClr val="DDEBF3"/>
          </a:solidFill>
          <a:ln w="19050">
            <a:solidFill>
              <a:srgbClr val="156082"/>
            </a:solidFill>
            <a:prstDash val="solid"/>
          </a:ln>
        </p:spPr>
        <p:txBody>
          <a:bodyPr/>
          <a:lstStyle/>
          <a:p>
            <a:endParaRPr lang="ja-JP" altLang="en-US"/>
          </a:p>
        </p:txBody>
      </p:sp>
      <p:sp>
        <p:nvSpPr>
          <p:cNvPr id="31" name="Text 24"/>
          <p:cNvSpPr txBox="1"/>
          <p:nvPr/>
        </p:nvSpPr>
        <p:spPr>
          <a:xfrm>
            <a:off x="8257032" y="4389120"/>
            <a:ext cx="3474720" cy="2057400"/>
          </a:xfrm>
          <a:prstGeom prst="rect">
            <a:avLst/>
          </a:prstGeom>
          <a:noFill/>
          <a:ln/>
        </p:spPr>
        <p:txBody>
          <a:bodyPr wrap="square" lIns="0" tIns="0" rIns="0" bIns="0" rtlCol="0" anchor="ctr"/>
          <a:lstStyle/>
          <a:p>
            <a:pPr marL="0" indent="0">
              <a:buNone/>
            </a:pPr>
            <a:r>
              <a:rPr lang="en-US" sz="1600" b="1" dirty="0" err="1">
                <a:solidFill>
                  <a:srgbClr val="000000"/>
                </a:solidFill>
                <a:latin typeface="游ゴシック" pitchFamily="34" charset="0"/>
                <a:ea typeface="游ゴシック" pitchFamily="34" charset="-122"/>
                <a:cs typeface="游ゴシック" pitchFamily="34" charset="-120"/>
              </a:rPr>
              <a:t>共通するのは</a:t>
            </a:r>
            <a:endParaRPr lang="en-US" sz="1600" b="1" dirty="0">
              <a:solidFill>
                <a:srgbClr val="000000"/>
              </a:solidFill>
              <a:latin typeface="游ゴシック" pitchFamily="34" charset="0"/>
              <a:ea typeface="游ゴシック" pitchFamily="34" charset="-122"/>
              <a:cs typeface="游ゴシック" pitchFamily="34" charset="-120"/>
            </a:endParaRPr>
          </a:p>
          <a:p>
            <a:pPr marL="0" indent="0">
              <a:buNone/>
            </a:pPr>
            <a:r>
              <a:rPr lang="en-US" sz="1600" b="1" dirty="0" err="1">
                <a:solidFill>
                  <a:srgbClr val="FF0000"/>
                </a:solidFill>
                <a:latin typeface="游ゴシック" pitchFamily="34" charset="0"/>
                <a:ea typeface="游ゴシック" pitchFamily="34" charset="-122"/>
                <a:cs typeface="游ゴシック" pitchFamily="34" charset="-120"/>
              </a:rPr>
              <a:t>落とせない周期処理と推論を同居させ壊れないことを数えて示せること</a:t>
            </a:r>
            <a:r>
              <a:rPr lang="en-US" sz="1600" b="1" dirty="0">
                <a:solidFill>
                  <a:srgbClr val="000000"/>
                </a:solidFill>
                <a:latin typeface="游ゴシック" pitchFamily="34" charset="0"/>
                <a:ea typeface="游ゴシック" pitchFamily="34" charset="-122"/>
                <a:cs typeface="游ゴシック" pitchFamily="34" charset="-120"/>
              </a:rPr>
              <a:t>。</a:t>
            </a:r>
          </a:p>
          <a:p>
            <a:pPr marL="0" indent="0">
              <a:buNone/>
            </a:pPr>
            <a:r>
              <a:rPr lang="en-US" sz="1600" b="1" dirty="0" err="1">
                <a:solidFill>
                  <a:srgbClr val="000000"/>
                </a:solidFill>
                <a:latin typeface="游ゴシック" pitchFamily="34" charset="0"/>
                <a:ea typeface="游ゴシック" pitchFamily="34" charset="-122"/>
                <a:cs typeface="游ゴシック" pitchFamily="34" charset="-120"/>
              </a:rPr>
              <a:t>モデルは用途ごとに替え</a:t>
            </a:r>
            <a:r>
              <a:rPr lang="ja-JP" altLang="en-US" sz="1600" b="1" dirty="0">
                <a:solidFill>
                  <a:srgbClr val="000000"/>
                </a:solidFill>
                <a:latin typeface="游ゴシック" pitchFamily="34" charset="0"/>
                <a:ea typeface="游ゴシック" pitchFamily="34" charset="-122"/>
                <a:cs typeface="游ゴシック" pitchFamily="34" charset="-120"/>
              </a:rPr>
              <a:t>られ</a:t>
            </a:r>
            <a:r>
              <a:rPr lang="en-US" sz="1600" b="1" dirty="0">
                <a:solidFill>
                  <a:srgbClr val="000000"/>
                </a:solidFill>
                <a:latin typeface="游ゴシック" pitchFamily="34" charset="0"/>
                <a:ea typeface="游ゴシック" pitchFamily="34" charset="-122"/>
                <a:cs typeface="游ゴシック" pitchFamily="34" charset="-120"/>
              </a:rPr>
              <a:t>る</a:t>
            </a:r>
            <a:endParaRPr lang="en-US" sz="16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10　公開と再現</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Shape 2"/>
          <p:cNvSpPr/>
          <p:nvPr/>
        </p:nvSpPr>
        <p:spPr>
          <a:xfrm>
            <a:off x="0" y="1051560"/>
            <a:ext cx="12191695" cy="1097280"/>
          </a:xfrm>
          <a:prstGeom prst="rect">
            <a:avLst/>
          </a:prstGeom>
          <a:solidFill>
            <a:srgbClr val="DDEBF3"/>
          </a:solidFill>
          <a:ln w="12700">
            <a:solidFill>
              <a:srgbClr val="DDEBF3"/>
            </a:solidFill>
            <a:prstDash val="solid"/>
          </a:ln>
        </p:spPr>
        <p:txBody>
          <a:bodyPr/>
          <a:lstStyle/>
          <a:p>
            <a:endParaRPr lang="ja-JP" altLang="en-US"/>
          </a:p>
        </p:txBody>
      </p:sp>
      <p:sp>
        <p:nvSpPr>
          <p:cNvPr id="5" name="Text 3"/>
          <p:cNvSpPr txBox="1"/>
          <p:nvPr/>
        </p:nvSpPr>
        <p:spPr>
          <a:xfrm>
            <a:off x="457200" y="1097280"/>
            <a:ext cx="11274552" cy="1005840"/>
          </a:xfrm>
          <a:prstGeom prst="rect">
            <a:avLst/>
          </a:prstGeom>
          <a:noFill/>
          <a:ln/>
        </p:spPr>
        <p:txBody>
          <a:bodyPr wrap="square" lIns="0" tIns="0" rIns="0" bIns="0" rtlCol="0" anchor="ctr"/>
          <a:lstStyle/>
          <a:p>
            <a:pPr marL="0" indent="0">
              <a:buNone/>
            </a:pPr>
            <a:r>
              <a:rPr lang="en-US" sz="2800" b="1" dirty="0">
                <a:solidFill>
                  <a:srgbClr val="FF0000"/>
                </a:solidFill>
                <a:latin typeface="游ゴシック" pitchFamily="34" charset="0"/>
                <a:ea typeface="游ゴシック" pitchFamily="34" charset="-122"/>
                <a:cs typeface="游ゴシック" pitchFamily="34" charset="-120"/>
              </a:rPr>
              <a:t>ソースと手順書・ログ・スクリプトを公開し、誰でも確かめられる</a:t>
            </a:r>
            <a:endParaRPr lang="en-US" sz="2800" dirty="0"/>
          </a:p>
        </p:txBody>
      </p:sp>
      <p:sp>
        <p:nvSpPr>
          <p:cNvPr id="6" name="Text 4"/>
          <p:cNvSpPr txBox="1"/>
          <p:nvPr/>
        </p:nvSpPr>
        <p:spPr>
          <a:xfrm>
            <a:off x="457200" y="6217920"/>
            <a:ext cx="1234440" cy="420624"/>
          </a:xfrm>
          <a:prstGeom prst="rect">
            <a:avLst/>
          </a:prstGeom>
          <a:noFill/>
          <a:ln/>
        </p:spPr>
        <p:txBody>
          <a:bodyPr wrap="square" lIns="0" tIns="0" rIns="0" bIns="0" rtlCol="0" anchor="ctr"/>
          <a:lstStyle/>
          <a:p>
            <a:pPr marL="0" indent="0">
              <a:buNone/>
            </a:pPr>
            <a:r>
              <a:rPr lang="en-US" sz="1300" dirty="0">
                <a:solidFill>
                  <a:srgbClr val="595959"/>
                </a:solidFill>
                <a:latin typeface="游ゴシック" pitchFamily="34" charset="0"/>
                <a:ea typeface="游ゴシック" pitchFamily="34" charset="-122"/>
                <a:cs typeface="游ゴシック" pitchFamily="34" charset="-120"/>
              </a:rPr>
              <a:t>この章の流れ</a:t>
            </a:r>
            <a:endParaRPr lang="en-US" sz="1300" dirty="0"/>
          </a:p>
        </p:txBody>
      </p:sp>
      <p:sp>
        <p:nvSpPr>
          <p:cNvPr id="7" name="Shape 5"/>
          <p:cNvSpPr/>
          <p:nvPr/>
        </p:nvSpPr>
        <p:spPr>
          <a:xfrm>
            <a:off x="1737360" y="6217920"/>
            <a:ext cx="2279142" cy="420624"/>
          </a:xfrm>
          <a:prstGeom prst="rect">
            <a:avLst/>
          </a:prstGeom>
          <a:solidFill>
            <a:srgbClr val="FFFFFF"/>
          </a:solidFill>
          <a:ln w="15875">
            <a:solidFill>
              <a:srgbClr val="156082"/>
            </a:solidFill>
            <a:prstDash val="solid"/>
          </a:ln>
        </p:spPr>
        <p:txBody>
          <a:bodyPr/>
          <a:lstStyle/>
          <a:p>
            <a:endParaRPr lang="ja-JP" altLang="en-US"/>
          </a:p>
        </p:txBody>
      </p:sp>
      <p:sp>
        <p:nvSpPr>
          <p:cNvPr id="8" name="Text 6"/>
          <p:cNvSpPr txBox="1"/>
          <p:nvPr/>
        </p:nvSpPr>
        <p:spPr>
          <a:xfrm>
            <a:off x="1783080" y="6217920"/>
            <a:ext cx="218770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10-1 手順</a:t>
            </a:r>
            <a:endParaRPr lang="en-US" sz="1400" dirty="0"/>
          </a:p>
        </p:txBody>
      </p:sp>
      <p:sp>
        <p:nvSpPr>
          <p:cNvPr id="9" name="Shape 7"/>
          <p:cNvSpPr/>
          <p:nvPr/>
        </p:nvSpPr>
        <p:spPr>
          <a:xfrm>
            <a:off x="408965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10" name="Shape 8"/>
          <p:cNvSpPr/>
          <p:nvPr/>
        </p:nvSpPr>
        <p:spPr>
          <a:xfrm>
            <a:off x="4309110" y="6217920"/>
            <a:ext cx="2279142" cy="420624"/>
          </a:xfrm>
          <a:prstGeom prst="rect">
            <a:avLst/>
          </a:prstGeom>
          <a:solidFill>
            <a:srgbClr val="FFFFFF"/>
          </a:solidFill>
          <a:ln w="15875">
            <a:solidFill>
              <a:srgbClr val="156082"/>
            </a:solidFill>
            <a:prstDash val="solid"/>
          </a:ln>
        </p:spPr>
        <p:txBody>
          <a:bodyPr/>
          <a:lstStyle/>
          <a:p>
            <a:endParaRPr lang="ja-JP" altLang="en-US"/>
          </a:p>
        </p:txBody>
      </p:sp>
      <p:sp>
        <p:nvSpPr>
          <p:cNvPr id="11" name="Text 9"/>
          <p:cNvSpPr txBox="1"/>
          <p:nvPr/>
        </p:nvSpPr>
        <p:spPr>
          <a:xfrm>
            <a:off x="4354830" y="6217920"/>
            <a:ext cx="218770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10-2 起動ログ</a:t>
            </a:r>
            <a:endParaRPr lang="en-US" sz="1400" dirty="0"/>
          </a:p>
        </p:txBody>
      </p:sp>
      <p:sp>
        <p:nvSpPr>
          <p:cNvPr id="12" name="Shape 10"/>
          <p:cNvSpPr/>
          <p:nvPr/>
        </p:nvSpPr>
        <p:spPr>
          <a:xfrm>
            <a:off x="666140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13" name="Shape 11"/>
          <p:cNvSpPr/>
          <p:nvPr/>
        </p:nvSpPr>
        <p:spPr>
          <a:xfrm>
            <a:off x="6880860" y="6217920"/>
            <a:ext cx="2279142" cy="420624"/>
          </a:xfrm>
          <a:prstGeom prst="rect">
            <a:avLst/>
          </a:prstGeom>
          <a:solidFill>
            <a:srgbClr val="FFFFFF"/>
          </a:solidFill>
          <a:ln w="15875">
            <a:solidFill>
              <a:srgbClr val="156082"/>
            </a:solidFill>
            <a:prstDash val="solid"/>
          </a:ln>
        </p:spPr>
        <p:txBody>
          <a:bodyPr/>
          <a:lstStyle/>
          <a:p>
            <a:endParaRPr lang="ja-JP" altLang="en-US"/>
          </a:p>
        </p:txBody>
      </p:sp>
      <p:sp>
        <p:nvSpPr>
          <p:cNvPr id="14" name="Text 12"/>
          <p:cNvSpPr txBox="1"/>
          <p:nvPr/>
        </p:nvSpPr>
        <p:spPr>
          <a:xfrm>
            <a:off x="6926580" y="6217920"/>
            <a:ext cx="218770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10-3 走行ログ</a:t>
            </a:r>
            <a:endParaRPr lang="en-US" sz="1400" dirty="0"/>
          </a:p>
        </p:txBody>
      </p:sp>
      <p:sp>
        <p:nvSpPr>
          <p:cNvPr id="15" name="Shape 13"/>
          <p:cNvSpPr/>
          <p:nvPr/>
        </p:nvSpPr>
        <p:spPr>
          <a:xfrm>
            <a:off x="923315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16" name="Shape 14"/>
          <p:cNvSpPr/>
          <p:nvPr/>
        </p:nvSpPr>
        <p:spPr>
          <a:xfrm>
            <a:off x="9452610" y="6217920"/>
            <a:ext cx="2279142" cy="420624"/>
          </a:xfrm>
          <a:prstGeom prst="rect">
            <a:avLst/>
          </a:prstGeom>
          <a:solidFill>
            <a:srgbClr val="FFFFFF"/>
          </a:solidFill>
          <a:ln w="15875">
            <a:solidFill>
              <a:srgbClr val="156082"/>
            </a:solidFill>
            <a:prstDash val="solid"/>
          </a:ln>
        </p:spPr>
        <p:txBody>
          <a:bodyPr/>
          <a:lstStyle/>
          <a:p>
            <a:endParaRPr lang="ja-JP" altLang="en-US"/>
          </a:p>
        </p:txBody>
      </p:sp>
      <p:sp>
        <p:nvSpPr>
          <p:cNvPr id="17" name="Text 15"/>
          <p:cNvSpPr txBox="1"/>
          <p:nvPr/>
        </p:nvSpPr>
        <p:spPr>
          <a:xfrm>
            <a:off x="9498330" y="6217920"/>
            <a:ext cx="218770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10-4 最終集計</a:t>
            </a:r>
            <a:endParaRPr lang="en-US" sz="1400" dirty="0"/>
          </a:p>
        </p:txBody>
      </p:sp>
      <p:pic>
        <p:nvPicPr>
          <p:cNvPr id="18" name="Image 0" descr="/home/claude/v4/icons/FaGithub_156082.png"/>
          <p:cNvPicPr>
            <a:picLocks noChangeAspect="1"/>
          </p:cNvPicPr>
          <p:nvPr/>
        </p:nvPicPr>
        <p:blipFill>
          <a:blip r:embed="rId3"/>
          <a:stretch>
            <a:fillRect/>
          </a:stretch>
        </p:blipFill>
        <p:spPr>
          <a:xfrm>
            <a:off x="548640" y="2423160"/>
            <a:ext cx="438912" cy="438912"/>
          </a:xfrm>
          <a:prstGeom prst="rect">
            <a:avLst/>
          </a:prstGeom>
        </p:spPr>
      </p:pic>
      <p:sp>
        <p:nvSpPr>
          <p:cNvPr id="19" name="Text 16"/>
          <p:cNvSpPr txBox="1"/>
          <p:nvPr/>
        </p:nvSpPr>
        <p:spPr>
          <a:xfrm>
            <a:off x="1097280" y="2377440"/>
            <a:ext cx="5669280" cy="548640"/>
          </a:xfrm>
          <a:prstGeom prst="rect">
            <a:avLst/>
          </a:prstGeom>
          <a:noFill/>
          <a:ln/>
        </p:spPr>
        <p:txBody>
          <a:bodyPr wrap="square" lIns="0" tIns="0" rIns="0" bIns="0" rtlCol="0" anchor="ctr"/>
          <a:lstStyle/>
          <a:p>
            <a:pPr marL="0" indent="0">
              <a:buNone/>
            </a:pPr>
            <a:r>
              <a:rPr lang="en-US" sz="1900" b="1" dirty="0">
                <a:solidFill>
                  <a:srgbClr val="000000"/>
                </a:solidFill>
                <a:latin typeface="游ゴシック" pitchFamily="34" charset="0"/>
                <a:ea typeface="游ゴシック" pitchFamily="34" charset="-122"/>
                <a:cs typeface="游ゴシック" pitchFamily="34" charset="-120"/>
              </a:rPr>
              <a:t>GitHub リポジトリ（タグ submit）</a:t>
            </a:r>
            <a:endParaRPr lang="en-US" sz="1900" dirty="0"/>
          </a:p>
        </p:txBody>
      </p:sp>
      <p:sp>
        <p:nvSpPr>
          <p:cNvPr id="20" name="Shape 17"/>
          <p:cNvSpPr/>
          <p:nvPr/>
        </p:nvSpPr>
        <p:spPr>
          <a:xfrm>
            <a:off x="777240" y="3255264"/>
            <a:ext cx="274320" cy="0"/>
          </a:xfrm>
          <a:prstGeom prst="line">
            <a:avLst/>
          </a:prstGeom>
          <a:noFill/>
          <a:ln w="15875">
            <a:solidFill>
              <a:srgbClr val="A6A6A6"/>
            </a:solidFill>
            <a:prstDash val="solid"/>
          </a:ln>
        </p:spPr>
        <p:txBody>
          <a:bodyPr/>
          <a:lstStyle/>
          <a:p>
            <a:endParaRPr lang="ja-JP" altLang="en-US"/>
          </a:p>
        </p:txBody>
      </p:sp>
      <p:pic>
        <p:nvPicPr>
          <p:cNvPr id="21" name="Image 1" descr="/home/claude/v4/icons/FaCode_156082.png"/>
          <p:cNvPicPr>
            <a:picLocks noChangeAspect="1"/>
          </p:cNvPicPr>
          <p:nvPr/>
        </p:nvPicPr>
        <p:blipFill>
          <a:blip r:embed="rId4"/>
          <a:stretch>
            <a:fillRect/>
          </a:stretch>
        </p:blipFill>
        <p:spPr>
          <a:xfrm>
            <a:off x="1280160" y="3026664"/>
            <a:ext cx="438912" cy="438912"/>
          </a:xfrm>
          <a:prstGeom prst="rect">
            <a:avLst/>
          </a:prstGeom>
        </p:spPr>
      </p:pic>
      <p:sp>
        <p:nvSpPr>
          <p:cNvPr id="22" name="Text 18"/>
          <p:cNvSpPr txBox="1"/>
          <p:nvPr/>
        </p:nvSpPr>
        <p:spPr>
          <a:xfrm>
            <a:off x="1828800" y="2980944"/>
            <a:ext cx="5669280" cy="548640"/>
          </a:xfrm>
          <a:prstGeom prst="rect">
            <a:avLst/>
          </a:prstGeom>
          <a:noFill/>
          <a:ln/>
        </p:spPr>
        <p:txBody>
          <a:bodyPr wrap="square" lIns="0" tIns="0" rIns="0" bIns="0" rtlCol="0" anchor="ct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ソース（自作部分は Apache-2.0）</a:t>
            </a:r>
            <a:endParaRPr lang="en-US" sz="1700" dirty="0"/>
          </a:p>
        </p:txBody>
      </p:sp>
      <p:sp>
        <p:nvSpPr>
          <p:cNvPr id="23" name="Shape 19"/>
          <p:cNvSpPr/>
          <p:nvPr/>
        </p:nvSpPr>
        <p:spPr>
          <a:xfrm>
            <a:off x="777240" y="3858768"/>
            <a:ext cx="274320" cy="0"/>
          </a:xfrm>
          <a:prstGeom prst="line">
            <a:avLst/>
          </a:prstGeom>
          <a:noFill/>
          <a:ln w="15875">
            <a:solidFill>
              <a:srgbClr val="A6A6A6"/>
            </a:solidFill>
            <a:prstDash val="solid"/>
          </a:ln>
        </p:spPr>
        <p:txBody>
          <a:bodyPr/>
          <a:lstStyle/>
          <a:p>
            <a:endParaRPr lang="ja-JP" altLang="en-US"/>
          </a:p>
        </p:txBody>
      </p:sp>
      <p:pic>
        <p:nvPicPr>
          <p:cNvPr id="24" name="Image 2" descr="/home/claude/v4/icons/FaBook_156082.png"/>
          <p:cNvPicPr>
            <a:picLocks noChangeAspect="1"/>
          </p:cNvPicPr>
          <p:nvPr/>
        </p:nvPicPr>
        <p:blipFill>
          <a:blip r:embed="rId5"/>
          <a:stretch>
            <a:fillRect/>
          </a:stretch>
        </p:blipFill>
        <p:spPr>
          <a:xfrm>
            <a:off x="1280160" y="3630168"/>
            <a:ext cx="438912" cy="438912"/>
          </a:xfrm>
          <a:prstGeom prst="rect">
            <a:avLst/>
          </a:prstGeom>
        </p:spPr>
      </p:pic>
      <p:sp>
        <p:nvSpPr>
          <p:cNvPr id="25" name="Text 20"/>
          <p:cNvSpPr txBox="1"/>
          <p:nvPr/>
        </p:nvSpPr>
        <p:spPr>
          <a:xfrm>
            <a:off x="1828800" y="3584448"/>
            <a:ext cx="5669280" cy="548640"/>
          </a:xfrm>
          <a:prstGeom prst="rect">
            <a:avLst/>
          </a:prstGeom>
          <a:noFill/>
          <a:ln/>
        </p:spPr>
        <p:txBody>
          <a:bodyPr wrap="square" lIns="0" tIns="0" rIns="0" bIns="0" rtlCol="0" anchor="ct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docs/manual.md　手順書</a:t>
            </a:r>
            <a:endParaRPr lang="en-US" sz="1700" dirty="0"/>
          </a:p>
        </p:txBody>
      </p:sp>
      <p:sp>
        <p:nvSpPr>
          <p:cNvPr id="26" name="Shape 21"/>
          <p:cNvSpPr/>
          <p:nvPr/>
        </p:nvSpPr>
        <p:spPr>
          <a:xfrm>
            <a:off x="777240" y="4462272"/>
            <a:ext cx="274320" cy="0"/>
          </a:xfrm>
          <a:prstGeom prst="line">
            <a:avLst/>
          </a:prstGeom>
          <a:noFill/>
          <a:ln w="15875">
            <a:solidFill>
              <a:srgbClr val="A6A6A6"/>
            </a:solidFill>
            <a:prstDash val="solid"/>
          </a:ln>
        </p:spPr>
        <p:txBody>
          <a:bodyPr/>
          <a:lstStyle/>
          <a:p>
            <a:endParaRPr lang="ja-JP" altLang="en-US"/>
          </a:p>
        </p:txBody>
      </p:sp>
      <p:pic>
        <p:nvPicPr>
          <p:cNvPr id="27" name="Image 3" descr="/home/claude/v4/icons/FaFileAlt_156082.png"/>
          <p:cNvPicPr>
            <a:picLocks noChangeAspect="1"/>
          </p:cNvPicPr>
          <p:nvPr/>
        </p:nvPicPr>
        <p:blipFill>
          <a:blip r:embed="rId6"/>
          <a:stretch>
            <a:fillRect/>
          </a:stretch>
        </p:blipFill>
        <p:spPr>
          <a:xfrm>
            <a:off x="1280160" y="4233672"/>
            <a:ext cx="438912" cy="438912"/>
          </a:xfrm>
          <a:prstGeom prst="rect">
            <a:avLst/>
          </a:prstGeom>
        </p:spPr>
      </p:pic>
      <p:sp>
        <p:nvSpPr>
          <p:cNvPr id="28" name="Text 22"/>
          <p:cNvSpPr txBox="1"/>
          <p:nvPr/>
        </p:nvSpPr>
        <p:spPr>
          <a:xfrm>
            <a:off x="1828800" y="4187952"/>
            <a:ext cx="5669280" cy="548640"/>
          </a:xfrm>
          <a:prstGeom prst="rect">
            <a:avLst/>
          </a:prstGeom>
          <a:noFill/>
          <a:ln/>
        </p:spPr>
        <p:txBody>
          <a:bodyPr wrap="square" lIns="0" tIns="0" rIns="0" bIns="0" rtlCol="0" anchor="ct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docs/logs/　本資料の数字のもとのログ</a:t>
            </a:r>
            <a:endParaRPr lang="en-US" sz="1700" dirty="0"/>
          </a:p>
        </p:txBody>
      </p:sp>
      <p:sp>
        <p:nvSpPr>
          <p:cNvPr id="29" name="Shape 23"/>
          <p:cNvSpPr/>
          <p:nvPr/>
        </p:nvSpPr>
        <p:spPr>
          <a:xfrm>
            <a:off x="777240" y="5065776"/>
            <a:ext cx="274320" cy="0"/>
          </a:xfrm>
          <a:prstGeom prst="line">
            <a:avLst/>
          </a:prstGeom>
          <a:noFill/>
          <a:ln w="15875">
            <a:solidFill>
              <a:srgbClr val="A6A6A6"/>
            </a:solidFill>
            <a:prstDash val="solid"/>
          </a:ln>
        </p:spPr>
        <p:txBody>
          <a:bodyPr/>
          <a:lstStyle/>
          <a:p>
            <a:endParaRPr lang="ja-JP" altLang="en-US"/>
          </a:p>
        </p:txBody>
      </p:sp>
      <p:pic>
        <p:nvPicPr>
          <p:cNvPr id="30" name="Image 4" descr="/home/claude/v4/icons/FaTable_156082.png"/>
          <p:cNvPicPr>
            <a:picLocks noChangeAspect="1"/>
          </p:cNvPicPr>
          <p:nvPr/>
        </p:nvPicPr>
        <p:blipFill>
          <a:blip r:embed="rId7"/>
          <a:stretch>
            <a:fillRect/>
          </a:stretch>
        </p:blipFill>
        <p:spPr>
          <a:xfrm>
            <a:off x="1280160" y="4837176"/>
            <a:ext cx="438912" cy="438912"/>
          </a:xfrm>
          <a:prstGeom prst="rect">
            <a:avLst/>
          </a:prstGeom>
        </p:spPr>
      </p:pic>
      <p:sp>
        <p:nvSpPr>
          <p:cNvPr id="31" name="Text 24"/>
          <p:cNvSpPr txBox="1"/>
          <p:nvPr/>
        </p:nvSpPr>
        <p:spPr>
          <a:xfrm>
            <a:off x="1828800" y="4791456"/>
            <a:ext cx="5669280" cy="548640"/>
          </a:xfrm>
          <a:prstGeom prst="rect">
            <a:avLst/>
          </a:prstGeom>
          <a:noFill/>
          <a:ln/>
        </p:spPr>
        <p:txBody>
          <a:bodyPr wrap="square" lIns="0" tIns="0" rIns="0" bIns="0" rtlCol="0" anchor="ct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scripts/　ログ取得・集計・判定の再生</a:t>
            </a:r>
            <a:endParaRPr lang="en-US" sz="1700" dirty="0"/>
          </a:p>
        </p:txBody>
      </p:sp>
      <p:sp>
        <p:nvSpPr>
          <p:cNvPr id="32" name="Shape 25"/>
          <p:cNvSpPr/>
          <p:nvPr/>
        </p:nvSpPr>
        <p:spPr>
          <a:xfrm>
            <a:off x="777240" y="5669280"/>
            <a:ext cx="274320" cy="0"/>
          </a:xfrm>
          <a:prstGeom prst="line">
            <a:avLst/>
          </a:prstGeom>
          <a:noFill/>
          <a:ln w="15875">
            <a:solidFill>
              <a:srgbClr val="A6A6A6"/>
            </a:solidFill>
            <a:prstDash val="solid"/>
          </a:ln>
        </p:spPr>
        <p:txBody>
          <a:bodyPr/>
          <a:lstStyle/>
          <a:p>
            <a:endParaRPr lang="ja-JP" altLang="en-US"/>
          </a:p>
        </p:txBody>
      </p:sp>
      <p:pic>
        <p:nvPicPr>
          <p:cNvPr id="33" name="Image 5" descr="/home/claude/v4/icons/FaFolderOpen_156082.png"/>
          <p:cNvPicPr>
            <a:picLocks noChangeAspect="1"/>
          </p:cNvPicPr>
          <p:nvPr/>
        </p:nvPicPr>
        <p:blipFill>
          <a:blip r:embed="rId8"/>
          <a:stretch>
            <a:fillRect/>
          </a:stretch>
        </p:blipFill>
        <p:spPr>
          <a:xfrm>
            <a:off x="1280160" y="5440680"/>
            <a:ext cx="438912" cy="438912"/>
          </a:xfrm>
          <a:prstGeom prst="rect">
            <a:avLst/>
          </a:prstGeom>
        </p:spPr>
      </p:pic>
      <p:sp>
        <p:nvSpPr>
          <p:cNvPr id="34" name="Text 26"/>
          <p:cNvSpPr txBox="1"/>
          <p:nvPr/>
        </p:nvSpPr>
        <p:spPr>
          <a:xfrm>
            <a:off x="1828800" y="5394960"/>
            <a:ext cx="5669280" cy="548640"/>
          </a:xfrm>
          <a:prstGeom prst="rect">
            <a:avLst/>
          </a:prstGeom>
          <a:noFill/>
          <a:ln/>
        </p:spPr>
        <p:txBody>
          <a:bodyPr wrap="square" lIns="0" tIns="0" rIns="0" bIns="0" rtlCol="0" anchor="ct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docs/third_party.md　既存ソフトとライセンス</a:t>
            </a:r>
            <a:endParaRPr lang="en-US" sz="1700" dirty="0"/>
          </a:p>
        </p:txBody>
      </p:sp>
      <p:sp>
        <p:nvSpPr>
          <p:cNvPr id="35" name="Shape 27"/>
          <p:cNvSpPr/>
          <p:nvPr/>
        </p:nvSpPr>
        <p:spPr>
          <a:xfrm>
            <a:off x="777240" y="2880360"/>
            <a:ext cx="0" cy="2880360"/>
          </a:xfrm>
          <a:prstGeom prst="line">
            <a:avLst/>
          </a:prstGeom>
          <a:noFill/>
          <a:ln w="15875">
            <a:solidFill>
              <a:srgbClr val="A6A6A6"/>
            </a:solidFill>
            <a:prstDash val="solid"/>
          </a:ln>
        </p:spPr>
        <p:txBody>
          <a:bodyPr/>
          <a:lstStyle/>
          <a:p>
            <a:endParaRPr lang="ja-JP" altLang="en-US"/>
          </a:p>
        </p:txBody>
      </p:sp>
      <p:sp>
        <p:nvSpPr>
          <p:cNvPr id="36" name="Shape 28"/>
          <p:cNvSpPr/>
          <p:nvPr/>
        </p:nvSpPr>
        <p:spPr>
          <a:xfrm>
            <a:off x="6949440" y="2377440"/>
            <a:ext cx="4782312" cy="1051560"/>
          </a:xfrm>
          <a:prstGeom prst="rect">
            <a:avLst/>
          </a:prstGeom>
          <a:solidFill>
            <a:srgbClr val="DDEBF3"/>
          </a:solidFill>
          <a:ln w="15875">
            <a:solidFill>
              <a:srgbClr val="156082"/>
            </a:solidFill>
            <a:prstDash val="solid"/>
          </a:ln>
        </p:spPr>
        <p:txBody>
          <a:bodyPr/>
          <a:lstStyle/>
          <a:p>
            <a:endParaRPr lang="ja-JP" altLang="en-US"/>
          </a:p>
        </p:txBody>
      </p:sp>
      <p:pic>
        <p:nvPicPr>
          <p:cNvPr id="37" name="Image 6" descr="/home/claude/v4/icons/FaCheckCircle_008A5E.png"/>
          <p:cNvPicPr>
            <a:picLocks noChangeAspect="1"/>
          </p:cNvPicPr>
          <p:nvPr/>
        </p:nvPicPr>
        <p:blipFill>
          <a:blip r:embed="rId9"/>
          <a:stretch>
            <a:fillRect/>
          </a:stretch>
        </p:blipFill>
        <p:spPr>
          <a:xfrm>
            <a:off x="7086600" y="2679192"/>
            <a:ext cx="457200" cy="457200"/>
          </a:xfrm>
          <a:prstGeom prst="rect">
            <a:avLst/>
          </a:prstGeom>
        </p:spPr>
      </p:pic>
      <p:sp>
        <p:nvSpPr>
          <p:cNvPr id="38" name="Text 29"/>
          <p:cNvSpPr txBox="1"/>
          <p:nvPr/>
        </p:nvSpPr>
        <p:spPr>
          <a:xfrm>
            <a:off x="7680960" y="2377440"/>
            <a:ext cx="3931920" cy="731520"/>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手順書どおりに動かせば、起動ログで 4 段の確認が見える</a:t>
            </a:r>
            <a:endParaRPr lang="en-US" sz="1600" dirty="0"/>
          </a:p>
        </p:txBody>
      </p:sp>
      <p:sp>
        <p:nvSpPr>
          <p:cNvPr id="39" name="Text 30"/>
          <p:cNvSpPr txBox="1"/>
          <p:nvPr/>
        </p:nvSpPr>
        <p:spPr>
          <a:xfrm>
            <a:off x="7680960" y="3063240"/>
            <a:ext cx="3931920" cy="320040"/>
          </a:xfrm>
          <a:prstGeom prst="rect">
            <a:avLst/>
          </a:prstGeom>
          <a:noFill/>
          <a:ln/>
        </p:spPr>
        <p:txBody>
          <a:bodyPr wrap="square" lIns="0" tIns="0" rIns="0" bIns="0" rtlCol="0" anchor="ctr"/>
          <a:lstStyle/>
          <a:p>
            <a:pPr marL="0" indent="0">
              <a:buNone/>
            </a:pPr>
            <a:r>
              <a:rPr lang="en-US" sz="1400" b="1" dirty="0">
                <a:solidFill>
                  <a:srgbClr val="156082"/>
                </a:solidFill>
                <a:latin typeface="游ゴシック" pitchFamily="34" charset="0"/>
                <a:ea typeface="游ゴシック" pitchFamily="34" charset="-122"/>
                <a:cs typeface="游ゴシック" pitchFamily="34" charset="-120"/>
              </a:rPr>
              <a:t>→ 10-2</a:t>
            </a:r>
            <a:endParaRPr lang="en-US" sz="1400" dirty="0"/>
          </a:p>
        </p:txBody>
      </p:sp>
      <p:sp>
        <p:nvSpPr>
          <p:cNvPr id="40" name="Shape 31"/>
          <p:cNvSpPr/>
          <p:nvPr/>
        </p:nvSpPr>
        <p:spPr>
          <a:xfrm>
            <a:off x="6949440" y="3566160"/>
            <a:ext cx="4782312" cy="1051560"/>
          </a:xfrm>
          <a:prstGeom prst="rect">
            <a:avLst/>
          </a:prstGeom>
          <a:solidFill>
            <a:srgbClr val="DDEBF3"/>
          </a:solidFill>
          <a:ln w="15875">
            <a:solidFill>
              <a:srgbClr val="156082"/>
            </a:solidFill>
            <a:prstDash val="solid"/>
          </a:ln>
        </p:spPr>
        <p:txBody>
          <a:bodyPr/>
          <a:lstStyle/>
          <a:p>
            <a:endParaRPr lang="ja-JP" altLang="en-US"/>
          </a:p>
        </p:txBody>
      </p:sp>
      <p:pic>
        <p:nvPicPr>
          <p:cNvPr id="41" name="Image 7" descr="/home/claude/v4/icons/FaCheckCircle_008A5E.png"/>
          <p:cNvPicPr>
            <a:picLocks noChangeAspect="1"/>
          </p:cNvPicPr>
          <p:nvPr/>
        </p:nvPicPr>
        <p:blipFill>
          <a:blip r:embed="rId9"/>
          <a:stretch>
            <a:fillRect/>
          </a:stretch>
        </p:blipFill>
        <p:spPr>
          <a:xfrm>
            <a:off x="7086600" y="3867912"/>
            <a:ext cx="457200" cy="457200"/>
          </a:xfrm>
          <a:prstGeom prst="rect">
            <a:avLst/>
          </a:prstGeom>
        </p:spPr>
      </p:pic>
      <p:sp>
        <p:nvSpPr>
          <p:cNvPr id="42" name="Text 32"/>
          <p:cNvSpPr txBox="1"/>
          <p:nvPr/>
        </p:nvSpPr>
        <p:spPr>
          <a:xfrm>
            <a:off x="7680960" y="3566160"/>
            <a:ext cx="3931920" cy="731520"/>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本資料の数字は、同梱のログからスクリプトで作り直せる</a:t>
            </a:r>
            <a:endParaRPr lang="en-US" sz="1600" dirty="0"/>
          </a:p>
        </p:txBody>
      </p:sp>
      <p:sp>
        <p:nvSpPr>
          <p:cNvPr id="43" name="Text 33"/>
          <p:cNvSpPr txBox="1"/>
          <p:nvPr/>
        </p:nvSpPr>
        <p:spPr>
          <a:xfrm>
            <a:off x="7680960" y="4251960"/>
            <a:ext cx="3931920" cy="320040"/>
          </a:xfrm>
          <a:prstGeom prst="rect">
            <a:avLst/>
          </a:prstGeom>
          <a:noFill/>
          <a:ln/>
        </p:spPr>
        <p:txBody>
          <a:bodyPr wrap="square" lIns="0" tIns="0" rIns="0" bIns="0" rtlCol="0" anchor="ctr"/>
          <a:lstStyle/>
          <a:p>
            <a:pPr marL="0" indent="0">
              <a:buNone/>
            </a:pPr>
            <a:r>
              <a:rPr lang="en-US" sz="1400" b="1" dirty="0">
                <a:solidFill>
                  <a:srgbClr val="156082"/>
                </a:solidFill>
                <a:latin typeface="游ゴシック" pitchFamily="34" charset="0"/>
                <a:ea typeface="游ゴシック" pitchFamily="34" charset="-122"/>
                <a:cs typeface="游ゴシック" pitchFamily="34" charset="-120"/>
              </a:rPr>
              <a:t>→ 4-2</a:t>
            </a:r>
            <a:endParaRPr lang="en-US" sz="1400" dirty="0"/>
          </a:p>
        </p:txBody>
      </p:sp>
      <p:sp>
        <p:nvSpPr>
          <p:cNvPr id="44" name="Shape 34"/>
          <p:cNvSpPr/>
          <p:nvPr/>
        </p:nvSpPr>
        <p:spPr>
          <a:xfrm>
            <a:off x="6949440" y="4754880"/>
            <a:ext cx="4782312" cy="1051560"/>
          </a:xfrm>
          <a:prstGeom prst="rect">
            <a:avLst/>
          </a:prstGeom>
          <a:solidFill>
            <a:srgbClr val="DDEBF3"/>
          </a:solidFill>
          <a:ln w="15875">
            <a:solidFill>
              <a:srgbClr val="156082"/>
            </a:solidFill>
            <a:prstDash val="solid"/>
          </a:ln>
        </p:spPr>
        <p:txBody>
          <a:bodyPr/>
          <a:lstStyle/>
          <a:p>
            <a:endParaRPr lang="ja-JP" altLang="en-US"/>
          </a:p>
        </p:txBody>
      </p:sp>
      <p:pic>
        <p:nvPicPr>
          <p:cNvPr id="45" name="Image 8" descr="/home/claude/v4/icons/FaCheckCircle_008A5E.png"/>
          <p:cNvPicPr>
            <a:picLocks noChangeAspect="1"/>
          </p:cNvPicPr>
          <p:nvPr/>
        </p:nvPicPr>
        <p:blipFill>
          <a:blip r:embed="rId9"/>
          <a:stretch>
            <a:fillRect/>
          </a:stretch>
        </p:blipFill>
        <p:spPr>
          <a:xfrm>
            <a:off x="7086600" y="5056632"/>
            <a:ext cx="457200" cy="457200"/>
          </a:xfrm>
          <a:prstGeom prst="rect">
            <a:avLst/>
          </a:prstGeom>
        </p:spPr>
      </p:pic>
      <p:sp>
        <p:nvSpPr>
          <p:cNvPr id="46" name="Text 35"/>
          <p:cNvSpPr txBox="1"/>
          <p:nvPr/>
        </p:nvSpPr>
        <p:spPr>
          <a:xfrm>
            <a:off x="7680960" y="4754880"/>
            <a:ext cx="3931920" cy="731520"/>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判定の規則は PC で再生して、板を回さずに試せる</a:t>
            </a:r>
            <a:endParaRPr lang="en-US" sz="1600" dirty="0"/>
          </a:p>
        </p:txBody>
      </p:sp>
      <p:sp>
        <p:nvSpPr>
          <p:cNvPr id="47" name="Text 36"/>
          <p:cNvSpPr txBox="1"/>
          <p:nvPr/>
        </p:nvSpPr>
        <p:spPr>
          <a:xfrm>
            <a:off x="7680960" y="5440680"/>
            <a:ext cx="3931920" cy="320040"/>
          </a:xfrm>
          <a:prstGeom prst="rect">
            <a:avLst/>
          </a:prstGeom>
          <a:noFill/>
          <a:ln/>
        </p:spPr>
        <p:txBody>
          <a:bodyPr wrap="square" lIns="0" tIns="0" rIns="0" bIns="0" rtlCol="0" anchor="ctr"/>
          <a:lstStyle/>
          <a:p>
            <a:pPr marL="0" indent="0">
              <a:buNone/>
            </a:pPr>
            <a:r>
              <a:rPr lang="en-US" sz="1400" b="1" dirty="0">
                <a:solidFill>
                  <a:srgbClr val="156082"/>
                </a:solidFill>
                <a:latin typeface="游ゴシック" pitchFamily="34" charset="0"/>
                <a:ea typeface="游ゴシック" pitchFamily="34" charset="-122"/>
                <a:cs typeface="游ゴシック" pitchFamily="34" charset="-120"/>
              </a:rPr>
              <a:t>→ 6-2</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10-1　手順：取得から起動確認まで</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ctr"/>
          <a:lstStyle/>
          <a:p>
            <a:pPr marL="0" indent="0" algn="ctr">
              <a:buNone/>
            </a:pPr>
            <a:r>
              <a:rPr lang="en-US" sz="2800" b="1" dirty="0">
                <a:solidFill>
                  <a:srgbClr val="FF0000"/>
                </a:solidFill>
                <a:latin typeface="游ゴシック" pitchFamily="34" charset="0"/>
                <a:ea typeface="游ゴシック" pitchFamily="34" charset="-122"/>
                <a:cs typeface="游ゴシック" pitchFamily="34" charset="-120"/>
              </a:rPr>
              <a:t>5 つの手順で、起動確認のログまでたどり着ける</a:t>
            </a:r>
            <a:endParaRPr lang="en-US" sz="2800" dirty="0"/>
          </a:p>
        </p:txBody>
      </p:sp>
      <p:sp>
        <p:nvSpPr>
          <p:cNvPr id="5" name="Shape 3"/>
          <p:cNvSpPr/>
          <p:nvPr/>
        </p:nvSpPr>
        <p:spPr>
          <a:xfrm>
            <a:off x="457200" y="2194560"/>
            <a:ext cx="2103120" cy="2834640"/>
          </a:xfrm>
          <a:prstGeom prst="rect">
            <a:avLst/>
          </a:prstGeom>
          <a:solidFill>
            <a:srgbClr val="F2F2F2"/>
          </a:solidFill>
          <a:ln w="12700">
            <a:solidFill>
              <a:srgbClr val="BFBFBF"/>
            </a:solidFill>
            <a:prstDash val="solid"/>
          </a:ln>
        </p:spPr>
        <p:txBody>
          <a:bodyPr/>
          <a:lstStyle/>
          <a:p>
            <a:endParaRPr lang="ja-JP" altLang="en-US"/>
          </a:p>
        </p:txBody>
      </p:sp>
      <p:sp>
        <p:nvSpPr>
          <p:cNvPr id="6" name="Shape 4"/>
          <p:cNvSpPr/>
          <p:nvPr/>
        </p:nvSpPr>
        <p:spPr>
          <a:xfrm>
            <a:off x="566928" y="2304288"/>
            <a:ext cx="457200" cy="457200"/>
          </a:xfrm>
          <a:prstGeom prst="ellipse">
            <a:avLst/>
          </a:prstGeom>
          <a:solidFill>
            <a:srgbClr val="156082"/>
          </a:solidFill>
          <a:ln w="12700">
            <a:solidFill>
              <a:srgbClr val="156082"/>
            </a:solidFill>
            <a:prstDash val="solid"/>
          </a:ln>
        </p:spPr>
        <p:txBody>
          <a:bodyPr/>
          <a:lstStyle/>
          <a:p>
            <a:endParaRPr lang="ja-JP" altLang="en-US"/>
          </a:p>
        </p:txBody>
      </p:sp>
      <p:sp>
        <p:nvSpPr>
          <p:cNvPr id="7" name="Text 5"/>
          <p:cNvSpPr txBox="1"/>
          <p:nvPr/>
        </p:nvSpPr>
        <p:spPr>
          <a:xfrm>
            <a:off x="566928" y="230428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游ゴシック" pitchFamily="34" charset="0"/>
                <a:ea typeface="游ゴシック" pitchFamily="34" charset="-122"/>
                <a:cs typeface="游ゴシック" pitchFamily="34" charset="-120"/>
              </a:rPr>
              <a:t>1</a:t>
            </a:r>
            <a:endParaRPr lang="en-US" sz="1600" dirty="0"/>
          </a:p>
        </p:txBody>
      </p:sp>
      <p:pic>
        <p:nvPicPr>
          <p:cNvPr id="8" name="Image 0" descr="/home/claude/v4/icons/FaDownload_156082.png"/>
          <p:cNvPicPr>
            <a:picLocks noChangeAspect="1"/>
          </p:cNvPicPr>
          <p:nvPr/>
        </p:nvPicPr>
        <p:blipFill>
          <a:blip r:embed="rId3"/>
          <a:stretch>
            <a:fillRect/>
          </a:stretch>
        </p:blipFill>
        <p:spPr>
          <a:xfrm>
            <a:off x="1901952" y="2304288"/>
            <a:ext cx="457200" cy="457200"/>
          </a:xfrm>
          <a:prstGeom prst="rect">
            <a:avLst/>
          </a:prstGeom>
        </p:spPr>
      </p:pic>
      <p:sp>
        <p:nvSpPr>
          <p:cNvPr id="9" name="Text 6"/>
          <p:cNvSpPr txBox="1"/>
          <p:nvPr/>
        </p:nvSpPr>
        <p:spPr>
          <a:xfrm>
            <a:off x="566928" y="2834640"/>
            <a:ext cx="1883664" cy="457200"/>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取得</a:t>
            </a:r>
            <a:endParaRPr lang="en-US" sz="2000" dirty="0"/>
          </a:p>
        </p:txBody>
      </p:sp>
      <p:sp>
        <p:nvSpPr>
          <p:cNvPr id="10" name="Text 7"/>
          <p:cNvSpPr txBox="1"/>
          <p:nvPr/>
        </p:nvSpPr>
        <p:spPr>
          <a:xfrm>
            <a:off x="566928" y="3310128"/>
            <a:ext cx="1883664" cy="1645920"/>
          </a:xfrm>
          <a:prstGeom prst="rect">
            <a:avLst/>
          </a:prstGeom>
          <a:noFill/>
          <a:ln/>
        </p:spPr>
        <p:txBody>
          <a:bodyPr wrap="square" lIns="0" tIns="0" rIns="0" bIns="0" rtlCol="0" anchor="t"/>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git clone のあと、タグ submit を checkout</a:t>
            </a:r>
            <a:endParaRPr lang="en-US" sz="1600" dirty="0"/>
          </a:p>
        </p:txBody>
      </p:sp>
      <p:sp>
        <p:nvSpPr>
          <p:cNvPr id="11" name="Shape 8"/>
          <p:cNvSpPr/>
          <p:nvPr/>
        </p:nvSpPr>
        <p:spPr>
          <a:xfrm>
            <a:off x="2587752" y="3429000"/>
            <a:ext cx="128016" cy="274320"/>
          </a:xfrm>
          <a:prstGeom prst="chevron">
            <a:avLst/>
          </a:prstGeom>
          <a:solidFill>
            <a:srgbClr val="156082"/>
          </a:solidFill>
          <a:ln w="12700">
            <a:solidFill>
              <a:srgbClr val="156082"/>
            </a:solidFill>
            <a:prstDash val="solid"/>
          </a:ln>
        </p:spPr>
        <p:txBody>
          <a:bodyPr/>
          <a:lstStyle/>
          <a:p>
            <a:endParaRPr lang="ja-JP" altLang="en-US"/>
          </a:p>
        </p:txBody>
      </p:sp>
      <p:sp>
        <p:nvSpPr>
          <p:cNvPr id="12" name="Shape 9"/>
          <p:cNvSpPr/>
          <p:nvPr/>
        </p:nvSpPr>
        <p:spPr>
          <a:xfrm>
            <a:off x="2743200" y="2194560"/>
            <a:ext cx="2103120" cy="2834640"/>
          </a:xfrm>
          <a:prstGeom prst="rect">
            <a:avLst/>
          </a:prstGeom>
          <a:solidFill>
            <a:srgbClr val="F2F2F2"/>
          </a:solidFill>
          <a:ln w="12700">
            <a:solidFill>
              <a:srgbClr val="BFBFBF"/>
            </a:solidFill>
            <a:prstDash val="solid"/>
          </a:ln>
        </p:spPr>
        <p:txBody>
          <a:bodyPr/>
          <a:lstStyle/>
          <a:p>
            <a:endParaRPr lang="ja-JP" altLang="en-US"/>
          </a:p>
        </p:txBody>
      </p:sp>
      <p:sp>
        <p:nvSpPr>
          <p:cNvPr id="13" name="Shape 10"/>
          <p:cNvSpPr/>
          <p:nvPr/>
        </p:nvSpPr>
        <p:spPr>
          <a:xfrm>
            <a:off x="2852928" y="2304288"/>
            <a:ext cx="457200" cy="457200"/>
          </a:xfrm>
          <a:prstGeom prst="ellipse">
            <a:avLst/>
          </a:prstGeom>
          <a:solidFill>
            <a:srgbClr val="156082"/>
          </a:solidFill>
          <a:ln w="12700">
            <a:solidFill>
              <a:srgbClr val="156082"/>
            </a:solidFill>
            <a:prstDash val="solid"/>
          </a:ln>
        </p:spPr>
        <p:txBody>
          <a:bodyPr/>
          <a:lstStyle/>
          <a:p>
            <a:endParaRPr lang="ja-JP" altLang="en-US"/>
          </a:p>
        </p:txBody>
      </p:sp>
      <p:sp>
        <p:nvSpPr>
          <p:cNvPr id="14" name="Text 11"/>
          <p:cNvSpPr txBox="1"/>
          <p:nvPr/>
        </p:nvSpPr>
        <p:spPr>
          <a:xfrm>
            <a:off x="2852928" y="230428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游ゴシック" pitchFamily="34" charset="0"/>
                <a:ea typeface="游ゴシック" pitchFamily="34" charset="-122"/>
                <a:cs typeface="游ゴシック" pitchFamily="34" charset="-120"/>
              </a:rPr>
              <a:t>2</a:t>
            </a:r>
            <a:endParaRPr lang="en-US" sz="1600" dirty="0"/>
          </a:p>
        </p:txBody>
      </p:sp>
      <p:pic>
        <p:nvPicPr>
          <p:cNvPr id="15" name="Image 1" descr="/home/claude/v4/icons/FaHammer_156082.png"/>
          <p:cNvPicPr>
            <a:picLocks noChangeAspect="1"/>
          </p:cNvPicPr>
          <p:nvPr/>
        </p:nvPicPr>
        <p:blipFill>
          <a:blip r:embed="rId4"/>
          <a:stretch>
            <a:fillRect/>
          </a:stretch>
        </p:blipFill>
        <p:spPr>
          <a:xfrm>
            <a:off x="4187952" y="2304288"/>
            <a:ext cx="457200" cy="457200"/>
          </a:xfrm>
          <a:prstGeom prst="rect">
            <a:avLst/>
          </a:prstGeom>
        </p:spPr>
      </p:pic>
      <p:sp>
        <p:nvSpPr>
          <p:cNvPr id="16" name="Text 12"/>
          <p:cNvSpPr txBox="1"/>
          <p:nvPr/>
        </p:nvSpPr>
        <p:spPr>
          <a:xfrm>
            <a:off x="2852928" y="2834640"/>
            <a:ext cx="1883664" cy="457200"/>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ビルド</a:t>
            </a:r>
            <a:endParaRPr lang="en-US" sz="2000" dirty="0"/>
          </a:p>
        </p:txBody>
      </p:sp>
      <p:sp>
        <p:nvSpPr>
          <p:cNvPr id="17" name="Text 13"/>
          <p:cNvSpPr txBox="1"/>
          <p:nvPr/>
        </p:nvSpPr>
        <p:spPr>
          <a:xfrm>
            <a:off x="2852928" y="3310128"/>
            <a:ext cx="1883664" cy="1645920"/>
          </a:xfrm>
          <a:prstGeom prst="rect">
            <a:avLst/>
          </a:prstGeom>
          <a:noFill/>
          <a:ln/>
        </p:spPr>
        <p:txBody>
          <a:bodyPr wrap="square" lIns="0" tIns="0" rIns="0" bIns="0" rtlCol="0" anchor="t"/>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STM32CubeIDE で FSBL と Appli をビルド</a:t>
            </a:r>
            <a:endParaRPr lang="en-US" sz="1600" dirty="0"/>
          </a:p>
        </p:txBody>
      </p:sp>
      <p:sp>
        <p:nvSpPr>
          <p:cNvPr id="18" name="Shape 14"/>
          <p:cNvSpPr/>
          <p:nvPr/>
        </p:nvSpPr>
        <p:spPr>
          <a:xfrm>
            <a:off x="4873752" y="3429000"/>
            <a:ext cx="128016" cy="274320"/>
          </a:xfrm>
          <a:prstGeom prst="chevron">
            <a:avLst/>
          </a:prstGeom>
          <a:solidFill>
            <a:srgbClr val="156082"/>
          </a:solidFill>
          <a:ln w="12700">
            <a:solidFill>
              <a:srgbClr val="156082"/>
            </a:solidFill>
            <a:prstDash val="solid"/>
          </a:ln>
        </p:spPr>
        <p:txBody>
          <a:bodyPr/>
          <a:lstStyle/>
          <a:p>
            <a:endParaRPr lang="ja-JP" altLang="en-US"/>
          </a:p>
        </p:txBody>
      </p:sp>
      <p:sp>
        <p:nvSpPr>
          <p:cNvPr id="19" name="Shape 15"/>
          <p:cNvSpPr/>
          <p:nvPr/>
        </p:nvSpPr>
        <p:spPr>
          <a:xfrm>
            <a:off x="5029200" y="2194560"/>
            <a:ext cx="2103120" cy="2834640"/>
          </a:xfrm>
          <a:prstGeom prst="rect">
            <a:avLst/>
          </a:prstGeom>
          <a:solidFill>
            <a:srgbClr val="F2F2F2"/>
          </a:solidFill>
          <a:ln w="12700">
            <a:solidFill>
              <a:srgbClr val="BFBFBF"/>
            </a:solidFill>
            <a:prstDash val="solid"/>
          </a:ln>
        </p:spPr>
        <p:txBody>
          <a:bodyPr/>
          <a:lstStyle/>
          <a:p>
            <a:endParaRPr lang="ja-JP" altLang="en-US"/>
          </a:p>
        </p:txBody>
      </p:sp>
      <p:sp>
        <p:nvSpPr>
          <p:cNvPr id="20" name="Shape 16"/>
          <p:cNvSpPr/>
          <p:nvPr/>
        </p:nvSpPr>
        <p:spPr>
          <a:xfrm>
            <a:off x="5138928" y="2304288"/>
            <a:ext cx="457200" cy="457200"/>
          </a:xfrm>
          <a:prstGeom prst="ellipse">
            <a:avLst/>
          </a:prstGeom>
          <a:solidFill>
            <a:srgbClr val="156082"/>
          </a:solidFill>
          <a:ln w="12700">
            <a:solidFill>
              <a:srgbClr val="156082"/>
            </a:solidFill>
            <a:prstDash val="solid"/>
          </a:ln>
        </p:spPr>
        <p:txBody>
          <a:bodyPr/>
          <a:lstStyle/>
          <a:p>
            <a:endParaRPr lang="ja-JP" altLang="en-US"/>
          </a:p>
        </p:txBody>
      </p:sp>
      <p:sp>
        <p:nvSpPr>
          <p:cNvPr id="21" name="Text 17"/>
          <p:cNvSpPr txBox="1"/>
          <p:nvPr/>
        </p:nvSpPr>
        <p:spPr>
          <a:xfrm>
            <a:off x="5138928" y="230428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游ゴシック" pitchFamily="34" charset="0"/>
                <a:ea typeface="游ゴシック" pitchFamily="34" charset="-122"/>
                <a:cs typeface="游ゴシック" pitchFamily="34" charset="-120"/>
              </a:rPr>
              <a:t>3</a:t>
            </a:r>
            <a:endParaRPr lang="en-US" sz="1600" dirty="0"/>
          </a:p>
        </p:txBody>
      </p:sp>
      <p:pic>
        <p:nvPicPr>
          <p:cNvPr id="22" name="Image 2" descr="/home/claude/v4/icons/FaBolt_156082.png"/>
          <p:cNvPicPr>
            <a:picLocks noChangeAspect="1"/>
          </p:cNvPicPr>
          <p:nvPr/>
        </p:nvPicPr>
        <p:blipFill>
          <a:blip r:embed="rId5"/>
          <a:stretch>
            <a:fillRect/>
          </a:stretch>
        </p:blipFill>
        <p:spPr>
          <a:xfrm>
            <a:off x="6473952" y="2304288"/>
            <a:ext cx="457200" cy="457200"/>
          </a:xfrm>
          <a:prstGeom prst="rect">
            <a:avLst/>
          </a:prstGeom>
        </p:spPr>
      </p:pic>
      <p:sp>
        <p:nvSpPr>
          <p:cNvPr id="23" name="Text 18"/>
          <p:cNvSpPr txBox="1"/>
          <p:nvPr/>
        </p:nvSpPr>
        <p:spPr>
          <a:xfrm>
            <a:off x="5138928" y="2834640"/>
            <a:ext cx="1883664" cy="457200"/>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重みを書く</a:t>
            </a:r>
            <a:endParaRPr lang="en-US" sz="2000" dirty="0"/>
          </a:p>
        </p:txBody>
      </p:sp>
      <p:sp>
        <p:nvSpPr>
          <p:cNvPr id="24" name="Text 19"/>
          <p:cNvSpPr txBox="1"/>
          <p:nvPr/>
        </p:nvSpPr>
        <p:spPr>
          <a:xfrm>
            <a:off x="5138928" y="3310128"/>
            <a:ext cx="1883664" cy="1645920"/>
          </a:xfrm>
          <a:prstGeom prst="rect">
            <a:avLst/>
          </a:prstGeom>
          <a:noFill/>
          <a:ln/>
        </p:spPr>
        <p:txBody>
          <a:bodyPr wrap="square" lIns="0" tIns="0" rIns="0" bIns="0" rtlCol="0" anchor="t"/>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ESC-10 </a:t>
            </a:r>
            <a:r>
              <a:rPr lang="en-US" sz="1600" dirty="0" err="1">
                <a:solidFill>
                  <a:srgbClr val="000000"/>
                </a:solidFill>
                <a:latin typeface="游ゴシック" pitchFamily="34" charset="0"/>
                <a:ea typeface="游ゴシック" pitchFamily="34" charset="-122"/>
                <a:cs typeface="游ゴシック" pitchFamily="34" charset="-120"/>
              </a:rPr>
              <a:t>版のみ</a:t>
            </a:r>
            <a:r>
              <a:rPr lang="en-US" sz="1600" dirty="0">
                <a:solidFill>
                  <a:srgbClr val="000000"/>
                </a:solidFill>
                <a:latin typeface="游ゴシック" pitchFamily="34" charset="0"/>
                <a:ea typeface="游ゴシック" pitchFamily="34" charset="-122"/>
                <a:cs typeface="游ゴシック" pitchFamily="34" charset="-120"/>
              </a:rPr>
              <a:t> 1 回</a:t>
            </a:r>
            <a:endParaRPr lang="en-US" sz="1600" dirty="0"/>
          </a:p>
          <a:p>
            <a:pPr marL="0" indent="0">
              <a:buNone/>
            </a:pPr>
            <a:r>
              <a:rPr lang="en-US" sz="1600" dirty="0">
                <a:solidFill>
                  <a:srgbClr val="000000"/>
                </a:solidFill>
                <a:latin typeface="游ゴシック" pitchFamily="34" charset="0"/>
                <a:ea typeface="游ゴシック" pitchFamily="34" charset="-122"/>
                <a:cs typeface="游ゴシック" pitchFamily="34" charset="-120"/>
              </a:rPr>
              <a:t>ST 配布の hex を</a:t>
            </a:r>
            <a:endParaRPr lang="en-US" sz="1600" dirty="0"/>
          </a:p>
          <a:p>
            <a:pPr marL="0" indent="0">
              <a:buNone/>
            </a:pPr>
            <a:r>
              <a:rPr lang="en-US" sz="1600" dirty="0">
                <a:solidFill>
                  <a:srgbClr val="000000"/>
                </a:solidFill>
                <a:latin typeface="游ゴシック" pitchFamily="34" charset="0"/>
                <a:ea typeface="游ゴシック" pitchFamily="34" charset="-122"/>
                <a:cs typeface="游ゴシック" pitchFamily="34" charset="-120"/>
              </a:rPr>
              <a:t>外部フラッシュ 0x70180000 へ</a:t>
            </a:r>
            <a:endParaRPr lang="en-US" sz="1600" dirty="0"/>
          </a:p>
        </p:txBody>
      </p:sp>
      <p:sp>
        <p:nvSpPr>
          <p:cNvPr id="25" name="Shape 20"/>
          <p:cNvSpPr/>
          <p:nvPr/>
        </p:nvSpPr>
        <p:spPr>
          <a:xfrm>
            <a:off x="7159752" y="3429000"/>
            <a:ext cx="128016" cy="274320"/>
          </a:xfrm>
          <a:prstGeom prst="chevron">
            <a:avLst/>
          </a:prstGeom>
          <a:solidFill>
            <a:srgbClr val="156082"/>
          </a:solidFill>
          <a:ln w="12700">
            <a:solidFill>
              <a:srgbClr val="156082"/>
            </a:solidFill>
            <a:prstDash val="solid"/>
          </a:ln>
        </p:spPr>
        <p:txBody>
          <a:bodyPr/>
          <a:lstStyle/>
          <a:p>
            <a:endParaRPr lang="ja-JP" altLang="en-US"/>
          </a:p>
        </p:txBody>
      </p:sp>
      <p:sp>
        <p:nvSpPr>
          <p:cNvPr id="26" name="Shape 21"/>
          <p:cNvSpPr/>
          <p:nvPr/>
        </p:nvSpPr>
        <p:spPr>
          <a:xfrm>
            <a:off x="7315200" y="2194560"/>
            <a:ext cx="2103120" cy="2834640"/>
          </a:xfrm>
          <a:prstGeom prst="rect">
            <a:avLst/>
          </a:prstGeom>
          <a:solidFill>
            <a:srgbClr val="F2F2F2"/>
          </a:solidFill>
          <a:ln w="12700">
            <a:solidFill>
              <a:srgbClr val="BFBFBF"/>
            </a:solidFill>
            <a:prstDash val="solid"/>
          </a:ln>
        </p:spPr>
        <p:txBody>
          <a:bodyPr/>
          <a:lstStyle/>
          <a:p>
            <a:endParaRPr lang="ja-JP" altLang="en-US"/>
          </a:p>
        </p:txBody>
      </p:sp>
      <p:sp>
        <p:nvSpPr>
          <p:cNvPr id="27" name="Shape 22"/>
          <p:cNvSpPr/>
          <p:nvPr/>
        </p:nvSpPr>
        <p:spPr>
          <a:xfrm>
            <a:off x="7424928" y="2304288"/>
            <a:ext cx="457200" cy="457200"/>
          </a:xfrm>
          <a:prstGeom prst="ellipse">
            <a:avLst/>
          </a:prstGeom>
          <a:solidFill>
            <a:srgbClr val="156082"/>
          </a:solidFill>
          <a:ln w="12700">
            <a:solidFill>
              <a:srgbClr val="156082"/>
            </a:solidFill>
            <a:prstDash val="solid"/>
          </a:ln>
        </p:spPr>
        <p:txBody>
          <a:bodyPr/>
          <a:lstStyle/>
          <a:p>
            <a:endParaRPr lang="ja-JP" altLang="en-US"/>
          </a:p>
        </p:txBody>
      </p:sp>
      <p:sp>
        <p:nvSpPr>
          <p:cNvPr id="28" name="Text 23"/>
          <p:cNvSpPr txBox="1"/>
          <p:nvPr/>
        </p:nvSpPr>
        <p:spPr>
          <a:xfrm>
            <a:off x="7424928" y="230428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游ゴシック" pitchFamily="34" charset="0"/>
                <a:ea typeface="游ゴシック" pitchFamily="34" charset="-122"/>
                <a:cs typeface="游ゴシック" pitchFamily="34" charset="-120"/>
              </a:rPr>
              <a:t>4</a:t>
            </a:r>
            <a:endParaRPr lang="en-US" sz="1600" dirty="0"/>
          </a:p>
        </p:txBody>
      </p:sp>
      <p:pic>
        <p:nvPicPr>
          <p:cNvPr id="29" name="Image 3" descr="/home/claude/v4/icons/FaPlay_156082.png"/>
          <p:cNvPicPr>
            <a:picLocks noChangeAspect="1"/>
          </p:cNvPicPr>
          <p:nvPr/>
        </p:nvPicPr>
        <p:blipFill>
          <a:blip r:embed="rId6"/>
          <a:stretch>
            <a:fillRect/>
          </a:stretch>
        </p:blipFill>
        <p:spPr>
          <a:xfrm>
            <a:off x="8759952" y="2304288"/>
            <a:ext cx="457200" cy="457200"/>
          </a:xfrm>
          <a:prstGeom prst="rect">
            <a:avLst/>
          </a:prstGeom>
        </p:spPr>
      </p:pic>
      <p:sp>
        <p:nvSpPr>
          <p:cNvPr id="30" name="Text 24"/>
          <p:cNvSpPr txBox="1"/>
          <p:nvPr/>
        </p:nvSpPr>
        <p:spPr>
          <a:xfrm>
            <a:off x="7424928" y="2834640"/>
            <a:ext cx="1883664" cy="457200"/>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実行</a:t>
            </a:r>
            <a:endParaRPr lang="en-US" sz="2000" dirty="0"/>
          </a:p>
        </p:txBody>
      </p:sp>
      <p:sp>
        <p:nvSpPr>
          <p:cNvPr id="31" name="Text 25"/>
          <p:cNvSpPr txBox="1"/>
          <p:nvPr/>
        </p:nvSpPr>
        <p:spPr>
          <a:xfrm>
            <a:off x="7424928" y="3310128"/>
            <a:ext cx="1883664" cy="1645920"/>
          </a:xfrm>
          <a:prstGeom prst="rect">
            <a:avLst/>
          </a:prstGeom>
          <a:noFill/>
          <a:ln/>
        </p:spPr>
        <p:txBody>
          <a:bodyPr wrap="square" lIns="0" tIns="0" rIns="0" bIns="0" rtlCol="0" anchor="t"/>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起動構成</a:t>
            </a:r>
            <a:endParaRPr lang="en-US" sz="1600" dirty="0"/>
          </a:p>
          <a:p>
            <a:pPr marL="0" indent="0">
              <a:buNone/>
            </a:pPr>
            <a:r>
              <a:rPr lang="en-US" sz="1600" dirty="0">
                <a:solidFill>
                  <a:srgbClr val="000000"/>
                </a:solidFill>
                <a:latin typeface="游ゴシック" pitchFamily="34" charset="0"/>
                <a:ea typeface="游ゴシック" pitchFamily="34" charset="-122"/>
                <a:cs typeface="游ゴシック" pitchFamily="34" charset="-120"/>
              </a:rPr>
              <a:t>「…FSBL Debug」</a:t>
            </a:r>
            <a:endParaRPr lang="en-US" sz="1600" dirty="0"/>
          </a:p>
          <a:p>
            <a:pPr marL="0" indent="0">
              <a:buNone/>
            </a:pPr>
            <a:r>
              <a:rPr lang="en-US" sz="1600" dirty="0">
                <a:solidFill>
                  <a:srgbClr val="000000"/>
                </a:solidFill>
                <a:latin typeface="游ゴシック" pitchFamily="34" charset="0"/>
                <a:ea typeface="游ゴシック" pitchFamily="34" charset="-122"/>
                <a:cs typeface="游ゴシック" pitchFamily="34" charset="-120"/>
              </a:rPr>
              <a:t>でデバッガから実行。SW1 は 1-3 側</a:t>
            </a:r>
            <a:endParaRPr lang="en-US" sz="1600" dirty="0"/>
          </a:p>
        </p:txBody>
      </p:sp>
      <p:sp>
        <p:nvSpPr>
          <p:cNvPr id="32" name="Shape 26"/>
          <p:cNvSpPr/>
          <p:nvPr/>
        </p:nvSpPr>
        <p:spPr>
          <a:xfrm>
            <a:off x="9445752" y="3429000"/>
            <a:ext cx="128016" cy="274320"/>
          </a:xfrm>
          <a:prstGeom prst="chevron">
            <a:avLst/>
          </a:prstGeom>
          <a:solidFill>
            <a:srgbClr val="156082"/>
          </a:solidFill>
          <a:ln w="12700">
            <a:solidFill>
              <a:srgbClr val="156082"/>
            </a:solidFill>
            <a:prstDash val="solid"/>
          </a:ln>
        </p:spPr>
        <p:txBody>
          <a:bodyPr/>
          <a:lstStyle/>
          <a:p>
            <a:endParaRPr lang="ja-JP" altLang="en-US"/>
          </a:p>
        </p:txBody>
      </p:sp>
      <p:sp>
        <p:nvSpPr>
          <p:cNvPr id="33" name="Shape 27"/>
          <p:cNvSpPr/>
          <p:nvPr/>
        </p:nvSpPr>
        <p:spPr>
          <a:xfrm>
            <a:off x="9601200" y="2194560"/>
            <a:ext cx="2103120" cy="2834640"/>
          </a:xfrm>
          <a:prstGeom prst="rect">
            <a:avLst/>
          </a:prstGeom>
          <a:solidFill>
            <a:srgbClr val="F2F2F2"/>
          </a:solidFill>
          <a:ln w="12700">
            <a:solidFill>
              <a:srgbClr val="BFBFBF"/>
            </a:solidFill>
            <a:prstDash val="solid"/>
          </a:ln>
        </p:spPr>
        <p:txBody>
          <a:bodyPr/>
          <a:lstStyle/>
          <a:p>
            <a:endParaRPr lang="ja-JP" altLang="en-US"/>
          </a:p>
        </p:txBody>
      </p:sp>
      <p:sp>
        <p:nvSpPr>
          <p:cNvPr id="34" name="Shape 28"/>
          <p:cNvSpPr/>
          <p:nvPr/>
        </p:nvSpPr>
        <p:spPr>
          <a:xfrm>
            <a:off x="9710928" y="2304288"/>
            <a:ext cx="457200" cy="457200"/>
          </a:xfrm>
          <a:prstGeom prst="ellipse">
            <a:avLst/>
          </a:prstGeom>
          <a:solidFill>
            <a:srgbClr val="156082"/>
          </a:solidFill>
          <a:ln w="12700">
            <a:solidFill>
              <a:srgbClr val="156082"/>
            </a:solidFill>
            <a:prstDash val="solid"/>
          </a:ln>
        </p:spPr>
        <p:txBody>
          <a:bodyPr/>
          <a:lstStyle/>
          <a:p>
            <a:endParaRPr lang="ja-JP" altLang="en-US"/>
          </a:p>
        </p:txBody>
      </p:sp>
      <p:sp>
        <p:nvSpPr>
          <p:cNvPr id="35" name="Text 29"/>
          <p:cNvSpPr txBox="1"/>
          <p:nvPr/>
        </p:nvSpPr>
        <p:spPr>
          <a:xfrm>
            <a:off x="9710928" y="230428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游ゴシック" pitchFamily="34" charset="0"/>
                <a:ea typeface="游ゴシック" pitchFamily="34" charset="-122"/>
                <a:cs typeface="游ゴシック" pitchFamily="34" charset="-120"/>
              </a:rPr>
              <a:t>5</a:t>
            </a:r>
            <a:endParaRPr lang="en-US" sz="1600" dirty="0"/>
          </a:p>
        </p:txBody>
      </p:sp>
      <p:pic>
        <p:nvPicPr>
          <p:cNvPr id="36" name="Image 4" descr="/home/claude/v4/icons/FaSearch_156082.png"/>
          <p:cNvPicPr>
            <a:picLocks noChangeAspect="1"/>
          </p:cNvPicPr>
          <p:nvPr/>
        </p:nvPicPr>
        <p:blipFill>
          <a:blip r:embed="rId7"/>
          <a:stretch>
            <a:fillRect/>
          </a:stretch>
        </p:blipFill>
        <p:spPr>
          <a:xfrm>
            <a:off x="11045952" y="2304288"/>
            <a:ext cx="457200" cy="457200"/>
          </a:xfrm>
          <a:prstGeom prst="rect">
            <a:avLst/>
          </a:prstGeom>
        </p:spPr>
      </p:pic>
      <p:sp>
        <p:nvSpPr>
          <p:cNvPr id="37" name="Text 30"/>
          <p:cNvSpPr txBox="1"/>
          <p:nvPr/>
        </p:nvSpPr>
        <p:spPr>
          <a:xfrm>
            <a:off x="9710928" y="2834640"/>
            <a:ext cx="1883664" cy="457200"/>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確認</a:t>
            </a:r>
            <a:endParaRPr lang="en-US" sz="2000" dirty="0"/>
          </a:p>
        </p:txBody>
      </p:sp>
      <p:sp>
        <p:nvSpPr>
          <p:cNvPr id="38" name="Text 31"/>
          <p:cNvSpPr txBox="1"/>
          <p:nvPr/>
        </p:nvSpPr>
        <p:spPr>
          <a:xfrm>
            <a:off x="9710928" y="3310128"/>
            <a:ext cx="1883664" cy="1645920"/>
          </a:xfrm>
          <a:prstGeom prst="rect">
            <a:avLst/>
          </a:prstGeom>
          <a:noFill/>
          <a:ln/>
        </p:spPr>
        <p:txBody>
          <a:bodyPr wrap="square" lIns="0" tIns="0" rIns="0" bIns="0" rtlCol="0" anchor="t"/>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UART 115200 bps で READY </a:t>
            </a:r>
            <a:r>
              <a:rPr lang="en-US" sz="1600" dirty="0" err="1">
                <a:solidFill>
                  <a:srgbClr val="000000"/>
                </a:solidFill>
                <a:latin typeface="游ゴシック" pitchFamily="34" charset="0"/>
                <a:ea typeface="游ゴシック" pitchFamily="34" charset="-122"/>
                <a:cs typeface="游ゴシック" pitchFamily="34" charset="-120"/>
              </a:rPr>
              <a:t>が出るのを見る</a:t>
            </a:r>
            <a:endParaRPr lang="en-US" sz="16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1600" dirty="0">
                <a:solidFill>
                  <a:srgbClr val="000000"/>
                </a:solidFill>
                <a:latin typeface="游ゴシック" pitchFamily="34" charset="0"/>
                <a:ea typeface="游ゴシック" pitchFamily="34" charset="-122"/>
              </a:rPr>
              <a:t>（PowerShell）</a:t>
            </a:r>
            <a:endParaRPr lang="en-US" sz="1600" dirty="0"/>
          </a:p>
        </p:txBody>
      </p:sp>
      <p:sp>
        <p:nvSpPr>
          <p:cNvPr id="39" name="Text 32"/>
          <p:cNvSpPr txBox="1"/>
          <p:nvPr/>
        </p:nvSpPr>
        <p:spPr>
          <a:xfrm>
            <a:off x="457200" y="5212080"/>
            <a:ext cx="1828800" cy="365760"/>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必要なもの</a:t>
            </a:r>
            <a:endParaRPr lang="en-US" sz="1700" dirty="0"/>
          </a:p>
        </p:txBody>
      </p:sp>
      <p:sp>
        <p:nvSpPr>
          <p:cNvPr id="40" name="Shape 33"/>
          <p:cNvSpPr/>
          <p:nvPr/>
        </p:nvSpPr>
        <p:spPr>
          <a:xfrm>
            <a:off x="457200" y="5623560"/>
            <a:ext cx="2651760" cy="457200"/>
          </a:xfrm>
          <a:prstGeom prst="rect">
            <a:avLst/>
          </a:prstGeom>
          <a:solidFill>
            <a:srgbClr val="FFFFFF"/>
          </a:solidFill>
          <a:ln w="15875">
            <a:solidFill>
              <a:srgbClr val="156082"/>
            </a:solidFill>
            <a:prstDash val="solid"/>
          </a:ln>
        </p:spPr>
        <p:txBody>
          <a:bodyPr/>
          <a:lstStyle/>
          <a:p>
            <a:endParaRPr lang="ja-JP" altLang="en-US"/>
          </a:p>
        </p:txBody>
      </p:sp>
      <p:sp>
        <p:nvSpPr>
          <p:cNvPr id="41" name="Text 34"/>
          <p:cNvSpPr txBox="1"/>
          <p:nvPr/>
        </p:nvSpPr>
        <p:spPr>
          <a:xfrm>
            <a:off x="502920" y="5623560"/>
            <a:ext cx="2560320" cy="457200"/>
          </a:xfrm>
          <a:prstGeom prst="rect">
            <a:avLst/>
          </a:prstGeom>
          <a:noFill/>
          <a:ln/>
        </p:spPr>
        <p:txBody>
          <a:bodyPr wrap="square" lIns="0" tIns="0" rIns="0" bIns="0" rtlCol="0" anchor="ctr"/>
          <a:lstStyle/>
          <a:p>
            <a:pPr marL="0" indent="0" algn="ctr">
              <a:buNone/>
            </a:pPr>
            <a:r>
              <a:rPr lang="en-US" sz="1300" b="1" dirty="0">
                <a:solidFill>
                  <a:srgbClr val="156082"/>
                </a:solidFill>
                <a:latin typeface="游ゴシック" pitchFamily="34" charset="0"/>
                <a:ea typeface="游ゴシック" pitchFamily="34" charset="-122"/>
                <a:cs typeface="游ゴシック" pitchFamily="34" charset="-120"/>
              </a:rPr>
              <a:t>STM32N6570-DK と </a:t>
            </a:r>
          </a:p>
          <a:p>
            <a:pPr marL="0" indent="0" algn="ctr">
              <a:buNone/>
            </a:pPr>
            <a:r>
              <a:rPr lang="en-US" sz="1300" b="1" dirty="0">
                <a:solidFill>
                  <a:srgbClr val="156082"/>
                </a:solidFill>
                <a:latin typeface="游ゴシック" pitchFamily="34" charset="0"/>
                <a:ea typeface="游ゴシック" pitchFamily="34" charset="-122"/>
                <a:cs typeface="游ゴシック" pitchFamily="34" charset="-120"/>
              </a:rPr>
              <a:t>USB Type-C</a:t>
            </a:r>
            <a:r>
              <a:rPr lang="en-US" sz="1300" b="1" dirty="0" err="1">
                <a:solidFill>
                  <a:srgbClr val="156082"/>
                </a:solidFill>
                <a:latin typeface="游ゴシック" pitchFamily="34" charset="0"/>
                <a:ea typeface="游ゴシック" pitchFamily="34" charset="-122"/>
                <a:cs typeface="游ゴシック" pitchFamily="34" charset="-120"/>
              </a:rPr>
              <a:t> ケーブル</a:t>
            </a:r>
            <a:endParaRPr lang="en-US" sz="1300" dirty="0"/>
          </a:p>
        </p:txBody>
      </p:sp>
      <p:sp>
        <p:nvSpPr>
          <p:cNvPr id="42" name="Shape 35"/>
          <p:cNvSpPr/>
          <p:nvPr/>
        </p:nvSpPr>
        <p:spPr>
          <a:xfrm>
            <a:off x="3200400" y="5623560"/>
            <a:ext cx="1828800" cy="457200"/>
          </a:xfrm>
          <a:prstGeom prst="rect">
            <a:avLst/>
          </a:prstGeom>
          <a:solidFill>
            <a:srgbClr val="FFFFFF"/>
          </a:solidFill>
          <a:ln w="15875">
            <a:solidFill>
              <a:srgbClr val="156082"/>
            </a:solidFill>
            <a:prstDash val="solid"/>
          </a:ln>
        </p:spPr>
        <p:txBody>
          <a:bodyPr/>
          <a:lstStyle/>
          <a:p>
            <a:endParaRPr lang="ja-JP" altLang="en-US"/>
          </a:p>
        </p:txBody>
      </p:sp>
      <p:sp>
        <p:nvSpPr>
          <p:cNvPr id="43" name="Text 36"/>
          <p:cNvSpPr txBox="1"/>
          <p:nvPr/>
        </p:nvSpPr>
        <p:spPr>
          <a:xfrm>
            <a:off x="3246120" y="5623560"/>
            <a:ext cx="1737360" cy="457200"/>
          </a:xfrm>
          <a:prstGeom prst="rect">
            <a:avLst/>
          </a:prstGeom>
          <a:noFill/>
          <a:ln/>
        </p:spPr>
        <p:txBody>
          <a:bodyPr wrap="square" lIns="0" tIns="0" rIns="0" bIns="0" rtlCol="0" anchor="ctr"/>
          <a:lstStyle/>
          <a:p>
            <a:pPr marL="0" indent="0" algn="ctr">
              <a:buNone/>
            </a:pPr>
            <a:r>
              <a:rPr lang="en-US" sz="1300" b="1" dirty="0">
                <a:solidFill>
                  <a:srgbClr val="156082"/>
                </a:solidFill>
                <a:latin typeface="游ゴシック" pitchFamily="34" charset="0"/>
                <a:ea typeface="游ゴシック" pitchFamily="34" charset="-122"/>
                <a:cs typeface="游ゴシック" pitchFamily="34" charset="-120"/>
              </a:rPr>
              <a:t>STM32CubeIDE 2.2.0</a:t>
            </a:r>
            <a:endParaRPr lang="en-US" sz="1300" dirty="0"/>
          </a:p>
        </p:txBody>
      </p:sp>
      <p:sp>
        <p:nvSpPr>
          <p:cNvPr id="44" name="Shape 37"/>
          <p:cNvSpPr/>
          <p:nvPr/>
        </p:nvSpPr>
        <p:spPr>
          <a:xfrm>
            <a:off x="5120640" y="5623560"/>
            <a:ext cx="1463040" cy="457200"/>
          </a:xfrm>
          <a:prstGeom prst="rect">
            <a:avLst/>
          </a:prstGeom>
          <a:solidFill>
            <a:srgbClr val="FFFFFF"/>
          </a:solidFill>
          <a:ln w="15875">
            <a:solidFill>
              <a:srgbClr val="156082"/>
            </a:solidFill>
            <a:prstDash val="solid"/>
          </a:ln>
        </p:spPr>
        <p:txBody>
          <a:bodyPr/>
          <a:lstStyle/>
          <a:p>
            <a:endParaRPr lang="ja-JP" altLang="en-US"/>
          </a:p>
        </p:txBody>
      </p:sp>
      <p:sp>
        <p:nvSpPr>
          <p:cNvPr id="45" name="Text 38"/>
          <p:cNvSpPr txBox="1"/>
          <p:nvPr/>
        </p:nvSpPr>
        <p:spPr>
          <a:xfrm>
            <a:off x="5166360" y="5623560"/>
            <a:ext cx="1371600" cy="457200"/>
          </a:xfrm>
          <a:prstGeom prst="rect">
            <a:avLst/>
          </a:prstGeom>
          <a:noFill/>
          <a:ln/>
        </p:spPr>
        <p:txBody>
          <a:bodyPr wrap="square" lIns="0" tIns="0" rIns="0" bIns="0" rtlCol="0" anchor="ctr"/>
          <a:lstStyle/>
          <a:p>
            <a:pPr marL="0" indent="0" algn="ctr">
              <a:buNone/>
            </a:pPr>
            <a:r>
              <a:rPr lang="en-US" sz="1300" b="1" dirty="0">
                <a:solidFill>
                  <a:srgbClr val="156082"/>
                </a:solidFill>
                <a:latin typeface="游ゴシック" pitchFamily="34" charset="0"/>
                <a:ea typeface="游ゴシック" pitchFamily="34" charset="-122"/>
                <a:cs typeface="游ゴシック" pitchFamily="34" charset="-120"/>
              </a:rPr>
              <a:t>Python 3（uv）</a:t>
            </a:r>
            <a:endParaRPr lang="en-US" sz="1300" dirty="0"/>
          </a:p>
        </p:txBody>
      </p:sp>
      <p:sp>
        <p:nvSpPr>
          <p:cNvPr id="46" name="Shape 39"/>
          <p:cNvSpPr/>
          <p:nvPr/>
        </p:nvSpPr>
        <p:spPr>
          <a:xfrm>
            <a:off x="6675120" y="5623560"/>
            <a:ext cx="2926080" cy="457200"/>
          </a:xfrm>
          <a:prstGeom prst="rect">
            <a:avLst/>
          </a:prstGeom>
          <a:solidFill>
            <a:srgbClr val="FFFFFF"/>
          </a:solidFill>
          <a:ln w="15875">
            <a:solidFill>
              <a:srgbClr val="156082"/>
            </a:solidFill>
            <a:prstDash val="solid"/>
          </a:ln>
        </p:spPr>
        <p:txBody>
          <a:bodyPr/>
          <a:lstStyle/>
          <a:p>
            <a:endParaRPr lang="ja-JP" altLang="en-US"/>
          </a:p>
        </p:txBody>
      </p:sp>
      <p:sp>
        <p:nvSpPr>
          <p:cNvPr id="47" name="Text 40"/>
          <p:cNvSpPr txBox="1"/>
          <p:nvPr/>
        </p:nvSpPr>
        <p:spPr>
          <a:xfrm>
            <a:off x="6720840" y="5623560"/>
            <a:ext cx="2834640" cy="457200"/>
          </a:xfrm>
          <a:prstGeom prst="rect">
            <a:avLst/>
          </a:prstGeom>
          <a:noFill/>
          <a:ln/>
        </p:spPr>
        <p:txBody>
          <a:bodyPr wrap="square" lIns="0" tIns="0" rIns="0" bIns="0" rtlCol="0" anchor="ctr"/>
          <a:lstStyle/>
          <a:p>
            <a:pPr marL="0" indent="0" algn="ctr">
              <a:buNone/>
            </a:pPr>
            <a:r>
              <a:rPr lang="en-US" sz="1300" b="1" dirty="0">
                <a:solidFill>
                  <a:srgbClr val="156082"/>
                </a:solidFill>
                <a:latin typeface="游ゴシック" pitchFamily="34" charset="0"/>
                <a:ea typeface="游ゴシック" pitchFamily="34" charset="-122"/>
                <a:cs typeface="游ゴシック" pitchFamily="34" charset="-120"/>
              </a:rPr>
              <a:t>重みの hex：STM32N6-GettingStarted-Audio v2.3.0</a:t>
            </a:r>
            <a:endParaRPr lang="en-US" sz="1300" dirty="0"/>
          </a:p>
        </p:txBody>
      </p:sp>
      <p:sp>
        <p:nvSpPr>
          <p:cNvPr id="48" name="Shape 41"/>
          <p:cNvSpPr/>
          <p:nvPr/>
        </p:nvSpPr>
        <p:spPr>
          <a:xfrm>
            <a:off x="9692640" y="5623560"/>
            <a:ext cx="1947672" cy="457200"/>
          </a:xfrm>
          <a:prstGeom prst="rect">
            <a:avLst/>
          </a:prstGeom>
          <a:solidFill>
            <a:srgbClr val="FFFFFF"/>
          </a:solidFill>
          <a:ln w="15875">
            <a:solidFill>
              <a:srgbClr val="156082"/>
            </a:solidFill>
            <a:prstDash val="solid"/>
          </a:ln>
        </p:spPr>
        <p:txBody>
          <a:bodyPr/>
          <a:lstStyle/>
          <a:p>
            <a:endParaRPr lang="ja-JP" altLang="en-US"/>
          </a:p>
        </p:txBody>
      </p:sp>
      <p:sp>
        <p:nvSpPr>
          <p:cNvPr id="49" name="Text 42"/>
          <p:cNvSpPr txBox="1"/>
          <p:nvPr/>
        </p:nvSpPr>
        <p:spPr>
          <a:xfrm>
            <a:off x="9738360" y="5623560"/>
            <a:ext cx="1856232" cy="457200"/>
          </a:xfrm>
          <a:prstGeom prst="rect">
            <a:avLst/>
          </a:prstGeom>
          <a:noFill/>
          <a:ln/>
        </p:spPr>
        <p:txBody>
          <a:bodyPr wrap="square" lIns="0" tIns="0" rIns="0" bIns="0" rtlCol="0" anchor="ctr"/>
          <a:lstStyle/>
          <a:p>
            <a:pPr marL="0" indent="0" algn="ctr">
              <a:buNone/>
            </a:pPr>
            <a:r>
              <a:rPr lang="en-US" sz="1300" b="1" dirty="0">
                <a:solidFill>
                  <a:srgbClr val="156082"/>
                </a:solidFill>
                <a:latin typeface="游ゴシック" pitchFamily="34" charset="0"/>
                <a:ea typeface="游ゴシック" pitchFamily="34" charset="-122"/>
                <a:cs typeface="游ゴシック" pitchFamily="34" charset="-120"/>
              </a:rPr>
              <a:t>自己テストと通し試験に ESC-50</a:t>
            </a:r>
            <a:endParaRPr lang="en-US" sz="1300" dirty="0"/>
          </a:p>
        </p:txBody>
      </p:sp>
      <p:sp>
        <p:nvSpPr>
          <p:cNvPr id="50" name="Text 43"/>
          <p:cNvSpPr txBox="1"/>
          <p:nvPr/>
        </p:nvSpPr>
        <p:spPr>
          <a:xfrm>
            <a:off x="457200" y="6144768"/>
            <a:ext cx="11274552" cy="365760"/>
          </a:xfrm>
          <a:prstGeom prst="rect">
            <a:avLst/>
          </a:prstGeom>
          <a:noFill/>
          <a:ln/>
        </p:spPr>
        <p:txBody>
          <a:bodyPr wrap="square" lIns="0" tIns="0" rIns="0" bIns="0" rtlCol="0" anchor="ctr"/>
          <a:lstStyle/>
          <a:p>
            <a:pPr marL="0" indent="0">
              <a:buNone/>
            </a:pPr>
            <a:r>
              <a:rPr lang="en-US" sz="1400" dirty="0">
                <a:solidFill>
                  <a:srgbClr val="595959"/>
                </a:solidFill>
                <a:latin typeface="游ゴシック" pitchFamily="34" charset="0"/>
                <a:ea typeface="游ゴシック" pitchFamily="34" charset="-122"/>
                <a:cs typeface="游ゴシック" pitchFamily="34" charset="-120"/>
              </a:rPr>
              <a:t>詳しい手順と詰まりやすい点は docs/manual.md。モデルを作り直すときだけ ST Edge AI Core 4.0.1 を使う</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10-2　起動ログの読み方</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ctr"/>
          <a:lstStyle/>
          <a:p>
            <a:pPr marL="0" indent="0" algn="ctr">
              <a:buNone/>
            </a:pPr>
            <a:r>
              <a:rPr lang="en-US" sz="2800" b="1" dirty="0">
                <a:solidFill>
                  <a:srgbClr val="FF0000"/>
                </a:solidFill>
                <a:latin typeface="游ゴシック" pitchFamily="34" charset="0"/>
                <a:ea typeface="游ゴシック" pitchFamily="34" charset="-122"/>
                <a:cs typeface="游ゴシック" pitchFamily="34" charset="-120"/>
              </a:rPr>
              <a:t>READY の前に、4 段の確認の結果がすべて出る</a:t>
            </a:r>
            <a:endParaRPr lang="en-US" sz="2800" dirty="0"/>
          </a:p>
        </p:txBody>
      </p:sp>
      <p:sp>
        <p:nvSpPr>
          <p:cNvPr id="5" name="Shape 3"/>
          <p:cNvSpPr/>
          <p:nvPr/>
        </p:nvSpPr>
        <p:spPr>
          <a:xfrm>
            <a:off x="457200" y="2148840"/>
            <a:ext cx="8001000" cy="292608"/>
          </a:xfrm>
          <a:prstGeom prst="rect">
            <a:avLst/>
          </a:prstGeom>
          <a:solidFill>
            <a:srgbClr val="3C3C3C"/>
          </a:solidFill>
          <a:ln w="12700">
            <a:solidFill>
              <a:srgbClr val="3C3C3C"/>
            </a:solidFill>
            <a:prstDash val="solid"/>
          </a:ln>
        </p:spPr>
        <p:txBody>
          <a:bodyPr/>
          <a:lstStyle/>
          <a:p>
            <a:endParaRPr lang="ja-JP" altLang="en-US"/>
          </a:p>
        </p:txBody>
      </p:sp>
      <p:sp>
        <p:nvSpPr>
          <p:cNvPr id="9" name="Text 7"/>
          <p:cNvSpPr txBox="1"/>
          <p:nvPr/>
        </p:nvSpPr>
        <p:spPr>
          <a:xfrm>
            <a:off x="548640" y="2148840"/>
            <a:ext cx="7269480" cy="292608"/>
          </a:xfrm>
          <a:prstGeom prst="rect">
            <a:avLst/>
          </a:prstGeom>
          <a:noFill/>
          <a:ln/>
        </p:spPr>
        <p:txBody>
          <a:bodyPr wrap="square" lIns="0" tIns="0" rIns="0" bIns="0" rtlCol="0" anchor="ctr"/>
          <a:lstStyle/>
          <a:p>
            <a:pPr marL="0" indent="0">
              <a:buNone/>
            </a:pPr>
            <a:r>
              <a:rPr lang="en-US" sz="1100" dirty="0">
                <a:solidFill>
                  <a:srgbClr val="E0E0E0"/>
                </a:solidFill>
                <a:latin typeface="游ゴシック" pitchFamily="34" charset="0"/>
                <a:ea typeface="游ゴシック" pitchFamily="34" charset="-122"/>
                <a:cs typeface="游ゴシック" pitchFamily="34" charset="-120"/>
              </a:rPr>
              <a:t>PowerShell — scripts\log.ps1 -Port COM3 -Timestamp（時刻と途中の行を省略）</a:t>
            </a:r>
            <a:endParaRPr lang="en-US" sz="1100" dirty="0"/>
          </a:p>
        </p:txBody>
      </p:sp>
      <p:sp>
        <p:nvSpPr>
          <p:cNvPr id="10" name="Shape 8"/>
          <p:cNvSpPr/>
          <p:nvPr/>
        </p:nvSpPr>
        <p:spPr>
          <a:xfrm>
            <a:off x="457200" y="2441448"/>
            <a:ext cx="8001000" cy="4050792"/>
          </a:xfrm>
          <a:prstGeom prst="rect">
            <a:avLst/>
          </a:prstGeom>
          <a:solidFill>
            <a:srgbClr val="1E1E1E"/>
          </a:solidFill>
          <a:ln w="12700">
            <a:solidFill>
              <a:srgbClr val="1E1E1E"/>
            </a:solidFill>
            <a:prstDash val="solid"/>
          </a:ln>
        </p:spPr>
        <p:txBody>
          <a:bodyPr/>
          <a:lstStyle/>
          <a:p>
            <a:endParaRPr lang="ja-JP" altLang="en-US"/>
          </a:p>
        </p:txBody>
      </p:sp>
      <p:sp>
        <p:nvSpPr>
          <p:cNvPr id="11" name="Text 9"/>
          <p:cNvSpPr txBox="1"/>
          <p:nvPr/>
        </p:nvSpPr>
        <p:spPr>
          <a:xfrm>
            <a:off x="868680" y="2560320"/>
            <a:ext cx="7498080" cy="3840480"/>
          </a:xfrm>
          <a:prstGeom prst="rect">
            <a:avLst/>
          </a:prstGeom>
          <a:noFill/>
          <a:ln/>
        </p:spPr>
        <p:txBody>
          <a:bodyPr wrap="square" lIns="0" tIns="0" rIns="0" bIns="0" rtlCol="0" anchor="t"/>
          <a:lstStyle/>
          <a:p>
            <a:pPr marL="0" indent="0">
              <a:lnSpc>
                <a:spcPts val="1750"/>
              </a:lnSpc>
              <a:buNone/>
            </a:pPr>
            <a:r>
              <a:rPr lang="en-US" sz="1050" dirty="0">
                <a:solidFill>
                  <a:srgbClr val="9CDCFE"/>
                </a:solidFill>
                <a:latin typeface="Consolas" pitchFamily="34" charset="0"/>
                <a:ea typeface="Consolas" pitchFamily="34" charset="-122"/>
                <a:cs typeface="Consolas" pitchFamily="34" charset="-120"/>
              </a:rPr>
              <a:t>CONFIG: A production (INFER_PRIO_INVERT=0 INFER_SLOW_X=1 task_infer pri 15 model=esc10)</a:t>
            </a:r>
            <a:endParaRPr lang="en-US" sz="1050" dirty="0"/>
          </a:p>
          <a:p>
            <a:pPr marL="0" indent="0">
              <a:lnSpc>
                <a:spcPts val="1750"/>
              </a:lnSpc>
              <a:buNone/>
            </a:pPr>
            <a:r>
              <a:rPr lang="en-US" sz="1050" dirty="0">
                <a:solidFill>
                  <a:srgbClr val="D4D4D4"/>
                </a:solidFill>
                <a:latin typeface="Consolas" pitchFamily="34" charset="0"/>
                <a:ea typeface="Consolas" pitchFamily="34" charset="-122"/>
                <a:cs typeface="Consolas" pitchFamily="34" charset="-120"/>
              </a:rPr>
              <a:t>extflash init (MX66UW1G45G, XSPI2, DTR-OPI) ...</a:t>
            </a:r>
            <a:endParaRPr lang="en-US" sz="1050" dirty="0"/>
          </a:p>
          <a:p>
            <a:pPr marL="0" indent="0">
              <a:lnSpc>
                <a:spcPts val="1750"/>
              </a:lnSpc>
              <a:buNone/>
            </a:pPr>
            <a:r>
              <a:rPr lang="en-US" sz="1050" dirty="0">
                <a:solidFill>
                  <a:srgbClr val="D4D4D4"/>
                </a:solidFill>
                <a:latin typeface="Consolas" pitchFamily="34" charset="0"/>
                <a:ea typeface="Consolas" pitchFamily="34" charset="-122"/>
                <a:cs typeface="Consolas" pitchFamily="34" charset="-120"/>
              </a:rPr>
              <a:t>  JEDEC ID: c2 81 3b</a:t>
            </a:r>
            <a:endParaRPr lang="en-US" sz="1050" dirty="0"/>
          </a:p>
          <a:p>
            <a:pPr marL="0" indent="0">
              <a:lnSpc>
                <a:spcPts val="1750"/>
              </a:lnSpc>
              <a:buNone/>
            </a:pPr>
            <a:r>
              <a:rPr lang="en-US" sz="1050" dirty="0">
                <a:solidFill>
                  <a:srgbClr val="D4D4D4"/>
                </a:solidFill>
                <a:latin typeface="Consolas" pitchFamily="34" charset="0"/>
                <a:ea typeface="Consolas" pitchFamily="34" charset="-122"/>
                <a:cs typeface="Consolas" pitchFamily="34" charset="-120"/>
              </a:rPr>
              <a:t>  [ OK ] Memory-mapped mode</a:t>
            </a:r>
            <a:endParaRPr lang="en-US" sz="1050" dirty="0"/>
          </a:p>
          <a:p>
            <a:pPr marL="0" indent="0">
              <a:lnSpc>
                <a:spcPts val="1750"/>
              </a:lnSpc>
              <a:buNone/>
            </a:pPr>
            <a:r>
              <a:rPr lang="en-US" sz="1050" dirty="0">
                <a:solidFill>
                  <a:srgbClr val="B5CEA8"/>
                </a:solidFill>
                <a:latin typeface="Consolas" pitchFamily="34" charset="0"/>
                <a:ea typeface="Consolas" pitchFamily="34" charset="-122"/>
                <a:cs typeface="Consolas" pitchFamily="34" charset="-120"/>
              </a:rPr>
              <a:t>[probe] FNV-1a 0x568e47bd (expect 0x568e47bd) MATCH</a:t>
            </a:r>
            <a:endParaRPr lang="en-US" sz="1050" dirty="0"/>
          </a:p>
          <a:p>
            <a:pPr marL="0" indent="0">
              <a:lnSpc>
                <a:spcPts val="1750"/>
              </a:lnSpc>
              <a:buNone/>
            </a:pPr>
            <a:r>
              <a:rPr lang="en-US" sz="1050" dirty="0">
                <a:solidFill>
                  <a:srgbClr val="D4D4D4"/>
                </a:solidFill>
                <a:latin typeface="Consolas" pitchFamily="34" charset="0"/>
                <a:ea typeface="Consolas" pitchFamily="34" charset="-122"/>
                <a:cs typeface="Consolas" pitchFamily="34" charset="-120"/>
              </a:rPr>
              <a:t>npu hw init (AXISRAM3-6, NPU, CACHEAXI, RIF)</a:t>
            </a:r>
            <a:endParaRPr lang="en-US" sz="1050" dirty="0"/>
          </a:p>
          <a:p>
            <a:pPr marL="0" indent="0">
              <a:lnSpc>
                <a:spcPts val="1750"/>
              </a:lnSpc>
              <a:buNone/>
            </a:pPr>
            <a:r>
              <a:rPr lang="en-US" sz="1050" dirty="0">
                <a:solidFill>
                  <a:srgbClr val="B5CEA8"/>
                </a:solidFill>
                <a:latin typeface="Consolas" pitchFamily="34" charset="0"/>
                <a:ea typeface="Consolas" pitchFamily="34" charset="-122"/>
                <a:cs typeface="Consolas" pitchFamily="34" charset="-120"/>
              </a:rPr>
              <a:t>  [ram] AXISRAM6 @ 0x34350000: MATCH (0 mismatches in 64 words x 2 patterns)</a:t>
            </a:r>
            <a:endParaRPr lang="en-US" sz="1050" dirty="0"/>
          </a:p>
          <a:p>
            <a:pPr marL="0" indent="0">
              <a:lnSpc>
                <a:spcPts val="1750"/>
              </a:lnSpc>
              <a:buNone/>
            </a:pPr>
            <a:r>
              <a:rPr lang="en-US" sz="1050" dirty="0">
                <a:solidFill>
                  <a:srgbClr val="B5CEA8"/>
                </a:solidFill>
                <a:latin typeface="Consolas" pitchFamily="34" charset="0"/>
                <a:ea typeface="Consolas" pitchFamily="34" charset="-122"/>
                <a:cs typeface="Consolas" pitchFamily="34" charset="-120"/>
              </a:rPr>
              <a:t>  [npu] no fault. VERSION=0x01b4121f ... expect 0x01b4121f -&gt; MATCH</a:t>
            </a:r>
            <a:endParaRPr lang="en-US" sz="1050" dirty="0"/>
          </a:p>
          <a:p>
            <a:pPr marL="0" indent="0">
              <a:lnSpc>
                <a:spcPts val="1750"/>
              </a:lnSpc>
              <a:buNone/>
            </a:pPr>
            <a:r>
              <a:rPr lang="en-US" sz="1050" dirty="0">
                <a:solidFill>
                  <a:srgbClr val="D4D4D4"/>
                </a:solidFill>
                <a:latin typeface="Consolas" pitchFamily="34" charset="0"/>
                <a:ea typeface="Consolas" pitchFamily="34" charset="-122"/>
                <a:cs typeface="Consolas" pitchFamily="34" charset="-120"/>
              </a:rPr>
              <a:t>notify: 3 target classes (dog crying_baby sneezing), threshold p&gt;0.70, peak gate -30 dBFS</a:t>
            </a:r>
            <a:endParaRPr lang="en-US" sz="1050" dirty="0"/>
          </a:p>
          <a:p>
            <a:pPr marL="0" indent="0">
              <a:lnSpc>
                <a:spcPts val="1750"/>
              </a:lnSpc>
              <a:buNone/>
            </a:pPr>
            <a:r>
              <a:rPr lang="en-US" sz="1050" dirty="0">
                <a:solidFill>
                  <a:srgbClr val="D4D4D4"/>
                </a:solidFill>
                <a:latin typeface="Consolas" pitchFamily="34" charset="0"/>
                <a:ea typeface="Consolas" pitchFamily="34" charset="-122"/>
                <a:cs typeface="Consolas" pitchFamily="34" charset="-120"/>
              </a:rPr>
              <a:t>notify: rel gate rms &gt;= floor + 10 dB, floor = p10 of the last 60 windows' rms</a:t>
            </a:r>
            <a:endParaRPr lang="en-US" sz="1050" dirty="0"/>
          </a:p>
          <a:p>
            <a:pPr marL="0" indent="0">
              <a:lnSpc>
                <a:spcPts val="1750"/>
              </a:lnSpc>
              <a:buNone/>
            </a:pPr>
            <a:r>
              <a:rPr lang="en-US" sz="1050" dirty="0">
                <a:solidFill>
                  <a:srgbClr val="D4D4D4"/>
                </a:solidFill>
                <a:latin typeface="Consolas" pitchFamily="34" charset="0"/>
                <a:ea typeface="Consolas" pitchFamily="34" charset="-122"/>
                <a:cs typeface="Consolas" pitchFamily="34" charset="-120"/>
              </a:rPr>
              <a:t>npu repeat x10 (same input):</a:t>
            </a:r>
            <a:endParaRPr lang="en-US" sz="1050" dirty="0"/>
          </a:p>
          <a:p>
            <a:pPr marL="0" indent="0">
              <a:lnSpc>
                <a:spcPts val="1750"/>
              </a:lnSpc>
              <a:buNone/>
            </a:pPr>
            <a:r>
              <a:rPr lang="en-US" sz="1050" dirty="0">
                <a:solidFill>
                  <a:srgbClr val="B5CEA8"/>
                </a:solidFill>
                <a:latin typeface="Consolas" pitchFamily="34" charset="0"/>
                <a:ea typeface="Consolas" pitchFamily="34" charset="-122"/>
                <a:cs typeface="Consolas" pitchFamily="34" charset="-120"/>
              </a:rPr>
              <a:t>  [10]  40696 us, max diff vs first = 0 x1e-4 (bit-identical)</a:t>
            </a:r>
            <a:endParaRPr lang="en-US" sz="1050" dirty="0"/>
          </a:p>
          <a:p>
            <a:pPr marL="0" indent="0">
              <a:lnSpc>
                <a:spcPts val="1750"/>
              </a:lnSpc>
              <a:buNone/>
            </a:pPr>
            <a:r>
              <a:rPr lang="en-US" sz="1050" dirty="0">
                <a:solidFill>
                  <a:srgbClr val="D4D4D4"/>
                </a:solidFill>
                <a:latin typeface="Consolas" pitchFamily="34" charset="0"/>
                <a:ea typeface="Consolas" pitchFamily="34" charset="-122"/>
                <a:cs typeface="Consolas" pitchFamily="34" charset="-120"/>
              </a:rPr>
              <a:t>  inference time: min=40675 mean=40696 max=40709 us (10 of 10 runs OK)</a:t>
            </a:r>
            <a:endParaRPr lang="en-US" sz="1050" dirty="0"/>
          </a:p>
          <a:p>
            <a:pPr marL="0" indent="0">
              <a:lnSpc>
                <a:spcPts val="1750"/>
              </a:lnSpc>
              <a:buNone/>
            </a:pPr>
            <a:r>
              <a:rPr lang="en-US" sz="1050" dirty="0">
                <a:solidFill>
                  <a:srgbClr val="D4D4D4"/>
                </a:solidFill>
                <a:latin typeface="Consolas" pitchFamily="34" charset="0"/>
                <a:ea typeface="Consolas" pitchFamily="34" charset="-122"/>
                <a:cs typeface="Consolas" pitchFamily="34" charset="-120"/>
              </a:rPr>
              <a:t>  totals: same 12288 diff 0 of 12288, max |d| 0, |d|&gt;1: 0</a:t>
            </a:r>
            <a:endParaRPr lang="en-US" sz="1050" dirty="0"/>
          </a:p>
          <a:p>
            <a:pPr marL="0" indent="0">
              <a:lnSpc>
                <a:spcPts val="1750"/>
              </a:lnSpc>
              <a:buNone/>
            </a:pPr>
            <a:r>
              <a:rPr lang="en-US" sz="1050" b="1" dirty="0">
                <a:solidFill>
                  <a:srgbClr val="B5CEA8"/>
                </a:solidFill>
                <a:latin typeface="Consolas" pitchFamily="34" charset="0"/>
                <a:ea typeface="Consolas" pitchFamily="34" charset="-122"/>
                <a:cs typeface="Consolas" pitchFamily="34" charset="-120"/>
              </a:rPr>
              <a:t>preproc test PASS (no |d| &gt; 1, and top1 from the board tensor matches PC)</a:t>
            </a:r>
            <a:endParaRPr lang="en-US" sz="1050" dirty="0"/>
          </a:p>
          <a:p>
            <a:pPr marL="0" indent="0">
              <a:lnSpc>
                <a:spcPts val="1750"/>
              </a:lnSpc>
              <a:buNone/>
            </a:pPr>
            <a:r>
              <a:rPr lang="en-US" sz="1050" b="1" dirty="0">
                <a:solidFill>
                  <a:srgbClr val="DCDCAA"/>
                </a:solidFill>
                <a:latin typeface="Consolas" pitchFamily="34" charset="0"/>
                <a:ea typeface="Consolas" pitchFamily="34" charset="-122"/>
                <a:cs typeface="Consolas" pitchFamily="34" charset="-120"/>
              </a:rPr>
              <a:t>READY  起動確認おわり。ここから本番</a:t>
            </a:r>
            <a:endParaRPr lang="en-US" sz="1050" dirty="0"/>
          </a:p>
        </p:txBody>
      </p:sp>
      <p:sp>
        <p:nvSpPr>
          <p:cNvPr id="12" name="Shape 10"/>
          <p:cNvSpPr/>
          <p:nvPr/>
        </p:nvSpPr>
        <p:spPr>
          <a:xfrm>
            <a:off x="548640" y="2570861"/>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13" name="Text 11"/>
          <p:cNvSpPr txBox="1"/>
          <p:nvPr/>
        </p:nvSpPr>
        <p:spPr>
          <a:xfrm>
            <a:off x="548640" y="2570861"/>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1</a:t>
            </a:r>
            <a:endParaRPr lang="en-US" sz="1000" dirty="0"/>
          </a:p>
        </p:txBody>
      </p:sp>
      <p:sp>
        <p:nvSpPr>
          <p:cNvPr id="14" name="Shape 12"/>
          <p:cNvSpPr/>
          <p:nvPr/>
        </p:nvSpPr>
        <p:spPr>
          <a:xfrm>
            <a:off x="548640" y="3459861"/>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15" name="Text 13"/>
          <p:cNvSpPr txBox="1"/>
          <p:nvPr/>
        </p:nvSpPr>
        <p:spPr>
          <a:xfrm>
            <a:off x="548640" y="3459861"/>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2</a:t>
            </a:r>
            <a:endParaRPr lang="en-US" sz="1000" dirty="0"/>
          </a:p>
        </p:txBody>
      </p:sp>
      <p:sp>
        <p:nvSpPr>
          <p:cNvPr id="16" name="Shape 14"/>
          <p:cNvSpPr/>
          <p:nvPr/>
        </p:nvSpPr>
        <p:spPr>
          <a:xfrm>
            <a:off x="548640" y="3904361"/>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17" name="Text 15"/>
          <p:cNvSpPr txBox="1"/>
          <p:nvPr/>
        </p:nvSpPr>
        <p:spPr>
          <a:xfrm>
            <a:off x="548640" y="3904361"/>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2</a:t>
            </a:r>
            <a:endParaRPr lang="en-US" sz="1000" dirty="0"/>
          </a:p>
        </p:txBody>
      </p:sp>
      <p:sp>
        <p:nvSpPr>
          <p:cNvPr id="18" name="Shape 16"/>
          <p:cNvSpPr/>
          <p:nvPr/>
        </p:nvSpPr>
        <p:spPr>
          <a:xfrm>
            <a:off x="548640" y="4126611"/>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19" name="Text 17"/>
          <p:cNvSpPr txBox="1"/>
          <p:nvPr/>
        </p:nvSpPr>
        <p:spPr>
          <a:xfrm>
            <a:off x="548640" y="4126611"/>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2</a:t>
            </a:r>
            <a:endParaRPr lang="en-US" sz="1000" dirty="0"/>
          </a:p>
        </p:txBody>
      </p:sp>
      <p:sp>
        <p:nvSpPr>
          <p:cNvPr id="20" name="Shape 18"/>
          <p:cNvSpPr/>
          <p:nvPr/>
        </p:nvSpPr>
        <p:spPr>
          <a:xfrm>
            <a:off x="548640" y="4348861"/>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21" name="Text 19"/>
          <p:cNvSpPr txBox="1"/>
          <p:nvPr/>
        </p:nvSpPr>
        <p:spPr>
          <a:xfrm>
            <a:off x="548640" y="4348861"/>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3</a:t>
            </a:r>
            <a:endParaRPr lang="en-US" sz="1000" dirty="0"/>
          </a:p>
        </p:txBody>
      </p:sp>
      <p:sp>
        <p:nvSpPr>
          <p:cNvPr id="22" name="Shape 20"/>
          <p:cNvSpPr/>
          <p:nvPr/>
        </p:nvSpPr>
        <p:spPr>
          <a:xfrm>
            <a:off x="548640" y="4571111"/>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23" name="Text 21"/>
          <p:cNvSpPr txBox="1"/>
          <p:nvPr/>
        </p:nvSpPr>
        <p:spPr>
          <a:xfrm>
            <a:off x="548640" y="4571111"/>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3</a:t>
            </a:r>
            <a:endParaRPr lang="en-US" sz="1000" dirty="0"/>
          </a:p>
        </p:txBody>
      </p:sp>
      <p:sp>
        <p:nvSpPr>
          <p:cNvPr id="24" name="Shape 22"/>
          <p:cNvSpPr/>
          <p:nvPr/>
        </p:nvSpPr>
        <p:spPr>
          <a:xfrm>
            <a:off x="548640" y="5015611"/>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25" name="Text 23"/>
          <p:cNvSpPr txBox="1"/>
          <p:nvPr/>
        </p:nvSpPr>
        <p:spPr>
          <a:xfrm>
            <a:off x="548640" y="5015611"/>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4</a:t>
            </a:r>
            <a:endParaRPr lang="en-US" sz="1000" dirty="0"/>
          </a:p>
        </p:txBody>
      </p:sp>
      <p:sp>
        <p:nvSpPr>
          <p:cNvPr id="26" name="Shape 24"/>
          <p:cNvSpPr/>
          <p:nvPr/>
        </p:nvSpPr>
        <p:spPr>
          <a:xfrm>
            <a:off x="548640" y="5682361"/>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27" name="Text 25"/>
          <p:cNvSpPr txBox="1"/>
          <p:nvPr/>
        </p:nvSpPr>
        <p:spPr>
          <a:xfrm>
            <a:off x="548640" y="5682361"/>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5</a:t>
            </a:r>
            <a:endParaRPr lang="en-US" sz="1000" dirty="0"/>
          </a:p>
        </p:txBody>
      </p:sp>
      <p:sp>
        <p:nvSpPr>
          <p:cNvPr id="28" name="Shape 26"/>
          <p:cNvSpPr/>
          <p:nvPr/>
        </p:nvSpPr>
        <p:spPr>
          <a:xfrm>
            <a:off x="548640" y="5904611"/>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29" name="Text 27"/>
          <p:cNvSpPr txBox="1"/>
          <p:nvPr/>
        </p:nvSpPr>
        <p:spPr>
          <a:xfrm>
            <a:off x="548640" y="5904611"/>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6</a:t>
            </a:r>
            <a:endParaRPr lang="en-US" sz="1000" dirty="0"/>
          </a:p>
        </p:txBody>
      </p:sp>
      <p:sp>
        <p:nvSpPr>
          <p:cNvPr id="30" name="Shape 28"/>
          <p:cNvSpPr/>
          <p:nvPr/>
        </p:nvSpPr>
        <p:spPr>
          <a:xfrm>
            <a:off x="8641080" y="2167128"/>
            <a:ext cx="274320" cy="274320"/>
          </a:xfrm>
          <a:prstGeom prst="ellipse">
            <a:avLst/>
          </a:prstGeom>
          <a:solidFill>
            <a:srgbClr val="FFC000"/>
          </a:solidFill>
          <a:ln w="12700">
            <a:solidFill>
              <a:srgbClr val="FFC000"/>
            </a:solidFill>
            <a:prstDash val="solid"/>
          </a:ln>
        </p:spPr>
        <p:txBody>
          <a:bodyPr/>
          <a:lstStyle/>
          <a:p>
            <a:endParaRPr lang="ja-JP" altLang="en-US"/>
          </a:p>
        </p:txBody>
      </p:sp>
      <p:sp>
        <p:nvSpPr>
          <p:cNvPr id="31" name="Text 29"/>
          <p:cNvSpPr txBox="1"/>
          <p:nvPr/>
        </p:nvSpPr>
        <p:spPr>
          <a:xfrm>
            <a:off x="8641080" y="2167128"/>
            <a:ext cx="274320" cy="274320"/>
          </a:xfrm>
          <a:prstGeom prst="rect">
            <a:avLst/>
          </a:prstGeom>
          <a:noFill/>
          <a:ln/>
        </p:spPr>
        <p:txBody>
          <a:bodyPr wrap="square" lIns="0" tIns="0" rIns="0" bIns="0" rtlCol="0" anchor="ctr"/>
          <a:lstStyle/>
          <a:p>
            <a:pPr marL="0" indent="0" algn="ctr">
              <a:buNone/>
            </a:pPr>
            <a:r>
              <a:rPr lang="en-US" sz="1200" b="1" dirty="0">
                <a:solidFill>
                  <a:srgbClr val="000000"/>
                </a:solidFill>
                <a:latin typeface="游ゴシック" pitchFamily="34" charset="0"/>
                <a:ea typeface="游ゴシック" pitchFamily="34" charset="-122"/>
                <a:cs typeface="游ゴシック" pitchFamily="34" charset="-120"/>
              </a:rPr>
              <a:t>1</a:t>
            </a:r>
            <a:endParaRPr lang="en-US" sz="1200" dirty="0"/>
          </a:p>
        </p:txBody>
      </p:sp>
      <p:sp>
        <p:nvSpPr>
          <p:cNvPr id="32" name="Text 30"/>
          <p:cNvSpPr txBox="1"/>
          <p:nvPr/>
        </p:nvSpPr>
        <p:spPr>
          <a:xfrm>
            <a:off x="9006840" y="2148840"/>
            <a:ext cx="2724912" cy="310896"/>
          </a:xfrm>
          <a:prstGeom prst="rect">
            <a:avLst/>
          </a:prstGeom>
          <a:noFill/>
          <a:ln/>
        </p:spPr>
        <p:txBody>
          <a:bodyPr wrap="square" lIns="0" tIns="0" rIns="0" bIns="0" rtlCol="0" anchor="ctr"/>
          <a:lstStyle/>
          <a:p>
            <a:pPr marL="0" indent="0">
              <a:buNone/>
            </a:pPr>
            <a:r>
              <a:rPr lang="en-US" sz="1600" b="1" dirty="0">
                <a:solidFill>
                  <a:srgbClr val="156082"/>
                </a:solidFill>
                <a:latin typeface="游ゴシック" pitchFamily="34" charset="0"/>
                <a:ea typeface="游ゴシック" pitchFamily="34" charset="-122"/>
                <a:cs typeface="游ゴシック" pitchFamily="34" charset="-120"/>
              </a:rPr>
              <a:t>CONFIG</a:t>
            </a:r>
            <a:endParaRPr lang="en-US" sz="1600" dirty="0"/>
          </a:p>
        </p:txBody>
      </p:sp>
      <p:sp>
        <p:nvSpPr>
          <p:cNvPr id="33" name="Text 31"/>
          <p:cNvSpPr txBox="1"/>
          <p:nvPr/>
        </p:nvSpPr>
        <p:spPr>
          <a:xfrm>
            <a:off x="9006840" y="2459736"/>
            <a:ext cx="2724912" cy="411480"/>
          </a:xfrm>
          <a:prstGeom prst="rect">
            <a:avLst/>
          </a:prstGeom>
          <a:noFill/>
          <a:ln/>
        </p:spPr>
        <p:txBody>
          <a:bodyPr wrap="square" lIns="0" tIns="0" rIns="0" bIns="0" rtlCol="0" anchor="t"/>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実験の条件（A・B・D）と、使うモデル</a:t>
            </a:r>
            <a:endParaRPr lang="en-US" sz="1400" dirty="0"/>
          </a:p>
        </p:txBody>
      </p:sp>
      <p:sp>
        <p:nvSpPr>
          <p:cNvPr id="34" name="Shape 32"/>
          <p:cNvSpPr/>
          <p:nvPr/>
        </p:nvSpPr>
        <p:spPr>
          <a:xfrm>
            <a:off x="8641080" y="2898648"/>
            <a:ext cx="274320" cy="274320"/>
          </a:xfrm>
          <a:prstGeom prst="ellipse">
            <a:avLst/>
          </a:prstGeom>
          <a:solidFill>
            <a:srgbClr val="FFC000"/>
          </a:solidFill>
          <a:ln w="12700">
            <a:solidFill>
              <a:srgbClr val="FFC000"/>
            </a:solidFill>
            <a:prstDash val="solid"/>
          </a:ln>
        </p:spPr>
        <p:txBody>
          <a:bodyPr/>
          <a:lstStyle/>
          <a:p>
            <a:endParaRPr lang="ja-JP" altLang="en-US"/>
          </a:p>
        </p:txBody>
      </p:sp>
      <p:sp>
        <p:nvSpPr>
          <p:cNvPr id="35" name="Text 33"/>
          <p:cNvSpPr txBox="1"/>
          <p:nvPr/>
        </p:nvSpPr>
        <p:spPr>
          <a:xfrm>
            <a:off x="8641080" y="2898648"/>
            <a:ext cx="274320" cy="274320"/>
          </a:xfrm>
          <a:prstGeom prst="rect">
            <a:avLst/>
          </a:prstGeom>
          <a:noFill/>
          <a:ln/>
        </p:spPr>
        <p:txBody>
          <a:bodyPr wrap="square" lIns="0" tIns="0" rIns="0" bIns="0" rtlCol="0" anchor="ctr"/>
          <a:lstStyle/>
          <a:p>
            <a:pPr marL="0" indent="0" algn="ctr">
              <a:buNone/>
            </a:pPr>
            <a:r>
              <a:rPr lang="en-US" sz="1200" b="1" dirty="0">
                <a:solidFill>
                  <a:srgbClr val="000000"/>
                </a:solidFill>
                <a:latin typeface="游ゴシック" pitchFamily="34" charset="0"/>
                <a:ea typeface="游ゴシック" pitchFamily="34" charset="-122"/>
                <a:cs typeface="游ゴシック" pitchFamily="34" charset="-120"/>
              </a:rPr>
              <a:t>2</a:t>
            </a:r>
            <a:endParaRPr lang="en-US" sz="1200" dirty="0"/>
          </a:p>
        </p:txBody>
      </p:sp>
      <p:sp>
        <p:nvSpPr>
          <p:cNvPr id="36" name="Text 34"/>
          <p:cNvSpPr txBox="1"/>
          <p:nvPr/>
        </p:nvSpPr>
        <p:spPr>
          <a:xfrm>
            <a:off x="9006840" y="2880360"/>
            <a:ext cx="2724912" cy="310896"/>
          </a:xfrm>
          <a:prstGeom prst="rect">
            <a:avLst/>
          </a:prstGeom>
          <a:noFill/>
          <a:ln/>
        </p:spPr>
        <p:txBody>
          <a:bodyPr wrap="square" lIns="0" tIns="0" rIns="0" bIns="0" rtlCol="0" anchor="ctr"/>
          <a:lstStyle/>
          <a:p>
            <a:pPr marL="0" indent="0">
              <a:buNone/>
            </a:pPr>
            <a:r>
              <a:rPr lang="en-US" sz="1600" b="1" dirty="0">
                <a:solidFill>
                  <a:srgbClr val="156082"/>
                </a:solidFill>
                <a:latin typeface="游ゴシック" pitchFamily="34" charset="0"/>
                <a:ea typeface="游ゴシック" pitchFamily="34" charset="-122"/>
                <a:cs typeface="游ゴシック" pitchFamily="34" charset="-120"/>
              </a:rPr>
              <a:t>MATCH</a:t>
            </a:r>
            <a:endParaRPr lang="en-US" sz="1600" dirty="0"/>
          </a:p>
        </p:txBody>
      </p:sp>
      <p:sp>
        <p:nvSpPr>
          <p:cNvPr id="37" name="Text 35"/>
          <p:cNvSpPr txBox="1"/>
          <p:nvPr/>
        </p:nvSpPr>
        <p:spPr>
          <a:xfrm>
            <a:off x="9006840" y="3191256"/>
            <a:ext cx="2724912" cy="411480"/>
          </a:xfrm>
          <a:prstGeom prst="rect">
            <a:avLst/>
          </a:prstGeom>
          <a:noFill/>
          <a:ln/>
        </p:spPr>
        <p:txBody>
          <a:bodyPr wrap="square" lIns="0" tIns="0" rIns="0" bIns="0" rtlCol="0" anchor="t"/>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フラッシュ・RAM・NPU を実際に読んで一致</a:t>
            </a:r>
            <a:endParaRPr lang="en-US" sz="1400" dirty="0"/>
          </a:p>
        </p:txBody>
      </p:sp>
      <p:sp>
        <p:nvSpPr>
          <p:cNvPr id="38" name="Shape 36"/>
          <p:cNvSpPr/>
          <p:nvPr/>
        </p:nvSpPr>
        <p:spPr>
          <a:xfrm>
            <a:off x="8641080" y="3630168"/>
            <a:ext cx="274320" cy="274320"/>
          </a:xfrm>
          <a:prstGeom prst="ellipse">
            <a:avLst/>
          </a:prstGeom>
          <a:solidFill>
            <a:srgbClr val="FFC000"/>
          </a:solidFill>
          <a:ln w="12700">
            <a:solidFill>
              <a:srgbClr val="FFC000"/>
            </a:solidFill>
            <a:prstDash val="solid"/>
          </a:ln>
        </p:spPr>
        <p:txBody>
          <a:bodyPr/>
          <a:lstStyle/>
          <a:p>
            <a:endParaRPr lang="ja-JP" altLang="en-US"/>
          </a:p>
        </p:txBody>
      </p:sp>
      <p:sp>
        <p:nvSpPr>
          <p:cNvPr id="39" name="Text 37"/>
          <p:cNvSpPr txBox="1"/>
          <p:nvPr/>
        </p:nvSpPr>
        <p:spPr>
          <a:xfrm>
            <a:off x="8641080" y="3630168"/>
            <a:ext cx="274320" cy="274320"/>
          </a:xfrm>
          <a:prstGeom prst="rect">
            <a:avLst/>
          </a:prstGeom>
          <a:noFill/>
          <a:ln/>
        </p:spPr>
        <p:txBody>
          <a:bodyPr wrap="square" lIns="0" tIns="0" rIns="0" bIns="0" rtlCol="0" anchor="ctr"/>
          <a:lstStyle/>
          <a:p>
            <a:pPr marL="0" indent="0" algn="ctr">
              <a:buNone/>
            </a:pPr>
            <a:r>
              <a:rPr lang="en-US" sz="1200" b="1" dirty="0">
                <a:solidFill>
                  <a:srgbClr val="000000"/>
                </a:solidFill>
                <a:latin typeface="游ゴシック" pitchFamily="34" charset="0"/>
                <a:ea typeface="游ゴシック" pitchFamily="34" charset="-122"/>
                <a:cs typeface="游ゴシック" pitchFamily="34" charset="-120"/>
              </a:rPr>
              <a:t>3</a:t>
            </a:r>
            <a:endParaRPr lang="en-US" sz="1200" dirty="0"/>
          </a:p>
        </p:txBody>
      </p:sp>
      <p:sp>
        <p:nvSpPr>
          <p:cNvPr id="40" name="Text 38"/>
          <p:cNvSpPr txBox="1"/>
          <p:nvPr/>
        </p:nvSpPr>
        <p:spPr>
          <a:xfrm>
            <a:off x="9006840" y="3611880"/>
            <a:ext cx="2724912" cy="310896"/>
          </a:xfrm>
          <a:prstGeom prst="rect">
            <a:avLst/>
          </a:prstGeom>
          <a:noFill/>
          <a:ln/>
        </p:spPr>
        <p:txBody>
          <a:bodyPr wrap="square" lIns="0" tIns="0" rIns="0" bIns="0" rtlCol="0" anchor="ctr"/>
          <a:lstStyle/>
          <a:p>
            <a:pPr marL="0" indent="0">
              <a:buNone/>
            </a:pPr>
            <a:r>
              <a:rPr lang="en-US" sz="1600" b="1" dirty="0">
                <a:solidFill>
                  <a:srgbClr val="156082"/>
                </a:solidFill>
                <a:latin typeface="游ゴシック" pitchFamily="34" charset="0"/>
                <a:ea typeface="游ゴシック" pitchFamily="34" charset="-122"/>
                <a:cs typeface="游ゴシック" pitchFamily="34" charset="-120"/>
              </a:rPr>
              <a:t>notify</a:t>
            </a:r>
            <a:endParaRPr lang="en-US" sz="1600" dirty="0"/>
          </a:p>
        </p:txBody>
      </p:sp>
      <p:sp>
        <p:nvSpPr>
          <p:cNvPr id="41" name="Text 39"/>
          <p:cNvSpPr txBox="1"/>
          <p:nvPr/>
        </p:nvSpPr>
        <p:spPr>
          <a:xfrm>
            <a:off x="9006840" y="3922776"/>
            <a:ext cx="2724912" cy="411480"/>
          </a:xfrm>
          <a:prstGeom prst="rect">
            <a:avLst/>
          </a:prstGeom>
          <a:noFill/>
          <a:ln/>
        </p:spPr>
        <p:txBody>
          <a:bodyPr wrap="square" lIns="0" tIns="0" rIns="0" bIns="0" rtlCol="0" anchor="t"/>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判定の規則（確率・音量・暗騒音との差）</a:t>
            </a:r>
            <a:endParaRPr lang="en-US" sz="1400" dirty="0"/>
          </a:p>
        </p:txBody>
      </p:sp>
      <p:sp>
        <p:nvSpPr>
          <p:cNvPr id="42" name="Shape 40"/>
          <p:cNvSpPr/>
          <p:nvPr/>
        </p:nvSpPr>
        <p:spPr>
          <a:xfrm>
            <a:off x="8641080" y="4361688"/>
            <a:ext cx="274320" cy="274320"/>
          </a:xfrm>
          <a:prstGeom prst="ellipse">
            <a:avLst/>
          </a:prstGeom>
          <a:solidFill>
            <a:srgbClr val="FFC000"/>
          </a:solidFill>
          <a:ln w="12700">
            <a:solidFill>
              <a:srgbClr val="FFC000"/>
            </a:solidFill>
            <a:prstDash val="solid"/>
          </a:ln>
        </p:spPr>
        <p:txBody>
          <a:bodyPr/>
          <a:lstStyle/>
          <a:p>
            <a:endParaRPr lang="ja-JP" altLang="en-US"/>
          </a:p>
        </p:txBody>
      </p:sp>
      <p:sp>
        <p:nvSpPr>
          <p:cNvPr id="43" name="Text 41"/>
          <p:cNvSpPr txBox="1"/>
          <p:nvPr/>
        </p:nvSpPr>
        <p:spPr>
          <a:xfrm>
            <a:off x="8641080" y="4361688"/>
            <a:ext cx="274320" cy="274320"/>
          </a:xfrm>
          <a:prstGeom prst="rect">
            <a:avLst/>
          </a:prstGeom>
          <a:noFill/>
          <a:ln/>
        </p:spPr>
        <p:txBody>
          <a:bodyPr wrap="square" lIns="0" tIns="0" rIns="0" bIns="0" rtlCol="0" anchor="ctr"/>
          <a:lstStyle/>
          <a:p>
            <a:pPr marL="0" indent="0" algn="ctr">
              <a:buNone/>
            </a:pPr>
            <a:r>
              <a:rPr lang="en-US" sz="1200" b="1" dirty="0">
                <a:solidFill>
                  <a:srgbClr val="000000"/>
                </a:solidFill>
                <a:latin typeface="游ゴシック" pitchFamily="34" charset="0"/>
                <a:ea typeface="游ゴシック" pitchFamily="34" charset="-122"/>
                <a:cs typeface="游ゴシック" pitchFamily="34" charset="-120"/>
              </a:rPr>
              <a:t>4</a:t>
            </a:r>
            <a:endParaRPr lang="en-US" sz="1200" dirty="0"/>
          </a:p>
        </p:txBody>
      </p:sp>
      <p:sp>
        <p:nvSpPr>
          <p:cNvPr id="44" name="Text 42"/>
          <p:cNvSpPr txBox="1"/>
          <p:nvPr/>
        </p:nvSpPr>
        <p:spPr>
          <a:xfrm>
            <a:off x="9006840" y="4343400"/>
            <a:ext cx="2724912" cy="310896"/>
          </a:xfrm>
          <a:prstGeom prst="rect">
            <a:avLst/>
          </a:prstGeom>
          <a:noFill/>
          <a:ln/>
        </p:spPr>
        <p:txBody>
          <a:bodyPr wrap="square" lIns="0" tIns="0" rIns="0" bIns="0" rtlCol="0" anchor="ctr"/>
          <a:lstStyle/>
          <a:p>
            <a:pPr marL="0" indent="0">
              <a:buNone/>
            </a:pPr>
            <a:r>
              <a:rPr lang="en-US" sz="1600" b="1" dirty="0">
                <a:solidFill>
                  <a:srgbClr val="156082"/>
                </a:solidFill>
                <a:latin typeface="游ゴシック" pitchFamily="34" charset="0"/>
                <a:ea typeface="游ゴシック" pitchFamily="34" charset="-122"/>
                <a:cs typeface="游ゴシック" pitchFamily="34" charset="-120"/>
              </a:rPr>
              <a:t>bit-identical</a:t>
            </a:r>
            <a:endParaRPr lang="en-US" sz="1600" dirty="0"/>
          </a:p>
        </p:txBody>
      </p:sp>
      <p:sp>
        <p:nvSpPr>
          <p:cNvPr id="45" name="Text 43"/>
          <p:cNvSpPr txBox="1"/>
          <p:nvPr/>
        </p:nvSpPr>
        <p:spPr>
          <a:xfrm>
            <a:off x="9006840" y="4654296"/>
            <a:ext cx="2724912" cy="411480"/>
          </a:xfrm>
          <a:prstGeom prst="rect">
            <a:avLst/>
          </a:prstGeom>
          <a:noFill/>
          <a:ln/>
        </p:spPr>
        <p:txBody>
          <a:bodyPr wrap="square" lIns="0" tIns="0" rIns="0" bIns="0" rtlCol="0" anchor="t"/>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同じ入力で 10 回推論し、結果が完全に同じ</a:t>
            </a:r>
            <a:endParaRPr lang="en-US" sz="1400" dirty="0"/>
          </a:p>
        </p:txBody>
      </p:sp>
      <p:sp>
        <p:nvSpPr>
          <p:cNvPr id="46" name="Shape 44"/>
          <p:cNvSpPr/>
          <p:nvPr/>
        </p:nvSpPr>
        <p:spPr>
          <a:xfrm>
            <a:off x="8641080" y="5093208"/>
            <a:ext cx="274320" cy="274320"/>
          </a:xfrm>
          <a:prstGeom prst="ellipse">
            <a:avLst/>
          </a:prstGeom>
          <a:solidFill>
            <a:srgbClr val="FFC000"/>
          </a:solidFill>
          <a:ln w="12700">
            <a:solidFill>
              <a:srgbClr val="FFC000"/>
            </a:solidFill>
            <a:prstDash val="solid"/>
          </a:ln>
        </p:spPr>
        <p:txBody>
          <a:bodyPr/>
          <a:lstStyle/>
          <a:p>
            <a:endParaRPr lang="ja-JP" altLang="en-US"/>
          </a:p>
        </p:txBody>
      </p:sp>
      <p:sp>
        <p:nvSpPr>
          <p:cNvPr id="47" name="Text 45"/>
          <p:cNvSpPr txBox="1"/>
          <p:nvPr/>
        </p:nvSpPr>
        <p:spPr>
          <a:xfrm>
            <a:off x="8641080" y="5093208"/>
            <a:ext cx="274320" cy="274320"/>
          </a:xfrm>
          <a:prstGeom prst="rect">
            <a:avLst/>
          </a:prstGeom>
          <a:noFill/>
          <a:ln/>
        </p:spPr>
        <p:txBody>
          <a:bodyPr wrap="square" lIns="0" tIns="0" rIns="0" bIns="0" rtlCol="0" anchor="ctr"/>
          <a:lstStyle/>
          <a:p>
            <a:pPr marL="0" indent="0" algn="ctr">
              <a:buNone/>
            </a:pPr>
            <a:r>
              <a:rPr lang="en-US" sz="1200" b="1" dirty="0">
                <a:solidFill>
                  <a:srgbClr val="000000"/>
                </a:solidFill>
                <a:latin typeface="游ゴシック" pitchFamily="34" charset="0"/>
                <a:ea typeface="游ゴシック" pitchFamily="34" charset="-122"/>
                <a:cs typeface="游ゴシック" pitchFamily="34" charset="-120"/>
              </a:rPr>
              <a:t>5</a:t>
            </a:r>
            <a:endParaRPr lang="en-US" sz="1200" dirty="0"/>
          </a:p>
        </p:txBody>
      </p:sp>
      <p:sp>
        <p:nvSpPr>
          <p:cNvPr id="48" name="Text 46"/>
          <p:cNvSpPr txBox="1"/>
          <p:nvPr/>
        </p:nvSpPr>
        <p:spPr>
          <a:xfrm>
            <a:off x="9006840" y="5074920"/>
            <a:ext cx="2724912" cy="310896"/>
          </a:xfrm>
          <a:prstGeom prst="rect">
            <a:avLst/>
          </a:prstGeom>
          <a:noFill/>
          <a:ln/>
        </p:spPr>
        <p:txBody>
          <a:bodyPr wrap="square" lIns="0" tIns="0" rIns="0" bIns="0" rtlCol="0" anchor="ctr"/>
          <a:lstStyle/>
          <a:p>
            <a:pPr marL="0" indent="0">
              <a:buNone/>
            </a:pPr>
            <a:r>
              <a:rPr lang="en-US" sz="1600" b="1" dirty="0">
                <a:solidFill>
                  <a:srgbClr val="156082"/>
                </a:solidFill>
                <a:latin typeface="游ゴシック" pitchFamily="34" charset="0"/>
                <a:ea typeface="游ゴシック" pitchFamily="34" charset="-122"/>
                <a:cs typeface="游ゴシック" pitchFamily="34" charset="-120"/>
              </a:rPr>
              <a:t>preproc test PASS</a:t>
            </a:r>
            <a:endParaRPr lang="en-US" sz="1600" dirty="0"/>
          </a:p>
        </p:txBody>
      </p:sp>
      <p:sp>
        <p:nvSpPr>
          <p:cNvPr id="49" name="Text 47"/>
          <p:cNvSpPr txBox="1"/>
          <p:nvPr/>
        </p:nvSpPr>
        <p:spPr>
          <a:xfrm>
            <a:off x="9006840" y="5385816"/>
            <a:ext cx="2724912" cy="411480"/>
          </a:xfrm>
          <a:prstGeom prst="rect">
            <a:avLst/>
          </a:prstGeom>
          <a:noFill/>
          <a:ln/>
        </p:spPr>
        <p:txBody>
          <a:bodyPr wrap="square" lIns="0" tIns="0" rIns="0" bIns="0" rtlCol="0" anchor="t"/>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前処理が PC と 12,288 個すべて一致（参照が無ければ SKIP）</a:t>
            </a:r>
            <a:endParaRPr lang="en-US" sz="1400" dirty="0"/>
          </a:p>
        </p:txBody>
      </p:sp>
      <p:sp>
        <p:nvSpPr>
          <p:cNvPr id="50" name="Shape 48"/>
          <p:cNvSpPr/>
          <p:nvPr/>
        </p:nvSpPr>
        <p:spPr>
          <a:xfrm>
            <a:off x="8641080" y="5824728"/>
            <a:ext cx="274320" cy="274320"/>
          </a:xfrm>
          <a:prstGeom prst="ellipse">
            <a:avLst/>
          </a:prstGeom>
          <a:solidFill>
            <a:srgbClr val="FFC000"/>
          </a:solidFill>
          <a:ln w="12700">
            <a:solidFill>
              <a:srgbClr val="FFC000"/>
            </a:solidFill>
            <a:prstDash val="solid"/>
          </a:ln>
        </p:spPr>
        <p:txBody>
          <a:bodyPr/>
          <a:lstStyle/>
          <a:p>
            <a:endParaRPr lang="ja-JP" altLang="en-US"/>
          </a:p>
        </p:txBody>
      </p:sp>
      <p:sp>
        <p:nvSpPr>
          <p:cNvPr id="51" name="Text 49"/>
          <p:cNvSpPr txBox="1"/>
          <p:nvPr/>
        </p:nvSpPr>
        <p:spPr>
          <a:xfrm>
            <a:off x="8641080" y="5824728"/>
            <a:ext cx="274320" cy="274320"/>
          </a:xfrm>
          <a:prstGeom prst="rect">
            <a:avLst/>
          </a:prstGeom>
          <a:noFill/>
          <a:ln/>
        </p:spPr>
        <p:txBody>
          <a:bodyPr wrap="square" lIns="0" tIns="0" rIns="0" bIns="0" rtlCol="0" anchor="ctr"/>
          <a:lstStyle/>
          <a:p>
            <a:pPr marL="0" indent="0" algn="ctr">
              <a:buNone/>
            </a:pPr>
            <a:r>
              <a:rPr lang="en-US" sz="1200" b="1" dirty="0">
                <a:solidFill>
                  <a:srgbClr val="000000"/>
                </a:solidFill>
                <a:latin typeface="游ゴシック" pitchFamily="34" charset="0"/>
                <a:ea typeface="游ゴシック" pitchFamily="34" charset="-122"/>
                <a:cs typeface="游ゴシック" pitchFamily="34" charset="-120"/>
              </a:rPr>
              <a:t>6</a:t>
            </a:r>
            <a:endParaRPr lang="en-US" sz="1200" dirty="0"/>
          </a:p>
        </p:txBody>
      </p:sp>
      <p:sp>
        <p:nvSpPr>
          <p:cNvPr id="52" name="Text 50"/>
          <p:cNvSpPr txBox="1"/>
          <p:nvPr/>
        </p:nvSpPr>
        <p:spPr>
          <a:xfrm>
            <a:off x="9006840" y="5806440"/>
            <a:ext cx="2724912" cy="310896"/>
          </a:xfrm>
          <a:prstGeom prst="rect">
            <a:avLst/>
          </a:prstGeom>
          <a:noFill/>
          <a:ln/>
        </p:spPr>
        <p:txBody>
          <a:bodyPr wrap="square" lIns="0" tIns="0" rIns="0" bIns="0" rtlCol="0" anchor="ctr"/>
          <a:lstStyle/>
          <a:p>
            <a:pPr marL="0" indent="0">
              <a:buNone/>
            </a:pPr>
            <a:r>
              <a:rPr lang="en-US" sz="1600" b="1" dirty="0">
                <a:solidFill>
                  <a:srgbClr val="156082"/>
                </a:solidFill>
                <a:latin typeface="游ゴシック" pitchFamily="34" charset="0"/>
                <a:ea typeface="游ゴシック" pitchFamily="34" charset="-122"/>
                <a:cs typeface="游ゴシック" pitchFamily="34" charset="-120"/>
              </a:rPr>
              <a:t>READY</a:t>
            </a:r>
            <a:endParaRPr lang="en-US" sz="1600" dirty="0"/>
          </a:p>
        </p:txBody>
      </p:sp>
      <p:sp>
        <p:nvSpPr>
          <p:cNvPr id="53" name="Text 51"/>
          <p:cNvSpPr txBox="1"/>
          <p:nvPr/>
        </p:nvSpPr>
        <p:spPr>
          <a:xfrm>
            <a:off x="9006840" y="6117336"/>
            <a:ext cx="2724912" cy="411480"/>
          </a:xfrm>
          <a:prstGeom prst="rect">
            <a:avLst/>
          </a:prstGeom>
          <a:noFill/>
          <a:ln/>
        </p:spPr>
        <p:txBody>
          <a:bodyPr wrap="square" lIns="0" tIns="0" rIns="0" bIns="0" rtlCol="0" anchor="t"/>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確認が終わった印。合否は 2〜5 の行で見る</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10-3　走行ログの読み方</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ctr"/>
          <a:lstStyle/>
          <a:p>
            <a:pPr marL="0" indent="0" algn="ctr">
              <a:buNone/>
            </a:pPr>
            <a:r>
              <a:rPr lang="en-US" sz="2800" b="1" dirty="0">
                <a:solidFill>
                  <a:srgbClr val="FF0000"/>
                </a:solidFill>
                <a:latin typeface="游ゴシック" pitchFamily="34" charset="0"/>
                <a:ea typeface="游ゴシック" pitchFamily="34" charset="-122"/>
                <a:cs typeface="游ゴシック" pitchFamily="34" charset="-120"/>
              </a:rPr>
              <a:t>1 窓ごとに、音量・判定・遅れが行として残る</a:t>
            </a:r>
            <a:endParaRPr lang="en-US" sz="2800" dirty="0"/>
          </a:p>
        </p:txBody>
      </p:sp>
      <p:sp>
        <p:nvSpPr>
          <p:cNvPr id="5" name="Shape 3"/>
          <p:cNvSpPr/>
          <p:nvPr/>
        </p:nvSpPr>
        <p:spPr>
          <a:xfrm>
            <a:off x="457200" y="2148840"/>
            <a:ext cx="11274552" cy="292608"/>
          </a:xfrm>
          <a:prstGeom prst="rect">
            <a:avLst/>
          </a:prstGeom>
          <a:solidFill>
            <a:srgbClr val="3C3C3C"/>
          </a:solidFill>
          <a:ln w="12700">
            <a:solidFill>
              <a:srgbClr val="3C3C3C"/>
            </a:solidFill>
            <a:prstDash val="solid"/>
          </a:ln>
        </p:spPr>
        <p:txBody>
          <a:bodyPr/>
          <a:lstStyle/>
          <a:p>
            <a:endParaRPr lang="ja-JP" altLang="en-US"/>
          </a:p>
        </p:txBody>
      </p:sp>
      <p:sp>
        <p:nvSpPr>
          <p:cNvPr id="9" name="Text 7"/>
          <p:cNvSpPr txBox="1"/>
          <p:nvPr/>
        </p:nvSpPr>
        <p:spPr>
          <a:xfrm>
            <a:off x="534924" y="2158218"/>
            <a:ext cx="10543032" cy="292608"/>
          </a:xfrm>
          <a:prstGeom prst="rect">
            <a:avLst/>
          </a:prstGeom>
          <a:noFill/>
          <a:ln/>
        </p:spPr>
        <p:txBody>
          <a:bodyPr wrap="square" lIns="0" tIns="0" rIns="0" bIns="0" rtlCol="0" anchor="ctr"/>
          <a:lstStyle/>
          <a:p>
            <a:pPr marL="0" indent="0">
              <a:buNone/>
            </a:pPr>
            <a:r>
              <a:rPr lang="en-US" sz="1100" dirty="0">
                <a:solidFill>
                  <a:srgbClr val="E0E0E0"/>
                </a:solidFill>
                <a:latin typeface="游ゴシック" pitchFamily="34" charset="0"/>
                <a:ea typeface="游ゴシック" pitchFamily="34" charset="-122"/>
                <a:cs typeface="游ゴシック" pitchFamily="34" charset="-120"/>
              </a:rPr>
              <a:t>走行中の出力（通し試験で犬のクリップを流したところ。時刻と一部の行を省略）</a:t>
            </a:r>
            <a:endParaRPr lang="en-US" sz="1100" dirty="0"/>
          </a:p>
        </p:txBody>
      </p:sp>
      <p:sp>
        <p:nvSpPr>
          <p:cNvPr id="10" name="Shape 8"/>
          <p:cNvSpPr/>
          <p:nvPr/>
        </p:nvSpPr>
        <p:spPr>
          <a:xfrm>
            <a:off x="457200" y="2441448"/>
            <a:ext cx="11274552" cy="1719072"/>
          </a:xfrm>
          <a:prstGeom prst="rect">
            <a:avLst/>
          </a:prstGeom>
          <a:solidFill>
            <a:srgbClr val="1E1E1E"/>
          </a:solidFill>
          <a:ln w="12700">
            <a:solidFill>
              <a:srgbClr val="1E1E1E"/>
            </a:solidFill>
            <a:prstDash val="solid"/>
          </a:ln>
        </p:spPr>
        <p:txBody>
          <a:bodyPr/>
          <a:lstStyle/>
          <a:p>
            <a:endParaRPr lang="ja-JP" altLang="en-US"/>
          </a:p>
        </p:txBody>
      </p:sp>
      <p:sp>
        <p:nvSpPr>
          <p:cNvPr id="11" name="Text 9"/>
          <p:cNvSpPr txBox="1"/>
          <p:nvPr/>
        </p:nvSpPr>
        <p:spPr>
          <a:xfrm>
            <a:off x="868680" y="2560320"/>
            <a:ext cx="10771632" cy="1508760"/>
          </a:xfrm>
          <a:prstGeom prst="rect">
            <a:avLst/>
          </a:prstGeom>
          <a:noFill/>
          <a:ln/>
        </p:spPr>
        <p:txBody>
          <a:bodyPr wrap="square" lIns="0" tIns="0" rIns="0" bIns="0" rtlCol="0" anchor="t"/>
          <a:lstStyle/>
          <a:p>
            <a:pPr marL="0" indent="0">
              <a:lnSpc>
                <a:spcPts val="2000"/>
              </a:lnSpc>
              <a:buNone/>
            </a:pPr>
            <a:r>
              <a:rPr lang="en-US" sz="1300" dirty="0">
                <a:solidFill>
                  <a:srgbClr val="9CDCFE"/>
                </a:solidFill>
                <a:latin typeface="Consolas" pitchFamily="34" charset="0"/>
                <a:ea typeface="Consolas" pitchFamily="34" charset="-122"/>
                <a:cs typeface="Consolas" pitchFamily="34" charset="-120"/>
              </a:rPr>
              <a:t>in=16128Hz out=16000Hz ring=1200 under=0 over=0 (dt=1000000us) loglag=119563us</a:t>
            </a:r>
            <a:endParaRPr lang="en-US" sz="1300" dirty="0"/>
          </a:p>
          <a:p>
            <a:pPr marL="0" indent="0">
              <a:lnSpc>
                <a:spcPts val="2000"/>
              </a:lnSpc>
              <a:buNone/>
            </a:pPr>
            <a:r>
              <a:rPr lang="en-US" sz="1300" dirty="0">
                <a:solidFill>
                  <a:srgbClr val="DCDCAA"/>
                </a:solidFill>
                <a:latin typeface="Consolas" pitchFamily="34" charset="0"/>
                <a:ea typeface="Consolas" pitchFamily="34" charset="-122"/>
                <a:cs typeface="Consolas" pitchFamily="34" charset="-120"/>
              </a:rPr>
              <a:t>{"win":104,"cls":"dog","p":0.99,"lat_ms":112,"under":0,"over":0,"late":0}</a:t>
            </a:r>
            <a:endParaRPr lang="en-US" sz="1300" dirty="0"/>
          </a:p>
          <a:p>
            <a:pPr marL="0" indent="0">
              <a:lnSpc>
                <a:spcPts val="2000"/>
              </a:lnSpc>
              <a:buNone/>
            </a:pPr>
            <a:r>
              <a:rPr lang="en-US" sz="1300" dirty="0">
                <a:solidFill>
                  <a:srgbClr val="D4D4D4"/>
                </a:solidFill>
                <a:latin typeface="Consolas" pitchFamily="34" charset="0"/>
                <a:ea typeface="Consolas" pitchFamily="34" charset="-122"/>
                <a:cs typeface="Consolas" pitchFamily="34" charset="-120"/>
              </a:rPr>
              <a:t>win  104 pos= 1597440  -11dBFS [################....] rms= 9429 peak=32768 seam=ok lag=334us</a:t>
            </a:r>
            <a:endParaRPr lang="en-US" sz="1300" dirty="0"/>
          </a:p>
          <a:p>
            <a:pPr marL="0" indent="0">
              <a:lnSpc>
                <a:spcPts val="2000"/>
              </a:lnSpc>
              <a:buNone/>
            </a:pPr>
            <a:r>
              <a:rPr lang="en-US" sz="1300" dirty="0">
                <a:solidFill>
                  <a:srgbClr val="B5CEA8"/>
                </a:solidFill>
                <a:latin typeface="Consolas" pitchFamily="34" charset="0"/>
                <a:ea typeface="Consolas" pitchFamily="34" charset="-122"/>
                <a:cs typeface="Consolas" pitchFamily="34" charset="-120"/>
              </a:rPr>
              <a:t>  -&gt; dog             p=0.99 (floor -44.8 Δ+34.0)  preproc=69225us infer=41093us</a:t>
            </a:r>
            <a:endParaRPr lang="en-US" sz="1300" dirty="0"/>
          </a:p>
          <a:p>
            <a:pPr marL="0" indent="0">
              <a:lnSpc>
                <a:spcPts val="2000"/>
              </a:lnSpc>
              <a:buNone/>
            </a:pPr>
            <a:r>
              <a:rPr lang="en-US" sz="1300" dirty="0">
                <a:solidFill>
                  <a:srgbClr val="D4D4D4"/>
                </a:solidFill>
                <a:latin typeface="Consolas" pitchFamily="34" charset="0"/>
                <a:ea typeface="Consolas" pitchFamily="34" charset="-122"/>
                <a:cs typeface="Consolas" pitchFamily="34" charset="-120"/>
              </a:rPr>
              <a:t>lcd: win 104 -&gt; DOG p=0.99 (23611 us after notify)</a:t>
            </a:r>
            <a:endParaRPr lang="en-US" sz="1300" dirty="0"/>
          </a:p>
        </p:txBody>
      </p:sp>
      <p:sp>
        <p:nvSpPr>
          <p:cNvPr id="12" name="Shape 10"/>
          <p:cNvSpPr/>
          <p:nvPr/>
        </p:nvSpPr>
        <p:spPr>
          <a:xfrm>
            <a:off x="548640" y="2586736"/>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13" name="Text 11"/>
          <p:cNvSpPr txBox="1"/>
          <p:nvPr/>
        </p:nvSpPr>
        <p:spPr>
          <a:xfrm>
            <a:off x="548640" y="2586736"/>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1</a:t>
            </a:r>
            <a:endParaRPr lang="en-US" sz="1000" dirty="0"/>
          </a:p>
        </p:txBody>
      </p:sp>
      <p:sp>
        <p:nvSpPr>
          <p:cNvPr id="14" name="Shape 12"/>
          <p:cNvSpPr/>
          <p:nvPr/>
        </p:nvSpPr>
        <p:spPr>
          <a:xfrm>
            <a:off x="548640" y="2840736"/>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15" name="Text 13"/>
          <p:cNvSpPr txBox="1"/>
          <p:nvPr/>
        </p:nvSpPr>
        <p:spPr>
          <a:xfrm>
            <a:off x="548640" y="2840736"/>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2</a:t>
            </a:r>
            <a:endParaRPr lang="en-US" sz="1000" dirty="0"/>
          </a:p>
        </p:txBody>
      </p:sp>
      <p:sp>
        <p:nvSpPr>
          <p:cNvPr id="16" name="Shape 14"/>
          <p:cNvSpPr/>
          <p:nvPr/>
        </p:nvSpPr>
        <p:spPr>
          <a:xfrm>
            <a:off x="548640" y="3094736"/>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17" name="Text 15"/>
          <p:cNvSpPr txBox="1"/>
          <p:nvPr/>
        </p:nvSpPr>
        <p:spPr>
          <a:xfrm>
            <a:off x="548640" y="3094736"/>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3</a:t>
            </a:r>
            <a:endParaRPr lang="en-US" sz="1000" dirty="0"/>
          </a:p>
        </p:txBody>
      </p:sp>
      <p:sp>
        <p:nvSpPr>
          <p:cNvPr id="18" name="Shape 16"/>
          <p:cNvSpPr/>
          <p:nvPr/>
        </p:nvSpPr>
        <p:spPr>
          <a:xfrm>
            <a:off x="548640" y="3348736"/>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19" name="Text 17"/>
          <p:cNvSpPr txBox="1"/>
          <p:nvPr/>
        </p:nvSpPr>
        <p:spPr>
          <a:xfrm>
            <a:off x="548640" y="3348736"/>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4</a:t>
            </a:r>
            <a:endParaRPr lang="en-US" sz="1000" dirty="0"/>
          </a:p>
        </p:txBody>
      </p:sp>
      <p:sp>
        <p:nvSpPr>
          <p:cNvPr id="20" name="Shape 18"/>
          <p:cNvSpPr/>
          <p:nvPr/>
        </p:nvSpPr>
        <p:spPr>
          <a:xfrm>
            <a:off x="457200" y="4389120"/>
            <a:ext cx="5486400" cy="960120"/>
          </a:xfrm>
          <a:prstGeom prst="rect">
            <a:avLst/>
          </a:prstGeom>
          <a:solidFill>
            <a:srgbClr val="F2F2F2"/>
          </a:solidFill>
          <a:ln w="12700">
            <a:solidFill>
              <a:srgbClr val="F2F2F2"/>
            </a:solidFill>
            <a:prstDash val="solid"/>
          </a:ln>
        </p:spPr>
        <p:txBody>
          <a:bodyPr/>
          <a:lstStyle/>
          <a:p>
            <a:endParaRPr lang="ja-JP" altLang="en-US"/>
          </a:p>
        </p:txBody>
      </p:sp>
      <p:sp>
        <p:nvSpPr>
          <p:cNvPr id="21" name="Shape 19"/>
          <p:cNvSpPr/>
          <p:nvPr/>
        </p:nvSpPr>
        <p:spPr>
          <a:xfrm>
            <a:off x="594360" y="4498848"/>
            <a:ext cx="329184" cy="329184"/>
          </a:xfrm>
          <a:prstGeom prst="ellipse">
            <a:avLst/>
          </a:prstGeom>
          <a:solidFill>
            <a:srgbClr val="FFC000"/>
          </a:solidFill>
          <a:ln w="12700">
            <a:solidFill>
              <a:srgbClr val="FFC000"/>
            </a:solidFill>
            <a:prstDash val="solid"/>
          </a:ln>
        </p:spPr>
        <p:txBody>
          <a:bodyPr/>
          <a:lstStyle/>
          <a:p>
            <a:endParaRPr lang="ja-JP" altLang="en-US"/>
          </a:p>
        </p:txBody>
      </p:sp>
      <p:sp>
        <p:nvSpPr>
          <p:cNvPr id="22" name="Text 20"/>
          <p:cNvSpPr txBox="1"/>
          <p:nvPr/>
        </p:nvSpPr>
        <p:spPr>
          <a:xfrm>
            <a:off x="594360" y="4498848"/>
            <a:ext cx="329184" cy="329184"/>
          </a:xfrm>
          <a:prstGeom prst="rect">
            <a:avLst/>
          </a:prstGeom>
          <a:noFill/>
          <a:ln/>
        </p:spPr>
        <p:txBody>
          <a:bodyPr wrap="square" lIns="0" tIns="0" rIns="0" bIns="0" rtlCol="0" anchor="ctr"/>
          <a:lstStyle/>
          <a:p>
            <a:pPr marL="0" indent="0" algn="ctr">
              <a:buNone/>
            </a:pPr>
            <a:r>
              <a:rPr lang="en-US" sz="1400" b="1" dirty="0">
                <a:solidFill>
                  <a:srgbClr val="000000"/>
                </a:solidFill>
                <a:latin typeface="游ゴシック" pitchFamily="34" charset="0"/>
                <a:ea typeface="游ゴシック" pitchFamily="34" charset="-122"/>
                <a:cs typeface="游ゴシック" pitchFamily="34" charset="-120"/>
              </a:rPr>
              <a:t>1</a:t>
            </a:r>
            <a:endParaRPr lang="en-US" sz="1400" dirty="0"/>
          </a:p>
        </p:txBody>
      </p:sp>
      <p:sp>
        <p:nvSpPr>
          <p:cNvPr id="23" name="Text 21"/>
          <p:cNvSpPr txBox="1"/>
          <p:nvPr/>
        </p:nvSpPr>
        <p:spPr>
          <a:xfrm>
            <a:off x="1051560" y="4462272"/>
            <a:ext cx="4754880" cy="365760"/>
          </a:xfrm>
          <a:prstGeom prst="rect">
            <a:avLst/>
          </a:prstGeom>
          <a:noFill/>
          <a:ln/>
        </p:spPr>
        <p:txBody>
          <a:bodyPr wrap="square" lIns="0" tIns="0" rIns="0" bIns="0" rtlCol="0" anchor="ctr"/>
          <a:lstStyle/>
          <a:p>
            <a:pPr marL="0" indent="0">
              <a:buNone/>
            </a:pPr>
            <a:r>
              <a:rPr lang="en-US" sz="1800" b="1" dirty="0">
                <a:solidFill>
                  <a:srgbClr val="156082"/>
                </a:solidFill>
                <a:latin typeface="游ゴシック" pitchFamily="34" charset="0"/>
                <a:ea typeface="游ゴシック" pitchFamily="34" charset="-122"/>
                <a:cs typeface="游ゴシック" pitchFamily="34" charset="-120"/>
              </a:rPr>
              <a:t>in=…Hz</a:t>
            </a:r>
            <a:endParaRPr lang="en-US" sz="1800" dirty="0"/>
          </a:p>
        </p:txBody>
      </p:sp>
      <p:sp>
        <p:nvSpPr>
          <p:cNvPr id="24" name="Text 22"/>
          <p:cNvSpPr txBox="1"/>
          <p:nvPr/>
        </p:nvSpPr>
        <p:spPr>
          <a:xfrm>
            <a:off x="1051560" y="4828032"/>
            <a:ext cx="4754880" cy="502920"/>
          </a:xfrm>
          <a:prstGeom prst="rect">
            <a:avLst/>
          </a:prstGeom>
          <a:noFill/>
          <a:ln/>
        </p:spPr>
        <p:txBody>
          <a:bodyPr wrap="square" lIns="0" tIns="0" rIns="0" bIns="0" rtlCol="0" anchor="t"/>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周期ハンドラが 1 秒ごとに出す統計。入力の速さと取りこぼし</a:t>
            </a:r>
            <a:endParaRPr lang="en-US" sz="1500" dirty="0"/>
          </a:p>
        </p:txBody>
      </p:sp>
      <p:sp>
        <p:nvSpPr>
          <p:cNvPr id="25" name="Shape 23"/>
          <p:cNvSpPr/>
          <p:nvPr/>
        </p:nvSpPr>
        <p:spPr>
          <a:xfrm>
            <a:off x="6172200" y="4389120"/>
            <a:ext cx="5486400" cy="960120"/>
          </a:xfrm>
          <a:prstGeom prst="rect">
            <a:avLst/>
          </a:prstGeom>
          <a:solidFill>
            <a:srgbClr val="F2F2F2"/>
          </a:solidFill>
          <a:ln w="12700">
            <a:solidFill>
              <a:srgbClr val="F2F2F2"/>
            </a:solidFill>
            <a:prstDash val="solid"/>
          </a:ln>
        </p:spPr>
        <p:txBody>
          <a:bodyPr/>
          <a:lstStyle/>
          <a:p>
            <a:endParaRPr lang="ja-JP" altLang="en-US"/>
          </a:p>
        </p:txBody>
      </p:sp>
      <p:sp>
        <p:nvSpPr>
          <p:cNvPr id="26" name="Shape 24"/>
          <p:cNvSpPr/>
          <p:nvPr/>
        </p:nvSpPr>
        <p:spPr>
          <a:xfrm>
            <a:off x="6309360" y="4498848"/>
            <a:ext cx="329184" cy="329184"/>
          </a:xfrm>
          <a:prstGeom prst="ellipse">
            <a:avLst/>
          </a:prstGeom>
          <a:solidFill>
            <a:srgbClr val="FFC000"/>
          </a:solidFill>
          <a:ln w="12700">
            <a:solidFill>
              <a:srgbClr val="FFC000"/>
            </a:solidFill>
            <a:prstDash val="solid"/>
          </a:ln>
        </p:spPr>
        <p:txBody>
          <a:bodyPr/>
          <a:lstStyle/>
          <a:p>
            <a:endParaRPr lang="ja-JP" altLang="en-US"/>
          </a:p>
        </p:txBody>
      </p:sp>
      <p:sp>
        <p:nvSpPr>
          <p:cNvPr id="27" name="Text 25"/>
          <p:cNvSpPr txBox="1"/>
          <p:nvPr/>
        </p:nvSpPr>
        <p:spPr>
          <a:xfrm>
            <a:off x="6309360" y="4498848"/>
            <a:ext cx="329184" cy="329184"/>
          </a:xfrm>
          <a:prstGeom prst="rect">
            <a:avLst/>
          </a:prstGeom>
          <a:noFill/>
          <a:ln/>
        </p:spPr>
        <p:txBody>
          <a:bodyPr wrap="square" lIns="0" tIns="0" rIns="0" bIns="0" rtlCol="0" anchor="ctr"/>
          <a:lstStyle/>
          <a:p>
            <a:pPr marL="0" indent="0" algn="ctr">
              <a:buNone/>
            </a:pPr>
            <a:r>
              <a:rPr lang="en-US" sz="1400" b="1" dirty="0">
                <a:solidFill>
                  <a:srgbClr val="000000"/>
                </a:solidFill>
                <a:latin typeface="游ゴシック" pitchFamily="34" charset="0"/>
                <a:ea typeface="游ゴシック" pitchFamily="34" charset="-122"/>
                <a:cs typeface="游ゴシック" pitchFamily="34" charset="-120"/>
              </a:rPr>
              <a:t>2</a:t>
            </a:r>
            <a:endParaRPr lang="en-US" sz="1400" dirty="0"/>
          </a:p>
        </p:txBody>
      </p:sp>
      <p:sp>
        <p:nvSpPr>
          <p:cNvPr id="28" name="Text 26"/>
          <p:cNvSpPr txBox="1"/>
          <p:nvPr/>
        </p:nvSpPr>
        <p:spPr>
          <a:xfrm>
            <a:off x="6766560" y="4462272"/>
            <a:ext cx="4754880" cy="365760"/>
          </a:xfrm>
          <a:prstGeom prst="rect">
            <a:avLst/>
          </a:prstGeom>
          <a:noFill/>
          <a:ln/>
        </p:spPr>
        <p:txBody>
          <a:bodyPr wrap="square" lIns="0" tIns="0" rIns="0" bIns="0" rtlCol="0" anchor="ctr"/>
          <a:lstStyle/>
          <a:p>
            <a:pPr marL="0" indent="0">
              <a:buNone/>
            </a:pPr>
            <a:r>
              <a:rPr lang="en-US" sz="1800" b="1" dirty="0">
                <a:solidFill>
                  <a:srgbClr val="156082"/>
                </a:solidFill>
                <a:latin typeface="游ゴシック" pitchFamily="34" charset="0"/>
                <a:ea typeface="游ゴシック" pitchFamily="34" charset="-122"/>
                <a:cs typeface="游ゴシック" pitchFamily="34" charset="-120"/>
              </a:rPr>
              <a:t>JSON</a:t>
            </a:r>
            <a:endParaRPr lang="en-US" sz="1800" dirty="0"/>
          </a:p>
        </p:txBody>
      </p:sp>
      <p:sp>
        <p:nvSpPr>
          <p:cNvPr id="29" name="Text 27"/>
          <p:cNvSpPr txBox="1"/>
          <p:nvPr/>
        </p:nvSpPr>
        <p:spPr>
          <a:xfrm>
            <a:off x="6766560" y="4828032"/>
            <a:ext cx="4754880" cy="502920"/>
          </a:xfrm>
          <a:prstGeom prst="rect">
            <a:avLst/>
          </a:prstGeom>
          <a:noFill/>
          <a:ln/>
        </p:spPr>
        <p:txBody>
          <a:bodyPr wrap="square" lIns="0" tIns="0" rIns="0" bIns="0" rtlCol="0" anchor="t"/>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外部連携用の通知。lat_ms は検出から通知までの時間</a:t>
            </a:r>
            <a:endParaRPr lang="en-US" sz="1500" dirty="0"/>
          </a:p>
        </p:txBody>
      </p:sp>
      <p:sp>
        <p:nvSpPr>
          <p:cNvPr id="30" name="Shape 28"/>
          <p:cNvSpPr/>
          <p:nvPr/>
        </p:nvSpPr>
        <p:spPr>
          <a:xfrm>
            <a:off x="457200" y="5440680"/>
            <a:ext cx="5486400" cy="960120"/>
          </a:xfrm>
          <a:prstGeom prst="rect">
            <a:avLst/>
          </a:prstGeom>
          <a:solidFill>
            <a:srgbClr val="F2F2F2"/>
          </a:solidFill>
          <a:ln w="12700">
            <a:solidFill>
              <a:srgbClr val="F2F2F2"/>
            </a:solidFill>
            <a:prstDash val="solid"/>
          </a:ln>
        </p:spPr>
        <p:txBody>
          <a:bodyPr/>
          <a:lstStyle/>
          <a:p>
            <a:endParaRPr lang="ja-JP" altLang="en-US"/>
          </a:p>
        </p:txBody>
      </p:sp>
      <p:sp>
        <p:nvSpPr>
          <p:cNvPr id="31" name="Shape 29"/>
          <p:cNvSpPr/>
          <p:nvPr/>
        </p:nvSpPr>
        <p:spPr>
          <a:xfrm>
            <a:off x="594360" y="5550408"/>
            <a:ext cx="329184" cy="329184"/>
          </a:xfrm>
          <a:prstGeom prst="ellipse">
            <a:avLst/>
          </a:prstGeom>
          <a:solidFill>
            <a:srgbClr val="FFC000"/>
          </a:solidFill>
          <a:ln w="12700">
            <a:solidFill>
              <a:srgbClr val="FFC000"/>
            </a:solidFill>
            <a:prstDash val="solid"/>
          </a:ln>
        </p:spPr>
        <p:txBody>
          <a:bodyPr/>
          <a:lstStyle/>
          <a:p>
            <a:endParaRPr lang="ja-JP" altLang="en-US"/>
          </a:p>
        </p:txBody>
      </p:sp>
      <p:sp>
        <p:nvSpPr>
          <p:cNvPr id="32" name="Text 30"/>
          <p:cNvSpPr txBox="1"/>
          <p:nvPr/>
        </p:nvSpPr>
        <p:spPr>
          <a:xfrm>
            <a:off x="594360" y="5550408"/>
            <a:ext cx="329184" cy="329184"/>
          </a:xfrm>
          <a:prstGeom prst="rect">
            <a:avLst/>
          </a:prstGeom>
          <a:noFill/>
          <a:ln/>
        </p:spPr>
        <p:txBody>
          <a:bodyPr wrap="square" lIns="0" tIns="0" rIns="0" bIns="0" rtlCol="0" anchor="ctr"/>
          <a:lstStyle/>
          <a:p>
            <a:pPr marL="0" indent="0" algn="ctr">
              <a:buNone/>
            </a:pPr>
            <a:r>
              <a:rPr lang="en-US" sz="1400" b="1" dirty="0">
                <a:solidFill>
                  <a:srgbClr val="000000"/>
                </a:solidFill>
                <a:latin typeface="游ゴシック" pitchFamily="34" charset="0"/>
                <a:ea typeface="游ゴシック" pitchFamily="34" charset="-122"/>
                <a:cs typeface="游ゴシック" pitchFamily="34" charset="-120"/>
              </a:rPr>
              <a:t>3</a:t>
            </a:r>
            <a:endParaRPr lang="en-US" sz="1400" dirty="0"/>
          </a:p>
        </p:txBody>
      </p:sp>
      <p:sp>
        <p:nvSpPr>
          <p:cNvPr id="33" name="Text 31"/>
          <p:cNvSpPr txBox="1"/>
          <p:nvPr/>
        </p:nvSpPr>
        <p:spPr>
          <a:xfrm>
            <a:off x="1051560" y="5513832"/>
            <a:ext cx="4754880" cy="365760"/>
          </a:xfrm>
          <a:prstGeom prst="rect">
            <a:avLst/>
          </a:prstGeom>
          <a:noFill/>
          <a:ln/>
        </p:spPr>
        <p:txBody>
          <a:bodyPr wrap="square" lIns="0" tIns="0" rIns="0" bIns="0" rtlCol="0" anchor="ctr"/>
          <a:lstStyle/>
          <a:p>
            <a:pPr marL="0" indent="0">
              <a:buNone/>
            </a:pPr>
            <a:r>
              <a:rPr lang="en-US" sz="1800" b="1" dirty="0">
                <a:solidFill>
                  <a:srgbClr val="156082"/>
                </a:solidFill>
                <a:latin typeface="游ゴシック" pitchFamily="34" charset="0"/>
                <a:ea typeface="游ゴシック" pitchFamily="34" charset="-122"/>
                <a:cs typeface="游ゴシック" pitchFamily="34" charset="-120"/>
              </a:rPr>
              <a:t>win 行</a:t>
            </a:r>
            <a:endParaRPr lang="en-US" sz="1800" dirty="0"/>
          </a:p>
        </p:txBody>
      </p:sp>
      <p:sp>
        <p:nvSpPr>
          <p:cNvPr id="34" name="Text 32"/>
          <p:cNvSpPr txBox="1"/>
          <p:nvPr/>
        </p:nvSpPr>
        <p:spPr>
          <a:xfrm>
            <a:off x="1051560" y="5879592"/>
            <a:ext cx="4754880" cy="502920"/>
          </a:xfrm>
          <a:prstGeom prst="rect">
            <a:avLst/>
          </a:prstGeom>
          <a:noFill/>
          <a:ln/>
        </p:spPr>
        <p:txBody>
          <a:bodyPr wrap="square" lIns="0" tIns="0" rIns="0" bIns="0" rtlCol="0" anchor="t"/>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窓の番号・平均音量（dBFS）・瞬間音量（peak）・窓が揃ってから処理を始めるまでの遅れ（lag）</a:t>
            </a:r>
            <a:endParaRPr lang="en-US" sz="1500" dirty="0"/>
          </a:p>
        </p:txBody>
      </p:sp>
      <p:sp>
        <p:nvSpPr>
          <p:cNvPr id="35" name="Shape 33"/>
          <p:cNvSpPr/>
          <p:nvPr/>
        </p:nvSpPr>
        <p:spPr>
          <a:xfrm>
            <a:off x="6172200" y="5440680"/>
            <a:ext cx="5486400" cy="960120"/>
          </a:xfrm>
          <a:prstGeom prst="rect">
            <a:avLst/>
          </a:prstGeom>
          <a:solidFill>
            <a:srgbClr val="F2F2F2"/>
          </a:solidFill>
          <a:ln w="12700">
            <a:solidFill>
              <a:srgbClr val="F2F2F2"/>
            </a:solidFill>
            <a:prstDash val="solid"/>
          </a:ln>
        </p:spPr>
        <p:txBody>
          <a:bodyPr/>
          <a:lstStyle/>
          <a:p>
            <a:endParaRPr lang="ja-JP" altLang="en-US"/>
          </a:p>
        </p:txBody>
      </p:sp>
      <p:sp>
        <p:nvSpPr>
          <p:cNvPr id="36" name="Shape 34"/>
          <p:cNvSpPr/>
          <p:nvPr/>
        </p:nvSpPr>
        <p:spPr>
          <a:xfrm>
            <a:off x="6309360" y="5550408"/>
            <a:ext cx="329184" cy="329184"/>
          </a:xfrm>
          <a:prstGeom prst="ellipse">
            <a:avLst/>
          </a:prstGeom>
          <a:solidFill>
            <a:srgbClr val="FFC000"/>
          </a:solidFill>
          <a:ln w="12700">
            <a:solidFill>
              <a:srgbClr val="FFC000"/>
            </a:solidFill>
            <a:prstDash val="solid"/>
          </a:ln>
        </p:spPr>
        <p:txBody>
          <a:bodyPr/>
          <a:lstStyle/>
          <a:p>
            <a:endParaRPr lang="ja-JP" altLang="en-US"/>
          </a:p>
        </p:txBody>
      </p:sp>
      <p:sp>
        <p:nvSpPr>
          <p:cNvPr id="37" name="Text 35"/>
          <p:cNvSpPr txBox="1"/>
          <p:nvPr/>
        </p:nvSpPr>
        <p:spPr>
          <a:xfrm>
            <a:off x="6309360" y="5550408"/>
            <a:ext cx="329184" cy="329184"/>
          </a:xfrm>
          <a:prstGeom prst="rect">
            <a:avLst/>
          </a:prstGeom>
          <a:noFill/>
          <a:ln/>
        </p:spPr>
        <p:txBody>
          <a:bodyPr wrap="square" lIns="0" tIns="0" rIns="0" bIns="0" rtlCol="0" anchor="ctr"/>
          <a:lstStyle/>
          <a:p>
            <a:pPr marL="0" indent="0" algn="ctr">
              <a:buNone/>
            </a:pPr>
            <a:r>
              <a:rPr lang="en-US" sz="1400" b="1" dirty="0">
                <a:solidFill>
                  <a:srgbClr val="000000"/>
                </a:solidFill>
                <a:latin typeface="游ゴシック" pitchFamily="34" charset="0"/>
                <a:ea typeface="游ゴシック" pitchFamily="34" charset="-122"/>
                <a:cs typeface="游ゴシック" pitchFamily="34" charset="-120"/>
              </a:rPr>
              <a:t>4</a:t>
            </a:r>
            <a:endParaRPr lang="en-US" sz="1400" dirty="0"/>
          </a:p>
        </p:txBody>
      </p:sp>
      <p:sp>
        <p:nvSpPr>
          <p:cNvPr id="38" name="Text 36"/>
          <p:cNvSpPr txBox="1"/>
          <p:nvPr/>
        </p:nvSpPr>
        <p:spPr>
          <a:xfrm>
            <a:off x="6766560" y="5513832"/>
            <a:ext cx="4754880" cy="365760"/>
          </a:xfrm>
          <a:prstGeom prst="rect">
            <a:avLst/>
          </a:prstGeom>
          <a:noFill/>
          <a:ln/>
        </p:spPr>
        <p:txBody>
          <a:bodyPr wrap="square" lIns="0" tIns="0" rIns="0" bIns="0" rtlCol="0" anchor="ctr"/>
          <a:lstStyle/>
          <a:p>
            <a:pPr marL="0" indent="0">
              <a:buNone/>
            </a:pPr>
            <a:r>
              <a:rPr lang="en-US" sz="1800" b="1" dirty="0">
                <a:solidFill>
                  <a:srgbClr val="156082"/>
                </a:solidFill>
                <a:latin typeface="游ゴシック" pitchFamily="34" charset="0"/>
                <a:ea typeface="游ゴシック" pitchFamily="34" charset="-122"/>
                <a:cs typeface="游ゴシック" pitchFamily="34" charset="-120"/>
              </a:rPr>
              <a:t>-&gt; 行</a:t>
            </a:r>
            <a:endParaRPr lang="en-US" sz="1800" dirty="0"/>
          </a:p>
        </p:txBody>
      </p:sp>
      <p:sp>
        <p:nvSpPr>
          <p:cNvPr id="39" name="Text 37"/>
          <p:cNvSpPr txBox="1"/>
          <p:nvPr/>
        </p:nvSpPr>
        <p:spPr>
          <a:xfrm>
            <a:off x="6766560" y="5879592"/>
            <a:ext cx="4754880" cy="502920"/>
          </a:xfrm>
          <a:prstGeom prst="rect">
            <a:avLst/>
          </a:prstGeom>
          <a:noFill/>
          <a:ln/>
        </p:spPr>
        <p:txBody>
          <a:bodyPr wrap="square" lIns="0" tIns="0" rIns="0" bIns="0" rtlCol="0" anchor="t"/>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判定：クラス・確率・暗騒音（floor）との差（Δ）と、前処理・推論の時間</a:t>
            </a:r>
            <a:endParaRPr lang="en-US" sz="15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10-4　最終集計（FINAL）の読み方</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ctr"/>
          <a:lstStyle/>
          <a:p>
            <a:pPr marL="0" indent="0" algn="ctr">
              <a:buNone/>
            </a:pPr>
            <a:r>
              <a:rPr lang="en-US" sz="2800" b="1" dirty="0">
                <a:solidFill>
                  <a:srgbClr val="FF0000"/>
                </a:solidFill>
                <a:latin typeface="游ゴシック" pitchFamily="34" charset="0"/>
                <a:ea typeface="游ゴシック" pitchFamily="34" charset="-122"/>
                <a:cs typeface="游ゴシック" pitchFamily="34" charset="-120"/>
              </a:rPr>
              <a:t>取りこぼしと「捨てた数」がすべて 0 なら、何も落ちていない</a:t>
            </a:r>
            <a:endParaRPr lang="en-US" sz="2800" dirty="0"/>
          </a:p>
        </p:txBody>
      </p:sp>
      <p:sp>
        <p:nvSpPr>
          <p:cNvPr id="5" name="Shape 3"/>
          <p:cNvSpPr/>
          <p:nvPr/>
        </p:nvSpPr>
        <p:spPr>
          <a:xfrm>
            <a:off x="457200" y="2148840"/>
            <a:ext cx="11274552" cy="292608"/>
          </a:xfrm>
          <a:prstGeom prst="rect">
            <a:avLst/>
          </a:prstGeom>
          <a:solidFill>
            <a:srgbClr val="3C3C3C"/>
          </a:solidFill>
          <a:ln w="12700">
            <a:solidFill>
              <a:srgbClr val="3C3C3C"/>
            </a:solidFill>
            <a:prstDash val="solid"/>
          </a:ln>
        </p:spPr>
        <p:txBody>
          <a:bodyPr/>
          <a:lstStyle/>
          <a:p>
            <a:endParaRPr lang="ja-JP" altLang="en-US"/>
          </a:p>
        </p:txBody>
      </p:sp>
      <p:sp>
        <p:nvSpPr>
          <p:cNvPr id="9" name="Text 7"/>
          <p:cNvSpPr txBox="1"/>
          <p:nvPr/>
        </p:nvSpPr>
        <p:spPr>
          <a:xfrm>
            <a:off x="548640" y="2176272"/>
            <a:ext cx="10543032" cy="292608"/>
          </a:xfrm>
          <a:prstGeom prst="rect">
            <a:avLst/>
          </a:prstGeom>
          <a:noFill/>
          <a:ln/>
        </p:spPr>
        <p:txBody>
          <a:bodyPr wrap="square" lIns="0" tIns="0" rIns="0" bIns="0" rtlCol="0" anchor="ctr"/>
          <a:lstStyle/>
          <a:p>
            <a:pPr marL="0" indent="0">
              <a:buNone/>
            </a:pPr>
            <a:r>
              <a:rPr lang="en-US" sz="1100" dirty="0">
                <a:solidFill>
                  <a:srgbClr val="E0E0E0"/>
                </a:solidFill>
                <a:latin typeface="游ゴシック" pitchFamily="34" charset="0"/>
                <a:ea typeface="游ゴシック" pitchFamily="34" charset="-122"/>
                <a:cs typeface="游ゴシック" pitchFamily="34" charset="-120"/>
              </a:rPr>
              <a:t>1 時間運転の最後に出る FINAL（2026-09-27 17:20）</a:t>
            </a:r>
            <a:endParaRPr lang="en-US" sz="1100" dirty="0"/>
          </a:p>
        </p:txBody>
      </p:sp>
      <p:sp>
        <p:nvSpPr>
          <p:cNvPr id="10" name="Shape 8"/>
          <p:cNvSpPr/>
          <p:nvPr/>
        </p:nvSpPr>
        <p:spPr>
          <a:xfrm>
            <a:off x="457200" y="2441448"/>
            <a:ext cx="11274552" cy="1993392"/>
          </a:xfrm>
          <a:prstGeom prst="rect">
            <a:avLst/>
          </a:prstGeom>
          <a:solidFill>
            <a:srgbClr val="1E1E1E"/>
          </a:solidFill>
          <a:ln w="12700">
            <a:solidFill>
              <a:srgbClr val="1E1E1E"/>
            </a:solidFill>
            <a:prstDash val="solid"/>
          </a:ln>
        </p:spPr>
        <p:txBody>
          <a:bodyPr/>
          <a:lstStyle/>
          <a:p>
            <a:endParaRPr lang="ja-JP" altLang="en-US"/>
          </a:p>
        </p:txBody>
      </p:sp>
      <p:sp>
        <p:nvSpPr>
          <p:cNvPr id="11" name="Text 9"/>
          <p:cNvSpPr txBox="1"/>
          <p:nvPr/>
        </p:nvSpPr>
        <p:spPr>
          <a:xfrm>
            <a:off x="868680" y="2560320"/>
            <a:ext cx="10771632" cy="1783080"/>
          </a:xfrm>
          <a:prstGeom prst="rect">
            <a:avLst/>
          </a:prstGeom>
          <a:noFill/>
          <a:ln/>
        </p:spPr>
        <p:txBody>
          <a:bodyPr wrap="square" lIns="0" tIns="0" rIns="0" bIns="0" rtlCol="0" anchor="t"/>
          <a:lstStyle/>
          <a:p>
            <a:pPr marL="0" indent="0">
              <a:lnSpc>
                <a:spcPts val="2000"/>
              </a:lnSpc>
              <a:buNone/>
            </a:pPr>
            <a:r>
              <a:rPr lang="en-US" sz="1300" dirty="0">
                <a:solidFill>
                  <a:srgbClr val="D4D4D4"/>
                </a:solidFill>
                <a:latin typeface="Consolas" pitchFamily="34" charset="0"/>
                <a:ea typeface="Consolas" pitchFamily="34" charset="-122"/>
                <a:cs typeface="Consolas" pitchFamily="34" charset="-120"/>
              </a:rPr>
              <a:t>tap final: windows=3854 (expected 3854 from 59209472 samples) overrun=0 torn=0 skipped=0</a:t>
            </a:r>
            <a:endParaRPr lang="en-US" sz="1300" dirty="0"/>
          </a:p>
          <a:p>
            <a:pPr marL="0" indent="0">
              <a:lnSpc>
                <a:spcPts val="2000"/>
              </a:lnSpc>
              <a:buNone/>
            </a:pPr>
            <a:r>
              <a:rPr lang="en-US" sz="1300" b="1" dirty="0">
                <a:solidFill>
                  <a:srgbClr val="B5CEA8"/>
                </a:solidFill>
                <a:latin typeface="Consolas" pitchFamily="34" charset="0"/>
                <a:ea typeface="Consolas" pitchFamily="34" charset="-122"/>
                <a:cs typeface="Consolas" pitchFamily="34" charset="-120"/>
              </a:rPr>
              <a:t>  audio under=0 over=0 late=0 | aed run=3854 err=0 (last er=0)</a:t>
            </a:r>
            <a:endParaRPr lang="en-US" sz="1300" dirty="0"/>
          </a:p>
          <a:p>
            <a:pPr marL="0" indent="0">
              <a:lnSpc>
                <a:spcPts val="2000"/>
              </a:lnSpc>
              <a:buNone/>
            </a:pPr>
            <a:r>
              <a:rPr lang="en-US" sz="1300" dirty="0">
                <a:solidFill>
                  <a:srgbClr val="D4D4D4"/>
                </a:solidFill>
                <a:latin typeface="Consolas" pitchFamily="34" charset="0"/>
                <a:ea typeface="Consolas" pitchFamily="34" charset="-122"/>
                <a:cs typeface="Consolas" pitchFamily="34" charset="-120"/>
              </a:rPr>
              <a:t>  preproc max=69145us avg=69077us | infer max=41158us avg=41054us</a:t>
            </a:r>
            <a:endParaRPr lang="en-US" sz="1300" dirty="0"/>
          </a:p>
          <a:p>
            <a:pPr marL="0" indent="0">
              <a:lnSpc>
                <a:spcPts val="2000"/>
              </a:lnSpc>
              <a:buNone/>
            </a:pPr>
            <a:r>
              <a:rPr lang="en-US" sz="1300" dirty="0">
                <a:solidFill>
                  <a:srgbClr val="D4D4D4"/>
                </a:solidFill>
                <a:latin typeface="Consolas" pitchFamily="34" charset="0"/>
                <a:ea typeface="Consolas" pitchFamily="34" charset="-122"/>
                <a:cs typeface="Consolas" pitchFamily="34" charset="-120"/>
              </a:rPr>
              <a:t>  notify out=157 held=3436 offlist=261 gated=427 lat max=112328us (0 lower bounds)</a:t>
            </a:r>
            <a:endParaRPr lang="en-US" sz="1300" dirty="0"/>
          </a:p>
          <a:p>
            <a:pPr marL="0" indent="0">
              <a:lnSpc>
                <a:spcPts val="2000"/>
              </a:lnSpc>
              <a:buNone/>
            </a:pPr>
            <a:r>
              <a:rPr lang="en-US" sz="1300" b="1" dirty="0">
                <a:solidFill>
                  <a:srgbClr val="B5CEA8"/>
                </a:solidFill>
                <a:latin typeface="Consolas" pitchFamily="34" charset="0"/>
                <a:ea typeface="Consolas" pitchFamily="34" charset="-122"/>
                <a:cs typeface="Consolas" pitchFamily="34" charset="-120"/>
              </a:rPr>
              <a:t>  log sent=24238 dropped=0 lag max=127874us</a:t>
            </a:r>
            <a:endParaRPr lang="en-US" sz="1300" dirty="0"/>
          </a:p>
          <a:p>
            <a:pPr marL="0" indent="0">
              <a:lnSpc>
                <a:spcPts val="2000"/>
              </a:lnSpc>
              <a:buNone/>
            </a:pPr>
            <a:r>
              <a:rPr lang="en-US" sz="1300" b="1" dirty="0">
                <a:solidFill>
                  <a:srgbClr val="B5CEA8"/>
                </a:solidFill>
                <a:latin typeface="Consolas" pitchFamily="34" charset="0"/>
                <a:ea typeface="Consolas" pitchFamily="34" charset="-122"/>
                <a:cs typeface="Consolas" pitchFamily="34" charset="-120"/>
              </a:rPr>
              <a:t>  disp sent=83 dropped=0 max=98707us avg=30502us</a:t>
            </a:r>
            <a:endParaRPr lang="en-US" sz="1300" dirty="0"/>
          </a:p>
        </p:txBody>
      </p:sp>
      <p:sp>
        <p:nvSpPr>
          <p:cNvPr id="12" name="Shape 10"/>
          <p:cNvSpPr/>
          <p:nvPr/>
        </p:nvSpPr>
        <p:spPr>
          <a:xfrm>
            <a:off x="548640" y="2586736"/>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13" name="Text 11"/>
          <p:cNvSpPr txBox="1"/>
          <p:nvPr/>
        </p:nvSpPr>
        <p:spPr>
          <a:xfrm>
            <a:off x="548640" y="2586736"/>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1</a:t>
            </a:r>
            <a:endParaRPr lang="en-US" sz="1000" dirty="0"/>
          </a:p>
        </p:txBody>
      </p:sp>
      <p:sp>
        <p:nvSpPr>
          <p:cNvPr id="14" name="Shape 12"/>
          <p:cNvSpPr/>
          <p:nvPr/>
        </p:nvSpPr>
        <p:spPr>
          <a:xfrm>
            <a:off x="548640" y="2840736"/>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15" name="Text 13"/>
          <p:cNvSpPr txBox="1"/>
          <p:nvPr/>
        </p:nvSpPr>
        <p:spPr>
          <a:xfrm>
            <a:off x="548640" y="2840736"/>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2</a:t>
            </a:r>
            <a:endParaRPr lang="en-US" sz="1000" dirty="0"/>
          </a:p>
        </p:txBody>
      </p:sp>
      <p:sp>
        <p:nvSpPr>
          <p:cNvPr id="16" name="Shape 14"/>
          <p:cNvSpPr/>
          <p:nvPr/>
        </p:nvSpPr>
        <p:spPr>
          <a:xfrm>
            <a:off x="548640" y="3348736"/>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17" name="Text 15"/>
          <p:cNvSpPr txBox="1"/>
          <p:nvPr/>
        </p:nvSpPr>
        <p:spPr>
          <a:xfrm>
            <a:off x="548640" y="3348736"/>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3</a:t>
            </a:r>
            <a:endParaRPr lang="en-US" sz="1000" dirty="0"/>
          </a:p>
        </p:txBody>
      </p:sp>
      <p:sp>
        <p:nvSpPr>
          <p:cNvPr id="18" name="Shape 16"/>
          <p:cNvSpPr/>
          <p:nvPr/>
        </p:nvSpPr>
        <p:spPr>
          <a:xfrm>
            <a:off x="548640" y="3602736"/>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19" name="Text 17"/>
          <p:cNvSpPr txBox="1"/>
          <p:nvPr/>
        </p:nvSpPr>
        <p:spPr>
          <a:xfrm>
            <a:off x="548640" y="3602736"/>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4</a:t>
            </a:r>
            <a:endParaRPr lang="en-US" sz="1000" dirty="0"/>
          </a:p>
        </p:txBody>
      </p:sp>
      <p:sp>
        <p:nvSpPr>
          <p:cNvPr id="20" name="Shape 18"/>
          <p:cNvSpPr/>
          <p:nvPr/>
        </p:nvSpPr>
        <p:spPr>
          <a:xfrm>
            <a:off x="548640" y="3856736"/>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21" name="Text 19"/>
          <p:cNvSpPr txBox="1"/>
          <p:nvPr/>
        </p:nvSpPr>
        <p:spPr>
          <a:xfrm>
            <a:off x="548640" y="3856736"/>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4</a:t>
            </a:r>
            <a:endParaRPr lang="en-US" sz="1000" dirty="0"/>
          </a:p>
        </p:txBody>
      </p:sp>
      <p:sp>
        <p:nvSpPr>
          <p:cNvPr id="22" name="Shape 20"/>
          <p:cNvSpPr/>
          <p:nvPr/>
        </p:nvSpPr>
        <p:spPr>
          <a:xfrm>
            <a:off x="457200" y="4617720"/>
            <a:ext cx="5486400" cy="886968"/>
          </a:xfrm>
          <a:prstGeom prst="rect">
            <a:avLst/>
          </a:prstGeom>
          <a:solidFill>
            <a:srgbClr val="F2F2F2"/>
          </a:solidFill>
          <a:ln w="12700">
            <a:solidFill>
              <a:srgbClr val="F2F2F2"/>
            </a:solidFill>
            <a:prstDash val="solid"/>
          </a:ln>
        </p:spPr>
        <p:txBody>
          <a:bodyPr/>
          <a:lstStyle/>
          <a:p>
            <a:endParaRPr lang="ja-JP" altLang="en-US"/>
          </a:p>
        </p:txBody>
      </p:sp>
      <p:sp>
        <p:nvSpPr>
          <p:cNvPr id="23" name="Shape 21"/>
          <p:cNvSpPr/>
          <p:nvPr/>
        </p:nvSpPr>
        <p:spPr>
          <a:xfrm>
            <a:off x="594360" y="4709160"/>
            <a:ext cx="329184" cy="329184"/>
          </a:xfrm>
          <a:prstGeom prst="ellipse">
            <a:avLst/>
          </a:prstGeom>
          <a:solidFill>
            <a:srgbClr val="FFC000"/>
          </a:solidFill>
          <a:ln w="12700">
            <a:solidFill>
              <a:srgbClr val="FFC000"/>
            </a:solidFill>
            <a:prstDash val="solid"/>
          </a:ln>
        </p:spPr>
        <p:txBody>
          <a:bodyPr/>
          <a:lstStyle/>
          <a:p>
            <a:endParaRPr lang="ja-JP" altLang="en-US"/>
          </a:p>
        </p:txBody>
      </p:sp>
      <p:sp>
        <p:nvSpPr>
          <p:cNvPr id="24" name="Text 22"/>
          <p:cNvSpPr txBox="1"/>
          <p:nvPr/>
        </p:nvSpPr>
        <p:spPr>
          <a:xfrm>
            <a:off x="594360" y="4709160"/>
            <a:ext cx="329184" cy="329184"/>
          </a:xfrm>
          <a:prstGeom prst="rect">
            <a:avLst/>
          </a:prstGeom>
          <a:noFill/>
          <a:ln/>
        </p:spPr>
        <p:txBody>
          <a:bodyPr wrap="square" lIns="0" tIns="0" rIns="0" bIns="0" rtlCol="0" anchor="ctr"/>
          <a:lstStyle/>
          <a:p>
            <a:pPr marL="0" indent="0" algn="ctr">
              <a:buNone/>
            </a:pPr>
            <a:r>
              <a:rPr lang="en-US" sz="1400" b="1" dirty="0">
                <a:solidFill>
                  <a:srgbClr val="000000"/>
                </a:solidFill>
                <a:latin typeface="游ゴシック" pitchFamily="34" charset="0"/>
                <a:ea typeface="游ゴシック" pitchFamily="34" charset="-122"/>
                <a:cs typeface="游ゴシック" pitchFamily="34" charset="-120"/>
              </a:rPr>
              <a:t>1</a:t>
            </a:r>
            <a:endParaRPr lang="en-US" sz="1400" dirty="0"/>
          </a:p>
        </p:txBody>
      </p:sp>
      <p:sp>
        <p:nvSpPr>
          <p:cNvPr id="25" name="Text 23"/>
          <p:cNvSpPr txBox="1"/>
          <p:nvPr/>
        </p:nvSpPr>
        <p:spPr>
          <a:xfrm>
            <a:off x="1051560" y="4663440"/>
            <a:ext cx="4754880" cy="365760"/>
          </a:xfrm>
          <a:prstGeom prst="rect">
            <a:avLst/>
          </a:prstGeom>
          <a:noFill/>
          <a:ln/>
        </p:spPr>
        <p:txBody>
          <a:bodyPr wrap="square" lIns="0" tIns="0" rIns="0" bIns="0" rtlCol="0" anchor="ctr"/>
          <a:lstStyle/>
          <a:p>
            <a:pPr marL="0" indent="0">
              <a:buNone/>
            </a:pPr>
            <a:r>
              <a:rPr lang="en-US" sz="1800" b="1" dirty="0">
                <a:solidFill>
                  <a:srgbClr val="156082"/>
                </a:solidFill>
                <a:latin typeface="游ゴシック" pitchFamily="34" charset="0"/>
                <a:ea typeface="游ゴシック" pitchFamily="34" charset="-122"/>
                <a:cs typeface="游ゴシック" pitchFamily="34" charset="-120"/>
              </a:rPr>
              <a:t>windows = expected</a:t>
            </a:r>
            <a:endParaRPr lang="en-US" sz="1800" dirty="0"/>
          </a:p>
        </p:txBody>
      </p:sp>
      <p:sp>
        <p:nvSpPr>
          <p:cNvPr id="26" name="Text 24"/>
          <p:cNvSpPr txBox="1"/>
          <p:nvPr/>
        </p:nvSpPr>
        <p:spPr>
          <a:xfrm>
            <a:off x="1051560" y="5029200"/>
            <a:ext cx="4754880" cy="457200"/>
          </a:xfrm>
          <a:prstGeom prst="rect">
            <a:avLst/>
          </a:prstGeom>
          <a:noFill/>
          <a:ln/>
        </p:spPr>
        <p:txBody>
          <a:bodyPr wrap="square" lIns="0" tIns="0" rIns="0" bIns="0" rtlCol="0" anchor="t"/>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音の量から計算した窓の数と、推論した窓の数が一致 → 窓の消失なし</a:t>
            </a:r>
            <a:endParaRPr lang="en-US" sz="1500" dirty="0"/>
          </a:p>
        </p:txBody>
      </p:sp>
      <p:sp>
        <p:nvSpPr>
          <p:cNvPr id="27" name="Shape 25"/>
          <p:cNvSpPr/>
          <p:nvPr/>
        </p:nvSpPr>
        <p:spPr>
          <a:xfrm>
            <a:off x="6172200" y="4617720"/>
            <a:ext cx="5486400" cy="886968"/>
          </a:xfrm>
          <a:prstGeom prst="rect">
            <a:avLst/>
          </a:prstGeom>
          <a:solidFill>
            <a:srgbClr val="F2F2F2"/>
          </a:solidFill>
          <a:ln w="12700">
            <a:solidFill>
              <a:srgbClr val="F2F2F2"/>
            </a:solidFill>
            <a:prstDash val="solid"/>
          </a:ln>
        </p:spPr>
        <p:txBody>
          <a:bodyPr/>
          <a:lstStyle/>
          <a:p>
            <a:endParaRPr lang="ja-JP" altLang="en-US"/>
          </a:p>
        </p:txBody>
      </p:sp>
      <p:sp>
        <p:nvSpPr>
          <p:cNvPr id="28" name="Shape 26"/>
          <p:cNvSpPr/>
          <p:nvPr/>
        </p:nvSpPr>
        <p:spPr>
          <a:xfrm>
            <a:off x="6309360" y="4709160"/>
            <a:ext cx="329184" cy="329184"/>
          </a:xfrm>
          <a:prstGeom prst="ellipse">
            <a:avLst/>
          </a:prstGeom>
          <a:solidFill>
            <a:srgbClr val="FFC000"/>
          </a:solidFill>
          <a:ln w="12700">
            <a:solidFill>
              <a:srgbClr val="FFC000"/>
            </a:solidFill>
            <a:prstDash val="solid"/>
          </a:ln>
        </p:spPr>
        <p:txBody>
          <a:bodyPr/>
          <a:lstStyle/>
          <a:p>
            <a:endParaRPr lang="ja-JP" altLang="en-US"/>
          </a:p>
        </p:txBody>
      </p:sp>
      <p:sp>
        <p:nvSpPr>
          <p:cNvPr id="29" name="Text 27"/>
          <p:cNvSpPr txBox="1"/>
          <p:nvPr/>
        </p:nvSpPr>
        <p:spPr>
          <a:xfrm>
            <a:off x="6309360" y="4709160"/>
            <a:ext cx="329184" cy="329184"/>
          </a:xfrm>
          <a:prstGeom prst="rect">
            <a:avLst/>
          </a:prstGeom>
          <a:noFill/>
          <a:ln/>
        </p:spPr>
        <p:txBody>
          <a:bodyPr wrap="square" lIns="0" tIns="0" rIns="0" bIns="0" rtlCol="0" anchor="ctr"/>
          <a:lstStyle/>
          <a:p>
            <a:pPr marL="0" indent="0" algn="ctr">
              <a:buNone/>
            </a:pPr>
            <a:r>
              <a:rPr lang="en-US" sz="1400" b="1" dirty="0">
                <a:solidFill>
                  <a:srgbClr val="000000"/>
                </a:solidFill>
                <a:latin typeface="游ゴシック" pitchFamily="34" charset="0"/>
                <a:ea typeface="游ゴシック" pitchFamily="34" charset="-122"/>
                <a:cs typeface="游ゴシック" pitchFamily="34" charset="-120"/>
              </a:rPr>
              <a:t>2</a:t>
            </a:r>
            <a:endParaRPr lang="en-US" sz="1400" dirty="0"/>
          </a:p>
        </p:txBody>
      </p:sp>
      <p:sp>
        <p:nvSpPr>
          <p:cNvPr id="30" name="Text 28"/>
          <p:cNvSpPr txBox="1"/>
          <p:nvPr/>
        </p:nvSpPr>
        <p:spPr>
          <a:xfrm>
            <a:off x="6766560" y="4663440"/>
            <a:ext cx="4754880" cy="365760"/>
          </a:xfrm>
          <a:prstGeom prst="rect">
            <a:avLst/>
          </a:prstGeom>
          <a:noFill/>
          <a:ln/>
        </p:spPr>
        <p:txBody>
          <a:bodyPr wrap="square" lIns="0" tIns="0" rIns="0" bIns="0" rtlCol="0" anchor="ctr"/>
          <a:lstStyle/>
          <a:p>
            <a:pPr marL="0" indent="0">
              <a:buNone/>
            </a:pPr>
            <a:r>
              <a:rPr lang="en-US" sz="1800" b="1" dirty="0">
                <a:solidFill>
                  <a:srgbClr val="156082"/>
                </a:solidFill>
                <a:latin typeface="游ゴシック" pitchFamily="34" charset="0"/>
                <a:ea typeface="游ゴシック" pitchFamily="34" charset="-122"/>
                <a:cs typeface="游ゴシック" pitchFamily="34" charset="-120"/>
              </a:rPr>
              <a:t>audio under / over / late</a:t>
            </a:r>
            <a:endParaRPr lang="en-US" sz="1800" dirty="0"/>
          </a:p>
        </p:txBody>
      </p:sp>
      <p:sp>
        <p:nvSpPr>
          <p:cNvPr id="31" name="Text 29"/>
          <p:cNvSpPr txBox="1"/>
          <p:nvPr/>
        </p:nvSpPr>
        <p:spPr>
          <a:xfrm>
            <a:off x="6766560" y="5029200"/>
            <a:ext cx="4754880" cy="457200"/>
          </a:xfrm>
          <a:prstGeom prst="rect">
            <a:avLst/>
          </a:prstGeom>
          <a:noFill/>
          <a:ln/>
        </p:spPr>
        <p:txBody>
          <a:bodyPr wrap="square" lIns="0" tIns="0" rIns="0" bIns="0" rtlCol="0" anchor="t"/>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音の取りこぼし。3 つとも 0 が合格</a:t>
            </a:r>
            <a:endParaRPr lang="en-US" sz="1500" dirty="0"/>
          </a:p>
        </p:txBody>
      </p:sp>
      <p:sp>
        <p:nvSpPr>
          <p:cNvPr id="32" name="Shape 30"/>
          <p:cNvSpPr/>
          <p:nvPr/>
        </p:nvSpPr>
        <p:spPr>
          <a:xfrm>
            <a:off x="457200" y="5577840"/>
            <a:ext cx="5486400" cy="886968"/>
          </a:xfrm>
          <a:prstGeom prst="rect">
            <a:avLst/>
          </a:prstGeom>
          <a:solidFill>
            <a:srgbClr val="F2F2F2"/>
          </a:solidFill>
          <a:ln w="12700">
            <a:solidFill>
              <a:srgbClr val="F2F2F2"/>
            </a:solidFill>
            <a:prstDash val="solid"/>
          </a:ln>
        </p:spPr>
        <p:txBody>
          <a:bodyPr/>
          <a:lstStyle/>
          <a:p>
            <a:endParaRPr lang="ja-JP" altLang="en-US"/>
          </a:p>
        </p:txBody>
      </p:sp>
      <p:sp>
        <p:nvSpPr>
          <p:cNvPr id="33" name="Shape 31"/>
          <p:cNvSpPr/>
          <p:nvPr/>
        </p:nvSpPr>
        <p:spPr>
          <a:xfrm>
            <a:off x="594360" y="5669280"/>
            <a:ext cx="329184" cy="329184"/>
          </a:xfrm>
          <a:prstGeom prst="ellipse">
            <a:avLst/>
          </a:prstGeom>
          <a:solidFill>
            <a:srgbClr val="FFC000"/>
          </a:solidFill>
          <a:ln w="12700">
            <a:solidFill>
              <a:srgbClr val="FFC000"/>
            </a:solidFill>
            <a:prstDash val="solid"/>
          </a:ln>
        </p:spPr>
        <p:txBody>
          <a:bodyPr/>
          <a:lstStyle/>
          <a:p>
            <a:endParaRPr lang="ja-JP" altLang="en-US"/>
          </a:p>
        </p:txBody>
      </p:sp>
      <p:sp>
        <p:nvSpPr>
          <p:cNvPr id="34" name="Text 32"/>
          <p:cNvSpPr txBox="1"/>
          <p:nvPr/>
        </p:nvSpPr>
        <p:spPr>
          <a:xfrm>
            <a:off x="594360" y="5669280"/>
            <a:ext cx="329184" cy="329184"/>
          </a:xfrm>
          <a:prstGeom prst="rect">
            <a:avLst/>
          </a:prstGeom>
          <a:noFill/>
          <a:ln/>
        </p:spPr>
        <p:txBody>
          <a:bodyPr wrap="square" lIns="0" tIns="0" rIns="0" bIns="0" rtlCol="0" anchor="ctr"/>
          <a:lstStyle/>
          <a:p>
            <a:pPr marL="0" indent="0" algn="ctr">
              <a:buNone/>
            </a:pPr>
            <a:r>
              <a:rPr lang="en-US" sz="1400" b="1" dirty="0">
                <a:solidFill>
                  <a:srgbClr val="000000"/>
                </a:solidFill>
                <a:latin typeface="游ゴシック" pitchFamily="34" charset="0"/>
                <a:ea typeface="游ゴシック" pitchFamily="34" charset="-122"/>
                <a:cs typeface="游ゴシック" pitchFamily="34" charset="-120"/>
              </a:rPr>
              <a:t>3</a:t>
            </a:r>
            <a:endParaRPr lang="en-US" sz="1400" dirty="0"/>
          </a:p>
        </p:txBody>
      </p:sp>
      <p:sp>
        <p:nvSpPr>
          <p:cNvPr id="35" name="Text 33"/>
          <p:cNvSpPr txBox="1"/>
          <p:nvPr/>
        </p:nvSpPr>
        <p:spPr>
          <a:xfrm>
            <a:off x="1051560" y="5623560"/>
            <a:ext cx="4754880" cy="365760"/>
          </a:xfrm>
          <a:prstGeom prst="rect">
            <a:avLst/>
          </a:prstGeom>
          <a:noFill/>
          <a:ln/>
        </p:spPr>
        <p:txBody>
          <a:bodyPr wrap="square" lIns="0" tIns="0" rIns="0" bIns="0" rtlCol="0" anchor="ctr"/>
          <a:lstStyle/>
          <a:p>
            <a:pPr marL="0" indent="0">
              <a:buNone/>
            </a:pPr>
            <a:r>
              <a:rPr lang="en-US" sz="1800" b="1" dirty="0">
                <a:solidFill>
                  <a:srgbClr val="156082"/>
                </a:solidFill>
                <a:latin typeface="游ゴシック" pitchFamily="34" charset="0"/>
                <a:ea typeface="游ゴシック" pitchFamily="34" charset="-122"/>
                <a:cs typeface="游ゴシック" pitchFamily="34" charset="-120"/>
              </a:rPr>
              <a:t>notify out / gated</a:t>
            </a:r>
            <a:endParaRPr lang="en-US" sz="1800" dirty="0"/>
          </a:p>
        </p:txBody>
      </p:sp>
      <p:sp>
        <p:nvSpPr>
          <p:cNvPr id="36" name="Text 34"/>
          <p:cNvSpPr txBox="1"/>
          <p:nvPr/>
        </p:nvSpPr>
        <p:spPr>
          <a:xfrm>
            <a:off x="1051560" y="5989320"/>
            <a:ext cx="4754880" cy="457200"/>
          </a:xfrm>
          <a:prstGeom prst="rect">
            <a:avLst/>
          </a:prstGeom>
          <a:noFill/>
          <a:ln/>
        </p:spPr>
        <p:txBody>
          <a:bodyPr wrap="square" lIns="0" tIns="0" rIns="0" bIns="0" rtlCol="0" anchor="t"/>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JSON を出した数と、音量の条件で止めた窓の数</a:t>
            </a:r>
            <a:endParaRPr lang="en-US" sz="1500" dirty="0"/>
          </a:p>
        </p:txBody>
      </p:sp>
      <p:sp>
        <p:nvSpPr>
          <p:cNvPr id="37" name="Shape 35"/>
          <p:cNvSpPr/>
          <p:nvPr/>
        </p:nvSpPr>
        <p:spPr>
          <a:xfrm>
            <a:off x="6172200" y="5577840"/>
            <a:ext cx="5486400" cy="886968"/>
          </a:xfrm>
          <a:prstGeom prst="rect">
            <a:avLst/>
          </a:prstGeom>
          <a:solidFill>
            <a:srgbClr val="F2F2F2"/>
          </a:solidFill>
          <a:ln w="12700">
            <a:solidFill>
              <a:srgbClr val="F2F2F2"/>
            </a:solidFill>
            <a:prstDash val="solid"/>
          </a:ln>
        </p:spPr>
        <p:txBody>
          <a:bodyPr/>
          <a:lstStyle/>
          <a:p>
            <a:endParaRPr lang="ja-JP" altLang="en-US"/>
          </a:p>
        </p:txBody>
      </p:sp>
      <p:sp>
        <p:nvSpPr>
          <p:cNvPr id="38" name="Shape 36"/>
          <p:cNvSpPr/>
          <p:nvPr/>
        </p:nvSpPr>
        <p:spPr>
          <a:xfrm>
            <a:off x="6309360" y="5669280"/>
            <a:ext cx="329184" cy="329184"/>
          </a:xfrm>
          <a:prstGeom prst="ellipse">
            <a:avLst/>
          </a:prstGeom>
          <a:solidFill>
            <a:srgbClr val="FFC000"/>
          </a:solidFill>
          <a:ln w="12700">
            <a:solidFill>
              <a:srgbClr val="FFC000"/>
            </a:solidFill>
            <a:prstDash val="solid"/>
          </a:ln>
        </p:spPr>
        <p:txBody>
          <a:bodyPr/>
          <a:lstStyle/>
          <a:p>
            <a:endParaRPr lang="ja-JP" altLang="en-US"/>
          </a:p>
        </p:txBody>
      </p:sp>
      <p:sp>
        <p:nvSpPr>
          <p:cNvPr id="39" name="Text 37"/>
          <p:cNvSpPr txBox="1"/>
          <p:nvPr/>
        </p:nvSpPr>
        <p:spPr>
          <a:xfrm>
            <a:off x="6309360" y="5669280"/>
            <a:ext cx="329184" cy="329184"/>
          </a:xfrm>
          <a:prstGeom prst="rect">
            <a:avLst/>
          </a:prstGeom>
          <a:noFill/>
          <a:ln/>
        </p:spPr>
        <p:txBody>
          <a:bodyPr wrap="square" lIns="0" tIns="0" rIns="0" bIns="0" rtlCol="0" anchor="ctr"/>
          <a:lstStyle/>
          <a:p>
            <a:pPr marL="0" indent="0" algn="ctr">
              <a:buNone/>
            </a:pPr>
            <a:r>
              <a:rPr lang="en-US" sz="1400" b="1" dirty="0">
                <a:solidFill>
                  <a:srgbClr val="000000"/>
                </a:solidFill>
                <a:latin typeface="游ゴシック" pitchFamily="34" charset="0"/>
                <a:ea typeface="游ゴシック" pitchFamily="34" charset="-122"/>
                <a:cs typeface="游ゴシック" pitchFamily="34" charset="-120"/>
              </a:rPr>
              <a:t>4</a:t>
            </a:r>
            <a:endParaRPr lang="en-US" sz="1400" dirty="0"/>
          </a:p>
        </p:txBody>
      </p:sp>
      <p:sp>
        <p:nvSpPr>
          <p:cNvPr id="40" name="Text 38"/>
          <p:cNvSpPr txBox="1"/>
          <p:nvPr/>
        </p:nvSpPr>
        <p:spPr>
          <a:xfrm>
            <a:off x="6766560" y="5623560"/>
            <a:ext cx="4754880" cy="365760"/>
          </a:xfrm>
          <a:prstGeom prst="rect">
            <a:avLst/>
          </a:prstGeom>
          <a:noFill/>
          <a:ln/>
        </p:spPr>
        <p:txBody>
          <a:bodyPr wrap="square" lIns="0" tIns="0" rIns="0" bIns="0" rtlCol="0" anchor="ctr"/>
          <a:lstStyle/>
          <a:p>
            <a:pPr marL="0" indent="0">
              <a:buNone/>
            </a:pPr>
            <a:r>
              <a:rPr lang="en-US" sz="1800" b="1" dirty="0">
                <a:solidFill>
                  <a:srgbClr val="156082"/>
                </a:solidFill>
                <a:latin typeface="游ゴシック" pitchFamily="34" charset="0"/>
                <a:ea typeface="游ゴシック" pitchFamily="34" charset="-122"/>
                <a:cs typeface="游ゴシック" pitchFamily="34" charset="-120"/>
              </a:rPr>
              <a:t>log / disp dropped</a:t>
            </a:r>
            <a:endParaRPr lang="en-US" sz="1800" dirty="0"/>
          </a:p>
        </p:txBody>
      </p:sp>
      <p:sp>
        <p:nvSpPr>
          <p:cNvPr id="41" name="Text 39"/>
          <p:cNvSpPr txBox="1"/>
          <p:nvPr/>
        </p:nvSpPr>
        <p:spPr>
          <a:xfrm>
            <a:off x="6766560" y="5989320"/>
            <a:ext cx="4754880" cy="457200"/>
          </a:xfrm>
          <a:prstGeom prst="rect">
            <a:avLst/>
          </a:prstGeom>
          <a:noFill/>
          <a:ln/>
        </p:spPr>
        <p:txBody>
          <a:bodyPr wrap="square" lIns="0" tIns="0" rIns="0" bIns="0" rtlCol="0" anchor="t"/>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捨てたログの行と画面の更新。0 が合格</a:t>
            </a:r>
            <a:endParaRPr lang="en-US" sz="15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11　まとめ</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Shape 2"/>
          <p:cNvSpPr/>
          <p:nvPr/>
        </p:nvSpPr>
        <p:spPr>
          <a:xfrm>
            <a:off x="0" y="1051560"/>
            <a:ext cx="12191695" cy="1097280"/>
          </a:xfrm>
          <a:prstGeom prst="rect">
            <a:avLst/>
          </a:prstGeom>
          <a:solidFill>
            <a:srgbClr val="DDEBF3"/>
          </a:solidFill>
          <a:ln w="12700">
            <a:solidFill>
              <a:srgbClr val="DDEBF3"/>
            </a:solidFill>
            <a:prstDash val="solid"/>
          </a:ln>
        </p:spPr>
        <p:txBody>
          <a:bodyPr/>
          <a:lstStyle/>
          <a:p>
            <a:endParaRPr lang="ja-JP" altLang="en-US"/>
          </a:p>
        </p:txBody>
      </p:sp>
      <p:sp>
        <p:nvSpPr>
          <p:cNvPr id="5" name="Text 3"/>
          <p:cNvSpPr txBox="1"/>
          <p:nvPr/>
        </p:nvSpPr>
        <p:spPr>
          <a:xfrm>
            <a:off x="457200" y="1097280"/>
            <a:ext cx="11274552" cy="1005840"/>
          </a:xfrm>
          <a:prstGeom prst="rect">
            <a:avLst/>
          </a:prstGeom>
          <a:noFill/>
          <a:ln/>
        </p:spPr>
        <p:txBody>
          <a:bodyPr wrap="square" lIns="0" tIns="0" rIns="0" bIns="0" rtlCol="0" anchor="ctr"/>
          <a:lstStyle/>
          <a:p>
            <a:pPr marL="0" indent="0">
              <a:buNone/>
            </a:pPr>
            <a:r>
              <a:rPr lang="en-US" sz="2800" b="1" dirty="0" err="1">
                <a:solidFill>
                  <a:srgbClr val="FF0000"/>
                </a:solidFill>
                <a:latin typeface="游ゴシック" pitchFamily="34" charset="0"/>
                <a:ea typeface="游ゴシック" pitchFamily="34" charset="-122"/>
                <a:cs typeface="游ゴシック" pitchFamily="34" charset="-120"/>
              </a:rPr>
              <a:t>音・推論・表示を優先度で並べ</a:t>
            </a:r>
            <a:r>
              <a:rPr lang="en-US" sz="2800" b="1" dirty="0">
                <a:solidFill>
                  <a:srgbClr val="FF0000"/>
                </a:solidFill>
                <a:latin typeface="游ゴシック" pitchFamily="34" charset="0"/>
                <a:ea typeface="游ゴシック" pitchFamily="34" charset="-122"/>
                <a:cs typeface="游ゴシック" pitchFamily="34" charset="-120"/>
              </a:rPr>
              <a:t>、</a:t>
            </a:r>
          </a:p>
          <a:p>
            <a:pPr marL="0" indent="0">
              <a:buNone/>
            </a:pPr>
            <a:r>
              <a:rPr lang="en-US" sz="2800" b="1" dirty="0" err="1">
                <a:solidFill>
                  <a:srgbClr val="FF0000"/>
                </a:solidFill>
                <a:latin typeface="游ゴシック" pitchFamily="34" charset="0"/>
                <a:ea typeface="游ゴシック" pitchFamily="34" charset="-122"/>
                <a:cs typeface="游ゴシック" pitchFamily="34" charset="-120"/>
              </a:rPr>
              <a:t>壊しても音だけは生き残ることを実測で示した</a:t>
            </a:r>
            <a:endParaRPr lang="en-US" sz="2800" dirty="0"/>
          </a:p>
        </p:txBody>
      </p:sp>
      <p:sp>
        <p:nvSpPr>
          <p:cNvPr id="6" name="Text 4"/>
          <p:cNvSpPr txBox="1"/>
          <p:nvPr/>
        </p:nvSpPr>
        <p:spPr>
          <a:xfrm>
            <a:off x="457200" y="2331720"/>
            <a:ext cx="3611880" cy="457200"/>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1時間、止めずに動かし</a:t>
            </a:r>
            <a:r>
              <a:rPr lang="ja-JP" altLang="en-US" sz="2000" b="1" dirty="0">
                <a:solidFill>
                  <a:srgbClr val="000000"/>
                </a:solidFill>
                <a:latin typeface="游ゴシック" pitchFamily="34" charset="0"/>
                <a:ea typeface="游ゴシック" pitchFamily="34" charset="-122"/>
                <a:cs typeface="游ゴシック" pitchFamily="34" charset="-120"/>
              </a:rPr>
              <a:t>ても</a:t>
            </a:r>
            <a:endParaRPr lang="en-US" sz="2000" dirty="0"/>
          </a:p>
        </p:txBody>
      </p:sp>
      <p:sp>
        <p:nvSpPr>
          <p:cNvPr id="7" name="Text 5"/>
          <p:cNvSpPr txBox="1"/>
          <p:nvPr/>
        </p:nvSpPr>
        <p:spPr>
          <a:xfrm>
            <a:off x="457200" y="2788920"/>
            <a:ext cx="3611880" cy="1097280"/>
          </a:xfrm>
          <a:prstGeom prst="rect">
            <a:avLst/>
          </a:prstGeom>
          <a:noFill/>
          <a:ln/>
        </p:spPr>
        <p:txBody>
          <a:bodyPr wrap="square" lIns="0" tIns="0" rIns="0" bIns="0" rtlCol="0" anchor="ctr"/>
          <a:lstStyle/>
          <a:p>
            <a:pPr marL="0" indent="0">
              <a:buNone/>
            </a:pPr>
            <a:r>
              <a:rPr lang="en-US" sz="6000" b="1" dirty="0">
                <a:solidFill>
                  <a:srgbClr val="008A5E"/>
                </a:solidFill>
                <a:latin typeface="游ゴシック" pitchFamily="34" charset="0"/>
                <a:ea typeface="游ゴシック" pitchFamily="34" charset="-122"/>
                <a:cs typeface="游ゴシック" pitchFamily="34" charset="-120"/>
              </a:rPr>
              <a:t>0 回</a:t>
            </a:r>
            <a:endParaRPr lang="en-US" sz="6000" dirty="0"/>
          </a:p>
        </p:txBody>
      </p:sp>
      <p:sp>
        <p:nvSpPr>
          <p:cNvPr id="8" name="Text 6"/>
          <p:cNvSpPr txBox="1"/>
          <p:nvPr/>
        </p:nvSpPr>
        <p:spPr>
          <a:xfrm>
            <a:off x="457200" y="3886200"/>
            <a:ext cx="3611880" cy="411480"/>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音の取りこぼし</a:t>
            </a:r>
            <a:endParaRPr lang="en-US" sz="2000" dirty="0"/>
          </a:p>
        </p:txBody>
      </p:sp>
      <p:sp>
        <p:nvSpPr>
          <p:cNvPr id="9" name="Text 7"/>
          <p:cNvSpPr txBox="1"/>
          <p:nvPr/>
        </p:nvSpPr>
        <p:spPr>
          <a:xfrm>
            <a:off x="457200" y="4297680"/>
            <a:ext cx="3429000" cy="731520"/>
          </a:xfrm>
          <a:prstGeom prst="rect">
            <a:avLst/>
          </a:prstGeom>
          <a:noFill/>
          <a:ln/>
        </p:spPr>
        <p:txBody>
          <a:bodyPr wrap="square" lIns="0" tIns="0" rIns="0" bIns="0" rtlCol="0" anchor="t"/>
          <a:lstStyle/>
          <a:p>
            <a:pPr marL="0" indent="0">
              <a:buNone/>
            </a:pPr>
            <a:r>
              <a:rPr lang="en-US" sz="1400" dirty="0">
                <a:solidFill>
                  <a:srgbClr val="595959"/>
                </a:solidFill>
                <a:latin typeface="游ゴシック" pitchFamily="34" charset="0"/>
                <a:ea typeface="游ゴシック" pitchFamily="34" charset="-122"/>
                <a:cs typeface="游ゴシック" pitchFamily="34" charset="-120"/>
              </a:rPr>
              <a:t>3,854 窓すべて。ログ 24,238 行・画面 83 回も欠け 0</a:t>
            </a:r>
            <a:endParaRPr lang="en-US" sz="1400" dirty="0"/>
          </a:p>
        </p:txBody>
      </p:sp>
      <p:sp>
        <p:nvSpPr>
          <p:cNvPr id="10" name="Text 8"/>
          <p:cNvSpPr txBox="1"/>
          <p:nvPr/>
        </p:nvSpPr>
        <p:spPr>
          <a:xfrm>
            <a:off x="4288536" y="2331720"/>
            <a:ext cx="3611880" cy="457200"/>
          </a:xfrm>
          <a:prstGeom prst="rect">
            <a:avLst/>
          </a:prstGeom>
          <a:noFill/>
          <a:ln/>
        </p:spPr>
        <p:txBody>
          <a:bodyPr wrap="square" lIns="0" tIns="0" rIns="0" bIns="0" rtlCol="0" anchor="ctr"/>
          <a:lstStyle/>
          <a:p>
            <a:pPr marL="0" indent="0">
              <a:buNone/>
            </a:pPr>
            <a:r>
              <a:rPr lang="en-US" sz="2000" b="1" dirty="0" err="1">
                <a:solidFill>
                  <a:srgbClr val="000000"/>
                </a:solidFill>
                <a:latin typeface="游ゴシック" pitchFamily="34" charset="0"/>
                <a:ea typeface="游ゴシック" pitchFamily="34" charset="-122"/>
                <a:cs typeface="游ゴシック" pitchFamily="34" charset="-120"/>
              </a:rPr>
              <a:t>推論を音より優先に</a:t>
            </a:r>
            <a:r>
              <a:rPr lang="ja-JP" altLang="en-US" sz="2000" b="1" dirty="0">
                <a:solidFill>
                  <a:srgbClr val="000000"/>
                </a:solidFill>
                <a:latin typeface="游ゴシック" pitchFamily="34" charset="0"/>
                <a:ea typeface="游ゴシック" pitchFamily="34" charset="-122"/>
                <a:cs typeface="游ゴシック" pitchFamily="34" charset="-120"/>
              </a:rPr>
              <a:t>すると</a:t>
            </a:r>
            <a:endParaRPr lang="en-US" sz="2000" dirty="0"/>
          </a:p>
        </p:txBody>
      </p:sp>
      <p:sp>
        <p:nvSpPr>
          <p:cNvPr id="11" name="Text 9"/>
          <p:cNvSpPr txBox="1"/>
          <p:nvPr/>
        </p:nvSpPr>
        <p:spPr>
          <a:xfrm>
            <a:off x="4288536" y="2788920"/>
            <a:ext cx="3611880" cy="1097280"/>
          </a:xfrm>
          <a:prstGeom prst="rect">
            <a:avLst/>
          </a:prstGeom>
          <a:noFill/>
          <a:ln/>
        </p:spPr>
        <p:txBody>
          <a:bodyPr wrap="square" lIns="0" tIns="0" rIns="0" bIns="0" rtlCol="0" anchor="ctr"/>
          <a:lstStyle/>
          <a:p>
            <a:pPr marL="0" indent="0">
              <a:buNone/>
            </a:pPr>
            <a:r>
              <a:rPr lang="en-US" sz="6000" b="1" dirty="0">
                <a:solidFill>
                  <a:srgbClr val="C00000"/>
                </a:solidFill>
                <a:latin typeface="游ゴシック" pitchFamily="34" charset="0"/>
                <a:ea typeface="游ゴシック" pitchFamily="34" charset="-122"/>
                <a:cs typeface="游ゴシック" pitchFamily="34" charset="-120"/>
              </a:rPr>
              <a:t>8%</a:t>
            </a:r>
            <a:endParaRPr lang="en-US" sz="6000" dirty="0"/>
          </a:p>
        </p:txBody>
      </p:sp>
      <p:sp>
        <p:nvSpPr>
          <p:cNvPr id="12" name="Text 10"/>
          <p:cNvSpPr txBox="1"/>
          <p:nvPr/>
        </p:nvSpPr>
        <p:spPr>
          <a:xfrm>
            <a:off x="4288536" y="3886200"/>
            <a:ext cx="3611880" cy="411480"/>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入力の欠落</a:t>
            </a:r>
            <a:endParaRPr lang="en-US" sz="2000" dirty="0"/>
          </a:p>
        </p:txBody>
      </p:sp>
      <p:sp>
        <p:nvSpPr>
          <p:cNvPr id="13" name="Text 11"/>
          <p:cNvSpPr txBox="1"/>
          <p:nvPr/>
        </p:nvSpPr>
        <p:spPr>
          <a:xfrm>
            <a:off x="4288536" y="4297680"/>
            <a:ext cx="3429000" cy="731520"/>
          </a:xfrm>
          <a:prstGeom prst="rect">
            <a:avLst/>
          </a:prstGeom>
          <a:noFill/>
          <a:ln/>
        </p:spPr>
        <p:txBody>
          <a:bodyPr wrap="square" lIns="0" tIns="0" rIns="0" bIns="0" rtlCol="0" anchor="t"/>
          <a:lstStyle/>
          <a:p>
            <a:pPr marL="0" indent="0">
              <a:buNone/>
            </a:pPr>
            <a:r>
              <a:rPr lang="en-US" sz="1400" dirty="0" err="1">
                <a:solidFill>
                  <a:srgbClr val="595959"/>
                </a:solidFill>
                <a:latin typeface="游ゴシック" pitchFamily="34" charset="0"/>
                <a:ea typeface="游ゴシック" pitchFamily="34" charset="-122"/>
                <a:cs typeface="游ゴシック" pitchFamily="34" charset="-120"/>
              </a:rPr>
              <a:t>推論と表示は無事。順序を間違えると</a:t>
            </a:r>
            <a:endParaRPr lang="en-US" sz="1400" dirty="0">
              <a:solidFill>
                <a:srgbClr val="595959"/>
              </a:solidFill>
              <a:latin typeface="游ゴシック" pitchFamily="34" charset="0"/>
              <a:ea typeface="游ゴシック" pitchFamily="34" charset="-122"/>
              <a:cs typeface="游ゴシック" pitchFamily="34" charset="-120"/>
            </a:endParaRPr>
          </a:p>
          <a:p>
            <a:pPr marL="0" indent="0">
              <a:buNone/>
            </a:pPr>
            <a:r>
              <a:rPr lang="en-US" sz="1400" dirty="0" err="1">
                <a:solidFill>
                  <a:srgbClr val="595959"/>
                </a:solidFill>
                <a:latin typeface="游ゴシック" pitchFamily="34" charset="0"/>
                <a:ea typeface="游ゴシック" pitchFamily="34" charset="-122"/>
                <a:cs typeface="游ゴシック" pitchFamily="34" charset="-120"/>
              </a:rPr>
              <a:t>音が壊れる</a:t>
            </a:r>
            <a:endParaRPr lang="en-US" sz="1400" dirty="0"/>
          </a:p>
        </p:txBody>
      </p:sp>
      <p:sp>
        <p:nvSpPr>
          <p:cNvPr id="14" name="Text 12"/>
          <p:cNvSpPr txBox="1"/>
          <p:nvPr/>
        </p:nvSpPr>
        <p:spPr>
          <a:xfrm>
            <a:off x="8119872" y="2331720"/>
            <a:ext cx="3611880" cy="457200"/>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推論を 10 </a:t>
            </a:r>
            <a:r>
              <a:rPr lang="en-US" sz="2000" b="1" dirty="0" err="1">
                <a:solidFill>
                  <a:srgbClr val="000000"/>
                </a:solidFill>
                <a:latin typeface="游ゴシック" pitchFamily="34" charset="0"/>
                <a:ea typeface="游ゴシック" pitchFamily="34" charset="-122"/>
                <a:cs typeface="游ゴシック" pitchFamily="34" charset="-120"/>
              </a:rPr>
              <a:t>倍重く</a:t>
            </a:r>
            <a:r>
              <a:rPr lang="ja-JP" altLang="en-US" sz="2000" b="1" dirty="0">
                <a:solidFill>
                  <a:srgbClr val="000000"/>
                </a:solidFill>
                <a:latin typeface="游ゴシック" pitchFamily="34" charset="0"/>
                <a:ea typeface="游ゴシック" pitchFamily="34" charset="-122"/>
                <a:cs typeface="游ゴシック" pitchFamily="34" charset="-120"/>
              </a:rPr>
              <a:t>ても</a:t>
            </a:r>
            <a:endParaRPr lang="en-US" sz="2000" dirty="0"/>
          </a:p>
        </p:txBody>
      </p:sp>
      <p:sp>
        <p:nvSpPr>
          <p:cNvPr id="15" name="Text 13"/>
          <p:cNvSpPr txBox="1"/>
          <p:nvPr/>
        </p:nvSpPr>
        <p:spPr>
          <a:xfrm>
            <a:off x="8119872" y="2788920"/>
            <a:ext cx="3611880" cy="1097280"/>
          </a:xfrm>
          <a:prstGeom prst="rect">
            <a:avLst/>
          </a:prstGeom>
          <a:noFill/>
          <a:ln/>
        </p:spPr>
        <p:txBody>
          <a:bodyPr wrap="square" lIns="0" tIns="0" rIns="0" bIns="0" rtlCol="0" anchor="ctr"/>
          <a:lstStyle/>
          <a:p>
            <a:pPr marL="0" indent="0">
              <a:buNone/>
            </a:pPr>
            <a:r>
              <a:rPr lang="en-US" sz="6000" b="1" dirty="0">
                <a:solidFill>
                  <a:srgbClr val="008A5E"/>
                </a:solidFill>
                <a:latin typeface="游ゴシック" pitchFamily="34" charset="0"/>
                <a:ea typeface="游ゴシック" pitchFamily="34" charset="-122"/>
                <a:cs typeface="游ゴシック" pitchFamily="34" charset="-120"/>
              </a:rPr>
              <a:t>0 回</a:t>
            </a:r>
            <a:endParaRPr lang="en-US" sz="6000" dirty="0"/>
          </a:p>
        </p:txBody>
      </p:sp>
      <p:sp>
        <p:nvSpPr>
          <p:cNvPr id="16" name="Text 14"/>
          <p:cNvSpPr txBox="1"/>
          <p:nvPr/>
        </p:nvSpPr>
        <p:spPr>
          <a:xfrm>
            <a:off x="8119872" y="3886200"/>
            <a:ext cx="3611880" cy="411480"/>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音の取りこぼし</a:t>
            </a:r>
            <a:endParaRPr lang="en-US" sz="2000" dirty="0"/>
          </a:p>
        </p:txBody>
      </p:sp>
      <p:sp>
        <p:nvSpPr>
          <p:cNvPr id="17" name="Text 15"/>
          <p:cNvSpPr txBox="1"/>
          <p:nvPr/>
        </p:nvSpPr>
        <p:spPr>
          <a:xfrm>
            <a:off x="8119872" y="4297680"/>
            <a:ext cx="3429000" cy="731520"/>
          </a:xfrm>
          <a:prstGeom prst="rect">
            <a:avLst/>
          </a:prstGeom>
          <a:noFill/>
          <a:ln/>
        </p:spPr>
        <p:txBody>
          <a:bodyPr wrap="square" lIns="0" tIns="0" rIns="0" bIns="0" rtlCol="0" anchor="t"/>
          <a:lstStyle/>
          <a:p>
            <a:pPr marL="0" indent="0">
              <a:buNone/>
            </a:pPr>
            <a:r>
              <a:rPr lang="en-US" sz="1400" dirty="0">
                <a:solidFill>
                  <a:srgbClr val="595959"/>
                </a:solidFill>
                <a:latin typeface="游ゴシック" pitchFamily="34" charset="0"/>
                <a:ea typeface="游ゴシック" pitchFamily="34" charset="-122"/>
                <a:cs typeface="游ゴシック" pitchFamily="34" charset="-120"/>
              </a:rPr>
              <a:t>窓 13% 消失・ログ 93% 破棄・画面 10 分停止でも音は無事</a:t>
            </a:r>
            <a:endParaRPr lang="en-US" sz="1400" dirty="0"/>
          </a:p>
        </p:txBody>
      </p:sp>
      <p:sp>
        <p:nvSpPr>
          <p:cNvPr id="18" name="Shape 16"/>
          <p:cNvSpPr/>
          <p:nvPr/>
        </p:nvSpPr>
        <p:spPr>
          <a:xfrm>
            <a:off x="457200" y="5166360"/>
            <a:ext cx="11274552" cy="1371600"/>
          </a:xfrm>
          <a:prstGeom prst="rect">
            <a:avLst/>
          </a:prstGeom>
          <a:solidFill>
            <a:srgbClr val="F2F2F2"/>
          </a:solidFill>
          <a:ln w="12700">
            <a:solidFill>
              <a:srgbClr val="BFBFBF"/>
            </a:solidFill>
            <a:prstDash val="solid"/>
          </a:ln>
        </p:spPr>
        <p:txBody>
          <a:bodyPr/>
          <a:lstStyle/>
          <a:p>
            <a:endParaRPr lang="ja-JP" altLang="en-US"/>
          </a:p>
        </p:txBody>
      </p:sp>
      <p:pic>
        <p:nvPicPr>
          <p:cNvPr id="19" name="Image 0" descr="/home/claude/v4/icons/FaExchangeAlt_156082.png"/>
          <p:cNvPicPr>
            <a:picLocks noChangeAspect="1"/>
          </p:cNvPicPr>
          <p:nvPr/>
        </p:nvPicPr>
        <p:blipFill>
          <a:blip r:embed="rId3"/>
          <a:stretch>
            <a:fillRect/>
          </a:stretch>
        </p:blipFill>
        <p:spPr>
          <a:xfrm>
            <a:off x="640080" y="5303520"/>
            <a:ext cx="411480" cy="411480"/>
          </a:xfrm>
          <a:prstGeom prst="rect">
            <a:avLst/>
          </a:prstGeom>
        </p:spPr>
      </p:pic>
      <p:sp>
        <p:nvSpPr>
          <p:cNvPr id="20" name="Text 17"/>
          <p:cNvSpPr txBox="1"/>
          <p:nvPr/>
        </p:nvSpPr>
        <p:spPr>
          <a:xfrm>
            <a:off x="1234440" y="5257800"/>
            <a:ext cx="10424160" cy="530352"/>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モデルは交換部品。2 つのモデルを同じ手順で測り、基盤の数字は変わらなかった（7 章）</a:t>
            </a:r>
            <a:endParaRPr lang="en-US" sz="2000" dirty="0"/>
          </a:p>
        </p:txBody>
      </p:sp>
      <p:pic>
        <p:nvPicPr>
          <p:cNvPr id="21" name="Image 1" descr="/home/claude/v4/icons/FaIndustry_156082.png"/>
          <p:cNvPicPr>
            <a:picLocks noChangeAspect="1"/>
          </p:cNvPicPr>
          <p:nvPr/>
        </p:nvPicPr>
        <p:blipFill>
          <a:blip r:embed="rId4"/>
          <a:stretch>
            <a:fillRect/>
          </a:stretch>
        </p:blipFill>
        <p:spPr>
          <a:xfrm>
            <a:off x="640080" y="5925312"/>
            <a:ext cx="411480" cy="411480"/>
          </a:xfrm>
          <a:prstGeom prst="rect">
            <a:avLst/>
          </a:prstGeom>
        </p:spPr>
      </p:pic>
      <p:sp>
        <p:nvSpPr>
          <p:cNvPr id="22" name="Text 18"/>
          <p:cNvSpPr txBox="1"/>
          <p:nvPr/>
        </p:nvSpPr>
        <p:spPr>
          <a:xfrm>
            <a:off x="1234440" y="5879592"/>
            <a:ext cx="10332720" cy="530352"/>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落とせない周期処理に推論を足す装置の土台と、その確かめ方として使える（9 章）</a:t>
            </a:r>
            <a:endParaRPr lang="en-US" sz="2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付録 A1　既存ソフトウェア一覧</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ctr"/>
          <a:lstStyle/>
          <a:p>
            <a:pPr marL="0" indent="0" algn="ctr">
              <a:buNone/>
            </a:pPr>
            <a:r>
              <a:rPr lang="en-US" sz="2800" b="1" dirty="0">
                <a:solidFill>
                  <a:srgbClr val="FF0000"/>
                </a:solidFill>
                <a:latin typeface="游ゴシック" pitchFamily="34" charset="0"/>
                <a:ea typeface="游ゴシック" pitchFamily="34" charset="-122"/>
                <a:cs typeface="游ゴシック" pitchFamily="34" charset="-120"/>
              </a:rPr>
              <a:t>既存のソフトはすべて出典とライセンスを明記した</a:t>
            </a:r>
            <a:endParaRPr lang="en-US" sz="2800" dirty="0"/>
          </a:p>
        </p:txBody>
      </p:sp>
      <p:graphicFrame>
        <p:nvGraphicFramePr>
          <p:cNvPr id="41" name="Table 0"/>
          <p:cNvGraphicFramePr>
            <a:graphicFrameLocks noGrp="1"/>
          </p:cNvGraphicFramePr>
          <p:nvPr>
            <p:extLst>
              <p:ext uri="{D42A27DB-BD31-4B8C-83A1-F6EECF244321}">
                <p14:modId xmlns:p14="http://schemas.microsoft.com/office/powerpoint/2010/main" val="3274756083"/>
              </p:ext>
            </p:extLst>
          </p:nvPr>
        </p:nvGraphicFramePr>
        <p:xfrm>
          <a:off x="457200" y="2103120"/>
          <a:ext cx="11274552" cy="3950208"/>
        </p:xfrm>
        <a:graphic>
          <a:graphicData uri="http://schemas.openxmlformats.org/drawingml/2006/table">
            <a:tbl>
              <a:tblPr/>
              <a:tblGrid>
                <a:gridCol w="324612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gridCol w="3639312">
                  <a:extLst>
                    <a:ext uri="{9D8B030D-6E8A-4147-A177-3AD203B41FA5}">
                      <a16:colId xmlns:a16="http://schemas.microsoft.com/office/drawing/2014/main" val="20003"/>
                    </a:ext>
                  </a:extLst>
                </a:gridCol>
              </a:tblGrid>
              <a:tr h="420624">
                <a:tc>
                  <a:txBody>
                    <a:bodyPr/>
                    <a:lstStyle/>
                    <a:p>
                      <a:pPr marL="0" indent="0">
                        <a:buNone/>
                      </a:pPr>
                      <a:r>
                        <a:rPr lang="en-US" sz="1400" b="1" dirty="0">
                          <a:solidFill>
                            <a:srgbClr val="FFFFFF"/>
                          </a:solidFill>
                          <a:latin typeface="游ゴシック" pitchFamily="34" charset="0"/>
                          <a:ea typeface="游ゴシック" pitchFamily="34" charset="-122"/>
                          <a:cs typeface="游ゴシック" pitchFamily="34" charset="-120"/>
                        </a:rPr>
                        <a:t>名称</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tc>
                  <a:txBody>
                    <a:bodyPr/>
                    <a:lstStyle/>
                    <a:p>
                      <a:pPr marL="0" indent="0">
                        <a:buNone/>
                      </a:pPr>
                      <a:r>
                        <a:rPr lang="en-US" sz="1400" b="1" dirty="0">
                          <a:solidFill>
                            <a:srgbClr val="FFFFFF"/>
                          </a:solidFill>
                          <a:latin typeface="游ゴシック" pitchFamily="34" charset="0"/>
                          <a:ea typeface="游ゴシック" pitchFamily="34" charset="-122"/>
                          <a:cs typeface="游ゴシック" pitchFamily="34" charset="-120"/>
                        </a:rPr>
                        <a:t>権利者</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tc>
                  <a:txBody>
                    <a:bodyPr/>
                    <a:lstStyle/>
                    <a:p>
                      <a:pPr marL="0" indent="0">
                        <a:buNone/>
                      </a:pPr>
                      <a:r>
                        <a:rPr lang="en-US" sz="1400" b="1" dirty="0">
                          <a:solidFill>
                            <a:srgbClr val="FFFFFF"/>
                          </a:solidFill>
                          <a:latin typeface="游ゴシック" pitchFamily="34" charset="0"/>
                          <a:ea typeface="游ゴシック" pitchFamily="34" charset="-122"/>
                          <a:cs typeface="游ゴシック" pitchFamily="34" charset="-120"/>
                        </a:rPr>
                        <a:t>ライセンス</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tc>
                  <a:txBody>
                    <a:bodyPr/>
                    <a:lstStyle/>
                    <a:p>
                      <a:pPr marL="0" indent="0">
                        <a:buNone/>
                      </a:pPr>
                      <a:r>
                        <a:rPr lang="en-US" sz="1400" b="1" dirty="0">
                          <a:solidFill>
                            <a:srgbClr val="FFFFFF"/>
                          </a:solidFill>
                          <a:latin typeface="游ゴシック" pitchFamily="34" charset="0"/>
                          <a:ea typeface="游ゴシック" pitchFamily="34" charset="-122"/>
                          <a:cs typeface="游ゴシック" pitchFamily="34" charset="-120"/>
                        </a:rPr>
                        <a:t>改変</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extLst>
                  <a:ext uri="{0D108BD9-81ED-4DB2-BD59-A6C34878D82A}">
                    <a16:rowId xmlns:a16="http://schemas.microsoft.com/office/drawing/2014/main" val="10000"/>
                  </a:ext>
                </a:extLst>
              </a:tr>
              <a:tr h="420624">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μT-Kernel 3.0 BSP2</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TRON Forum</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T-License 2.2</a:t>
                      </a:r>
                    </a:p>
                    <a:p>
                      <a:pPr marL="0" indent="0">
                        <a:buNone/>
                      </a:pPr>
                      <a:r>
                        <a:rPr lang="en-US" sz="1400" dirty="0">
                          <a:solidFill>
                            <a:srgbClr val="000000"/>
                          </a:solidFill>
                          <a:latin typeface="游ゴシック" pitchFamily="34" charset="0"/>
                          <a:ea typeface="游ゴシック" pitchFamily="34" charset="-122"/>
                          <a:cs typeface="游ゴシック" pitchFamily="34" charset="-120"/>
                        </a:rPr>
                        <a:t>（一部 2.1）</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無改変（リンカスクリプトに追記）</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1"/>
                  </a:ext>
                </a:extLst>
              </a:tr>
              <a:tr h="420624">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STM32N6 HAL / CMSIS</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STMicroelectronics / Arm</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BSD-3 / Apache-2.0</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err="1">
                          <a:solidFill>
                            <a:srgbClr val="000000"/>
                          </a:solidFill>
                          <a:latin typeface="游ゴシック" pitchFamily="34" charset="0"/>
                          <a:ea typeface="游ゴシック" pitchFamily="34" charset="-122"/>
                          <a:cs typeface="游ゴシック" pitchFamily="34" charset="-120"/>
                        </a:rPr>
                        <a:t>無改変</a:t>
                      </a:r>
                      <a:endParaRPr lang="en-US" sz="14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1400" dirty="0">
                          <a:solidFill>
                            <a:srgbClr val="000000"/>
                          </a:solidFill>
                          <a:latin typeface="游ゴシック" pitchFamily="34" charset="0"/>
                          <a:ea typeface="游ゴシック" pitchFamily="34" charset="-122"/>
                          <a:cs typeface="游ゴシック" pitchFamily="34" charset="-120"/>
                        </a:rPr>
                        <a:t>（HAL の LTDC ドライバ 4 本を追加）</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ll_aton ＋ NetworkRuntime 1201</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STMicroelectronics</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SLA0104</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400" dirty="0" err="1">
                          <a:solidFill>
                            <a:srgbClr val="000000"/>
                          </a:solidFill>
                          <a:latin typeface="游ゴシック" pitchFamily="34" charset="0"/>
                          <a:ea typeface="游ゴシック" pitchFamily="34" charset="-122"/>
                          <a:cs typeface="游ゴシック" pitchFamily="34" charset="-120"/>
                        </a:rPr>
                        <a:t>無改変</a:t>
                      </a:r>
                      <a:endParaRPr lang="en-US" sz="14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1400" dirty="0">
                          <a:solidFill>
                            <a:srgbClr val="000000"/>
                          </a:solidFill>
                          <a:latin typeface="游ゴシック" pitchFamily="34" charset="0"/>
                          <a:ea typeface="游ゴシック" pitchFamily="34" charset="-122"/>
                          <a:cs typeface="游ゴシック" pitchFamily="34" charset="-120"/>
                        </a:rPr>
                        <a:t>（4.0.1 同梱版）</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3"/>
                  </a:ext>
                </a:extLst>
              </a:tr>
              <a:tr h="420624">
                <a:tc>
                  <a:txBody>
                    <a:bodyPr/>
                    <a:lstStyle/>
                    <a:p>
                      <a:pPr marL="0" indent="0">
                        <a:buNone/>
                      </a:pPr>
                      <a:r>
                        <a:rPr lang="en-US" sz="1400" dirty="0" err="1">
                          <a:solidFill>
                            <a:srgbClr val="000000"/>
                          </a:solidFill>
                          <a:latin typeface="游ゴシック" pitchFamily="34" charset="0"/>
                          <a:ea typeface="游ゴシック" pitchFamily="34" charset="-122"/>
                          <a:cs typeface="游ゴシック" pitchFamily="34" charset="-120"/>
                        </a:rPr>
                        <a:t>生成済みネットワーク</a:t>
                      </a:r>
                      <a:endParaRPr lang="en-US" sz="14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1400" dirty="0">
                          <a:solidFill>
                            <a:srgbClr val="000000"/>
                          </a:solidFill>
                          <a:latin typeface="游ゴシック" pitchFamily="34" charset="0"/>
                          <a:ea typeface="游ゴシック" pitchFamily="34" charset="-122"/>
                          <a:cs typeface="游ゴシック" pitchFamily="34" charset="-120"/>
                        </a:rPr>
                        <a:t>（ESC-10・FSD50K）</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STMicroelectronics</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SLA0104</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無改変。ESC-10 の重み hex（SLA0044）は同梱しない</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0624">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MX66UW1G45G ドライバ ／ </a:t>
                      </a:r>
                    </a:p>
                    <a:p>
                      <a:pPr marL="0" indent="0">
                        <a:buNone/>
                      </a:pPr>
                      <a:r>
                        <a:rPr lang="en-US" sz="1400" dirty="0" err="1">
                          <a:solidFill>
                            <a:srgbClr val="000000"/>
                          </a:solidFill>
                          <a:latin typeface="游ゴシック" pitchFamily="34" charset="0"/>
                          <a:ea typeface="游ゴシック" pitchFamily="34" charset="-122"/>
                          <a:cs typeface="游ゴシック" pitchFamily="34" charset="-120"/>
                        </a:rPr>
                        <a:t>ExtMem</a:t>
                      </a:r>
                      <a:r>
                        <a:rPr lang="en-US" sz="1400" dirty="0">
                          <a:solidFill>
                            <a:srgbClr val="000000"/>
                          </a:solidFill>
                          <a:latin typeface="游ゴシック" pitchFamily="34" charset="0"/>
                          <a:ea typeface="游ゴシック" pitchFamily="34" charset="-122"/>
                          <a:cs typeface="游ゴシック" pitchFamily="34" charset="-120"/>
                        </a:rPr>
                        <a:t> Manager</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STMicroelectronics</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BSD-3 ／ SLA0044</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無改変（設定ファイルに本機の値）</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5"/>
                  </a:ext>
                </a:extLst>
              </a:tr>
              <a:tr h="420624">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RK050HR18 定義・Font24 ／ </a:t>
                      </a:r>
                    </a:p>
                    <a:p>
                      <a:pPr marL="0" indent="0">
                        <a:buNone/>
                      </a:pPr>
                      <a:r>
                        <a:rPr lang="en-US" sz="1400" dirty="0">
                          <a:solidFill>
                            <a:srgbClr val="000000"/>
                          </a:solidFill>
                          <a:latin typeface="游ゴシック" pitchFamily="34" charset="0"/>
                          <a:ea typeface="游ゴシック" pitchFamily="34" charset="-122"/>
                          <a:cs typeface="游ゴシック" pitchFamily="34" charset="-120"/>
                        </a:rPr>
                        <a:t>FSD50K 版の tflite</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STMicroelectronics</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BSD-3 ／ Apache-2.0</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無改変</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20624">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ESC-50（試験用クリップ）</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K. Piczak</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CC BY-NC 3.0</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同梱しない（スクリプトで取得・生成）</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7"/>
                  </a:ext>
                </a:extLst>
              </a:tr>
            </a:tbl>
          </a:graphicData>
        </a:graphic>
      </p:graphicFrame>
      <p:sp>
        <p:nvSpPr>
          <p:cNvPr id="6" name="Text 3"/>
          <p:cNvSpPr txBox="1"/>
          <p:nvPr/>
        </p:nvSpPr>
        <p:spPr>
          <a:xfrm>
            <a:off x="457200" y="6400800"/>
            <a:ext cx="11274552" cy="320040"/>
          </a:xfrm>
          <a:prstGeom prst="rect">
            <a:avLst/>
          </a:prstGeom>
          <a:noFill/>
          <a:ln/>
        </p:spPr>
        <p:txBody>
          <a:bodyPr wrap="square" lIns="0" tIns="0" rIns="0" bIns="0" rtlCol="0" anchor="ctr"/>
          <a:lstStyle/>
          <a:p>
            <a:pPr marL="0" indent="0">
              <a:buNone/>
            </a:pPr>
            <a:r>
              <a:rPr lang="en-US" sz="1400" dirty="0">
                <a:solidFill>
                  <a:srgbClr val="595959"/>
                </a:solidFill>
                <a:latin typeface="游ゴシック" pitchFamily="34" charset="0"/>
                <a:ea typeface="游ゴシック" pitchFamily="34" charset="-122"/>
                <a:cs typeface="游ゴシック" pitchFamily="34" charset="-120"/>
              </a:rPr>
              <a:t>権利者・入手先・改変箇所の詳細は docs/third_party.md</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付録 A2　既存・改変・自作の区別</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ctr"/>
          <a:lstStyle/>
          <a:p>
            <a:pPr marL="0" indent="0" algn="ctr">
              <a:buNone/>
            </a:pPr>
            <a:r>
              <a:rPr lang="en-US" sz="2800" b="1" dirty="0">
                <a:solidFill>
                  <a:srgbClr val="FF0000"/>
                </a:solidFill>
                <a:latin typeface="游ゴシック" pitchFamily="34" charset="0"/>
                <a:ea typeface="游ゴシック" pitchFamily="34" charset="-122"/>
                <a:cs typeface="游ゴシック" pitchFamily="34" charset="-120"/>
              </a:rPr>
              <a:t>既存のものはそのまま使い、無かった部分を自作した</a:t>
            </a:r>
            <a:endParaRPr lang="en-US" sz="28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2194560"/>
          <a:ext cx="11274552" cy="3931920"/>
        </p:xfrm>
        <a:graphic>
          <a:graphicData uri="http://schemas.openxmlformats.org/drawingml/2006/table">
            <a:tbl>
              <a:tblPr/>
              <a:tblGrid>
                <a:gridCol w="128016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3410712">
                  <a:extLst>
                    <a:ext uri="{9D8B030D-6E8A-4147-A177-3AD203B41FA5}">
                      <a16:colId xmlns:a16="http://schemas.microsoft.com/office/drawing/2014/main" val="20003"/>
                    </a:ext>
                  </a:extLst>
                </a:gridCol>
              </a:tblGrid>
              <a:tr h="777240">
                <a:tc>
                  <a:txBody>
                    <a:bodyPr/>
                    <a:lstStyle/>
                    <a:p>
                      <a:pPr marL="0" indent="0">
                        <a:buNone/>
                      </a:pPr>
                      <a:r>
                        <a:rPr lang="en-US" sz="1600" b="1" dirty="0">
                          <a:solidFill>
                            <a:srgbClr val="FFFFFF"/>
                          </a:solidFill>
                          <a:latin typeface="游ゴシック" pitchFamily="34" charset="0"/>
                          <a:ea typeface="游ゴシック" pitchFamily="34" charset="-122"/>
                          <a:cs typeface="游ゴシック" pitchFamily="34" charset="-120"/>
                        </a:rPr>
                        <a:t>層</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tc>
                  <a:txBody>
                    <a:bodyPr/>
                    <a:lstStyle/>
                    <a:p>
                      <a:pPr marL="0" indent="0">
                        <a:buNone/>
                      </a:pPr>
                      <a:r>
                        <a:rPr lang="en-US" sz="1600" b="1" dirty="0">
                          <a:solidFill>
                            <a:srgbClr val="FFFFFF"/>
                          </a:solidFill>
                          <a:latin typeface="游ゴシック" pitchFamily="34" charset="0"/>
                          <a:ea typeface="游ゴシック" pitchFamily="34" charset="-122"/>
                          <a:cs typeface="游ゴシック" pitchFamily="34" charset="-120"/>
                        </a:rPr>
                        <a:t>既存のまま</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tc>
                  <a:txBody>
                    <a:bodyPr/>
                    <a:lstStyle/>
                    <a:p>
                      <a:pPr marL="0" indent="0">
                        <a:buNone/>
                      </a:pPr>
                      <a:r>
                        <a:rPr lang="en-US" sz="1600" b="1" dirty="0">
                          <a:solidFill>
                            <a:srgbClr val="FFFFFF"/>
                          </a:solidFill>
                          <a:latin typeface="游ゴシック" pitchFamily="34" charset="0"/>
                          <a:ea typeface="游ゴシック" pitchFamily="34" charset="-122"/>
                          <a:cs typeface="游ゴシック" pitchFamily="34" charset="-120"/>
                        </a:rPr>
                        <a:t>改変</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tc>
                  <a:txBody>
                    <a:bodyPr/>
                    <a:lstStyle/>
                    <a:p>
                      <a:pPr marL="0" indent="0">
                        <a:buNone/>
                      </a:pPr>
                      <a:r>
                        <a:rPr lang="en-US" sz="1600" b="1" dirty="0">
                          <a:solidFill>
                            <a:srgbClr val="FFFFFF"/>
                          </a:solidFill>
                          <a:latin typeface="游ゴシック" pitchFamily="34" charset="0"/>
                          <a:ea typeface="游ゴシック" pitchFamily="34" charset="-122"/>
                          <a:cs typeface="游ゴシック" pitchFamily="34" charset="-120"/>
                        </a:rPr>
                        <a:t>自作</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extLst>
                  <a:ext uri="{0D108BD9-81ED-4DB2-BD59-A6C34878D82A}">
                    <a16:rowId xmlns:a16="http://schemas.microsoft.com/office/drawing/2014/main" val="10000"/>
                  </a:ext>
                </a:extLst>
              </a:tr>
              <a:tr h="777240">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OS・HAL</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μT-Kernel 3.0 BSP2、STM32N6 HAL / CMSIS</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CubeMX 生成の main.c / it.c / hal_conf.h（クロック・割込み）とリンカスクリプト</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フォールト表・トレース・ログ基盤</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1"/>
                  </a:ext>
                </a:extLst>
              </a:tr>
              <a:tr h="777240">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音</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WM8904 コーデックの設定（ST 由来）</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PCM FIFO、窓リング、ヘッドホンへの折り返し、窓の切り出し</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推論</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ll_aton ＋ NetworkRuntime、生成済みネットワーク（ST Edge AI Core）</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log-mel 前処理、NPU の初期化、自己検証</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3"/>
                  </a:ext>
                </a:extLst>
              </a:tr>
              <a:tr h="777240">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出力</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HAL LTDC、RK050HR18 定義、Font24</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LTDC 直結の LCD ドライバ、通知の判定、LCD タスク、JSON</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25087"/>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付録 A3　ST リファレンス実装との違い</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363416" y="1152144"/>
            <a:ext cx="11274552" cy="896112"/>
          </a:xfrm>
          <a:prstGeom prst="rect">
            <a:avLst/>
          </a:prstGeom>
          <a:noFill/>
          <a:ln/>
        </p:spPr>
        <p:txBody>
          <a:bodyPr wrap="square" lIns="0" tIns="0" rIns="0" bIns="0" rtlCol="0" anchor="ctr"/>
          <a:lstStyle/>
          <a:p>
            <a:pPr marL="0" indent="0" algn="ctr">
              <a:buNone/>
            </a:pPr>
            <a:r>
              <a:rPr lang="en-US" sz="2800" b="1" dirty="0">
                <a:solidFill>
                  <a:srgbClr val="FF0000"/>
                </a:solidFill>
                <a:latin typeface="游ゴシック" pitchFamily="34" charset="0"/>
                <a:ea typeface="游ゴシック" pitchFamily="34" charset="-122"/>
                <a:cs typeface="游ゴシック" pitchFamily="34" charset="-120"/>
              </a:rPr>
              <a:t>OS の上で音と推論を分け、壊れ方まで測った</a:t>
            </a:r>
            <a:endParaRPr lang="en-US" sz="2800" dirty="0"/>
          </a:p>
        </p:txBody>
      </p:sp>
      <p:graphicFrame>
        <p:nvGraphicFramePr>
          <p:cNvPr id="43" name="Table 0"/>
          <p:cNvGraphicFramePr>
            <a:graphicFrameLocks noGrp="1"/>
          </p:cNvGraphicFramePr>
          <p:nvPr>
            <p:extLst>
              <p:ext uri="{D42A27DB-BD31-4B8C-83A1-F6EECF244321}">
                <p14:modId xmlns:p14="http://schemas.microsoft.com/office/powerpoint/2010/main" val="3272873055"/>
              </p:ext>
            </p:extLst>
          </p:nvPr>
        </p:nvGraphicFramePr>
        <p:xfrm>
          <a:off x="457200" y="2148840"/>
          <a:ext cx="11274552" cy="3907536"/>
        </p:xfrm>
        <a:graphic>
          <a:graphicData uri="http://schemas.openxmlformats.org/drawingml/2006/table">
            <a:tbl>
              <a:tblPr/>
              <a:tblGrid>
                <a:gridCol w="210312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gridCol w="5696712">
                  <a:extLst>
                    <a:ext uri="{9D8B030D-6E8A-4147-A177-3AD203B41FA5}">
                      <a16:colId xmlns:a16="http://schemas.microsoft.com/office/drawing/2014/main" val="20002"/>
                    </a:ext>
                  </a:extLst>
                </a:gridCol>
              </a:tblGrid>
              <a:tr h="530352">
                <a:tc>
                  <a:txBody>
                    <a:bodyPr/>
                    <a:lstStyle/>
                    <a:p>
                      <a:pPr marL="0" indent="0">
                        <a:buNone/>
                      </a:pPr>
                      <a:r>
                        <a:rPr lang="en-US" sz="1600" b="1" dirty="0">
                          <a:solidFill>
                            <a:srgbClr val="FFFFFF"/>
                          </a:solidFill>
                          <a:latin typeface="游ゴシック" pitchFamily="34" charset="0"/>
                          <a:ea typeface="游ゴシック" pitchFamily="34" charset="-122"/>
                          <a:cs typeface="游ゴシック" pitchFamily="34" charset="-120"/>
                        </a:rPr>
                        <a:t>観点</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tc>
                  <a:txBody>
                    <a:bodyPr/>
                    <a:lstStyle/>
                    <a:p>
                      <a:pPr marL="0" indent="0">
                        <a:buNone/>
                      </a:pPr>
                      <a:r>
                        <a:rPr lang="en-US" sz="1600" b="1" dirty="0">
                          <a:solidFill>
                            <a:srgbClr val="FFFFFF"/>
                          </a:solidFill>
                          <a:latin typeface="游ゴシック" pitchFamily="34" charset="0"/>
                          <a:ea typeface="游ゴシック" pitchFamily="34" charset="-122"/>
                          <a:cs typeface="游ゴシック" pitchFamily="34" charset="-120"/>
                        </a:rPr>
                        <a:t>ST GettingStarted（ベアメタル）</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tc>
                  <a:txBody>
                    <a:bodyPr/>
                    <a:lstStyle/>
                    <a:p>
                      <a:pPr marL="0" indent="0">
                        <a:buNone/>
                      </a:pPr>
                      <a:r>
                        <a:rPr lang="en-US" sz="1600" b="1" dirty="0">
                          <a:solidFill>
                            <a:srgbClr val="FFFFFF"/>
                          </a:solidFill>
                          <a:latin typeface="游ゴシック" pitchFamily="34" charset="0"/>
                          <a:ea typeface="游ゴシック" pitchFamily="34" charset="-122"/>
                          <a:cs typeface="游ゴシック" pitchFamily="34" charset="-120"/>
                        </a:rPr>
                        <a:t>本作品</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extLst>
                  <a:ext uri="{0D108BD9-81ED-4DB2-BD59-A6C34878D82A}">
                    <a16:rowId xmlns:a16="http://schemas.microsoft.com/office/drawing/2014/main" val="10000"/>
                  </a:ext>
                </a:extLst>
              </a:tr>
              <a:tr h="530352">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OS</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無し（メインループ）</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μT-Kernel 3.0、7 タスク＋周期／アラームハンドラ</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1"/>
                  </a:ext>
                </a:extLst>
              </a:tr>
              <a:tr h="530352">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音の経路</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取り込みと推論が同じループ</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err="1">
                          <a:solidFill>
                            <a:srgbClr val="000000"/>
                          </a:solidFill>
                          <a:latin typeface="游ゴシック" pitchFamily="34" charset="0"/>
                          <a:ea typeface="游ゴシック" pitchFamily="34" charset="-122"/>
                          <a:cs typeface="游ゴシック" pitchFamily="34" charset="-120"/>
                        </a:rPr>
                        <a:t>取り込みは最優先のタスク</a:t>
                      </a:r>
                      <a:r>
                        <a:rPr lang="en-US" sz="1600" dirty="0">
                          <a:solidFill>
                            <a:srgbClr val="000000"/>
                          </a:solidFill>
                          <a:latin typeface="游ゴシック" pitchFamily="34" charset="0"/>
                          <a:ea typeface="游ゴシック" pitchFamily="34" charset="-122"/>
                          <a:cs typeface="游ゴシック" pitchFamily="34" charset="-120"/>
                        </a:rPr>
                        <a:t>。</a:t>
                      </a:r>
                    </a:p>
                    <a:p>
                      <a:pPr marL="0" indent="0">
                        <a:buNone/>
                      </a:pPr>
                      <a:r>
                        <a:rPr lang="en-US" sz="1600" dirty="0" err="1">
                          <a:solidFill>
                            <a:srgbClr val="000000"/>
                          </a:solidFill>
                          <a:latin typeface="游ゴシック" pitchFamily="34" charset="0"/>
                          <a:ea typeface="游ゴシック" pitchFamily="34" charset="-122"/>
                          <a:cs typeface="游ゴシック" pitchFamily="34" charset="-120"/>
                        </a:rPr>
                        <a:t>推論が遅れても落ちない（実験</a:t>
                      </a:r>
                      <a:r>
                        <a:rPr lang="en-US" sz="1600" dirty="0">
                          <a:solidFill>
                            <a:srgbClr val="000000"/>
                          </a:solidFill>
                          <a:latin typeface="游ゴシック" pitchFamily="34" charset="0"/>
                          <a:ea typeface="游ゴシック" pitchFamily="34" charset="-122"/>
                          <a:cs typeface="游ゴシック" pitchFamily="34" charset="-120"/>
                        </a:rPr>
                        <a:t> 1）</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0352">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前処理</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ST のライブラリ</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dirty="0" err="1">
                          <a:solidFill>
                            <a:srgbClr val="000000"/>
                          </a:solidFill>
                          <a:latin typeface="游ゴシック" pitchFamily="34" charset="0"/>
                          <a:ea typeface="游ゴシック" pitchFamily="34" charset="-122"/>
                          <a:cs typeface="游ゴシック" pitchFamily="34" charset="-120"/>
                        </a:rPr>
                        <a:t>自作の</a:t>
                      </a:r>
                      <a:r>
                        <a:rPr lang="en-US" sz="1600" dirty="0">
                          <a:solidFill>
                            <a:srgbClr val="000000"/>
                          </a:solidFill>
                          <a:latin typeface="游ゴシック" pitchFamily="34" charset="0"/>
                          <a:ea typeface="游ゴシック" pitchFamily="34" charset="-122"/>
                          <a:cs typeface="游ゴシック" pitchFamily="34" charset="-120"/>
                        </a:rPr>
                        <a:t> log-</a:t>
                      </a:r>
                      <a:r>
                        <a:rPr lang="en-US" sz="1600" dirty="0" err="1">
                          <a:solidFill>
                            <a:srgbClr val="000000"/>
                          </a:solidFill>
                          <a:latin typeface="游ゴシック" pitchFamily="34" charset="0"/>
                          <a:ea typeface="游ゴシック" pitchFamily="34" charset="-122"/>
                          <a:cs typeface="游ゴシック" pitchFamily="34" charset="-120"/>
                        </a:rPr>
                        <a:t>mel</a:t>
                      </a:r>
                      <a:endParaRPr lang="en-US" sz="16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1600" dirty="0">
                          <a:solidFill>
                            <a:srgbClr val="000000"/>
                          </a:solidFill>
                          <a:latin typeface="游ゴシック" pitchFamily="34" charset="0"/>
                          <a:ea typeface="游ゴシック" pitchFamily="34" charset="-122"/>
                          <a:cs typeface="游ゴシック" pitchFamily="34" charset="-120"/>
                        </a:rPr>
                        <a:t>（PC と 1 ビットも違わない。PC 側スクリプト同梱）</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3"/>
                  </a:ext>
                </a:extLst>
              </a:tr>
              <a:tr h="530352">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検証</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デモ動作</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自己検証・前処理の一致・対照試験・1 </a:t>
                      </a:r>
                      <a:r>
                        <a:rPr lang="en-US" sz="1600" dirty="0" err="1">
                          <a:solidFill>
                            <a:srgbClr val="000000"/>
                          </a:solidFill>
                          <a:latin typeface="游ゴシック" pitchFamily="34" charset="0"/>
                          <a:ea typeface="游ゴシック" pitchFamily="34" charset="-122"/>
                          <a:cs typeface="游ゴシック" pitchFamily="34" charset="-120"/>
                        </a:rPr>
                        <a:t>時間運転</a:t>
                      </a:r>
                      <a:r>
                        <a:rPr lang="en-US" sz="1600" dirty="0">
                          <a:solidFill>
                            <a:srgbClr val="000000"/>
                          </a:solidFill>
                          <a:latin typeface="游ゴシック" pitchFamily="34" charset="0"/>
                          <a:ea typeface="游ゴシック" pitchFamily="34" charset="-122"/>
                          <a:cs typeface="游ゴシック" pitchFamily="34" charset="-120"/>
                        </a:rPr>
                        <a:t>・</a:t>
                      </a:r>
                    </a:p>
                    <a:p>
                      <a:pPr marL="0" indent="0">
                        <a:buNone/>
                      </a:pPr>
                      <a:r>
                        <a:rPr lang="en-US" sz="1600" dirty="0" err="1">
                          <a:solidFill>
                            <a:srgbClr val="000000"/>
                          </a:solidFill>
                          <a:latin typeface="游ゴシック" pitchFamily="34" charset="0"/>
                          <a:ea typeface="游ゴシック" pitchFamily="34" charset="-122"/>
                          <a:cs typeface="游ゴシック" pitchFamily="34" charset="-120"/>
                        </a:rPr>
                        <a:t>誤報の再走行、ログと再生スクリプト</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30352">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表示・通知</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無し</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LTDC 直結の LCD（全面の色＋履歴）、LED、UART JSON</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5"/>
                  </a:ext>
                </a:extLst>
              </a:tr>
              <a:tr h="530352">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低レベルの初期化</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GettingStarted に含まれる</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BSP2 </a:t>
                      </a:r>
                      <a:r>
                        <a:rPr lang="en-US" sz="1600" dirty="0" err="1">
                          <a:solidFill>
                            <a:srgbClr val="000000"/>
                          </a:solidFill>
                          <a:latin typeface="游ゴシック" pitchFamily="34" charset="0"/>
                          <a:ea typeface="游ゴシック" pitchFamily="34" charset="-122"/>
                          <a:cs typeface="游ゴシック" pitchFamily="34" charset="-120"/>
                        </a:rPr>
                        <a:t>に無かった分を自作</a:t>
                      </a:r>
                      <a:endParaRPr lang="en-US" sz="16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1600" dirty="0">
                          <a:solidFill>
                            <a:srgbClr val="000000"/>
                          </a:solidFill>
                          <a:latin typeface="游ゴシック" pitchFamily="34" charset="0"/>
                          <a:ea typeface="游ゴシック" pitchFamily="34" charset="-122"/>
                          <a:cs typeface="游ゴシック" pitchFamily="34" charset="-120"/>
                        </a:rPr>
                        <a:t>（フラッシュ・NPU・RIF・LCD）</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498</TotalTime>
  <Words>4072</Words>
  <Application>Microsoft Office PowerPoint</Application>
  <PresentationFormat>ワイド画面</PresentationFormat>
  <Paragraphs>1018</Paragraphs>
  <Slides>45</Slides>
  <Notes>42</Notes>
  <HiddenSlides>0</HiddenSlides>
  <MMClips>4</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45</vt:i4>
      </vt:variant>
    </vt:vector>
  </HeadingPairs>
  <TitlesOfParts>
    <vt:vector size="50" baseType="lpstr">
      <vt:lpstr>游ゴシック</vt:lpstr>
      <vt:lpstr>Arial</vt:lpstr>
      <vt:lpstr>Calibri</vt:lpstr>
      <vt:lpstr>Consolas</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μT-Kernel で音響処理と NPU 推論を両立する音響イベント検出基盤の開発</dc:title>
  <dc:subject>PptxGenJS Presentation</dc:subject>
  <dc:creator>辻大知</dc:creator>
  <cp:lastModifiedBy>大知 辻</cp:lastModifiedBy>
  <cp:revision>23</cp:revision>
  <dcterms:created xsi:type="dcterms:W3CDTF">2026-09-29T18:40:48Z</dcterms:created>
  <dcterms:modified xsi:type="dcterms:W3CDTF">2026-09-30T09:50:01Z</dcterms:modified>
</cp:coreProperties>
</file>