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4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82" d="100"/>
          <a:sy n="82" d="100"/>
        </p:scale>
        <p:origin x="691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slide" Target="slides/slide40.xml"/><Relationship Id="rId42" Type="http://schemas.openxmlformats.org/officeDocument/2006/relationships/slide" Target="slides/slide41.xml"/><Relationship Id="rId43" Type="http://schemas.openxmlformats.org/officeDocument/2006/relationships/slide" Target="slides/slide42.xml"/><Relationship Id="rId44" Type="http://schemas.openxmlformats.org/officeDocument/2006/relationships/notesMaster" Target="notesMasters/notesMaster1.xml"/><Relationship Id="rId45" Type="http://schemas.openxmlformats.org/officeDocument/2006/relationships/presProps" Target="presProps.xml"/><Relationship Id="rId46" Type="http://schemas.openxmlformats.org/officeDocument/2006/relationships/viewProps" Target="viewProps.xml"/><Relationship Id="rId47" Type="http://schemas.openxmlformats.org/officeDocument/2006/relationships/theme" Target="theme/theme1.xml"/><Relationship Id="rId48" Type="http://schemas.openxmlformats.org/officeDocument/2006/relationships/tableStyles" Target="tableStyles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ja-JP"/>
  <c:roundedCorners val="1"/>
  <c:style val="2"/>
  <c:chart>
    <c:title>
      <c:tx>
        <c:rich>
          <a:bodyPr/>
          <a:lstStyle/>
          <a:p>
            <a:pPr>
              <a:defRPr sz="1500" b="0" i="0" u="none" strike="noStrike">
                <a:solidFill>
                  <a:srgbClr val="000000"/>
                </a:solidFill>
                <a:latin typeface="游ゴシック"/>
              </a:defRPr>
            </a:pPr>
            <a:r>
              <a:rPr lang="en-US" altLang="ja-JP" sz="1500" b="0" i="0" u="none" strike="noStrike">
                <a:solidFill>
                  <a:srgbClr val="000000"/>
                </a:solidFill>
                <a:latin typeface="游ゴシック"/>
              </a:rPr>
              <a:t>1,053 ms </a:t>
            </a:r>
            <a:r>
              <a:rPr lang="ja-JP" altLang="en-US" sz="1500" b="0" i="0" u="none" strike="noStrike">
                <a:solidFill>
                  <a:srgbClr val="000000"/>
                </a:solidFill>
                <a:latin typeface="游ゴシック"/>
              </a:rPr>
              <a:t>で窓バッファを追い越し、窓が消える</a:t>
            </a:r>
          </a:p>
        </c:rich>
      </c:tx>
      <c:overlay val="0"/>
    </c:title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遅れ (ms)</c:v>
                </c:pt>
              </c:strCache>
            </c:strRef>
          </c:tx>
          <c:spPr>
            <a:ln w="38100" cap="flat">
              <a:solidFill>
                <a:srgbClr val="E07B00"/>
              </a:solidFill>
              <a:prstDash val="solid"/>
              <a:round/>
            </a:ln>
            <a:effectLst/>
          </c:spPr>
          <c:marker>
            <c:symbol val="circle"/>
            <c:size val="8"/>
            <c:spPr>
              <a:solidFill>
                <a:srgbClr val="E07B00"/>
              </a:solidFill>
              <a:ln w="9525" cap="flat">
                <a:solidFill>
                  <a:srgbClr val="E07B00"/>
                </a:solidFill>
                <a:prstDash val="solid"/>
                <a:round/>
              </a:ln>
              <a:effectLst/>
            </c:spPr>
          </c:marker>
          <c:cat>
            <c:strRef>
              <c:f>Sheet1!$A$2:$A$9</c:f>
              <c:strCache>
                <c:ptCount val="8"/>
                <c:pt idx="0">
                  <c:v>21</c:v>
                </c:pt>
                <c:pt idx="1">
                  <c:v>22</c:v>
                </c:pt>
                <c:pt idx="2">
                  <c:v>23</c:v>
                </c:pt>
                <c:pt idx="3">
                  <c:v>24</c:v>
                </c:pt>
                <c:pt idx="4">
                  <c:v>25</c:v>
                </c:pt>
                <c:pt idx="5">
                  <c:v>26</c:v>
                </c:pt>
                <c:pt idx="6">
                  <c:v>27</c:v>
                </c:pt>
                <c:pt idx="7">
                  <c:v>28</c:v>
                </c:pt>
              </c:strCache>
            </c: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0.3</c:v>
                </c:pt>
                <c:pt idx="1">
                  <c:v>151</c:v>
                </c:pt>
                <c:pt idx="2">
                  <c:v>302</c:v>
                </c:pt>
                <c:pt idx="3">
                  <c:v>452</c:v>
                </c:pt>
                <c:pt idx="4">
                  <c:v>603</c:v>
                </c:pt>
                <c:pt idx="5">
                  <c:v>753</c:v>
                </c:pt>
                <c:pt idx="6">
                  <c:v>903</c:v>
                </c:pt>
                <c:pt idx="7">
                  <c:v>1053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2BDD-46E2-ADBC-D8E314C316B9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2094734554"/>
        <c:axId val="2094734552"/>
      </c:lineChart>
      <c:catAx>
        <c:axId val="2094734554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pPr>
                  <a:defRPr sz="1400"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r>
                  <a:rPr lang="ja-JP" altLang="en-US" sz="1400" b="0" i="0" u="none" strike="noStrike">
                    <a:solidFill>
                      <a:srgbClr val="000000"/>
                    </a:solidFill>
                    <a:latin typeface="Arial"/>
                  </a:rPr>
                  <a:t>窓の番号</a:t>
                </a:r>
              </a:p>
            </c:rich>
          </c:tx>
          <c:overlay val="0"/>
        </c:title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400" b="0" i="0" u="none" strike="noStrike">
                <a:solidFill>
                  <a:srgbClr val="000000"/>
                </a:solidFill>
                <a:latin typeface="游ゴシック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5E7EB"/>
              </a:solidFill>
              <a:prstDash val="solid"/>
              <a:round/>
            </a:ln>
          </c:spPr>
        </c:majorGridlines>
        <c:title>
          <c:tx>
            <c:rich>
              <a:bodyPr/>
              <a:lstStyle/>
              <a:p>
                <a:pPr>
                  <a:defRPr sz="1300"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r>
                  <a:rPr lang="ja-JP" altLang="en-US" sz="1300" b="0" i="0" u="none" strike="noStrike">
                    <a:solidFill>
                      <a:srgbClr val="000000"/>
                    </a:solidFill>
                    <a:latin typeface="Arial"/>
                  </a:rPr>
                  <a:t>窓が揃ってから処理を始めるまでの遅れ（</a:t>
                </a:r>
                <a:r>
                  <a:rPr lang="en-US" altLang="ja-JP" sz="1300" b="0" i="0" u="none" strike="noStrike">
                    <a:solidFill>
                      <a:srgbClr val="000000"/>
                    </a:solidFill>
                    <a:latin typeface="Arial"/>
                  </a:rPr>
                  <a:t>ms</a:t>
                </a:r>
                <a:r>
                  <a:rPr lang="ja-JP" altLang="en-US" sz="1300" b="0" i="0" u="none" strike="noStrike">
                    <a:solidFill>
                      <a:srgbClr val="000000"/>
                    </a:solidFill>
                    <a:latin typeface="Arial"/>
                  </a:rPr>
                  <a:t>）</a:t>
                </a:r>
              </a:p>
            </c:rich>
          </c:tx>
          <c:overlay val="0"/>
        </c:title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400" b="0" i="0" u="none" strike="noStrike">
                <a:solidFill>
                  <a:srgbClr val="000000"/>
                </a:solidFill>
                <a:latin typeface="游ゴシック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ja-JP"/>
  <c:roundedCorners val="1"/>
  <c:style val="2"/>
  <c:chart>
    <c:title>
      <c:tx>
        <c:rich>
          <a:bodyPr/>
          <a:lstStyle/>
          <a:p>
            <a:pPr>
              <a:defRPr sz="1600" b="0" i="0" u="none" strike="noStrike">
                <a:solidFill>
                  <a:srgbClr val="000000"/>
                </a:solidFill>
                <a:latin typeface="游ゴシック"/>
              </a:defRPr>
            </a:pPr>
            <a:r>
              <a:rPr lang="ja-JP" altLang="en-US" sz="1600" b="0" i="0" u="none" strike="noStrike">
                <a:solidFill>
                  <a:srgbClr val="000000"/>
                </a:solidFill>
                <a:latin typeface="游ゴシック"/>
              </a:rPr>
              <a:t>誤報（件</a:t>
            </a:r>
            <a:r>
              <a:rPr lang="en-US" altLang="ja-JP" sz="1600" b="0" i="0" u="none" strike="noStrike">
                <a:solidFill>
                  <a:srgbClr val="000000"/>
                </a:solidFill>
                <a:latin typeface="游ゴシック"/>
              </a:rPr>
              <a:t>/</a:t>
            </a:r>
            <a:r>
              <a:rPr lang="ja-JP" altLang="en-US" sz="1600" b="0" i="0" u="none" strike="noStrike">
                <a:solidFill>
                  <a:srgbClr val="000000"/>
                </a:solidFill>
                <a:latin typeface="游ゴシック"/>
              </a:rPr>
              <a:t>時、縦軸は対数）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件/時</c:v>
                </c:pt>
              </c:strCache>
            </c:strRef>
          </c:tx>
          <c:spPr>
            <a:solidFill>
              <a:srgbClr val="156082"/>
            </a:solidFill>
            <a:effectLst/>
          </c:spPr>
          <c:invertIfNegative val="0"/>
          <c:dLbls>
            <c:numFmt formatCode="[&lt;10]0.0;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600" b="1" i="0" u="none" strike="noStrike">
                    <a:solidFill>
                      <a:srgbClr val="000000"/>
                    </a:solidFill>
                    <a:latin typeface="游ゴシック"/>
                  </a:defRPr>
                </a:pPr>
                <a:endParaRPr lang="ja-JP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Sheet1!$A$2:$A$4</c:f>
              <c:strCache>
                <c:ptCount val="3"/>
                <c:pt idx="0">
                  <c:v>対策前</c:v>
                </c:pt>
                <c:pt idx="1">
                  <c:v>1 段目</c:v>
                </c:pt>
                <c:pt idx="2">
                  <c:v>2 段目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1216</c:v>
                </c:pt>
                <c:pt idx="1">
                  <c:v>80</c:v>
                </c:pt>
                <c:pt idx="2">
                  <c:v>3.5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0CFF-485B-8B8A-60F4DCBC085B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600" b="0" i="0" u="none" strike="noStrike">
                <a:solidFill>
                  <a:srgbClr val="000000"/>
                </a:solidFill>
                <a:latin typeface="游ゴシック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logBase val="10"/>
          <c:orientation val="minMax"/>
          <c:max val="10000"/>
          <c:min val="1"/>
        </c:scaling>
        <c:delete val="0"/>
        <c:axPos val="l"/>
        <c:majorGridlines>
          <c:spPr>
            <a:ln w="6350" cap="flat">
              <a:solidFill>
                <a:srgbClr val="E5E7EB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ja-JP"/>
  <c:roundedCorners val="1"/>
  <c:style val="2"/>
  <c:chart>
    <c:title>
      <c:tx>
        <c:rich>
          <a:bodyPr/>
          <a:lstStyle/>
          <a:p>
            <a:pPr>
              <a:defRPr sz="1500" b="0" i="0" u="none" strike="noStrike">
                <a:solidFill>
                  <a:srgbClr val="000000"/>
                </a:solidFill>
                <a:latin typeface="游ゴシック"/>
              </a:defRPr>
            </a:pPr>
            <a:r>
              <a:rPr lang="en-US" altLang="ja-JP" sz="1500" b="0" i="0" u="none" strike="noStrike">
                <a:solidFill>
                  <a:srgbClr val="000000"/>
                </a:solidFill>
                <a:latin typeface="游ゴシック"/>
              </a:rPr>
              <a:t>5 </a:t>
            </a:r>
            <a:r>
              <a:rPr lang="ja-JP" altLang="en-US" sz="1500" b="0" i="0" u="none" strike="noStrike">
                <a:solidFill>
                  <a:srgbClr val="000000"/>
                </a:solidFill>
                <a:latin typeface="游ゴシック"/>
              </a:rPr>
              <a:t>分ごとの通知の件数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通知</c:v>
                </c:pt>
              </c:strCache>
            </c:strRef>
          </c:tx>
          <c:spPr>
            <a:solidFill>
              <a:srgbClr val="156082"/>
            </a:solidFill>
            <a:effectLst/>
          </c:spPr>
          <c:invertIfNegative val="0"/>
          <c:cat>
            <c:strRef>
              <c:f>Sheet1!$A$2:$A$13</c:f>
              <c:strCache>
                <c:ptCount val="12"/>
                <c:pt idx="0">
                  <c:v>0</c:v>
                </c:pt>
                <c:pt idx="1">
                  <c:v>5</c:v>
                </c:pt>
                <c:pt idx="2">
                  <c:v>10</c:v>
                </c:pt>
                <c:pt idx="3">
                  <c:v>15</c:v>
                </c:pt>
                <c:pt idx="4">
                  <c:v>20</c:v>
                </c:pt>
                <c:pt idx="5">
                  <c:v>25</c:v>
                </c:pt>
                <c:pt idx="6">
                  <c:v>30</c:v>
                </c:pt>
                <c:pt idx="7">
                  <c:v>35</c:v>
                </c:pt>
                <c:pt idx="8">
                  <c:v>40</c:v>
                </c:pt>
                <c:pt idx="9">
                  <c:v>45</c:v>
                </c:pt>
                <c:pt idx="10">
                  <c:v>50</c:v>
                </c:pt>
                <c:pt idx="11">
                  <c:v>55</c:v>
                </c:pt>
              </c:strCache>
            </c:strRef>
          </c:cat>
          <c:val>
            <c:numRef>
              <c:f>Sheet1!$B$2:$B$13</c:f>
              <c:numCache>
                <c:formatCode>General</c:formatCode>
                <c:ptCount val="12"/>
                <c:pt idx="0">
                  <c:v>1</c:v>
                </c:pt>
                <c:pt idx="1">
                  <c:v>6</c:v>
                </c:pt>
                <c:pt idx="2">
                  <c:v>7</c:v>
                </c:pt>
                <c:pt idx="3">
                  <c:v>3</c:v>
                </c:pt>
                <c:pt idx="4">
                  <c:v>3</c:v>
                </c:pt>
                <c:pt idx="5">
                  <c:v>7</c:v>
                </c:pt>
                <c:pt idx="6">
                  <c:v>6</c:v>
                </c:pt>
                <c:pt idx="7">
                  <c:v>8</c:v>
                </c:pt>
                <c:pt idx="8">
                  <c:v>5</c:v>
                </c:pt>
                <c:pt idx="9">
                  <c:v>13</c:v>
                </c:pt>
                <c:pt idx="10">
                  <c:v>8</c:v>
                </c:pt>
                <c:pt idx="11">
                  <c:v>13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D1CC-424D-A69F-CFA591B04D3E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pPr>
                  <a:defRPr sz="1300"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r>
                  <a:rPr lang="ja-JP" altLang="en-US" sz="1300" b="0" i="0" u="none" strike="noStrike">
                    <a:solidFill>
                      <a:srgbClr val="000000"/>
                    </a:solidFill>
                    <a:latin typeface="Arial"/>
                  </a:rPr>
                  <a:t>開始からの分</a:t>
                </a:r>
              </a:p>
            </c:rich>
          </c:tx>
          <c:overlay val="0"/>
        </c:title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3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5E7EB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3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75990249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_rels/notesSlide2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_rels/notesSlide3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.xml"/></Relationships>
</file>

<file path=ppt/notesSlides/_rels/notesSlide3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1.xml"/></Relationships>
</file>

<file path=ppt/notesSlides/_rels/notesSlide3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2.xml"/></Relationships>
</file>

<file path=ppt/notesSlides/_rels/notesSlide3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3.xml"/></Relationships>
</file>

<file path=ppt/notesSlides/_rels/notesSlide3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4.xml"/></Relationships>
</file>

<file path=ppt/notesSlides/_rels/notesSlide3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5.xml"/></Relationships>
</file>

<file path=ppt/notesSlides/_rels/notesSlide3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6.xml"/></Relationships>
</file>

<file path=ppt/notesSlides/_rels/notesSlide3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7.xml"/></Relationships>
</file>

<file path=ppt/notesSlides/_rels/notesSlide3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8.xml"/></Relationships>
</file>

<file path=ppt/notesSlides/_rels/notesSlide3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9.xml"/></Relationships>
</file>

<file path=ppt/notesSlides/_rels/notesSlide4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0.xml"/></Relationships>
</file>

<file path=ppt/notesSlides/_rels/notesSlide4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1.xml"/></Relationships>
</file>

<file path=ppt/notesSlides/_rels/notesSlide4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2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png"/><Relationship Id="rId4" Type="http://schemas.openxmlformats.org/officeDocument/2006/relationships/image" Target="../media/image2.png"/><Relationship Id="rId5" Type="http://schemas.openxmlformats.org/officeDocument/2006/relationships/image" Target="../media/image3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4.png"/><Relationship Id="rId4" Type="http://schemas.openxmlformats.org/officeDocument/2006/relationships/image" Target="../media/image5.png"/><Relationship Id="rId5" Type="http://schemas.openxmlformats.org/officeDocument/2006/relationships/image" Target="../media/image6.png"/><Relationship Id="rId6" Type="http://schemas.openxmlformats.org/officeDocument/2006/relationships/image" Target="../media/image7.png"/><Relationship Id="rId7" Type="http://schemas.openxmlformats.org/officeDocument/2006/relationships/image" Target="../media/image8.png"/><Relationship Id="rId8" Type="http://schemas.openxmlformats.org/officeDocument/2006/relationships/image" Target="../media/image3.png"/><Relationship Id="rId9" Type="http://schemas.openxmlformats.org/officeDocument/2006/relationships/image" Target="../media/image9.png"/><Relationship Id="rId10" Type="http://schemas.openxmlformats.org/officeDocument/2006/relationships/image" Target="../media/image10.png"/><Relationship Id="rId11" Type="http://schemas.openxmlformats.org/officeDocument/2006/relationships/image" Target="../media/image1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2.png"/><Relationship Id="rId4" Type="http://schemas.openxmlformats.org/officeDocument/2006/relationships/image" Target="../media/image13.png"/><Relationship Id="rId5" Type="http://schemas.openxmlformats.org/officeDocument/2006/relationships/image" Target="../media/image14.png"/><Relationship Id="rId6" Type="http://schemas.openxmlformats.org/officeDocument/2006/relationships/image" Target="../media/image15.png"/><Relationship Id="rId7" Type="http://schemas.openxmlformats.org/officeDocument/2006/relationships/image" Target="../media/image16.png"/><Relationship Id="rId8" Type="http://schemas.openxmlformats.org/officeDocument/2006/relationships/image" Target="../media/image17.png"/><Relationship Id="rId9" Type="http://schemas.openxmlformats.org/officeDocument/2006/relationships/image" Target="../media/image18.png"/><Relationship Id="rId10" Type="http://schemas.openxmlformats.org/officeDocument/2006/relationships/image" Target="../media/image19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20.png"/><Relationship Id="rId4" Type="http://schemas.openxmlformats.org/officeDocument/2006/relationships/image" Target="../media/image21.png"/><Relationship Id="rId5" Type="http://schemas.openxmlformats.org/officeDocument/2006/relationships/image" Target="../media/image22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23.png"/><Relationship Id="rId4" Type="http://schemas.openxmlformats.org/officeDocument/2006/relationships/image" Target="../media/image24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25.png"/><Relationship Id="rId4" Type="http://schemas.openxmlformats.org/officeDocument/2006/relationships/image" Target="../media/image13.png"/><Relationship Id="rId5" Type="http://schemas.openxmlformats.org/officeDocument/2006/relationships/image" Target="../media/image26.png"/><Relationship Id="rId6" Type="http://schemas.openxmlformats.org/officeDocument/2006/relationships/image" Target="../media/image27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28.png"/><Relationship Id="rId4" Type="http://schemas.openxmlformats.org/officeDocument/2006/relationships/image" Target="../media/image29.png"/><Relationship Id="rId5" Type="http://schemas.openxmlformats.org/officeDocument/2006/relationships/image" Target="../media/image30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31.png"/><Relationship Id="rId4" Type="http://schemas.openxmlformats.org/officeDocument/2006/relationships/image" Target="../media/image32.png"/><Relationship Id="rId5" Type="http://schemas.openxmlformats.org/officeDocument/2006/relationships/image" Target="../media/image33.png"/><Relationship Id="rId6" Type="http://schemas.openxmlformats.org/officeDocument/2006/relationships/image" Target="../media/image10.png"/><Relationship Id="rId7" Type="http://schemas.openxmlformats.org/officeDocument/2006/relationships/image" Target="../media/image34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35.png"/><Relationship Id="rId4" Type="http://schemas.openxmlformats.org/officeDocument/2006/relationships/image" Target="../media/image36.png"/><Relationship Id="rId5" Type="http://schemas.openxmlformats.org/officeDocument/2006/relationships/image" Target="../media/image37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Relationship Id="rId3" Type="http://schemas.openxmlformats.org/officeDocument/2006/relationships/chart" Target="../charts/chart1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Relationship Id="rId3" Type="http://schemas.openxmlformats.org/officeDocument/2006/relationships/chart" Target="../charts/chart2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Relationship Id="rId3" Type="http://schemas.openxmlformats.org/officeDocument/2006/relationships/chart" Target="../charts/chart3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38.pn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35.pn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Relationship Id="rId3" Type="http://schemas.openxmlformats.org/officeDocument/2006/relationships/image" Target="../media/image19.png"/><Relationship Id="rId4" Type="http://schemas.openxmlformats.org/officeDocument/2006/relationships/image" Target="../media/image39.png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Relationship Id="rId3" Type="http://schemas.openxmlformats.org/officeDocument/2006/relationships/image" Target="../media/image40.png"/><Relationship Id="rId4" Type="http://schemas.openxmlformats.org/officeDocument/2006/relationships/image" Target="../media/image41.png"/><Relationship Id="rId5" Type="http://schemas.openxmlformats.org/officeDocument/2006/relationships/image" Target="../media/image13.png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Relationship Id="rId3" Type="http://schemas.openxmlformats.org/officeDocument/2006/relationships/image" Target="../media/image40.png"/><Relationship Id="rId4" Type="http://schemas.openxmlformats.org/officeDocument/2006/relationships/image" Target="../media/image9.png"/><Relationship Id="rId5" Type="http://schemas.openxmlformats.org/officeDocument/2006/relationships/image" Target="../media/image42.png"/><Relationship Id="rId6" Type="http://schemas.openxmlformats.org/officeDocument/2006/relationships/image" Target="../media/image41.png"/><Relationship Id="rId7" Type="http://schemas.openxmlformats.org/officeDocument/2006/relationships/image" Target="../media/image13.png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.xml"/><Relationship Id="rId3" Type="http://schemas.openxmlformats.org/officeDocument/2006/relationships/image" Target="../media/image43.png"/><Relationship Id="rId4" Type="http://schemas.openxmlformats.org/officeDocument/2006/relationships/image" Target="../media/image17.png"/><Relationship Id="rId5" Type="http://schemas.openxmlformats.org/officeDocument/2006/relationships/image" Target="../media/image44.png"/><Relationship Id="rId6" Type="http://schemas.openxmlformats.org/officeDocument/2006/relationships/image" Target="../media/image32.png"/><Relationship Id="rId7" Type="http://schemas.openxmlformats.org/officeDocument/2006/relationships/image" Target="../media/image33.png"/><Relationship Id="rId8" Type="http://schemas.openxmlformats.org/officeDocument/2006/relationships/image" Target="../media/image45.png"/><Relationship Id="rId9" Type="http://schemas.openxmlformats.org/officeDocument/2006/relationships/image" Target="../media/image35.png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5.xml"/><Relationship Id="rId3" Type="http://schemas.openxmlformats.org/officeDocument/2006/relationships/image" Target="../media/image46.png"/><Relationship Id="rId4" Type="http://schemas.openxmlformats.org/officeDocument/2006/relationships/image" Target="../media/image14.png"/><Relationship Id="rId5" Type="http://schemas.openxmlformats.org/officeDocument/2006/relationships/image" Target="../media/image25.png"/><Relationship Id="rId6" Type="http://schemas.openxmlformats.org/officeDocument/2006/relationships/image" Target="../media/image47.png"/><Relationship Id="rId7" Type="http://schemas.openxmlformats.org/officeDocument/2006/relationships/image" Target="../media/image48.png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6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8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9.xml"/><Relationship Id="rId3" Type="http://schemas.openxmlformats.org/officeDocument/2006/relationships/image" Target="../media/image22.png"/><Relationship Id="rId4" Type="http://schemas.openxmlformats.org/officeDocument/2006/relationships/image" Target="../media/image40.png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0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1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74320" y="228600"/>
            <a:ext cx="10972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TRON プログラミングコンテスト 2026　RTOS アプリケーション学生部門</a:t>
            </a:r>
            <a:endParaRPr lang="en-US" sz="16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645920"/>
            <a:ext cx="11274552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800" b="1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μT-Kernel で音響処理と NPU 推論を両立する</a:t>
            </a:r>
            <a:endParaRPr lang="en-US" sz="3800" dirty="0"/>
          </a:p>
          <a:p>
            <a:pPr marL="0" indent="0" algn="ctr">
              <a:buNone/>
            </a:pPr>
            <a:r>
              <a:rPr lang="en-US" sz="3800" b="1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音響イベント検出基盤の開発</a:t>
            </a:r>
            <a:endParaRPr lang="en-US" sz="38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3611880"/>
            <a:ext cx="112745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595959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STM32N6570-DK ＋ μT-Kernel 3.0（BSP2）</a:t>
            </a:r>
            <a:endParaRPr lang="en-US" sz="2000" dirty="0"/>
          </a:p>
        </p:txBody>
      </p:sp>
      <p:sp>
        <p:nvSpPr>
          <p:cNvPr id="5" name="Text 3"/>
          <p:cNvSpPr txBox="1"/>
          <p:nvPr/>
        </p:nvSpPr>
        <p:spPr>
          <a:xfrm>
            <a:off x="5943600" y="5074920"/>
            <a:ext cx="57881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2400" b="1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辻　大知</a:t>
            </a:r>
            <a:endParaRPr lang="en-US" sz="2400" dirty="0"/>
          </a:p>
        </p:txBody>
      </p:sp>
      <p:sp>
        <p:nvSpPr>
          <p:cNvPr id="6" name="Text 4"/>
          <p:cNvSpPr txBox="1"/>
          <p:nvPr/>
        </p:nvSpPr>
        <p:spPr>
          <a:xfrm>
            <a:off x="5029200" y="5577840"/>
            <a:ext cx="67025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80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福井工業高等専門学校　専攻科 生産システム工学専攻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0" y="6309360"/>
            <a:ext cx="12191695" cy="274320"/>
          </a:xfrm>
          <a:prstGeom prst="rect">
            <a:avLst/>
          </a:prstGeom>
          <a:solidFill>
            <a:srgbClr val="156082"/>
          </a:solidFill>
          <a:ln w="12700">
            <a:solidFill>
              <a:srgbClr val="156082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74320" y="109728"/>
            <a:ext cx="116128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1:</a:t>
            </a:r>
            <a:r>
              <a:rPr lang="ja-JP" altLang="en-US" sz="3000" b="1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プロジェクト概要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0" y="777240"/>
            <a:ext cx="12191695" cy="274320"/>
          </a:xfrm>
          <a:prstGeom prst="rect">
            <a:avLst/>
          </a:prstGeom>
          <a:solidFill>
            <a:srgbClr val="156082"/>
          </a:solidFill>
          <a:ln w="12700">
            <a:solidFill>
              <a:srgbClr val="156082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4" name="Shape 2"/>
          <p:cNvSpPr/>
          <p:nvPr/>
        </p:nvSpPr>
        <p:spPr>
          <a:xfrm>
            <a:off x="0" y="1051560"/>
            <a:ext cx="12191695" cy="1097280"/>
          </a:xfrm>
          <a:prstGeom prst="rect">
            <a:avLst/>
          </a:prstGeom>
          <a:solidFill>
            <a:srgbClr val="DDEBF3"/>
          </a:solidFill>
          <a:ln w="12700">
            <a:solidFill>
              <a:srgbClr val="DDEBF3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5" name="Text 3"/>
          <p:cNvSpPr txBox="1"/>
          <p:nvPr/>
        </p:nvSpPr>
        <p:spPr>
          <a:xfrm>
            <a:off x="457200" y="1097280"/>
            <a:ext cx="1127455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マイコン 1 個で、音を 1 </a:t>
            </a:r>
            <a:r>
              <a:rPr lang="en-US" sz="2800" b="1" dirty="0" err="1"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サンプルも落とさずに</a:t>
            </a:r>
            <a:endParaRPr lang="en-US" sz="2800" b="1" dirty="0">
              <a:latin typeface="游ゴシック" pitchFamily="34" charset="0"/>
              <a:ea typeface="游ゴシック" pitchFamily="34" charset="-122"/>
              <a:cs typeface="游ゴシック" pitchFamily="34" charset="-120"/>
            </a:endParaRPr>
          </a:p>
          <a:p>
            <a:pPr marL="0" indent="0">
              <a:buNone/>
            </a:pPr>
            <a:r>
              <a:rPr lang="en-US" sz="2800" b="1" dirty="0"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NPU </a:t>
            </a:r>
            <a:r>
              <a:rPr lang="en-US" sz="2800" b="1" dirty="0" err="1"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推論を回す基盤を</a:t>
            </a:r>
            <a:r>
              <a:rPr lang="ja-JP" altLang="en-US" sz="2800" b="1" dirty="0"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開発</a:t>
            </a:r>
            <a:endParaRPr lang="en-US" sz="28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6217920"/>
            <a:ext cx="12344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95959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この章の流れ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1737360" y="6217920"/>
            <a:ext cx="3136392" cy="420624"/>
          </a:xfrm>
          <a:prstGeom prst="rect">
            <a:avLst/>
          </a:prstGeom>
          <a:solidFill>
            <a:srgbClr val="FFFFFF"/>
          </a:solidFill>
          <a:ln w="15875">
            <a:solidFill>
              <a:srgbClr val="156082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8" name="Text 6"/>
          <p:cNvSpPr txBox="1"/>
          <p:nvPr/>
        </p:nvSpPr>
        <p:spPr>
          <a:xfrm>
            <a:off x="1783080" y="6217920"/>
            <a:ext cx="304495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56082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1-1 なぜ難しいか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4946904" y="6318504"/>
            <a:ext cx="146304" cy="219456"/>
          </a:xfrm>
          <a:prstGeom prst="chevron">
            <a:avLst/>
          </a:prstGeom>
          <a:solidFill>
            <a:srgbClr val="156082"/>
          </a:solidFill>
          <a:ln w="12700">
            <a:solidFill>
              <a:srgbClr val="156082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0" name="Shape 8"/>
          <p:cNvSpPr/>
          <p:nvPr/>
        </p:nvSpPr>
        <p:spPr>
          <a:xfrm>
            <a:off x="5166360" y="6217920"/>
            <a:ext cx="3136392" cy="420624"/>
          </a:xfrm>
          <a:prstGeom prst="rect">
            <a:avLst/>
          </a:prstGeom>
          <a:solidFill>
            <a:srgbClr val="FFFFFF"/>
          </a:solidFill>
          <a:ln w="15875">
            <a:solidFill>
              <a:srgbClr val="156082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1" name="Text 9"/>
          <p:cNvSpPr txBox="1"/>
          <p:nvPr/>
        </p:nvSpPr>
        <p:spPr>
          <a:xfrm>
            <a:off x="5212080" y="6217920"/>
            <a:ext cx="304495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56082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1-2 作ったもの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8375904" y="6318504"/>
            <a:ext cx="146304" cy="219456"/>
          </a:xfrm>
          <a:prstGeom prst="chevron">
            <a:avLst/>
          </a:prstGeom>
          <a:solidFill>
            <a:srgbClr val="156082"/>
          </a:solidFill>
          <a:ln w="12700">
            <a:solidFill>
              <a:srgbClr val="156082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3" name="Shape 11"/>
          <p:cNvSpPr/>
          <p:nvPr/>
        </p:nvSpPr>
        <p:spPr>
          <a:xfrm>
            <a:off x="8595360" y="6217920"/>
            <a:ext cx="3136392" cy="420624"/>
          </a:xfrm>
          <a:prstGeom prst="rect">
            <a:avLst/>
          </a:prstGeom>
          <a:solidFill>
            <a:srgbClr val="FFFFFF"/>
          </a:solidFill>
          <a:ln w="15875">
            <a:solidFill>
              <a:srgbClr val="156082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4" name="Text 12"/>
          <p:cNvSpPr txBox="1"/>
          <p:nvPr/>
        </p:nvSpPr>
        <p:spPr>
          <a:xfrm>
            <a:off x="8641080" y="6217920"/>
            <a:ext cx="304495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56082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1-3 使った道具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457200" y="2331720"/>
            <a:ext cx="5532120" cy="3063240"/>
          </a:xfrm>
          <a:prstGeom prst="rect">
            <a:avLst/>
          </a:prstGeom>
          <a:solidFill>
            <a:srgbClr val="F2F2F2"/>
          </a:solidFill>
          <a:ln w="12700">
            <a:solidFill>
              <a:srgbClr val="BFBFBF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6" name="Shape 14"/>
          <p:cNvSpPr/>
          <p:nvPr/>
        </p:nvSpPr>
        <p:spPr>
          <a:xfrm>
            <a:off x="685800" y="2514600"/>
            <a:ext cx="640080" cy="640080"/>
          </a:xfrm>
          <a:prstGeom prst="ellipse">
            <a:avLst/>
          </a:prstGeom>
          <a:solidFill>
            <a:srgbClr val="156082"/>
          </a:solidFill>
          <a:ln w="12700">
            <a:solidFill>
              <a:srgbClr val="156082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pic>
        <p:nvPicPr>
          <p:cNvPr id="17" name="Image 0" descr="/home/claude/v4/icons/FaBullseye_FFFFFF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5528" y="2624328"/>
            <a:ext cx="420624" cy="420624"/>
          </a:xfrm>
          <a:prstGeom prst="rect">
            <a:avLst/>
          </a:prstGeom>
        </p:spPr>
      </p:pic>
      <p:sp>
        <p:nvSpPr>
          <p:cNvPr id="18" name="Text 15"/>
          <p:cNvSpPr txBox="1"/>
          <p:nvPr/>
        </p:nvSpPr>
        <p:spPr>
          <a:xfrm>
            <a:off x="1463040" y="2514600"/>
            <a:ext cx="4343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56082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何のために</a:t>
            </a:r>
            <a:endParaRPr lang="en-US" sz="2400" dirty="0"/>
          </a:p>
        </p:txBody>
      </p:sp>
      <p:sp>
        <p:nvSpPr>
          <p:cNvPr id="19" name="Text 16"/>
          <p:cNvSpPr txBox="1"/>
          <p:nvPr/>
        </p:nvSpPr>
        <p:spPr>
          <a:xfrm>
            <a:off x="685800" y="3291840"/>
            <a:ext cx="512064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90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NPU 付きマイコンで、音の取り込みと推論を同時に動かす</a:t>
            </a:r>
            <a:endParaRPr lang="en-US" sz="19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90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推論が重くても遅れても、音は壊さない</a:t>
            </a:r>
            <a:endParaRPr lang="en-US" sz="19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90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それを「動いた」ではなく、数字で示す</a:t>
            </a:r>
            <a:endParaRPr lang="en-US" sz="1900" dirty="0"/>
          </a:p>
        </p:txBody>
      </p:sp>
      <p:sp>
        <p:nvSpPr>
          <p:cNvPr id="20" name="Shape 17"/>
          <p:cNvSpPr/>
          <p:nvPr/>
        </p:nvSpPr>
        <p:spPr>
          <a:xfrm>
            <a:off x="6199632" y="2331720"/>
            <a:ext cx="5532120" cy="3063240"/>
          </a:xfrm>
          <a:prstGeom prst="rect">
            <a:avLst/>
          </a:prstGeom>
          <a:solidFill>
            <a:srgbClr val="F2F2F2"/>
          </a:solidFill>
          <a:ln w="12700">
            <a:solidFill>
              <a:srgbClr val="BFBFBF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1" name="Shape 18"/>
          <p:cNvSpPr/>
          <p:nvPr/>
        </p:nvSpPr>
        <p:spPr>
          <a:xfrm>
            <a:off x="6428232" y="2514600"/>
            <a:ext cx="640080" cy="640080"/>
          </a:xfrm>
          <a:prstGeom prst="ellipse">
            <a:avLst/>
          </a:prstGeom>
          <a:solidFill>
            <a:srgbClr val="156082"/>
          </a:solidFill>
          <a:ln w="12700">
            <a:solidFill>
              <a:srgbClr val="156082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pic>
        <p:nvPicPr>
          <p:cNvPr id="22" name="Image 1" descr="/home/claude/v4/icons/FaTools_FFFFFF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37960" y="2624328"/>
            <a:ext cx="420624" cy="420624"/>
          </a:xfrm>
          <a:prstGeom prst="rect">
            <a:avLst/>
          </a:prstGeom>
        </p:spPr>
      </p:pic>
      <p:sp>
        <p:nvSpPr>
          <p:cNvPr id="23" name="Text 19"/>
          <p:cNvSpPr txBox="1"/>
          <p:nvPr/>
        </p:nvSpPr>
        <p:spPr>
          <a:xfrm>
            <a:off x="7205472" y="2514600"/>
            <a:ext cx="4343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56082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何を作ったか</a:t>
            </a:r>
            <a:endParaRPr lang="en-US" sz="2400" dirty="0"/>
          </a:p>
        </p:txBody>
      </p:sp>
      <p:sp>
        <p:nvSpPr>
          <p:cNvPr id="24" name="Text 20"/>
          <p:cNvSpPr txBox="1"/>
          <p:nvPr/>
        </p:nvSpPr>
        <p:spPr>
          <a:xfrm>
            <a:off x="6428232" y="3291840"/>
            <a:ext cx="512064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90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μT-Kernel のタスク構成（音 ＞ 推論 ＞ 表示）</a:t>
            </a:r>
            <a:endParaRPr lang="en-US" sz="19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90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NPU・フラッシュ・LCD の初期化と前処理</a:t>
            </a:r>
            <a:endParaRPr lang="en-US" sz="19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90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音の判定と通知（LCD・LED・UART）</a:t>
            </a:r>
            <a:endParaRPr lang="en-US" sz="19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90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自己検証と、ログの集計・再生の道具</a:t>
            </a:r>
            <a:endParaRPr lang="en-US" sz="1900" dirty="0"/>
          </a:p>
        </p:txBody>
      </p:sp>
      <p:sp>
        <p:nvSpPr>
          <p:cNvPr id="25" name="Shape 21"/>
          <p:cNvSpPr/>
          <p:nvPr/>
        </p:nvSpPr>
        <p:spPr>
          <a:xfrm>
            <a:off x="457200" y="5532120"/>
            <a:ext cx="11274552" cy="502920"/>
          </a:xfrm>
          <a:prstGeom prst="rect">
            <a:avLst/>
          </a:prstGeom>
          <a:solidFill>
            <a:srgbClr val="FFFFFF"/>
          </a:solidFill>
          <a:ln w="15875">
            <a:solidFill>
              <a:srgbClr val="156082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pic>
        <p:nvPicPr>
          <p:cNvPr id="26" name="Image 2" descr="/home/claude/v4/icons/FaBell_156082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94360" y="5577840"/>
            <a:ext cx="411480" cy="411480"/>
          </a:xfrm>
          <a:prstGeom prst="rect">
            <a:avLst/>
          </a:prstGeom>
        </p:spPr>
      </p:pic>
      <p:sp>
        <p:nvSpPr>
          <p:cNvPr id="27" name="Text 22"/>
          <p:cNvSpPr txBox="1"/>
          <p:nvPr/>
        </p:nvSpPr>
        <p:spPr>
          <a:xfrm>
            <a:off x="1143000" y="5532120"/>
            <a:ext cx="10515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動作例：部屋の音（犬・泣き声・くしゃみ など）を検知して、画面と LED で知らせる（8 章）</a:t>
            </a:r>
            <a:endParaRPr lang="en-US" sz="1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74320" y="109728"/>
            <a:ext cx="116128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1-1　なぜ難しいか：1 コアで 3 つの仕事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0" y="777240"/>
            <a:ext cx="12191695" cy="274320"/>
          </a:xfrm>
          <a:prstGeom prst="rect">
            <a:avLst/>
          </a:prstGeom>
          <a:solidFill>
            <a:srgbClr val="156082"/>
          </a:solidFill>
          <a:ln w="12700">
            <a:solidFill>
              <a:srgbClr val="156082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4" name="Text 2"/>
          <p:cNvSpPr txBox="1"/>
          <p:nvPr/>
        </p:nvSpPr>
        <p:spPr>
          <a:xfrm>
            <a:off x="452199" y="1170432"/>
            <a:ext cx="112745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200" b="1" dirty="0"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音は 16 ms </a:t>
            </a:r>
            <a:r>
              <a:rPr lang="en-US" sz="3200" b="1" dirty="0" err="1"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ごとに受け取らないと溢れる</a:t>
            </a:r>
            <a:r>
              <a:rPr lang="en-US" sz="3200" b="1" dirty="0"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。</a:t>
            </a:r>
          </a:p>
          <a:p>
            <a:pPr marL="0" indent="0">
              <a:buNone/>
            </a:pPr>
            <a:r>
              <a:rPr lang="en-US" sz="2400" b="1" dirty="0" err="1"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そこへ</a:t>
            </a:r>
            <a:r>
              <a:rPr lang="en-US" sz="2400" b="1" dirty="0"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 1 回 112 ms の推論が割り込む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457200" y="2194560"/>
            <a:ext cx="8138160" cy="3566160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6" name="Text 4"/>
          <p:cNvSpPr txBox="1"/>
          <p:nvPr/>
        </p:nvSpPr>
        <p:spPr>
          <a:xfrm>
            <a:off x="594360" y="2514600"/>
            <a:ext cx="1965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音の取り込み</a:t>
            </a:r>
            <a:endParaRPr lang="en-US" sz="1800" dirty="0"/>
          </a:p>
        </p:txBody>
      </p:sp>
      <p:sp>
        <p:nvSpPr>
          <p:cNvPr id="7" name="Text 5"/>
          <p:cNvSpPr txBox="1"/>
          <p:nvPr/>
        </p:nvSpPr>
        <p:spPr>
          <a:xfrm>
            <a:off x="594360" y="2926080"/>
            <a:ext cx="1965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95959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16 ms ごと・切れ目なし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2606040" y="2587752"/>
            <a:ext cx="5760720" cy="329184"/>
          </a:xfrm>
          <a:prstGeom prst="rect">
            <a:avLst/>
          </a:prstGeom>
          <a:solidFill>
            <a:srgbClr val="008A5E"/>
          </a:solidFill>
          <a:ln w="12700">
            <a:solidFill>
              <a:srgbClr val="008A5E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9" name="Text 7"/>
          <p:cNvSpPr txBox="1"/>
          <p:nvPr/>
        </p:nvSpPr>
        <p:spPr>
          <a:xfrm>
            <a:off x="594360" y="3429000"/>
            <a:ext cx="1965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推論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4361259" y="3502152"/>
            <a:ext cx="201625" cy="329184"/>
          </a:xfrm>
          <a:prstGeom prst="rect">
            <a:avLst/>
          </a:prstGeom>
          <a:solidFill>
            <a:srgbClr val="156082"/>
          </a:solidFill>
          <a:ln w="12700">
            <a:solidFill>
              <a:srgbClr val="156082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1" name="Shape 9"/>
          <p:cNvSpPr/>
          <p:nvPr/>
        </p:nvSpPr>
        <p:spPr>
          <a:xfrm>
            <a:off x="6089475" y="3502152"/>
            <a:ext cx="201625" cy="329184"/>
          </a:xfrm>
          <a:prstGeom prst="rect">
            <a:avLst/>
          </a:prstGeom>
          <a:solidFill>
            <a:srgbClr val="156082"/>
          </a:solidFill>
          <a:ln w="12700">
            <a:solidFill>
              <a:srgbClr val="156082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2" name="Shape 10"/>
          <p:cNvSpPr/>
          <p:nvPr/>
        </p:nvSpPr>
        <p:spPr>
          <a:xfrm>
            <a:off x="7817691" y="3502152"/>
            <a:ext cx="201625" cy="329184"/>
          </a:xfrm>
          <a:prstGeom prst="rect">
            <a:avLst/>
          </a:prstGeom>
          <a:solidFill>
            <a:srgbClr val="156082"/>
          </a:solidFill>
          <a:ln w="12700">
            <a:solidFill>
              <a:srgbClr val="156082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3" name="Text 11"/>
          <p:cNvSpPr txBox="1"/>
          <p:nvPr/>
        </p:nvSpPr>
        <p:spPr>
          <a:xfrm>
            <a:off x="2606040" y="3858768"/>
            <a:ext cx="5760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95959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窓が揃うたびに 112 ms（前処理 69 ＋ 推論 41）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594360" y="4343400"/>
            <a:ext cx="1965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表示・ログ</a:t>
            </a:r>
            <a:endParaRPr lang="en-US" sz="1800" dirty="0"/>
          </a:p>
        </p:txBody>
      </p:sp>
      <p:sp>
        <p:nvSpPr>
          <p:cNvPr id="15" name="Shape 13"/>
          <p:cNvSpPr/>
          <p:nvPr/>
        </p:nvSpPr>
        <p:spPr>
          <a:xfrm>
            <a:off x="4562885" y="4416552"/>
            <a:ext cx="99727" cy="329184"/>
          </a:xfrm>
          <a:prstGeom prst="rect">
            <a:avLst/>
          </a:prstGeom>
          <a:solidFill>
            <a:srgbClr val="E07B00"/>
          </a:solidFill>
          <a:ln w="12700">
            <a:solidFill>
              <a:srgbClr val="E07B00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6" name="Shape 14"/>
          <p:cNvSpPr/>
          <p:nvPr/>
        </p:nvSpPr>
        <p:spPr>
          <a:xfrm>
            <a:off x="6291101" y="4416552"/>
            <a:ext cx="99727" cy="329184"/>
          </a:xfrm>
          <a:prstGeom prst="rect">
            <a:avLst/>
          </a:prstGeom>
          <a:solidFill>
            <a:srgbClr val="E07B00"/>
          </a:solidFill>
          <a:ln w="12700">
            <a:solidFill>
              <a:srgbClr val="E07B00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7" name="Shape 15"/>
          <p:cNvSpPr/>
          <p:nvPr/>
        </p:nvSpPr>
        <p:spPr>
          <a:xfrm>
            <a:off x="8019317" y="4416552"/>
            <a:ext cx="99727" cy="329184"/>
          </a:xfrm>
          <a:prstGeom prst="rect">
            <a:avLst/>
          </a:prstGeom>
          <a:solidFill>
            <a:srgbClr val="E07B00"/>
          </a:solidFill>
          <a:ln w="12700">
            <a:solidFill>
              <a:srgbClr val="E07B00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8" name="Text 16"/>
          <p:cNvSpPr txBox="1"/>
          <p:nvPr/>
        </p:nvSpPr>
        <p:spPr>
          <a:xfrm>
            <a:off x="2606040" y="4773168"/>
            <a:ext cx="5760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95959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推論のあと、空いた時間で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2606040" y="3099816"/>
            <a:ext cx="1755219" cy="0"/>
          </a:xfrm>
          <a:prstGeom prst="line">
            <a:avLst/>
          </a:prstGeom>
          <a:noFill/>
          <a:ln w="19050">
            <a:solidFill>
              <a:srgbClr val="008A5E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0" name="Shape 18"/>
          <p:cNvSpPr/>
          <p:nvPr/>
        </p:nvSpPr>
        <p:spPr>
          <a:xfrm>
            <a:off x="2606040" y="3026664"/>
            <a:ext cx="0" cy="146304"/>
          </a:xfrm>
          <a:prstGeom prst="line">
            <a:avLst/>
          </a:prstGeom>
          <a:noFill/>
          <a:ln w="19050">
            <a:solidFill>
              <a:srgbClr val="008A5E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1" name="Shape 19"/>
          <p:cNvSpPr/>
          <p:nvPr/>
        </p:nvSpPr>
        <p:spPr>
          <a:xfrm>
            <a:off x="4361259" y="3026664"/>
            <a:ext cx="0" cy="146304"/>
          </a:xfrm>
          <a:prstGeom prst="line">
            <a:avLst/>
          </a:prstGeom>
          <a:noFill/>
          <a:ln w="19050">
            <a:solidFill>
              <a:srgbClr val="008A5E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2" name="Text 20"/>
          <p:cNvSpPr txBox="1"/>
          <p:nvPr/>
        </p:nvSpPr>
        <p:spPr>
          <a:xfrm>
            <a:off x="4452699" y="2962656"/>
            <a:ext cx="4480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08A5E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窓 1 つ ＝ 975 ms（960 ms ごと）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2606040" y="5303520"/>
            <a:ext cx="5760720" cy="0"/>
          </a:xfrm>
          <a:prstGeom prst="line">
            <a:avLst/>
          </a:prstGeom>
          <a:noFill/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4" name="Shape 22"/>
          <p:cNvSpPr/>
          <p:nvPr/>
        </p:nvSpPr>
        <p:spPr>
          <a:xfrm>
            <a:off x="2606040" y="5257800"/>
            <a:ext cx="0" cy="91440"/>
          </a:xfrm>
          <a:prstGeom prst="line">
            <a:avLst/>
          </a:prstGeom>
          <a:noFill/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5" name="Text 23"/>
          <p:cNvSpPr txBox="1"/>
          <p:nvPr/>
        </p:nvSpPr>
        <p:spPr>
          <a:xfrm>
            <a:off x="2286000" y="5349240"/>
            <a:ext cx="640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0.00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4334256" y="5257800"/>
            <a:ext cx="0" cy="91440"/>
          </a:xfrm>
          <a:prstGeom prst="line">
            <a:avLst/>
          </a:prstGeom>
          <a:noFill/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7" name="Text 25"/>
          <p:cNvSpPr txBox="1"/>
          <p:nvPr/>
        </p:nvSpPr>
        <p:spPr>
          <a:xfrm>
            <a:off x="4014216" y="5349240"/>
            <a:ext cx="640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0.96</a:t>
            </a:r>
            <a:endParaRPr lang="en-US" sz="1300" dirty="0"/>
          </a:p>
        </p:txBody>
      </p:sp>
      <p:sp>
        <p:nvSpPr>
          <p:cNvPr id="28" name="Shape 26"/>
          <p:cNvSpPr/>
          <p:nvPr/>
        </p:nvSpPr>
        <p:spPr>
          <a:xfrm>
            <a:off x="6062472" y="5257800"/>
            <a:ext cx="0" cy="91440"/>
          </a:xfrm>
          <a:prstGeom prst="line">
            <a:avLst/>
          </a:prstGeom>
          <a:noFill/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9" name="Text 27"/>
          <p:cNvSpPr txBox="1"/>
          <p:nvPr/>
        </p:nvSpPr>
        <p:spPr>
          <a:xfrm>
            <a:off x="5742432" y="5349240"/>
            <a:ext cx="640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1.92</a:t>
            </a:r>
            <a:endParaRPr lang="en-US" sz="1300" dirty="0"/>
          </a:p>
        </p:txBody>
      </p:sp>
      <p:sp>
        <p:nvSpPr>
          <p:cNvPr id="30" name="Shape 28"/>
          <p:cNvSpPr/>
          <p:nvPr/>
        </p:nvSpPr>
        <p:spPr>
          <a:xfrm>
            <a:off x="7790688" y="5257800"/>
            <a:ext cx="0" cy="91440"/>
          </a:xfrm>
          <a:prstGeom prst="line">
            <a:avLst/>
          </a:prstGeom>
          <a:noFill/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31" name="Text 29"/>
          <p:cNvSpPr txBox="1"/>
          <p:nvPr/>
        </p:nvSpPr>
        <p:spPr>
          <a:xfrm>
            <a:off x="7470648" y="5349240"/>
            <a:ext cx="640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2.88</a:t>
            </a:r>
            <a:endParaRPr lang="en-US" sz="1300" dirty="0"/>
          </a:p>
        </p:txBody>
      </p:sp>
      <p:sp>
        <p:nvSpPr>
          <p:cNvPr id="32" name="Text 30"/>
          <p:cNvSpPr txBox="1"/>
          <p:nvPr/>
        </p:nvSpPr>
        <p:spPr>
          <a:xfrm>
            <a:off x="2606040" y="5577840"/>
            <a:ext cx="5760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595959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時刻 t（秒）</a:t>
            </a:r>
            <a:endParaRPr lang="en-US" sz="1300" dirty="0"/>
          </a:p>
        </p:txBody>
      </p:sp>
      <p:sp>
        <p:nvSpPr>
          <p:cNvPr id="33" name="Text 31"/>
          <p:cNvSpPr txBox="1"/>
          <p:nvPr/>
        </p:nvSpPr>
        <p:spPr>
          <a:xfrm>
            <a:off x="8869680" y="2194560"/>
            <a:ext cx="286207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取りこぼしの数え方</a:t>
            </a:r>
            <a:endParaRPr lang="en-US" sz="1800" dirty="0"/>
          </a:p>
        </p:txBody>
      </p:sp>
      <p:sp>
        <p:nvSpPr>
          <p:cNvPr id="34" name="Text 32"/>
          <p:cNvSpPr txBox="1"/>
          <p:nvPr/>
        </p:nvSpPr>
        <p:spPr>
          <a:xfrm>
            <a:off x="8869680" y="2651760"/>
            <a:ext cx="286207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rgbClr val="15608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under　</a:t>
            </a:r>
            <a:r>
              <a:rPr lang="en-US" sz="160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ヘッドホンに渡す音が足りず、無音で埋めた回数</a:t>
            </a:r>
            <a:endParaRPr lang="en-US" sz="1600" dirty="0"/>
          </a:p>
        </p:txBody>
      </p:sp>
      <p:sp>
        <p:nvSpPr>
          <p:cNvPr id="35" name="Text 33"/>
          <p:cNvSpPr txBox="1"/>
          <p:nvPr/>
        </p:nvSpPr>
        <p:spPr>
          <a:xfrm>
            <a:off x="8869680" y="3310128"/>
            <a:ext cx="286207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rgbClr val="15608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over　</a:t>
            </a:r>
            <a:r>
              <a:rPr lang="en-US" sz="160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マイクの音を受け取れずに捨てた回数</a:t>
            </a:r>
            <a:endParaRPr lang="en-US" sz="1600" dirty="0"/>
          </a:p>
        </p:txBody>
      </p:sp>
      <p:sp>
        <p:nvSpPr>
          <p:cNvPr id="36" name="Text 34"/>
          <p:cNvSpPr txBox="1"/>
          <p:nvPr/>
        </p:nvSpPr>
        <p:spPr>
          <a:xfrm>
            <a:off x="8869680" y="3968496"/>
            <a:ext cx="286207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rgbClr val="15608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late　</a:t>
            </a:r>
            <a:r>
              <a:rPr lang="en-US" sz="160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処理が 1 周期ぶん間に合わなかった回数</a:t>
            </a:r>
            <a:endParaRPr lang="en-US" sz="1600" dirty="0"/>
          </a:p>
        </p:txBody>
      </p:sp>
      <p:sp>
        <p:nvSpPr>
          <p:cNvPr id="37" name="Text 35"/>
          <p:cNvSpPr txBox="1"/>
          <p:nvPr/>
        </p:nvSpPr>
        <p:spPr>
          <a:xfrm>
            <a:off x="8869680" y="4663440"/>
            <a:ext cx="30175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3</a:t>
            </a:r>
            <a:r>
              <a:rPr lang="ja-JP" altLang="en-US" sz="1600" b="1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つとも</a:t>
            </a:r>
            <a:r>
              <a:rPr lang="en-US" sz="1600" b="1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0</a:t>
            </a:r>
            <a:r>
              <a:rPr lang="ja-JP" altLang="en-US" sz="1600" b="1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ならば</a:t>
            </a:r>
            <a:r>
              <a:rPr lang="en-US" sz="1600" b="1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 </a:t>
            </a:r>
          </a:p>
          <a:p>
            <a:pPr marL="0" indent="0">
              <a:buNone/>
            </a:pPr>
            <a:r>
              <a:rPr lang="en-US" sz="1600" b="1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1 </a:t>
            </a:r>
            <a:r>
              <a:rPr lang="en-US" sz="1600" b="1" dirty="0" err="1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サンプルも落ちていない</a:t>
            </a:r>
            <a:r>
              <a:rPr lang="en-US" sz="1600" b="1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。</a:t>
            </a:r>
          </a:p>
          <a:p>
            <a:pPr marL="0" indent="0">
              <a:buNone/>
            </a:pPr>
            <a:endParaRPr lang="en-US" sz="1600" b="1" dirty="0">
              <a:solidFill>
                <a:srgbClr val="000000"/>
              </a:solidFill>
              <a:latin typeface="游ゴシック" pitchFamily="34" charset="0"/>
              <a:ea typeface="游ゴシック" pitchFamily="34" charset="-122"/>
              <a:cs typeface="游ゴシック" pitchFamily="34" charset="-120"/>
            </a:endParaRPr>
          </a:p>
          <a:p>
            <a:pPr marL="0" indent="0">
              <a:buNone/>
            </a:pPr>
            <a:r>
              <a:rPr lang="en-US" sz="1100" dirty="0" err="1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以下「音の取りこぼし」はこの</a:t>
            </a:r>
            <a:r>
              <a:rPr lang="en-US" sz="110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 3 つを指す</a:t>
            </a:r>
            <a:endParaRPr lang="en-US" sz="1100" dirty="0"/>
          </a:p>
        </p:txBody>
      </p:sp>
      <p:sp>
        <p:nvSpPr>
          <p:cNvPr id="38" name="Text 36"/>
          <p:cNvSpPr txBox="1"/>
          <p:nvPr/>
        </p:nvSpPr>
        <p:spPr>
          <a:xfrm>
            <a:off x="594360" y="5998464"/>
            <a:ext cx="112745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 err="1">
                <a:solidFill>
                  <a:srgbClr val="FF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取り込みが落ちると、検出器に入る音そのものが欠ける。だから音を最優先にした（2 章</a:t>
            </a:r>
            <a:r>
              <a:rPr lang="en-US" sz="2400" b="1" dirty="0">
                <a:solidFill>
                  <a:srgbClr val="FF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）</a:t>
            </a:r>
            <a:endParaRPr lang="en-US" sz="2400" b="1" dirty="0">
              <a:solidFill>
                <a:srgbClr val="FF0000"/>
              </a:solidFill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74320" y="109728"/>
            <a:ext cx="116128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1-2　作ったもの：マイクから通知まで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0" y="777240"/>
            <a:ext cx="12191695" cy="274320"/>
          </a:xfrm>
          <a:prstGeom prst="rect">
            <a:avLst/>
          </a:prstGeom>
          <a:solidFill>
            <a:srgbClr val="156082"/>
          </a:solidFill>
          <a:ln w="12700">
            <a:solidFill>
              <a:srgbClr val="156082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4" name="Shape 2"/>
          <p:cNvSpPr/>
          <p:nvPr/>
        </p:nvSpPr>
        <p:spPr>
          <a:xfrm>
            <a:off x="457200" y="1325880"/>
            <a:ext cx="1417320" cy="1691640"/>
          </a:xfrm>
          <a:prstGeom prst="rect">
            <a:avLst/>
          </a:prstGeom>
          <a:solidFill>
            <a:srgbClr val="F2F2F2"/>
          </a:solidFill>
          <a:ln w="12700">
            <a:solidFill>
              <a:srgbClr val="A6A6A6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pic>
        <p:nvPicPr>
          <p:cNvPr id="5" name="Image 0" descr="/home/claude/v4/icons/FaMicrophone_595959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" y="1463040"/>
            <a:ext cx="502920" cy="50292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475488" y="2039112"/>
            <a:ext cx="138074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マイク</a:t>
            </a:r>
            <a:endParaRPr lang="en-US" sz="1600" dirty="0"/>
          </a:p>
        </p:txBody>
      </p:sp>
      <p:sp>
        <p:nvSpPr>
          <p:cNvPr id="7" name="Text 4"/>
          <p:cNvSpPr txBox="1"/>
          <p:nvPr/>
        </p:nvSpPr>
        <p:spPr>
          <a:xfrm>
            <a:off x="475488" y="2468880"/>
            <a:ext cx="138074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400" dirty="0">
                <a:solidFill>
                  <a:srgbClr val="595959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PDM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1901952" y="2011680"/>
            <a:ext cx="173736" cy="274320"/>
          </a:xfrm>
          <a:prstGeom prst="rightArrow">
            <a:avLst/>
          </a:prstGeom>
          <a:solidFill>
            <a:srgbClr val="156082"/>
          </a:solidFill>
          <a:ln w="12700">
            <a:solidFill>
              <a:srgbClr val="156082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9" name="Shape 6"/>
          <p:cNvSpPr/>
          <p:nvPr/>
        </p:nvSpPr>
        <p:spPr>
          <a:xfrm>
            <a:off x="2100377" y="1325880"/>
            <a:ext cx="1417320" cy="1691640"/>
          </a:xfrm>
          <a:prstGeom prst="rect">
            <a:avLst/>
          </a:prstGeom>
          <a:solidFill>
            <a:srgbClr val="DDEBF3"/>
          </a:solidFill>
          <a:ln w="19050">
            <a:solidFill>
              <a:srgbClr val="156082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pic>
        <p:nvPicPr>
          <p:cNvPr id="10" name="Image 1" descr="/home/claude/v4/icons/FaWaveSquare_156082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557577" y="1463040"/>
            <a:ext cx="502920" cy="502920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2118665" y="2039112"/>
            <a:ext cx="138074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音の取り込み</a:t>
            </a:r>
            <a:endParaRPr lang="en-US" sz="1600" dirty="0"/>
          </a:p>
        </p:txBody>
      </p:sp>
      <p:sp>
        <p:nvSpPr>
          <p:cNvPr id="12" name="Text 8"/>
          <p:cNvSpPr txBox="1"/>
          <p:nvPr/>
        </p:nvSpPr>
        <p:spPr>
          <a:xfrm>
            <a:off x="2118665" y="2468880"/>
            <a:ext cx="138074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400" dirty="0">
                <a:solidFill>
                  <a:srgbClr val="595959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16 ms ごと</a:t>
            </a:r>
            <a:endParaRPr lang="en-US" sz="1400" dirty="0"/>
          </a:p>
        </p:txBody>
      </p:sp>
      <p:sp>
        <p:nvSpPr>
          <p:cNvPr id="13" name="Shape 9"/>
          <p:cNvSpPr/>
          <p:nvPr/>
        </p:nvSpPr>
        <p:spPr>
          <a:xfrm>
            <a:off x="3545129" y="2011680"/>
            <a:ext cx="173736" cy="274320"/>
          </a:xfrm>
          <a:prstGeom prst="rightArrow">
            <a:avLst/>
          </a:prstGeom>
          <a:solidFill>
            <a:srgbClr val="156082"/>
          </a:solidFill>
          <a:ln w="12700">
            <a:solidFill>
              <a:srgbClr val="156082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4" name="Shape 10"/>
          <p:cNvSpPr/>
          <p:nvPr/>
        </p:nvSpPr>
        <p:spPr>
          <a:xfrm>
            <a:off x="3743554" y="1325880"/>
            <a:ext cx="1417320" cy="1691640"/>
          </a:xfrm>
          <a:prstGeom prst="rect">
            <a:avLst/>
          </a:prstGeom>
          <a:solidFill>
            <a:srgbClr val="DDEBF3"/>
          </a:solidFill>
          <a:ln w="19050">
            <a:solidFill>
              <a:srgbClr val="156082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pic>
        <p:nvPicPr>
          <p:cNvPr id="15" name="Image 2" descr="/home/claude/v4/icons/FaLayerGroup_156082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200754" y="1463040"/>
            <a:ext cx="502920" cy="502920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3761842" y="2039112"/>
            <a:ext cx="138074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窓</a:t>
            </a:r>
            <a:endParaRPr lang="en-US" sz="1600" dirty="0"/>
          </a:p>
        </p:txBody>
      </p:sp>
      <p:sp>
        <p:nvSpPr>
          <p:cNvPr id="17" name="Text 12"/>
          <p:cNvSpPr txBox="1"/>
          <p:nvPr/>
        </p:nvSpPr>
        <p:spPr>
          <a:xfrm>
            <a:off x="3761842" y="2468880"/>
            <a:ext cx="138074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400" dirty="0">
                <a:solidFill>
                  <a:srgbClr val="595959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975 ms</a:t>
            </a:r>
            <a:endParaRPr lang="en-US" sz="1400" dirty="0"/>
          </a:p>
        </p:txBody>
      </p:sp>
      <p:sp>
        <p:nvSpPr>
          <p:cNvPr id="18" name="Shape 13"/>
          <p:cNvSpPr/>
          <p:nvPr/>
        </p:nvSpPr>
        <p:spPr>
          <a:xfrm>
            <a:off x="5188306" y="2011680"/>
            <a:ext cx="173736" cy="274320"/>
          </a:xfrm>
          <a:prstGeom prst="rightArrow">
            <a:avLst/>
          </a:prstGeom>
          <a:solidFill>
            <a:srgbClr val="156082"/>
          </a:solidFill>
          <a:ln w="12700">
            <a:solidFill>
              <a:srgbClr val="156082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9" name="Shape 14"/>
          <p:cNvSpPr/>
          <p:nvPr/>
        </p:nvSpPr>
        <p:spPr>
          <a:xfrm>
            <a:off x="5386730" y="1325880"/>
            <a:ext cx="1417320" cy="1691640"/>
          </a:xfrm>
          <a:prstGeom prst="rect">
            <a:avLst/>
          </a:prstGeom>
          <a:solidFill>
            <a:srgbClr val="DDEBF3"/>
          </a:solidFill>
          <a:ln w="19050">
            <a:solidFill>
              <a:srgbClr val="156082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pic>
        <p:nvPicPr>
          <p:cNvPr id="20" name="Image 3" descr="/home/claude/v4/icons/FaWaveSquare_156082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43930" y="1463040"/>
            <a:ext cx="502920" cy="502920"/>
          </a:xfrm>
          <a:prstGeom prst="rect">
            <a:avLst/>
          </a:prstGeom>
        </p:spPr>
      </p:pic>
      <p:sp>
        <p:nvSpPr>
          <p:cNvPr id="21" name="Text 15"/>
          <p:cNvSpPr txBox="1"/>
          <p:nvPr/>
        </p:nvSpPr>
        <p:spPr>
          <a:xfrm>
            <a:off x="5405018" y="2039112"/>
            <a:ext cx="138074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前処理</a:t>
            </a:r>
            <a:endParaRPr lang="en-US" sz="1600" dirty="0"/>
          </a:p>
        </p:txBody>
      </p:sp>
      <p:sp>
        <p:nvSpPr>
          <p:cNvPr id="22" name="Text 16"/>
          <p:cNvSpPr txBox="1"/>
          <p:nvPr/>
        </p:nvSpPr>
        <p:spPr>
          <a:xfrm>
            <a:off x="5405018" y="2468880"/>
            <a:ext cx="138074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400" dirty="0">
                <a:solidFill>
                  <a:srgbClr val="595959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音を画像に</a:t>
            </a:r>
            <a:endParaRPr lang="en-US" sz="1400" dirty="0"/>
          </a:p>
        </p:txBody>
      </p:sp>
      <p:sp>
        <p:nvSpPr>
          <p:cNvPr id="23" name="Shape 17"/>
          <p:cNvSpPr/>
          <p:nvPr/>
        </p:nvSpPr>
        <p:spPr>
          <a:xfrm>
            <a:off x="6831482" y="2011680"/>
            <a:ext cx="173736" cy="274320"/>
          </a:xfrm>
          <a:prstGeom prst="rightArrow">
            <a:avLst/>
          </a:prstGeom>
          <a:solidFill>
            <a:srgbClr val="156082"/>
          </a:solidFill>
          <a:ln w="12700">
            <a:solidFill>
              <a:srgbClr val="156082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4" name="Shape 18"/>
          <p:cNvSpPr/>
          <p:nvPr/>
        </p:nvSpPr>
        <p:spPr>
          <a:xfrm>
            <a:off x="7029907" y="1325880"/>
            <a:ext cx="1417320" cy="1691640"/>
          </a:xfrm>
          <a:prstGeom prst="rect">
            <a:avLst/>
          </a:prstGeom>
          <a:solidFill>
            <a:srgbClr val="F2F2F2"/>
          </a:solidFill>
          <a:ln w="12700">
            <a:solidFill>
              <a:srgbClr val="A6A6A6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pic>
        <p:nvPicPr>
          <p:cNvPr id="25" name="Image 4" descr="/home/claude/v4/icons/FaBrain_595959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487107" y="1463040"/>
            <a:ext cx="502920" cy="502920"/>
          </a:xfrm>
          <a:prstGeom prst="rect">
            <a:avLst/>
          </a:prstGeom>
        </p:spPr>
      </p:pic>
      <p:sp>
        <p:nvSpPr>
          <p:cNvPr id="26" name="Text 19"/>
          <p:cNvSpPr txBox="1"/>
          <p:nvPr/>
        </p:nvSpPr>
        <p:spPr>
          <a:xfrm>
            <a:off x="7048195" y="2039112"/>
            <a:ext cx="138074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NPU 推論</a:t>
            </a:r>
            <a:endParaRPr lang="en-US" sz="1600" dirty="0"/>
          </a:p>
        </p:txBody>
      </p:sp>
      <p:sp>
        <p:nvSpPr>
          <p:cNvPr id="27" name="Text 20"/>
          <p:cNvSpPr txBox="1"/>
          <p:nvPr/>
        </p:nvSpPr>
        <p:spPr>
          <a:xfrm>
            <a:off x="7048195" y="2468880"/>
            <a:ext cx="138074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400" dirty="0">
                <a:solidFill>
                  <a:srgbClr val="595959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YAMNet</a:t>
            </a:r>
            <a:endParaRPr lang="en-US" sz="1400" dirty="0"/>
          </a:p>
        </p:txBody>
      </p:sp>
      <p:sp>
        <p:nvSpPr>
          <p:cNvPr id="28" name="Shape 21"/>
          <p:cNvSpPr/>
          <p:nvPr/>
        </p:nvSpPr>
        <p:spPr>
          <a:xfrm>
            <a:off x="8474659" y="2011680"/>
            <a:ext cx="173736" cy="274320"/>
          </a:xfrm>
          <a:prstGeom prst="rightArrow">
            <a:avLst/>
          </a:prstGeom>
          <a:solidFill>
            <a:srgbClr val="156082"/>
          </a:solidFill>
          <a:ln w="12700">
            <a:solidFill>
              <a:srgbClr val="156082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9" name="Shape 22"/>
          <p:cNvSpPr/>
          <p:nvPr/>
        </p:nvSpPr>
        <p:spPr>
          <a:xfrm>
            <a:off x="8673084" y="1325880"/>
            <a:ext cx="1417320" cy="1691640"/>
          </a:xfrm>
          <a:prstGeom prst="rect">
            <a:avLst/>
          </a:prstGeom>
          <a:solidFill>
            <a:srgbClr val="DDEBF3"/>
          </a:solidFill>
          <a:ln w="19050">
            <a:solidFill>
              <a:srgbClr val="156082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pic>
        <p:nvPicPr>
          <p:cNvPr id="30" name="Image 5" descr="/home/claude/v4/icons/FaFilter_156082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130284" y="1463040"/>
            <a:ext cx="502920" cy="502920"/>
          </a:xfrm>
          <a:prstGeom prst="rect">
            <a:avLst/>
          </a:prstGeom>
        </p:spPr>
      </p:pic>
      <p:sp>
        <p:nvSpPr>
          <p:cNvPr id="31" name="Text 23"/>
          <p:cNvSpPr txBox="1"/>
          <p:nvPr/>
        </p:nvSpPr>
        <p:spPr>
          <a:xfrm>
            <a:off x="8691372" y="2039112"/>
            <a:ext cx="138074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判定</a:t>
            </a:r>
            <a:endParaRPr lang="en-US" sz="1600" dirty="0"/>
          </a:p>
        </p:txBody>
      </p:sp>
      <p:sp>
        <p:nvSpPr>
          <p:cNvPr id="32" name="Text 24"/>
          <p:cNvSpPr txBox="1"/>
          <p:nvPr/>
        </p:nvSpPr>
        <p:spPr>
          <a:xfrm>
            <a:off x="8691372" y="2468880"/>
            <a:ext cx="138074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400" dirty="0">
                <a:solidFill>
                  <a:srgbClr val="595959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確率・音量</a:t>
            </a:r>
            <a:endParaRPr lang="en-US" sz="1400" dirty="0"/>
          </a:p>
        </p:txBody>
      </p:sp>
      <p:sp>
        <p:nvSpPr>
          <p:cNvPr id="33" name="Shape 25"/>
          <p:cNvSpPr/>
          <p:nvPr/>
        </p:nvSpPr>
        <p:spPr>
          <a:xfrm>
            <a:off x="10117836" y="2011680"/>
            <a:ext cx="173736" cy="274320"/>
          </a:xfrm>
          <a:prstGeom prst="rightArrow">
            <a:avLst/>
          </a:prstGeom>
          <a:solidFill>
            <a:srgbClr val="156082"/>
          </a:solidFill>
          <a:ln w="12700">
            <a:solidFill>
              <a:srgbClr val="156082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34" name="Shape 26"/>
          <p:cNvSpPr/>
          <p:nvPr/>
        </p:nvSpPr>
        <p:spPr>
          <a:xfrm>
            <a:off x="10316261" y="1325880"/>
            <a:ext cx="1417320" cy="1691640"/>
          </a:xfrm>
          <a:prstGeom prst="rect">
            <a:avLst/>
          </a:prstGeom>
          <a:solidFill>
            <a:srgbClr val="DDEBF3"/>
          </a:solidFill>
          <a:ln w="19050">
            <a:solidFill>
              <a:srgbClr val="156082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pic>
        <p:nvPicPr>
          <p:cNvPr id="35" name="Image 6" descr="/home/claude/v4/icons/FaBell_156082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773461" y="1463040"/>
            <a:ext cx="502920" cy="502920"/>
          </a:xfrm>
          <a:prstGeom prst="rect">
            <a:avLst/>
          </a:prstGeom>
        </p:spPr>
      </p:pic>
      <p:sp>
        <p:nvSpPr>
          <p:cNvPr id="36" name="Text 27"/>
          <p:cNvSpPr txBox="1"/>
          <p:nvPr/>
        </p:nvSpPr>
        <p:spPr>
          <a:xfrm>
            <a:off x="10334549" y="2039112"/>
            <a:ext cx="138074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通知</a:t>
            </a:r>
            <a:endParaRPr lang="en-US" sz="1600" dirty="0"/>
          </a:p>
        </p:txBody>
      </p:sp>
      <p:sp>
        <p:nvSpPr>
          <p:cNvPr id="37" name="Text 28"/>
          <p:cNvSpPr txBox="1"/>
          <p:nvPr/>
        </p:nvSpPr>
        <p:spPr>
          <a:xfrm>
            <a:off x="10334549" y="2468880"/>
            <a:ext cx="138074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400" dirty="0">
                <a:solidFill>
                  <a:srgbClr val="595959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LCD・LED・UART</a:t>
            </a:r>
            <a:endParaRPr lang="en-US" sz="1400" dirty="0"/>
          </a:p>
        </p:txBody>
      </p:sp>
      <p:sp>
        <p:nvSpPr>
          <p:cNvPr id="38" name="Shape 29"/>
          <p:cNvSpPr/>
          <p:nvPr/>
        </p:nvSpPr>
        <p:spPr>
          <a:xfrm>
            <a:off x="457200" y="3127248"/>
            <a:ext cx="11274552" cy="420624"/>
          </a:xfrm>
          <a:prstGeom prst="rect">
            <a:avLst/>
          </a:prstGeom>
          <a:solidFill>
            <a:srgbClr val="F2F2F2"/>
          </a:solidFill>
          <a:ln w="12700">
            <a:solidFill>
              <a:srgbClr val="A6A6A6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39" name="Text 30"/>
          <p:cNvSpPr txBox="1"/>
          <p:nvPr/>
        </p:nvSpPr>
        <p:spPr>
          <a:xfrm>
            <a:off x="457200" y="3127248"/>
            <a:ext cx="1127455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595959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土台：μT-Kernel 3.0 のタスク・優先度・ハンドラ（既存）</a:t>
            </a:r>
            <a:endParaRPr lang="en-US" sz="1600" dirty="0"/>
          </a:p>
        </p:txBody>
      </p:sp>
      <p:sp>
        <p:nvSpPr>
          <p:cNvPr id="40" name="Text 31"/>
          <p:cNvSpPr txBox="1"/>
          <p:nvPr/>
        </p:nvSpPr>
        <p:spPr>
          <a:xfrm>
            <a:off x="457200" y="3675888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56082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支える部分</a:t>
            </a:r>
            <a:endParaRPr lang="en-US" sz="1500" dirty="0"/>
          </a:p>
        </p:txBody>
      </p:sp>
      <p:sp>
        <p:nvSpPr>
          <p:cNvPr id="41" name="Shape 32"/>
          <p:cNvSpPr/>
          <p:nvPr/>
        </p:nvSpPr>
        <p:spPr>
          <a:xfrm>
            <a:off x="457200" y="4023360"/>
            <a:ext cx="3611880" cy="868680"/>
          </a:xfrm>
          <a:prstGeom prst="rect">
            <a:avLst/>
          </a:prstGeom>
          <a:solidFill>
            <a:srgbClr val="DDEBF3"/>
          </a:solidFill>
          <a:ln w="19050">
            <a:solidFill>
              <a:srgbClr val="156082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pic>
        <p:nvPicPr>
          <p:cNvPr id="42" name="Image 7" descr="/home/claude/v4/icons/FaCogs_156082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40080" y="4206240"/>
            <a:ext cx="502920" cy="502920"/>
          </a:xfrm>
          <a:prstGeom prst="rect">
            <a:avLst/>
          </a:prstGeom>
        </p:spPr>
      </p:pic>
      <p:sp>
        <p:nvSpPr>
          <p:cNvPr id="43" name="Text 33"/>
          <p:cNvSpPr txBox="1"/>
          <p:nvPr/>
        </p:nvSpPr>
        <p:spPr>
          <a:xfrm>
            <a:off x="1280160" y="4023360"/>
            <a:ext cx="26974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NPU・外部フラッシュ・LCD の初期化</a:t>
            </a:r>
            <a:endParaRPr lang="en-US" sz="1700" dirty="0"/>
          </a:p>
        </p:txBody>
      </p:sp>
      <p:sp>
        <p:nvSpPr>
          <p:cNvPr id="44" name="Shape 34"/>
          <p:cNvSpPr/>
          <p:nvPr/>
        </p:nvSpPr>
        <p:spPr>
          <a:xfrm>
            <a:off x="4288536" y="4023360"/>
            <a:ext cx="3611880" cy="868680"/>
          </a:xfrm>
          <a:prstGeom prst="rect">
            <a:avLst/>
          </a:prstGeom>
          <a:solidFill>
            <a:srgbClr val="DDEBF3"/>
          </a:solidFill>
          <a:ln w="19050">
            <a:solidFill>
              <a:srgbClr val="156082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pic>
        <p:nvPicPr>
          <p:cNvPr id="45" name="Image 8" descr="/home/claude/v4/icons/FaCheckCircle_156082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471416" y="4206240"/>
            <a:ext cx="502920" cy="502920"/>
          </a:xfrm>
          <a:prstGeom prst="rect">
            <a:avLst/>
          </a:prstGeom>
        </p:spPr>
      </p:pic>
      <p:sp>
        <p:nvSpPr>
          <p:cNvPr id="46" name="Text 35"/>
          <p:cNvSpPr txBox="1"/>
          <p:nvPr/>
        </p:nvSpPr>
        <p:spPr>
          <a:xfrm>
            <a:off x="5111496" y="4023360"/>
            <a:ext cx="26974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起動時の自己検証</a:t>
            </a:r>
            <a:endParaRPr lang="en-US" sz="1700" dirty="0"/>
          </a:p>
        </p:txBody>
      </p:sp>
      <p:sp>
        <p:nvSpPr>
          <p:cNvPr id="47" name="Shape 36"/>
          <p:cNvSpPr/>
          <p:nvPr/>
        </p:nvSpPr>
        <p:spPr>
          <a:xfrm>
            <a:off x="8119872" y="4023360"/>
            <a:ext cx="3611880" cy="868680"/>
          </a:xfrm>
          <a:prstGeom prst="rect">
            <a:avLst/>
          </a:prstGeom>
          <a:solidFill>
            <a:srgbClr val="DDEBF3"/>
          </a:solidFill>
          <a:ln w="19050">
            <a:solidFill>
              <a:srgbClr val="156082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pic>
        <p:nvPicPr>
          <p:cNvPr id="48" name="Image 9" descr="/home/claude/v4/icons/FaLaptopCode_156082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8302752" y="4206240"/>
            <a:ext cx="502920" cy="502920"/>
          </a:xfrm>
          <a:prstGeom prst="rect">
            <a:avLst/>
          </a:prstGeom>
        </p:spPr>
      </p:pic>
      <p:sp>
        <p:nvSpPr>
          <p:cNvPr id="49" name="Text 37"/>
          <p:cNvSpPr txBox="1"/>
          <p:nvPr/>
        </p:nvSpPr>
        <p:spPr>
          <a:xfrm>
            <a:off x="8942832" y="4023360"/>
            <a:ext cx="26974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ログの集計と判定の再生（PC 側）</a:t>
            </a:r>
            <a:endParaRPr lang="en-US" sz="1700" dirty="0"/>
          </a:p>
        </p:txBody>
      </p:sp>
      <p:sp>
        <p:nvSpPr>
          <p:cNvPr id="50" name="Shape 38"/>
          <p:cNvSpPr/>
          <p:nvPr/>
        </p:nvSpPr>
        <p:spPr>
          <a:xfrm>
            <a:off x="457200" y="5047488"/>
            <a:ext cx="274320" cy="201168"/>
          </a:xfrm>
          <a:prstGeom prst="rect">
            <a:avLst/>
          </a:prstGeom>
          <a:solidFill>
            <a:srgbClr val="F2F2F2"/>
          </a:solidFill>
          <a:ln w="12700">
            <a:solidFill>
              <a:srgbClr val="A6A6A6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51" name="Text 39"/>
          <p:cNvSpPr txBox="1"/>
          <p:nvPr/>
        </p:nvSpPr>
        <p:spPr>
          <a:xfrm>
            <a:off x="804672" y="4983480"/>
            <a:ext cx="5486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95959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既存（ハード・OS・ST の推論エンジンと学習済みモデル）</a:t>
            </a:r>
            <a:endParaRPr lang="en-US" sz="1400" dirty="0"/>
          </a:p>
        </p:txBody>
      </p:sp>
      <p:sp>
        <p:nvSpPr>
          <p:cNvPr id="52" name="Shape 40"/>
          <p:cNvSpPr/>
          <p:nvPr/>
        </p:nvSpPr>
        <p:spPr>
          <a:xfrm>
            <a:off x="6400800" y="5047488"/>
            <a:ext cx="274320" cy="201168"/>
          </a:xfrm>
          <a:prstGeom prst="rect">
            <a:avLst/>
          </a:prstGeom>
          <a:solidFill>
            <a:srgbClr val="DDEBF3"/>
          </a:solidFill>
          <a:ln w="19050">
            <a:solidFill>
              <a:srgbClr val="156082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53" name="Text 41"/>
          <p:cNvSpPr txBox="1"/>
          <p:nvPr/>
        </p:nvSpPr>
        <p:spPr>
          <a:xfrm>
            <a:off x="6748272" y="4983480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95959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自作</a:t>
            </a:r>
            <a:endParaRPr lang="en-US" sz="1400" dirty="0"/>
          </a:p>
        </p:txBody>
      </p:sp>
      <p:sp>
        <p:nvSpPr>
          <p:cNvPr id="54" name="Text 42"/>
          <p:cNvSpPr txBox="1"/>
          <p:nvPr/>
        </p:nvSpPr>
        <p:spPr>
          <a:xfrm>
            <a:off x="457200" y="5440680"/>
            <a:ext cx="1127455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マイクから通知まで一本道。OS と推論エンジン・学習済みモデル以外は自作した</a:t>
            </a:r>
            <a:endParaRPr lang="en-US" sz="2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74320" y="109728"/>
            <a:ext cx="116128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1-3　使った道具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0" y="777240"/>
            <a:ext cx="12191695" cy="274320"/>
          </a:xfrm>
          <a:prstGeom prst="rect">
            <a:avLst/>
          </a:prstGeom>
          <a:solidFill>
            <a:srgbClr val="156082"/>
          </a:solidFill>
          <a:ln w="12700">
            <a:solidFill>
              <a:srgbClr val="156082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4" name="Text 2"/>
          <p:cNvSpPr txBox="1"/>
          <p:nvPr/>
        </p:nvSpPr>
        <p:spPr>
          <a:xfrm>
            <a:off x="457200" y="1188720"/>
            <a:ext cx="11274552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800" b="1" dirty="0" err="1">
                <a:solidFill>
                  <a:srgbClr val="FF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市販の評価ボードと無償のツールだけで作った</a:t>
            </a:r>
            <a:r>
              <a:rPr lang="en-US" sz="2800" b="1" dirty="0">
                <a:solidFill>
                  <a:srgbClr val="FF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。</a:t>
            </a:r>
          </a:p>
          <a:p>
            <a:pPr marL="0" indent="0">
              <a:buNone/>
            </a:pPr>
            <a:r>
              <a:rPr lang="en-US" sz="2800" b="1" dirty="0" err="1">
                <a:solidFill>
                  <a:srgbClr val="FF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揃えれば同じものが作れる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457200" y="2194560"/>
            <a:ext cx="4480560" cy="3200400"/>
          </a:xfrm>
          <a:prstGeom prst="rect">
            <a:avLst/>
          </a:prstGeom>
          <a:solidFill>
            <a:srgbClr val="F7F7F7"/>
          </a:solidFill>
          <a:ln w="15875">
            <a:solidFill>
              <a:srgbClr val="A6A6A6"/>
            </a:solidFill>
            <a:prstDash val="dash"/>
          </a:ln>
        </p:spPr>
        <p:txBody>
          <a:bodyPr/>
          <a:lstStyle/>
          <a:p>
            <a:endParaRPr lang="ja-JP" altLang="en-US"/>
          </a:p>
        </p:txBody>
      </p:sp>
      <p:pic>
        <p:nvPicPr>
          <p:cNvPr id="6" name="Image 0" descr="/home/claude/v4/icons/FaCamera_595959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40280" y="3017520"/>
            <a:ext cx="914400" cy="914400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457200" y="4069080"/>
            <a:ext cx="4480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595959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【写真】STM32N6570-DK</a:t>
            </a:r>
            <a:endParaRPr lang="en-US" sz="1600" dirty="0"/>
          </a:p>
        </p:txBody>
      </p:sp>
      <p:sp>
        <p:nvSpPr>
          <p:cNvPr id="8" name="Text 5"/>
          <p:cNvSpPr txBox="1"/>
          <p:nvPr/>
        </p:nvSpPr>
        <p:spPr>
          <a:xfrm>
            <a:off x="457200" y="5486400"/>
            <a:ext cx="44805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STM32N6570-DK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Cortex-M55 600 MHz・NPU 300 MHz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PDM マイク・800×480 LCD</a:t>
            </a:r>
            <a:endParaRPr lang="en-US" sz="1600" dirty="0"/>
          </a:p>
        </p:txBody>
      </p:sp>
      <p:pic>
        <p:nvPicPr>
          <p:cNvPr id="9" name="Image 1" descr="/home/claude/v4/icons/FaMicrochip_156082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57800" y="2267712"/>
            <a:ext cx="420624" cy="420624"/>
          </a:xfrm>
          <a:prstGeom prst="rect">
            <a:avLst/>
          </a:prstGeom>
        </p:spPr>
      </p:pic>
      <p:sp>
        <p:nvSpPr>
          <p:cNvPr id="10" name="Text 6"/>
          <p:cNvSpPr txBox="1"/>
          <p:nvPr/>
        </p:nvSpPr>
        <p:spPr>
          <a:xfrm>
            <a:off x="5852160" y="2194560"/>
            <a:ext cx="36118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μT-Kernel 3.0（BSP2）</a:t>
            </a:r>
            <a:endParaRPr lang="en-US" sz="1800" dirty="0"/>
          </a:p>
        </p:txBody>
      </p:sp>
      <p:sp>
        <p:nvSpPr>
          <p:cNvPr id="11" name="Text 7"/>
          <p:cNvSpPr txBox="1"/>
          <p:nvPr/>
        </p:nvSpPr>
        <p:spPr>
          <a:xfrm>
            <a:off x="9464040" y="2194560"/>
            <a:ext cx="226771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95959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OS：タスク・優先度・ハンドラ</a:t>
            </a:r>
            <a:endParaRPr lang="en-US" sz="1400" dirty="0"/>
          </a:p>
        </p:txBody>
      </p:sp>
      <p:sp>
        <p:nvSpPr>
          <p:cNvPr id="12" name="Shape 8"/>
          <p:cNvSpPr/>
          <p:nvPr/>
        </p:nvSpPr>
        <p:spPr>
          <a:xfrm>
            <a:off x="5257800" y="2798064"/>
            <a:ext cx="6473952" cy="0"/>
          </a:xfrm>
          <a:prstGeom prst="line">
            <a:avLst/>
          </a:prstGeom>
          <a:noFill/>
          <a:ln w="9525">
            <a:solidFill>
              <a:srgbClr val="D9D9D9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pic>
        <p:nvPicPr>
          <p:cNvPr id="13" name="Image 2" descr="/home/claude/v4/icons/FaHammer_156082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257800" y="2889504"/>
            <a:ext cx="420624" cy="420624"/>
          </a:xfrm>
          <a:prstGeom prst="rect">
            <a:avLst/>
          </a:prstGeom>
        </p:spPr>
      </p:pic>
      <p:sp>
        <p:nvSpPr>
          <p:cNvPr id="14" name="Text 9"/>
          <p:cNvSpPr txBox="1"/>
          <p:nvPr/>
        </p:nvSpPr>
        <p:spPr>
          <a:xfrm>
            <a:off x="5852160" y="2816352"/>
            <a:ext cx="36118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STM32CubeIDE 2.2.0</a:t>
            </a:r>
            <a:endParaRPr lang="en-US" sz="1800" dirty="0"/>
          </a:p>
        </p:txBody>
      </p:sp>
      <p:sp>
        <p:nvSpPr>
          <p:cNvPr id="15" name="Text 10"/>
          <p:cNvSpPr txBox="1"/>
          <p:nvPr/>
        </p:nvSpPr>
        <p:spPr>
          <a:xfrm>
            <a:off x="9464040" y="2816352"/>
            <a:ext cx="226771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95959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ビルド、デバッガからの実行、フラッシュ書き込み</a:t>
            </a:r>
            <a:endParaRPr lang="en-US" sz="1400" dirty="0"/>
          </a:p>
        </p:txBody>
      </p:sp>
      <p:sp>
        <p:nvSpPr>
          <p:cNvPr id="16" name="Shape 11"/>
          <p:cNvSpPr/>
          <p:nvPr/>
        </p:nvSpPr>
        <p:spPr>
          <a:xfrm>
            <a:off x="5257800" y="3419856"/>
            <a:ext cx="6473952" cy="0"/>
          </a:xfrm>
          <a:prstGeom prst="line">
            <a:avLst/>
          </a:prstGeom>
          <a:noFill/>
          <a:ln w="9525">
            <a:solidFill>
              <a:srgbClr val="D9D9D9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pic>
        <p:nvPicPr>
          <p:cNvPr id="17" name="Image 3" descr="/home/claude/v4/icons/FaBrain_156082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257800" y="3511296"/>
            <a:ext cx="420624" cy="420624"/>
          </a:xfrm>
          <a:prstGeom prst="rect">
            <a:avLst/>
          </a:prstGeom>
        </p:spPr>
      </p:pic>
      <p:sp>
        <p:nvSpPr>
          <p:cNvPr id="18" name="Text 12"/>
          <p:cNvSpPr txBox="1"/>
          <p:nvPr/>
        </p:nvSpPr>
        <p:spPr>
          <a:xfrm>
            <a:off x="5852160" y="3438144"/>
            <a:ext cx="36118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ST Edge AI Core 4.0.1</a:t>
            </a:r>
            <a:endParaRPr lang="en-US" sz="1800" dirty="0"/>
          </a:p>
        </p:txBody>
      </p:sp>
      <p:sp>
        <p:nvSpPr>
          <p:cNvPr id="19" name="Text 13"/>
          <p:cNvSpPr txBox="1"/>
          <p:nvPr/>
        </p:nvSpPr>
        <p:spPr>
          <a:xfrm>
            <a:off x="9464040" y="3438144"/>
            <a:ext cx="226771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95959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学習済みモデルを NPU 用のコードに変換</a:t>
            </a:r>
            <a:endParaRPr lang="en-US" sz="1400" dirty="0"/>
          </a:p>
        </p:txBody>
      </p:sp>
      <p:sp>
        <p:nvSpPr>
          <p:cNvPr id="20" name="Shape 14"/>
          <p:cNvSpPr/>
          <p:nvPr/>
        </p:nvSpPr>
        <p:spPr>
          <a:xfrm>
            <a:off x="5257800" y="4041648"/>
            <a:ext cx="6473952" cy="0"/>
          </a:xfrm>
          <a:prstGeom prst="line">
            <a:avLst/>
          </a:prstGeom>
          <a:noFill/>
          <a:ln w="9525">
            <a:solidFill>
              <a:srgbClr val="D9D9D9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pic>
        <p:nvPicPr>
          <p:cNvPr id="21" name="Image 4" descr="/home/claude/v4/icons/FaCube_156082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257800" y="4133088"/>
            <a:ext cx="420624" cy="420624"/>
          </a:xfrm>
          <a:prstGeom prst="rect">
            <a:avLst/>
          </a:prstGeom>
        </p:spPr>
      </p:pic>
      <p:sp>
        <p:nvSpPr>
          <p:cNvPr id="22" name="Text 15"/>
          <p:cNvSpPr txBox="1"/>
          <p:nvPr/>
        </p:nvSpPr>
        <p:spPr>
          <a:xfrm>
            <a:off x="5852160" y="4059936"/>
            <a:ext cx="36118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ST model zoo（YAMNet）</a:t>
            </a:r>
            <a:endParaRPr lang="en-US" sz="1800" dirty="0"/>
          </a:p>
        </p:txBody>
      </p:sp>
      <p:sp>
        <p:nvSpPr>
          <p:cNvPr id="23" name="Text 16"/>
          <p:cNvSpPr txBox="1"/>
          <p:nvPr/>
        </p:nvSpPr>
        <p:spPr>
          <a:xfrm>
            <a:off x="9464040" y="4059936"/>
            <a:ext cx="226771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95959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学習済みの int8 モデル</a:t>
            </a:r>
            <a:endParaRPr lang="en-US" sz="1400" dirty="0"/>
          </a:p>
        </p:txBody>
      </p:sp>
      <p:sp>
        <p:nvSpPr>
          <p:cNvPr id="24" name="Shape 17"/>
          <p:cNvSpPr/>
          <p:nvPr/>
        </p:nvSpPr>
        <p:spPr>
          <a:xfrm>
            <a:off x="5257800" y="4663440"/>
            <a:ext cx="6473952" cy="0"/>
          </a:xfrm>
          <a:prstGeom prst="line">
            <a:avLst/>
          </a:prstGeom>
          <a:noFill/>
          <a:ln w="9525">
            <a:solidFill>
              <a:srgbClr val="D9D9D9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pic>
        <p:nvPicPr>
          <p:cNvPr id="25" name="Image 5" descr="/home/claude/v4/icons/FaCode_156082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257800" y="4754880"/>
            <a:ext cx="420624" cy="420624"/>
          </a:xfrm>
          <a:prstGeom prst="rect">
            <a:avLst/>
          </a:prstGeom>
        </p:spPr>
      </p:pic>
      <p:sp>
        <p:nvSpPr>
          <p:cNvPr id="26" name="Text 18"/>
          <p:cNvSpPr txBox="1"/>
          <p:nvPr/>
        </p:nvSpPr>
        <p:spPr>
          <a:xfrm>
            <a:off x="5852160" y="4681728"/>
            <a:ext cx="36118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VS Code・Git / GitHub</a:t>
            </a:r>
            <a:endParaRPr lang="en-US" sz="1800" dirty="0"/>
          </a:p>
        </p:txBody>
      </p:sp>
      <p:sp>
        <p:nvSpPr>
          <p:cNvPr id="27" name="Text 19"/>
          <p:cNvSpPr txBox="1"/>
          <p:nvPr/>
        </p:nvSpPr>
        <p:spPr>
          <a:xfrm>
            <a:off x="9464040" y="4681728"/>
            <a:ext cx="226771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95959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編集・履歴・公開</a:t>
            </a:r>
            <a:endParaRPr lang="en-US" sz="1400" dirty="0"/>
          </a:p>
        </p:txBody>
      </p:sp>
      <p:sp>
        <p:nvSpPr>
          <p:cNvPr id="28" name="Shape 20"/>
          <p:cNvSpPr/>
          <p:nvPr/>
        </p:nvSpPr>
        <p:spPr>
          <a:xfrm>
            <a:off x="5257800" y="5285232"/>
            <a:ext cx="6473952" cy="0"/>
          </a:xfrm>
          <a:prstGeom prst="line">
            <a:avLst/>
          </a:prstGeom>
          <a:noFill/>
          <a:ln w="9525">
            <a:solidFill>
              <a:srgbClr val="D9D9D9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pic>
        <p:nvPicPr>
          <p:cNvPr id="29" name="Image 6" descr="/home/claude/v4/icons/FaPython_156082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257800" y="5376672"/>
            <a:ext cx="420624" cy="420624"/>
          </a:xfrm>
          <a:prstGeom prst="rect">
            <a:avLst/>
          </a:prstGeom>
        </p:spPr>
      </p:pic>
      <p:sp>
        <p:nvSpPr>
          <p:cNvPr id="30" name="Text 21"/>
          <p:cNvSpPr txBox="1"/>
          <p:nvPr/>
        </p:nvSpPr>
        <p:spPr>
          <a:xfrm>
            <a:off x="5852160" y="5303520"/>
            <a:ext cx="36118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Python（uv）・PowerShell</a:t>
            </a:r>
            <a:endParaRPr lang="en-US" sz="1800" dirty="0"/>
          </a:p>
        </p:txBody>
      </p:sp>
      <p:sp>
        <p:nvSpPr>
          <p:cNvPr id="31" name="Text 22"/>
          <p:cNvSpPr txBox="1"/>
          <p:nvPr/>
        </p:nvSpPr>
        <p:spPr>
          <a:xfrm>
            <a:off x="9464040" y="5303520"/>
            <a:ext cx="226771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95959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ログの取得・集計・判定の再生</a:t>
            </a:r>
            <a:endParaRPr lang="en-US" sz="1400" dirty="0"/>
          </a:p>
        </p:txBody>
      </p:sp>
      <p:sp>
        <p:nvSpPr>
          <p:cNvPr id="32" name="Shape 23"/>
          <p:cNvSpPr/>
          <p:nvPr/>
        </p:nvSpPr>
        <p:spPr>
          <a:xfrm>
            <a:off x="5257800" y="5907024"/>
            <a:ext cx="6473952" cy="0"/>
          </a:xfrm>
          <a:prstGeom prst="line">
            <a:avLst/>
          </a:prstGeom>
          <a:noFill/>
          <a:ln w="9525">
            <a:solidFill>
              <a:srgbClr val="D9D9D9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pic>
        <p:nvPicPr>
          <p:cNvPr id="33" name="Image 7" descr="/home/claude/v4/icons/FaVolumeUp_156082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257800" y="5998464"/>
            <a:ext cx="420624" cy="420624"/>
          </a:xfrm>
          <a:prstGeom prst="rect">
            <a:avLst/>
          </a:prstGeom>
        </p:spPr>
      </p:pic>
      <p:sp>
        <p:nvSpPr>
          <p:cNvPr id="34" name="Text 24"/>
          <p:cNvSpPr txBox="1"/>
          <p:nvPr/>
        </p:nvSpPr>
        <p:spPr>
          <a:xfrm>
            <a:off x="5852160" y="5925312"/>
            <a:ext cx="36118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ESC-50</a:t>
            </a:r>
            <a:endParaRPr lang="en-US" sz="1800" dirty="0"/>
          </a:p>
        </p:txBody>
      </p:sp>
      <p:sp>
        <p:nvSpPr>
          <p:cNvPr id="35" name="Text 25"/>
          <p:cNvSpPr txBox="1"/>
          <p:nvPr/>
        </p:nvSpPr>
        <p:spPr>
          <a:xfrm>
            <a:off x="9464040" y="5925312"/>
            <a:ext cx="226771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95959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試験に流す音のクリップ</a:t>
            </a:r>
            <a:endParaRPr lang="en-US" sz="1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74320" y="109728"/>
            <a:ext cx="116128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2　設計：音を最優先にする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0" y="777240"/>
            <a:ext cx="12191695" cy="274320"/>
          </a:xfrm>
          <a:prstGeom prst="rect">
            <a:avLst/>
          </a:prstGeom>
          <a:solidFill>
            <a:srgbClr val="156082"/>
          </a:solidFill>
          <a:ln w="12700">
            <a:solidFill>
              <a:srgbClr val="156082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4" name="Shape 2"/>
          <p:cNvSpPr/>
          <p:nvPr/>
        </p:nvSpPr>
        <p:spPr>
          <a:xfrm>
            <a:off x="0" y="1051560"/>
            <a:ext cx="12191695" cy="1097280"/>
          </a:xfrm>
          <a:prstGeom prst="rect">
            <a:avLst/>
          </a:prstGeom>
          <a:solidFill>
            <a:srgbClr val="DDEBF3"/>
          </a:solidFill>
          <a:ln w="12700">
            <a:solidFill>
              <a:srgbClr val="DDEBF3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5" name="Text 3"/>
          <p:cNvSpPr txBox="1"/>
          <p:nvPr/>
        </p:nvSpPr>
        <p:spPr>
          <a:xfrm>
            <a:off x="457200" y="1097280"/>
            <a:ext cx="1127455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音 ＞ 推論 ＞ 表示 </a:t>
            </a:r>
            <a:r>
              <a:rPr lang="en-US" sz="2800" b="1" dirty="0" err="1">
                <a:solidFill>
                  <a:srgbClr val="FF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の順で優先度を固定し</a:t>
            </a:r>
            <a:r>
              <a:rPr lang="en-US" sz="2800" b="1" dirty="0">
                <a:solidFill>
                  <a:srgbClr val="FF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、</a:t>
            </a:r>
          </a:p>
          <a:p>
            <a:pPr marL="0" indent="0">
              <a:buNone/>
            </a:pPr>
            <a:r>
              <a:rPr lang="en-US" sz="2800" b="1" dirty="0" err="1">
                <a:solidFill>
                  <a:srgbClr val="FF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壊れるなら表示から壊れるようにした</a:t>
            </a:r>
            <a:endParaRPr lang="en-US" sz="28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6217920"/>
            <a:ext cx="12344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95959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この章の流れ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1737360" y="6217920"/>
            <a:ext cx="3136392" cy="420624"/>
          </a:xfrm>
          <a:prstGeom prst="rect">
            <a:avLst/>
          </a:prstGeom>
          <a:solidFill>
            <a:srgbClr val="FFFFFF"/>
          </a:solidFill>
          <a:ln w="15875">
            <a:solidFill>
              <a:srgbClr val="156082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8" name="Text 6"/>
          <p:cNvSpPr txBox="1"/>
          <p:nvPr/>
        </p:nvSpPr>
        <p:spPr>
          <a:xfrm>
            <a:off x="1783080" y="6217920"/>
            <a:ext cx="304495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56082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2-1 タスクと優先度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4946904" y="6318504"/>
            <a:ext cx="146304" cy="219456"/>
          </a:xfrm>
          <a:prstGeom prst="chevron">
            <a:avLst/>
          </a:prstGeom>
          <a:solidFill>
            <a:srgbClr val="156082"/>
          </a:solidFill>
          <a:ln w="12700">
            <a:solidFill>
              <a:srgbClr val="156082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0" name="Shape 8"/>
          <p:cNvSpPr/>
          <p:nvPr/>
        </p:nvSpPr>
        <p:spPr>
          <a:xfrm>
            <a:off x="5166360" y="6217920"/>
            <a:ext cx="3136392" cy="420624"/>
          </a:xfrm>
          <a:prstGeom prst="rect">
            <a:avLst/>
          </a:prstGeom>
          <a:solidFill>
            <a:srgbClr val="FFFFFF"/>
          </a:solidFill>
          <a:ln w="15875">
            <a:solidFill>
              <a:srgbClr val="156082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1" name="Text 9"/>
          <p:cNvSpPr txBox="1"/>
          <p:nvPr/>
        </p:nvSpPr>
        <p:spPr>
          <a:xfrm>
            <a:off x="5212080" y="6217920"/>
            <a:ext cx="304495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56082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2-2 μT-Kernel の機能でつなぐ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8375904" y="6318504"/>
            <a:ext cx="146304" cy="219456"/>
          </a:xfrm>
          <a:prstGeom prst="chevron">
            <a:avLst/>
          </a:prstGeom>
          <a:solidFill>
            <a:srgbClr val="156082"/>
          </a:solidFill>
          <a:ln w="12700">
            <a:solidFill>
              <a:srgbClr val="156082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3" name="Shape 11"/>
          <p:cNvSpPr/>
          <p:nvPr/>
        </p:nvSpPr>
        <p:spPr>
          <a:xfrm>
            <a:off x="8595360" y="6217920"/>
            <a:ext cx="3136392" cy="420624"/>
          </a:xfrm>
          <a:prstGeom prst="rect">
            <a:avLst/>
          </a:prstGeom>
          <a:solidFill>
            <a:srgbClr val="FFFFFF"/>
          </a:solidFill>
          <a:ln w="15875">
            <a:solidFill>
              <a:srgbClr val="156082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4" name="Text 12"/>
          <p:cNvSpPr txBox="1"/>
          <p:nvPr/>
        </p:nvSpPr>
        <p:spPr>
          <a:xfrm>
            <a:off x="8641080" y="6217920"/>
            <a:ext cx="304495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56082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2-3 時間と資源の配分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457200" y="2331720"/>
            <a:ext cx="3410712" cy="1783080"/>
          </a:xfrm>
          <a:prstGeom prst="rect">
            <a:avLst/>
          </a:prstGeom>
          <a:solidFill>
            <a:srgbClr val="DDEBF3"/>
          </a:solidFill>
          <a:ln w="19050">
            <a:solidFill>
              <a:srgbClr val="156082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6" name="Text 14"/>
          <p:cNvSpPr txBox="1"/>
          <p:nvPr/>
        </p:nvSpPr>
        <p:spPr>
          <a:xfrm>
            <a:off x="640080" y="2395728"/>
            <a:ext cx="30449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56082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① 音</a:t>
            </a:r>
            <a:endParaRPr lang="en-US" sz="2600" dirty="0"/>
          </a:p>
        </p:txBody>
      </p:sp>
      <p:sp>
        <p:nvSpPr>
          <p:cNvPr id="17" name="Text 15"/>
          <p:cNvSpPr txBox="1"/>
          <p:nvPr/>
        </p:nvSpPr>
        <p:spPr>
          <a:xfrm>
            <a:off x="640080" y="2880360"/>
            <a:ext cx="304495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595959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優先度 5・10</a:t>
            </a:r>
            <a:endParaRPr lang="en-US" sz="1500" dirty="0"/>
          </a:p>
        </p:txBody>
      </p:sp>
      <p:sp>
        <p:nvSpPr>
          <p:cNvPr id="18" name="Text 16"/>
          <p:cNvSpPr txBox="1"/>
          <p:nvPr/>
        </p:nvSpPr>
        <p:spPr>
          <a:xfrm>
            <a:off x="640080" y="3218688"/>
            <a:ext cx="304495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推論の材料</a:t>
            </a:r>
            <a:endParaRPr lang="en-US" sz="1800" dirty="0"/>
          </a:p>
          <a:p>
            <a:pPr marL="0" indent="0">
              <a:buNone/>
            </a:pPr>
            <a:r>
              <a:rPr lang="en-US" sz="1800" b="1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絶対に落としてはならない。</a:t>
            </a:r>
            <a:endParaRPr lang="en-US" sz="1800" dirty="0"/>
          </a:p>
        </p:txBody>
      </p:sp>
      <p:sp>
        <p:nvSpPr>
          <p:cNvPr id="19" name="Shape 17"/>
          <p:cNvSpPr/>
          <p:nvPr/>
        </p:nvSpPr>
        <p:spPr>
          <a:xfrm>
            <a:off x="3959352" y="3017520"/>
            <a:ext cx="338328" cy="384048"/>
          </a:xfrm>
          <a:prstGeom prst="rightArrow">
            <a:avLst/>
          </a:prstGeom>
          <a:solidFill>
            <a:srgbClr val="7F7F7F"/>
          </a:solidFill>
          <a:ln w="12700">
            <a:solidFill>
              <a:srgbClr val="7F7F7F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0" name="Shape 18"/>
          <p:cNvSpPr/>
          <p:nvPr/>
        </p:nvSpPr>
        <p:spPr>
          <a:xfrm>
            <a:off x="4389120" y="2331720"/>
            <a:ext cx="3410712" cy="1783080"/>
          </a:xfrm>
          <a:prstGeom prst="rect">
            <a:avLst/>
          </a:prstGeom>
          <a:solidFill>
            <a:srgbClr val="DDF3EA"/>
          </a:solidFill>
          <a:ln w="19050">
            <a:solidFill>
              <a:srgbClr val="008A5E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1" name="Text 19"/>
          <p:cNvSpPr txBox="1"/>
          <p:nvPr/>
        </p:nvSpPr>
        <p:spPr>
          <a:xfrm>
            <a:off x="4572000" y="2395728"/>
            <a:ext cx="30449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08A5E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② 推論</a:t>
            </a:r>
            <a:endParaRPr lang="en-US" sz="2600" dirty="0"/>
          </a:p>
        </p:txBody>
      </p:sp>
      <p:sp>
        <p:nvSpPr>
          <p:cNvPr id="22" name="Text 20"/>
          <p:cNvSpPr txBox="1"/>
          <p:nvPr/>
        </p:nvSpPr>
        <p:spPr>
          <a:xfrm>
            <a:off x="4572000" y="2880360"/>
            <a:ext cx="304495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595959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優先度 15</a:t>
            </a:r>
            <a:endParaRPr lang="en-US" sz="1500" dirty="0"/>
          </a:p>
        </p:txBody>
      </p:sp>
      <p:sp>
        <p:nvSpPr>
          <p:cNvPr id="23" name="Text 21"/>
          <p:cNvSpPr txBox="1"/>
          <p:nvPr/>
        </p:nvSpPr>
        <p:spPr>
          <a:xfrm>
            <a:off x="4572000" y="3218688"/>
            <a:ext cx="304495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窓ごとに間に合わせる。</a:t>
            </a:r>
            <a:endParaRPr lang="en-US" sz="1800" dirty="0"/>
          </a:p>
          <a:p>
            <a:pPr marL="0" indent="0">
              <a:buNone/>
            </a:pPr>
            <a:r>
              <a:rPr lang="en-US" sz="1800" b="1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遅れは計上</a:t>
            </a:r>
            <a:endParaRPr lang="en-US" sz="1800" dirty="0"/>
          </a:p>
        </p:txBody>
      </p:sp>
      <p:sp>
        <p:nvSpPr>
          <p:cNvPr id="24" name="Shape 22"/>
          <p:cNvSpPr/>
          <p:nvPr/>
        </p:nvSpPr>
        <p:spPr>
          <a:xfrm>
            <a:off x="7891272" y="3017520"/>
            <a:ext cx="338328" cy="384048"/>
          </a:xfrm>
          <a:prstGeom prst="rightArrow">
            <a:avLst/>
          </a:prstGeom>
          <a:solidFill>
            <a:srgbClr val="7F7F7F"/>
          </a:solidFill>
          <a:ln w="12700">
            <a:solidFill>
              <a:srgbClr val="7F7F7F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5" name="Shape 23"/>
          <p:cNvSpPr/>
          <p:nvPr/>
        </p:nvSpPr>
        <p:spPr>
          <a:xfrm>
            <a:off x="8321040" y="2331720"/>
            <a:ext cx="3410712" cy="1783080"/>
          </a:xfrm>
          <a:prstGeom prst="rect">
            <a:avLst/>
          </a:prstGeom>
          <a:solidFill>
            <a:srgbClr val="FBE9D3"/>
          </a:solidFill>
          <a:ln w="19050">
            <a:solidFill>
              <a:srgbClr val="E07B00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6" name="Text 24"/>
          <p:cNvSpPr txBox="1"/>
          <p:nvPr/>
        </p:nvSpPr>
        <p:spPr>
          <a:xfrm>
            <a:off x="8503920" y="2395728"/>
            <a:ext cx="30449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E07B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③ 表示・ログ</a:t>
            </a:r>
            <a:endParaRPr lang="en-US" sz="2600" dirty="0"/>
          </a:p>
        </p:txBody>
      </p:sp>
      <p:sp>
        <p:nvSpPr>
          <p:cNvPr id="27" name="Text 25"/>
          <p:cNvSpPr txBox="1"/>
          <p:nvPr/>
        </p:nvSpPr>
        <p:spPr>
          <a:xfrm>
            <a:off x="8503920" y="2880360"/>
            <a:ext cx="304495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595959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優先度 20・25</a:t>
            </a:r>
            <a:endParaRPr lang="en-US" sz="1500" dirty="0"/>
          </a:p>
        </p:txBody>
      </p:sp>
      <p:sp>
        <p:nvSpPr>
          <p:cNvPr id="28" name="Text 26"/>
          <p:cNvSpPr txBox="1"/>
          <p:nvPr/>
        </p:nvSpPr>
        <p:spPr>
          <a:xfrm>
            <a:off x="8503920" y="3218688"/>
            <a:ext cx="304495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今回は遅れは許容する</a:t>
            </a:r>
            <a:endParaRPr lang="en-US" sz="1800" dirty="0"/>
          </a:p>
        </p:txBody>
      </p:sp>
      <p:sp>
        <p:nvSpPr>
          <p:cNvPr id="31" name="Shape 29"/>
          <p:cNvSpPr/>
          <p:nvPr/>
        </p:nvSpPr>
        <p:spPr>
          <a:xfrm>
            <a:off x="457200" y="4681728"/>
            <a:ext cx="3611880" cy="1325880"/>
          </a:xfrm>
          <a:prstGeom prst="rect">
            <a:avLst/>
          </a:prstGeom>
          <a:solidFill>
            <a:srgbClr val="F2F2F2"/>
          </a:solidFill>
          <a:ln w="12700">
            <a:solidFill>
              <a:srgbClr val="BFBFBF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pic>
        <p:nvPicPr>
          <p:cNvPr id="32" name="Image 0" descr="/home/claude/v4/icons/FaBug_15608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5074920"/>
            <a:ext cx="502920" cy="502920"/>
          </a:xfrm>
          <a:prstGeom prst="rect">
            <a:avLst/>
          </a:prstGeom>
        </p:spPr>
      </p:pic>
      <p:sp>
        <p:nvSpPr>
          <p:cNvPr id="33" name="Text 30"/>
          <p:cNvSpPr txBox="1"/>
          <p:nvPr/>
        </p:nvSpPr>
        <p:spPr>
          <a:xfrm>
            <a:off x="1280160" y="4681728"/>
            <a:ext cx="269748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壊して測った</a:t>
            </a:r>
            <a:r>
              <a:rPr lang="en-US" sz="1800" b="1" dirty="0"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（実験 1）</a:t>
            </a:r>
            <a:endParaRPr lang="en-US" sz="1800" dirty="0"/>
          </a:p>
        </p:txBody>
      </p:sp>
      <p:sp>
        <p:nvSpPr>
          <p:cNvPr id="34" name="Shape 31"/>
          <p:cNvSpPr/>
          <p:nvPr/>
        </p:nvSpPr>
        <p:spPr>
          <a:xfrm>
            <a:off x="4288536" y="4681728"/>
            <a:ext cx="3611880" cy="1325880"/>
          </a:xfrm>
          <a:prstGeom prst="rect">
            <a:avLst/>
          </a:prstGeom>
          <a:solidFill>
            <a:srgbClr val="F2F2F2"/>
          </a:solidFill>
          <a:ln w="12700">
            <a:solidFill>
              <a:srgbClr val="BFBFBF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pic>
        <p:nvPicPr>
          <p:cNvPr id="35" name="Image 1" descr="/home/claude/v4/icons/FaHourglassHalf_156082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71416" y="5074920"/>
            <a:ext cx="502920" cy="502920"/>
          </a:xfrm>
          <a:prstGeom prst="rect">
            <a:avLst/>
          </a:prstGeom>
        </p:spPr>
      </p:pic>
      <p:sp>
        <p:nvSpPr>
          <p:cNvPr id="36" name="Text 32"/>
          <p:cNvSpPr txBox="1"/>
          <p:nvPr/>
        </p:nvSpPr>
        <p:spPr>
          <a:xfrm>
            <a:off x="5111496" y="4681728"/>
            <a:ext cx="269748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長時間回した</a:t>
            </a:r>
            <a:r>
              <a:rPr lang="en-US" sz="1800" b="1" dirty="0"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（実験 2）</a:t>
            </a:r>
            <a:endParaRPr lang="en-US" sz="1800" dirty="0"/>
          </a:p>
        </p:txBody>
      </p:sp>
      <p:sp>
        <p:nvSpPr>
          <p:cNvPr id="37" name="Shape 33"/>
          <p:cNvSpPr/>
          <p:nvPr/>
        </p:nvSpPr>
        <p:spPr>
          <a:xfrm>
            <a:off x="8119872" y="4681728"/>
            <a:ext cx="3611880" cy="1325880"/>
          </a:xfrm>
          <a:prstGeom prst="rect">
            <a:avLst/>
          </a:prstGeom>
          <a:solidFill>
            <a:srgbClr val="F2F2F2"/>
          </a:solidFill>
          <a:ln w="12700">
            <a:solidFill>
              <a:srgbClr val="BFBFBF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pic>
        <p:nvPicPr>
          <p:cNvPr id="38" name="Image 2" descr="/home/claude/v4/icons/FaExchangeAlt_156082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302752" y="5074920"/>
            <a:ext cx="502920" cy="502920"/>
          </a:xfrm>
          <a:prstGeom prst="rect">
            <a:avLst/>
          </a:prstGeom>
        </p:spPr>
      </p:pic>
      <p:sp>
        <p:nvSpPr>
          <p:cNvPr id="39" name="Text 34"/>
          <p:cNvSpPr txBox="1"/>
          <p:nvPr/>
        </p:nvSpPr>
        <p:spPr>
          <a:xfrm>
            <a:off x="8942832" y="4681728"/>
            <a:ext cx="269748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モデルを替えて</a:t>
            </a:r>
            <a:r>
              <a:rPr lang="en-US" sz="1800" b="1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同じ手順で測った（実験 3）</a:t>
            </a:r>
            <a:endParaRPr lang="en-US" sz="1800" dirty="0"/>
          </a:p>
        </p:txBody>
      </p:sp>
      <p:sp>
        <p:nvSpPr>
          <p:cNvPr id="40" name="テキスト ボックス 39">
            <a:extLst>
              <a:ext uri="{FF2B5EF4-FFF2-40B4-BE49-F238E27FC236}">
                <a16:creationId xmlns:a16="http://schemas.microsoft.com/office/drawing/2014/main" id="{A75E276C-42BB-F0DA-5321-CDCBDCB1A169}"/>
              </a:ext>
            </a:extLst>
          </p:cNvPr>
          <p:cNvSpPr txBox="1"/>
          <p:nvPr/>
        </p:nvSpPr>
        <p:spPr>
          <a:xfrm>
            <a:off x="274320" y="4295894"/>
            <a:ext cx="183813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dirty="0"/>
              <a:t>ゆえに</a:t>
            </a:r>
            <a:r>
              <a:rPr kumimoji="1" lang="en-US" altLang="ja-JP" dirty="0"/>
              <a:t>4</a:t>
            </a:r>
            <a:r>
              <a:rPr kumimoji="1" lang="ja-JP" altLang="en-US" dirty="0"/>
              <a:t>章で</a:t>
            </a:r>
            <a:r>
              <a:rPr kumimoji="1" lang="en-US" altLang="ja-JP" dirty="0"/>
              <a:t>…</a:t>
            </a:r>
            <a:endParaRPr kumimoji="1" lang="ja-JP" altLang="en-US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74320" y="109728"/>
            <a:ext cx="116128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2-1　タスクと優先度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0" y="777240"/>
            <a:ext cx="12191695" cy="274320"/>
          </a:xfrm>
          <a:prstGeom prst="rect">
            <a:avLst/>
          </a:prstGeom>
          <a:solidFill>
            <a:srgbClr val="156082"/>
          </a:solidFill>
          <a:ln w="12700">
            <a:solidFill>
              <a:srgbClr val="156082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4" name="Text 2"/>
          <p:cNvSpPr txBox="1"/>
          <p:nvPr/>
        </p:nvSpPr>
        <p:spPr>
          <a:xfrm>
            <a:off x="612648" y="1252728"/>
            <a:ext cx="11274552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800" b="1" u="sng" dirty="0" err="1"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音のタスクが常に</a:t>
            </a:r>
            <a:r>
              <a:rPr lang="ja-JP" altLang="en-US" sz="2800" b="1" u="sng" dirty="0"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最優先</a:t>
            </a:r>
            <a:endParaRPr lang="en-US" sz="2800" b="1" dirty="0">
              <a:latin typeface="游ゴシック" pitchFamily="34" charset="0"/>
              <a:ea typeface="游ゴシック" pitchFamily="34" charset="-122"/>
              <a:cs typeface="游ゴシック" pitchFamily="34" charset="-120"/>
            </a:endParaRPr>
          </a:p>
          <a:p>
            <a:pPr marL="0" indent="0">
              <a:buNone/>
            </a:pPr>
            <a:r>
              <a:rPr lang="en-US" sz="2000" dirty="0" err="1"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画面は一番下で、空いた時間に動く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457200" y="2514600"/>
            <a:ext cx="502920" cy="3611880"/>
          </a:xfrm>
          <a:prstGeom prst="upArrow">
            <a:avLst/>
          </a:prstGeom>
          <a:solidFill>
            <a:srgbClr val="D9D9D9"/>
          </a:solidFill>
          <a:ln w="12700">
            <a:solidFill>
              <a:srgbClr val="D9D9D9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6" name="Text 4"/>
          <p:cNvSpPr txBox="1"/>
          <p:nvPr/>
        </p:nvSpPr>
        <p:spPr>
          <a:xfrm>
            <a:off x="457200" y="2148840"/>
            <a:ext cx="502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高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457200" y="6172200"/>
            <a:ext cx="502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低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1143000" y="214884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595959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優先度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1920240" y="214884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595959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仕事（タスク名）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5989320" y="214884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595959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起きるきっかけ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8915400" y="214884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595959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周期・時間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1097280" y="2514600"/>
            <a:ext cx="10634472" cy="603504"/>
          </a:xfrm>
          <a:prstGeom prst="rect">
            <a:avLst/>
          </a:prstGeom>
          <a:solidFill>
            <a:srgbClr val="DDEBF3"/>
          </a:solidFill>
          <a:ln w="12700">
            <a:solidFill>
              <a:srgbClr val="DDEBF3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3" name="Shape 11"/>
          <p:cNvSpPr/>
          <p:nvPr/>
        </p:nvSpPr>
        <p:spPr>
          <a:xfrm>
            <a:off x="1234440" y="2569464"/>
            <a:ext cx="493776" cy="493776"/>
          </a:xfrm>
          <a:prstGeom prst="ellipse">
            <a:avLst/>
          </a:prstGeom>
          <a:solidFill>
            <a:srgbClr val="002060"/>
          </a:solidFill>
          <a:ln w="12700">
            <a:solidFill>
              <a:srgbClr val="156082"/>
            </a:solidFill>
            <a:prstDash val="solid"/>
          </a:ln>
        </p:spPr>
        <p:txBody>
          <a:bodyPr/>
          <a:lstStyle/>
          <a:p>
            <a:endParaRPr lang="ja-JP" altLang="en-US" dirty="0"/>
          </a:p>
        </p:txBody>
      </p:sp>
      <p:sp>
        <p:nvSpPr>
          <p:cNvPr id="14" name="Text 12"/>
          <p:cNvSpPr txBox="1"/>
          <p:nvPr/>
        </p:nvSpPr>
        <p:spPr>
          <a:xfrm>
            <a:off x="1236866" y="2569464"/>
            <a:ext cx="49377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5</a:t>
            </a:r>
            <a:endParaRPr lang="en-US" sz="1800" dirty="0"/>
          </a:p>
        </p:txBody>
      </p:sp>
      <p:sp>
        <p:nvSpPr>
          <p:cNvPr id="15" name="Text 13"/>
          <p:cNvSpPr txBox="1"/>
          <p:nvPr/>
        </p:nvSpPr>
        <p:spPr>
          <a:xfrm>
            <a:off x="1920240" y="2514600"/>
            <a:ext cx="256778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音の取り込み  </a:t>
            </a:r>
            <a:r>
              <a:rPr lang="en-US" sz="1400" dirty="0">
                <a:solidFill>
                  <a:srgbClr val="59595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task_pcm</a:t>
            </a:r>
            <a:endParaRPr lang="en-US" sz="2000" dirty="0"/>
          </a:p>
        </p:txBody>
      </p:sp>
      <p:sp>
        <p:nvSpPr>
          <p:cNvPr id="16" name="Text 14"/>
          <p:cNvSpPr txBox="1"/>
          <p:nvPr/>
        </p:nvSpPr>
        <p:spPr>
          <a:xfrm>
            <a:off x="5989320" y="2514600"/>
            <a:ext cx="28803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DMA </a:t>
            </a:r>
            <a:r>
              <a:rPr lang="en-US" sz="1600" dirty="0" err="1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割込み</a:t>
            </a:r>
            <a:endParaRPr lang="en-US" sz="1600" dirty="0">
              <a:solidFill>
                <a:srgbClr val="000000"/>
              </a:solidFill>
              <a:latin typeface="游ゴシック" pitchFamily="34" charset="0"/>
              <a:ea typeface="游ゴシック" pitchFamily="34" charset="-122"/>
              <a:cs typeface="游ゴシック" pitchFamily="34" charset="-120"/>
            </a:endParaRPr>
          </a:p>
          <a:p>
            <a:pPr marL="0" indent="0">
              <a:buNone/>
            </a:pPr>
            <a:r>
              <a:rPr lang="en-US" sz="160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（イベントフラグ）</a:t>
            </a:r>
            <a:endParaRPr lang="en-US" sz="1600" dirty="0"/>
          </a:p>
        </p:txBody>
      </p:sp>
      <p:sp>
        <p:nvSpPr>
          <p:cNvPr id="17" name="Text 15"/>
          <p:cNvSpPr txBox="1"/>
          <p:nvPr/>
        </p:nvSpPr>
        <p:spPr>
          <a:xfrm>
            <a:off x="8915400" y="2514600"/>
            <a:ext cx="27432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16 ms ごと（マイク）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1097280" y="3172968"/>
            <a:ext cx="10634472" cy="603504"/>
          </a:xfrm>
          <a:prstGeom prst="rect">
            <a:avLst/>
          </a:prstGeom>
          <a:solidFill>
            <a:srgbClr val="DDEBF3"/>
          </a:solidFill>
          <a:ln w="12700">
            <a:solidFill>
              <a:srgbClr val="DDEBF3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9" name="Shape 17"/>
          <p:cNvSpPr/>
          <p:nvPr/>
        </p:nvSpPr>
        <p:spPr>
          <a:xfrm>
            <a:off x="1234440" y="3227832"/>
            <a:ext cx="493776" cy="493776"/>
          </a:xfrm>
          <a:prstGeom prst="ellipse">
            <a:avLst/>
          </a:prstGeom>
          <a:solidFill>
            <a:srgbClr val="156082"/>
          </a:solidFill>
          <a:ln w="12700">
            <a:solidFill>
              <a:srgbClr val="156082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0" name="Text 18"/>
          <p:cNvSpPr txBox="1"/>
          <p:nvPr/>
        </p:nvSpPr>
        <p:spPr>
          <a:xfrm>
            <a:off x="1234440" y="3227832"/>
            <a:ext cx="49377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10</a:t>
            </a:r>
            <a:endParaRPr lang="en-US" sz="1800" dirty="0"/>
          </a:p>
        </p:txBody>
      </p:sp>
      <p:sp>
        <p:nvSpPr>
          <p:cNvPr id="21" name="Text 19"/>
          <p:cNvSpPr txBox="1"/>
          <p:nvPr/>
        </p:nvSpPr>
        <p:spPr>
          <a:xfrm>
            <a:off x="1920240" y="3172968"/>
            <a:ext cx="40233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音の見張り  </a:t>
            </a:r>
            <a:r>
              <a:rPr lang="en-US" sz="1400" dirty="0">
                <a:solidFill>
                  <a:srgbClr val="59595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task_audio</a:t>
            </a:r>
            <a:endParaRPr lang="en-US" sz="2000" dirty="0"/>
          </a:p>
        </p:txBody>
      </p:sp>
      <p:sp>
        <p:nvSpPr>
          <p:cNvPr id="22" name="Text 20"/>
          <p:cNvSpPr txBox="1"/>
          <p:nvPr/>
        </p:nvSpPr>
        <p:spPr>
          <a:xfrm>
            <a:off x="5989320" y="3172968"/>
            <a:ext cx="28803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500 ms ごとのタイマ</a:t>
            </a:r>
            <a:endParaRPr lang="en-US" sz="1600" dirty="0"/>
          </a:p>
        </p:txBody>
      </p:sp>
      <p:sp>
        <p:nvSpPr>
          <p:cNvPr id="23" name="Text 21"/>
          <p:cNvSpPr txBox="1"/>
          <p:nvPr/>
        </p:nvSpPr>
        <p:spPr>
          <a:xfrm>
            <a:off x="8915400" y="3172968"/>
            <a:ext cx="27432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取りこぼしの統計を出す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1097280" y="3831336"/>
            <a:ext cx="10634472" cy="603504"/>
          </a:xfrm>
          <a:prstGeom prst="rect">
            <a:avLst/>
          </a:prstGeom>
          <a:solidFill>
            <a:srgbClr val="DDF3EA"/>
          </a:solidFill>
          <a:ln w="12700">
            <a:solidFill>
              <a:srgbClr val="DDF3EA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5" name="Shape 23"/>
          <p:cNvSpPr/>
          <p:nvPr/>
        </p:nvSpPr>
        <p:spPr>
          <a:xfrm>
            <a:off x="1234440" y="3886200"/>
            <a:ext cx="493776" cy="493776"/>
          </a:xfrm>
          <a:prstGeom prst="ellipse">
            <a:avLst/>
          </a:prstGeom>
          <a:solidFill>
            <a:srgbClr val="008A5E"/>
          </a:solidFill>
          <a:ln w="12700">
            <a:solidFill>
              <a:srgbClr val="008A5E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6" name="Text 24"/>
          <p:cNvSpPr txBox="1"/>
          <p:nvPr/>
        </p:nvSpPr>
        <p:spPr>
          <a:xfrm>
            <a:off x="1234440" y="3886200"/>
            <a:ext cx="49377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15</a:t>
            </a:r>
            <a:endParaRPr lang="en-US" sz="1800" dirty="0"/>
          </a:p>
        </p:txBody>
      </p:sp>
      <p:sp>
        <p:nvSpPr>
          <p:cNvPr id="27" name="Text 25"/>
          <p:cNvSpPr txBox="1"/>
          <p:nvPr/>
        </p:nvSpPr>
        <p:spPr>
          <a:xfrm>
            <a:off x="1920240" y="3831336"/>
            <a:ext cx="40233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推論  </a:t>
            </a:r>
            <a:r>
              <a:rPr lang="en-US" sz="1400" dirty="0">
                <a:solidFill>
                  <a:srgbClr val="59595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task_infer</a:t>
            </a:r>
            <a:endParaRPr lang="en-US" sz="2000" dirty="0"/>
          </a:p>
        </p:txBody>
      </p:sp>
      <p:sp>
        <p:nvSpPr>
          <p:cNvPr id="28" name="Text 26"/>
          <p:cNvSpPr txBox="1"/>
          <p:nvPr/>
        </p:nvSpPr>
        <p:spPr>
          <a:xfrm>
            <a:off x="5989320" y="3831336"/>
            <a:ext cx="28803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窓が揃ったら</a:t>
            </a:r>
            <a:endParaRPr lang="en-US" sz="1600" dirty="0"/>
          </a:p>
        </p:txBody>
      </p:sp>
      <p:sp>
        <p:nvSpPr>
          <p:cNvPr id="29" name="Text 27"/>
          <p:cNvSpPr txBox="1"/>
          <p:nvPr/>
        </p:nvSpPr>
        <p:spPr>
          <a:xfrm>
            <a:off x="8915400" y="3831336"/>
            <a:ext cx="27432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960 ms ごとに 112 ms</a:t>
            </a:r>
            <a:endParaRPr lang="en-US" sz="1600" dirty="0"/>
          </a:p>
        </p:txBody>
      </p:sp>
      <p:sp>
        <p:nvSpPr>
          <p:cNvPr id="30" name="Shape 28"/>
          <p:cNvSpPr/>
          <p:nvPr/>
        </p:nvSpPr>
        <p:spPr>
          <a:xfrm>
            <a:off x="1097280" y="4489704"/>
            <a:ext cx="10634472" cy="603504"/>
          </a:xfrm>
          <a:prstGeom prst="rect">
            <a:avLst/>
          </a:prstGeom>
          <a:solidFill>
            <a:srgbClr val="FBE9D3"/>
          </a:solidFill>
          <a:ln w="12700">
            <a:solidFill>
              <a:srgbClr val="FBE9D3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31" name="Shape 29"/>
          <p:cNvSpPr/>
          <p:nvPr/>
        </p:nvSpPr>
        <p:spPr>
          <a:xfrm>
            <a:off x="1234440" y="4544568"/>
            <a:ext cx="493776" cy="493776"/>
          </a:xfrm>
          <a:prstGeom prst="ellipse">
            <a:avLst/>
          </a:prstGeom>
          <a:solidFill>
            <a:srgbClr val="E07B00"/>
          </a:solidFill>
          <a:ln w="12700">
            <a:solidFill>
              <a:srgbClr val="E07B00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32" name="Text 30"/>
          <p:cNvSpPr txBox="1"/>
          <p:nvPr/>
        </p:nvSpPr>
        <p:spPr>
          <a:xfrm>
            <a:off x="1234440" y="4544568"/>
            <a:ext cx="49377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20</a:t>
            </a:r>
            <a:endParaRPr lang="en-US" sz="1800" dirty="0"/>
          </a:p>
        </p:txBody>
      </p:sp>
      <p:sp>
        <p:nvSpPr>
          <p:cNvPr id="33" name="Text 31"/>
          <p:cNvSpPr txBox="1"/>
          <p:nvPr/>
        </p:nvSpPr>
        <p:spPr>
          <a:xfrm>
            <a:off x="1920240" y="4489704"/>
            <a:ext cx="40233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ログ書き出し  </a:t>
            </a:r>
            <a:r>
              <a:rPr lang="en-US" sz="1400" dirty="0">
                <a:solidFill>
                  <a:srgbClr val="59595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reporter</a:t>
            </a:r>
            <a:endParaRPr lang="en-US" sz="2000" dirty="0"/>
          </a:p>
        </p:txBody>
      </p:sp>
      <p:sp>
        <p:nvSpPr>
          <p:cNvPr id="34" name="Text 32"/>
          <p:cNvSpPr txBox="1"/>
          <p:nvPr/>
        </p:nvSpPr>
        <p:spPr>
          <a:xfrm>
            <a:off x="5989320" y="4489704"/>
            <a:ext cx="28803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ログが届いたら</a:t>
            </a:r>
            <a:endParaRPr lang="en-US" sz="1600" dirty="0"/>
          </a:p>
        </p:txBody>
      </p:sp>
      <p:sp>
        <p:nvSpPr>
          <p:cNvPr id="35" name="Text 33"/>
          <p:cNvSpPr txBox="1"/>
          <p:nvPr/>
        </p:nvSpPr>
        <p:spPr>
          <a:xfrm>
            <a:off x="8915400" y="4489704"/>
            <a:ext cx="27432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UART に書くのはここだけ</a:t>
            </a:r>
            <a:endParaRPr lang="en-US" sz="1600" dirty="0"/>
          </a:p>
        </p:txBody>
      </p:sp>
      <p:sp>
        <p:nvSpPr>
          <p:cNvPr id="36" name="Shape 34"/>
          <p:cNvSpPr/>
          <p:nvPr/>
        </p:nvSpPr>
        <p:spPr>
          <a:xfrm>
            <a:off x="1097280" y="5148072"/>
            <a:ext cx="10634472" cy="603504"/>
          </a:xfrm>
          <a:prstGeom prst="rect">
            <a:avLst/>
          </a:prstGeom>
          <a:solidFill>
            <a:srgbClr val="FBE9D3"/>
          </a:solidFill>
          <a:ln w="12700">
            <a:solidFill>
              <a:srgbClr val="FBE9D3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37" name="Shape 35"/>
          <p:cNvSpPr/>
          <p:nvPr/>
        </p:nvSpPr>
        <p:spPr>
          <a:xfrm>
            <a:off x="1234440" y="5202936"/>
            <a:ext cx="493776" cy="493776"/>
          </a:xfrm>
          <a:prstGeom prst="ellipse">
            <a:avLst/>
          </a:prstGeom>
          <a:solidFill>
            <a:srgbClr val="FFC000"/>
          </a:solidFill>
          <a:ln w="12700">
            <a:solidFill>
              <a:srgbClr val="FFC000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38" name="Text 36"/>
          <p:cNvSpPr txBox="1"/>
          <p:nvPr/>
        </p:nvSpPr>
        <p:spPr>
          <a:xfrm>
            <a:off x="1226696" y="5230368"/>
            <a:ext cx="49377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25</a:t>
            </a:r>
            <a:endParaRPr lang="en-US" sz="1800" dirty="0"/>
          </a:p>
        </p:txBody>
      </p:sp>
      <p:sp>
        <p:nvSpPr>
          <p:cNvPr id="39" name="Text 37"/>
          <p:cNvSpPr txBox="1"/>
          <p:nvPr/>
        </p:nvSpPr>
        <p:spPr>
          <a:xfrm>
            <a:off x="1920240" y="5148072"/>
            <a:ext cx="40233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画面  </a:t>
            </a:r>
            <a:r>
              <a:rPr lang="en-US" sz="1400" dirty="0">
                <a:solidFill>
                  <a:srgbClr val="59595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task_lcd</a:t>
            </a:r>
            <a:endParaRPr lang="en-US" sz="2000" dirty="0"/>
          </a:p>
        </p:txBody>
      </p:sp>
      <p:sp>
        <p:nvSpPr>
          <p:cNvPr id="40" name="Text 38"/>
          <p:cNvSpPr txBox="1"/>
          <p:nvPr/>
        </p:nvSpPr>
        <p:spPr>
          <a:xfrm>
            <a:off x="5989320" y="5148072"/>
            <a:ext cx="28803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通知が届いたら</a:t>
            </a:r>
            <a:endParaRPr lang="en-US" sz="1600" dirty="0"/>
          </a:p>
        </p:txBody>
      </p:sp>
      <p:sp>
        <p:nvSpPr>
          <p:cNvPr id="41" name="Text 39"/>
          <p:cNvSpPr txBox="1"/>
          <p:nvPr/>
        </p:nvSpPr>
        <p:spPr>
          <a:xfrm>
            <a:off x="8915400" y="5148072"/>
            <a:ext cx="27432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通知のときだけ</a:t>
            </a:r>
            <a:endParaRPr lang="en-US" sz="1600" dirty="0"/>
          </a:p>
        </p:txBody>
      </p:sp>
      <p:sp>
        <p:nvSpPr>
          <p:cNvPr id="42" name="Shape 40"/>
          <p:cNvSpPr/>
          <p:nvPr/>
        </p:nvSpPr>
        <p:spPr>
          <a:xfrm>
            <a:off x="1097280" y="5852160"/>
            <a:ext cx="10634472" cy="685800"/>
          </a:xfrm>
          <a:prstGeom prst="rect">
            <a:avLst/>
          </a:prstGeom>
          <a:solidFill>
            <a:srgbClr val="F2F2F2"/>
          </a:solidFill>
          <a:ln w="12700">
            <a:solidFill>
              <a:srgbClr val="BFBFBF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43" name="Text 41"/>
          <p:cNvSpPr txBox="1"/>
          <p:nvPr/>
        </p:nvSpPr>
        <p:spPr>
          <a:xfrm>
            <a:off x="1280160" y="5852160"/>
            <a:ext cx="10332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56082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その他　</a:t>
            </a:r>
            <a:r>
              <a:rPr lang="en-US" sz="150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生存表示 task_1（10）：緑 LED を 500 ms で点滅　／　トレース出力 dump（32）</a:t>
            </a:r>
            <a:endParaRPr lang="en-US" sz="1500" dirty="0"/>
          </a:p>
          <a:p>
            <a:pPr marL="0" indent="0">
              <a:buNone/>
            </a:pPr>
            <a:r>
              <a:rPr lang="en-US" sz="150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　　　　周期ハンドラ：1 秒ごとに統計を 1 行　／　アラームハンドラ：LED を 1 秒後に消す</a:t>
            </a:r>
            <a:endParaRPr lang="en-US" sz="15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74320" y="109728"/>
            <a:ext cx="116128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2-2　μT-Kernel の機能でつなぐ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0" y="777240"/>
            <a:ext cx="12191695" cy="274320"/>
          </a:xfrm>
          <a:prstGeom prst="rect">
            <a:avLst/>
          </a:prstGeom>
          <a:solidFill>
            <a:srgbClr val="156082"/>
          </a:solidFill>
          <a:ln w="12700">
            <a:solidFill>
              <a:srgbClr val="156082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4" name="Text 2"/>
          <p:cNvSpPr txBox="1"/>
          <p:nvPr/>
        </p:nvSpPr>
        <p:spPr>
          <a:xfrm>
            <a:off x="457200" y="1188720"/>
            <a:ext cx="11274552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800" b="1" dirty="0" err="1"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割込みはフラグで起こし、下流へは待たずに渡す</a:t>
            </a:r>
            <a:r>
              <a:rPr lang="en-US" sz="2800" b="1" dirty="0"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。</a:t>
            </a:r>
          </a:p>
          <a:p>
            <a:pPr marL="0" indent="0">
              <a:buNone/>
            </a:pPr>
            <a:r>
              <a:rPr lang="en-US" sz="2000" b="1" dirty="0" err="1"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下の仕事は上の仕事を止められない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457200" y="2697480"/>
            <a:ext cx="1554480" cy="1005840"/>
          </a:xfrm>
          <a:prstGeom prst="rect">
            <a:avLst/>
          </a:prstGeom>
          <a:solidFill>
            <a:srgbClr val="F2F2F2"/>
          </a:solidFill>
          <a:ln w="19050">
            <a:solidFill>
              <a:srgbClr val="7F7F7F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6" name="Text 4"/>
          <p:cNvSpPr txBox="1"/>
          <p:nvPr/>
        </p:nvSpPr>
        <p:spPr>
          <a:xfrm>
            <a:off x="530352" y="2697480"/>
            <a:ext cx="140817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DMA 割込み</a:t>
            </a:r>
            <a:endParaRPr lang="en-US" sz="1700" dirty="0"/>
          </a:p>
        </p:txBody>
      </p:sp>
      <p:sp>
        <p:nvSpPr>
          <p:cNvPr id="7" name="Shape 5"/>
          <p:cNvSpPr/>
          <p:nvPr/>
        </p:nvSpPr>
        <p:spPr>
          <a:xfrm>
            <a:off x="2697480" y="2697480"/>
            <a:ext cx="1737360" cy="1005840"/>
          </a:xfrm>
          <a:prstGeom prst="rect">
            <a:avLst/>
          </a:prstGeom>
          <a:solidFill>
            <a:srgbClr val="DDEBF3"/>
          </a:solidFill>
          <a:ln w="19050">
            <a:solidFill>
              <a:srgbClr val="156082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8" name="Text 6"/>
          <p:cNvSpPr txBox="1"/>
          <p:nvPr/>
        </p:nvSpPr>
        <p:spPr>
          <a:xfrm>
            <a:off x="2770632" y="2697480"/>
            <a:ext cx="159105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音の取り込み</a:t>
            </a:r>
            <a:endParaRPr lang="en-US" sz="1700" dirty="0"/>
          </a:p>
          <a:p>
            <a:pPr marL="0" indent="0" algn="ctr">
              <a:buNone/>
            </a:pPr>
            <a:r>
              <a:rPr lang="en-US" sz="1700" b="1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優先度 5</a:t>
            </a: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>
            <a:off x="5120640" y="2697480"/>
            <a:ext cx="1737360" cy="1005840"/>
          </a:xfrm>
          <a:prstGeom prst="rect">
            <a:avLst/>
          </a:prstGeom>
          <a:solidFill>
            <a:srgbClr val="F2F2F2"/>
          </a:solidFill>
          <a:ln w="19050">
            <a:solidFill>
              <a:srgbClr val="A6A6A6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0" name="Text 8"/>
          <p:cNvSpPr txBox="1"/>
          <p:nvPr/>
        </p:nvSpPr>
        <p:spPr>
          <a:xfrm>
            <a:off x="5193792" y="2697480"/>
            <a:ext cx="159105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窓リング</a:t>
            </a:r>
            <a:endParaRPr lang="en-US" sz="1700" dirty="0"/>
          </a:p>
          <a:p>
            <a:pPr marL="0" indent="0" algn="ctr">
              <a:buNone/>
            </a:pPr>
            <a:r>
              <a:rPr lang="en-US" sz="1700" b="1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約 2 秒ぶん</a:t>
            </a:r>
            <a:endParaRPr lang="en-US" sz="1700" dirty="0"/>
          </a:p>
        </p:txBody>
      </p:sp>
      <p:sp>
        <p:nvSpPr>
          <p:cNvPr id="11" name="Shape 9"/>
          <p:cNvSpPr/>
          <p:nvPr/>
        </p:nvSpPr>
        <p:spPr>
          <a:xfrm>
            <a:off x="7543800" y="2697480"/>
            <a:ext cx="1737360" cy="1005840"/>
          </a:xfrm>
          <a:prstGeom prst="rect">
            <a:avLst/>
          </a:prstGeom>
          <a:solidFill>
            <a:srgbClr val="DDF3EA"/>
          </a:solidFill>
          <a:ln w="19050">
            <a:solidFill>
              <a:srgbClr val="008A5E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2" name="Text 10"/>
          <p:cNvSpPr txBox="1"/>
          <p:nvPr/>
        </p:nvSpPr>
        <p:spPr>
          <a:xfrm>
            <a:off x="7616952" y="2697480"/>
            <a:ext cx="159105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推論</a:t>
            </a:r>
            <a:endParaRPr lang="en-US" sz="1700" dirty="0"/>
          </a:p>
          <a:p>
            <a:pPr marL="0" indent="0" algn="ctr">
              <a:buNone/>
            </a:pPr>
            <a:r>
              <a:rPr lang="en-US" sz="1700" b="1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優先度 15</a:t>
            </a:r>
            <a:endParaRPr lang="en-US" sz="1700" dirty="0"/>
          </a:p>
        </p:txBody>
      </p:sp>
      <p:sp>
        <p:nvSpPr>
          <p:cNvPr id="13" name="Shape 11"/>
          <p:cNvSpPr/>
          <p:nvPr/>
        </p:nvSpPr>
        <p:spPr>
          <a:xfrm>
            <a:off x="9966960" y="2697480"/>
            <a:ext cx="1764792" cy="457200"/>
          </a:xfrm>
          <a:prstGeom prst="rect">
            <a:avLst/>
          </a:prstGeom>
          <a:solidFill>
            <a:srgbClr val="FBE9D3"/>
          </a:solidFill>
          <a:ln w="19050">
            <a:solidFill>
              <a:srgbClr val="E07B00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4" name="Text 12"/>
          <p:cNvSpPr txBox="1"/>
          <p:nvPr/>
        </p:nvSpPr>
        <p:spPr>
          <a:xfrm>
            <a:off x="10040112" y="2697480"/>
            <a:ext cx="161848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ログ　優先度 20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9966960" y="3246120"/>
            <a:ext cx="1764792" cy="457200"/>
          </a:xfrm>
          <a:prstGeom prst="rect">
            <a:avLst/>
          </a:prstGeom>
          <a:solidFill>
            <a:srgbClr val="FBE9D3"/>
          </a:solidFill>
          <a:ln w="19050">
            <a:solidFill>
              <a:srgbClr val="E07B00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6" name="Text 14"/>
          <p:cNvSpPr txBox="1"/>
          <p:nvPr/>
        </p:nvSpPr>
        <p:spPr>
          <a:xfrm>
            <a:off x="10040112" y="3246120"/>
            <a:ext cx="161848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画面　優先度 25</a:t>
            </a:r>
            <a:endParaRPr lang="en-US" sz="1500" dirty="0"/>
          </a:p>
        </p:txBody>
      </p:sp>
      <p:sp>
        <p:nvSpPr>
          <p:cNvPr id="17" name="Shape 15"/>
          <p:cNvSpPr/>
          <p:nvPr/>
        </p:nvSpPr>
        <p:spPr>
          <a:xfrm>
            <a:off x="2057400" y="3063240"/>
            <a:ext cx="594360" cy="274320"/>
          </a:xfrm>
          <a:prstGeom prst="rightArrow">
            <a:avLst/>
          </a:prstGeom>
          <a:solidFill>
            <a:srgbClr val="156082"/>
          </a:solidFill>
          <a:ln w="12700">
            <a:solidFill>
              <a:srgbClr val="156082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8" name="Text 16"/>
          <p:cNvSpPr txBox="1"/>
          <p:nvPr/>
        </p:nvSpPr>
        <p:spPr>
          <a:xfrm>
            <a:off x="1645920" y="2148840"/>
            <a:ext cx="1417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56082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イベント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b="1" dirty="0">
                <a:solidFill>
                  <a:srgbClr val="156082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フラグ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4480560" y="3063240"/>
            <a:ext cx="594360" cy="274320"/>
          </a:xfrm>
          <a:prstGeom prst="rightArrow">
            <a:avLst/>
          </a:prstGeom>
          <a:solidFill>
            <a:srgbClr val="156082"/>
          </a:solidFill>
          <a:ln w="12700">
            <a:solidFill>
              <a:srgbClr val="156082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0" name="Text 18"/>
          <p:cNvSpPr txBox="1"/>
          <p:nvPr/>
        </p:nvSpPr>
        <p:spPr>
          <a:xfrm>
            <a:off x="4069080" y="2148840"/>
            <a:ext cx="1417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56082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書き込み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6903720" y="3063240"/>
            <a:ext cx="594360" cy="274320"/>
          </a:xfrm>
          <a:prstGeom prst="rightArrow">
            <a:avLst/>
          </a:prstGeom>
          <a:solidFill>
            <a:srgbClr val="156082"/>
          </a:solidFill>
          <a:ln w="12700">
            <a:solidFill>
              <a:srgbClr val="156082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2" name="Text 20"/>
          <p:cNvSpPr txBox="1"/>
          <p:nvPr/>
        </p:nvSpPr>
        <p:spPr>
          <a:xfrm>
            <a:off x="6492240" y="2148840"/>
            <a:ext cx="1417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56082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セマフォ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b="1" dirty="0">
                <a:solidFill>
                  <a:srgbClr val="156082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窓がそろった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9326880" y="3063240"/>
            <a:ext cx="594360" cy="274320"/>
          </a:xfrm>
          <a:prstGeom prst="rightArrow">
            <a:avLst/>
          </a:prstGeom>
          <a:solidFill>
            <a:srgbClr val="156082"/>
          </a:solidFill>
          <a:ln w="12700">
            <a:solidFill>
              <a:srgbClr val="156082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4" name="Text 22"/>
          <p:cNvSpPr txBox="1"/>
          <p:nvPr/>
        </p:nvSpPr>
        <p:spPr>
          <a:xfrm>
            <a:off x="8915400" y="2148840"/>
            <a:ext cx="1417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56082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メッセージ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b="1" dirty="0">
                <a:solidFill>
                  <a:srgbClr val="156082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バッファ</a:t>
            </a:r>
            <a:endParaRPr lang="en-US" sz="1400" dirty="0"/>
          </a:p>
        </p:txBody>
      </p:sp>
      <p:sp>
        <p:nvSpPr>
          <p:cNvPr id="25" name="Text 23"/>
          <p:cNvSpPr txBox="1"/>
          <p:nvPr/>
        </p:nvSpPr>
        <p:spPr>
          <a:xfrm>
            <a:off x="9144000" y="3749040"/>
            <a:ext cx="960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待たない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457200" y="4114800"/>
            <a:ext cx="11274552" cy="566928"/>
          </a:xfrm>
          <a:prstGeom prst="rect">
            <a:avLst/>
          </a:prstGeom>
          <a:solidFill>
            <a:srgbClr val="F2F2F2"/>
          </a:solidFill>
          <a:ln w="12700">
            <a:solidFill>
              <a:srgbClr val="BFBFBF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7" name="Text 25"/>
          <p:cNvSpPr txBox="1"/>
          <p:nvPr/>
        </p:nvSpPr>
        <p:spPr>
          <a:xfrm>
            <a:off x="640080" y="4114800"/>
            <a:ext cx="10972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周期ハンドラ</a:t>
            </a:r>
            <a:r>
              <a:rPr lang="en-US" sz="150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（1 秒ごと）→ 統計を 1 行　／　</a:t>
            </a:r>
            <a:r>
              <a:rPr lang="en-US" sz="1500" b="1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アラームハンドラ</a:t>
            </a:r>
            <a:r>
              <a:rPr lang="en-US" sz="150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 → LED を 1 秒後に消す　／　時刻は tk_get_otm</a:t>
            </a:r>
            <a:endParaRPr lang="en-US" sz="1500" dirty="0"/>
          </a:p>
        </p:txBody>
      </p:sp>
      <p:sp>
        <p:nvSpPr>
          <p:cNvPr id="28" name="Shape 26"/>
          <p:cNvSpPr/>
          <p:nvPr/>
        </p:nvSpPr>
        <p:spPr>
          <a:xfrm>
            <a:off x="457200" y="4846320"/>
            <a:ext cx="3611880" cy="1691640"/>
          </a:xfrm>
          <a:prstGeom prst="rect">
            <a:avLst/>
          </a:prstGeom>
          <a:solidFill>
            <a:srgbClr val="FFFFFF"/>
          </a:solidFill>
          <a:ln w="15875">
            <a:solidFill>
              <a:srgbClr val="156082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9" name="Text 27"/>
          <p:cNvSpPr txBox="1"/>
          <p:nvPr/>
        </p:nvSpPr>
        <p:spPr>
          <a:xfrm>
            <a:off x="594360" y="4892040"/>
            <a:ext cx="3337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56082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固定優先度</a:t>
            </a:r>
            <a:endParaRPr lang="en-US" sz="1800" dirty="0"/>
          </a:p>
        </p:txBody>
      </p:sp>
      <p:sp>
        <p:nvSpPr>
          <p:cNvPr id="30" name="Text 28"/>
          <p:cNvSpPr txBox="1"/>
          <p:nvPr/>
        </p:nvSpPr>
        <p:spPr>
          <a:xfrm>
            <a:off x="594360" y="5303520"/>
            <a:ext cx="3337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推論やログが音を押しのけない。逆にすると音が壊れた（実験 1 ②）</a:t>
            </a:r>
            <a:endParaRPr lang="en-US" sz="1600" dirty="0"/>
          </a:p>
        </p:txBody>
      </p:sp>
      <p:sp>
        <p:nvSpPr>
          <p:cNvPr id="31" name="Text 29"/>
          <p:cNvSpPr txBox="1"/>
          <p:nvPr/>
        </p:nvSpPr>
        <p:spPr>
          <a:xfrm>
            <a:off x="594360" y="6144768"/>
            <a:ext cx="3337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9595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tk_cre_tsk（優先度を指定）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4288536" y="4846320"/>
            <a:ext cx="3611880" cy="1691640"/>
          </a:xfrm>
          <a:prstGeom prst="rect">
            <a:avLst/>
          </a:prstGeom>
          <a:solidFill>
            <a:srgbClr val="FFFFFF"/>
          </a:solidFill>
          <a:ln w="15875">
            <a:solidFill>
              <a:srgbClr val="156082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33" name="Text 31"/>
          <p:cNvSpPr txBox="1"/>
          <p:nvPr/>
        </p:nvSpPr>
        <p:spPr>
          <a:xfrm>
            <a:off x="4425696" y="4892040"/>
            <a:ext cx="3337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56082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イベントフラグ</a:t>
            </a:r>
            <a:endParaRPr lang="en-US" sz="1800" dirty="0"/>
          </a:p>
        </p:txBody>
      </p:sp>
      <p:sp>
        <p:nvSpPr>
          <p:cNvPr id="34" name="Text 32"/>
          <p:cNvSpPr txBox="1"/>
          <p:nvPr/>
        </p:nvSpPr>
        <p:spPr>
          <a:xfrm>
            <a:off x="4425696" y="5303520"/>
            <a:ext cx="3337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割込みは起こすだけ。処理はタスクで行うので、割込みが短い</a:t>
            </a:r>
            <a:endParaRPr lang="en-US" sz="1600" dirty="0"/>
          </a:p>
        </p:txBody>
      </p:sp>
      <p:sp>
        <p:nvSpPr>
          <p:cNvPr id="35" name="Text 33"/>
          <p:cNvSpPr txBox="1"/>
          <p:nvPr/>
        </p:nvSpPr>
        <p:spPr>
          <a:xfrm>
            <a:off x="4425696" y="6144768"/>
            <a:ext cx="3337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9595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tk_set_flg / tk_wai_flg</a:t>
            </a:r>
            <a:endParaRPr lang="en-US" sz="1200" dirty="0"/>
          </a:p>
        </p:txBody>
      </p:sp>
      <p:sp>
        <p:nvSpPr>
          <p:cNvPr id="36" name="Shape 34"/>
          <p:cNvSpPr/>
          <p:nvPr/>
        </p:nvSpPr>
        <p:spPr>
          <a:xfrm>
            <a:off x="8119872" y="4846320"/>
            <a:ext cx="3611880" cy="1691640"/>
          </a:xfrm>
          <a:prstGeom prst="rect">
            <a:avLst/>
          </a:prstGeom>
          <a:solidFill>
            <a:srgbClr val="FFFFFF"/>
          </a:solidFill>
          <a:ln w="15875">
            <a:solidFill>
              <a:srgbClr val="156082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37" name="Text 35"/>
          <p:cNvSpPr txBox="1"/>
          <p:nvPr/>
        </p:nvSpPr>
        <p:spPr>
          <a:xfrm>
            <a:off x="8257032" y="4892040"/>
            <a:ext cx="3337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56082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待たないメッセージバッファ</a:t>
            </a:r>
            <a:endParaRPr lang="en-US" sz="1800" dirty="0"/>
          </a:p>
        </p:txBody>
      </p:sp>
      <p:sp>
        <p:nvSpPr>
          <p:cNvPr id="38" name="Text 36"/>
          <p:cNvSpPr txBox="1"/>
          <p:nvPr/>
        </p:nvSpPr>
        <p:spPr>
          <a:xfrm>
            <a:off x="8257032" y="5303520"/>
            <a:ext cx="3337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受け側が満杯なら捨てて数える。送り側は待たされない</a:t>
            </a:r>
            <a:endParaRPr lang="en-US" sz="1600" dirty="0"/>
          </a:p>
        </p:txBody>
      </p:sp>
      <p:sp>
        <p:nvSpPr>
          <p:cNvPr id="39" name="Text 37"/>
          <p:cNvSpPr txBox="1"/>
          <p:nvPr/>
        </p:nvSpPr>
        <p:spPr>
          <a:xfrm>
            <a:off x="8257032" y="6144768"/>
            <a:ext cx="3337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9595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tk_snd_mbf（TMO_POL）/ tk_rcv_mbf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74320" y="109728"/>
            <a:ext cx="116128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2-3　時間と資源の配分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0" y="777240"/>
            <a:ext cx="12191695" cy="274320"/>
          </a:xfrm>
          <a:prstGeom prst="rect">
            <a:avLst/>
          </a:prstGeom>
          <a:solidFill>
            <a:srgbClr val="156082"/>
          </a:solidFill>
          <a:ln w="12700">
            <a:solidFill>
              <a:srgbClr val="156082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4" name="Text 2"/>
          <p:cNvSpPr txBox="1"/>
          <p:nvPr/>
        </p:nvSpPr>
        <p:spPr>
          <a:xfrm>
            <a:off x="457200" y="1188720"/>
            <a:ext cx="11274552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800" b="1" dirty="0">
                <a:solidFill>
                  <a:srgbClr val="FF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推論は周期 960 ms の 12%。残り 88% の時間が音と表示に回る</a:t>
            </a:r>
            <a:endParaRPr lang="en-US" sz="28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2148840"/>
            <a:ext cx="6675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1 周期 960 ms の使い方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457200" y="2926080"/>
            <a:ext cx="479774" cy="548640"/>
          </a:xfrm>
          <a:prstGeom prst="rect">
            <a:avLst/>
          </a:prstGeom>
          <a:solidFill>
            <a:srgbClr val="156082"/>
          </a:solidFill>
          <a:ln w="12700">
            <a:solidFill>
              <a:srgbClr val="156082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7" name="Shape 5"/>
          <p:cNvSpPr/>
          <p:nvPr/>
        </p:nvSpPr>
        <p:spPr>
          <a:xfrm>
            <a:off x="936974" y="2926080"/>
            <a:ext cx="285083" cy="548640"/>
          </a:xfrm>
          <a:prstGeom prst="rect">
            <a:avLst/>
          </a:prstGeom>
          <a:solidFill>
            <a:srgbClr val="008A5E"/>
          </a:solidFill>
          <a:ln w="12700">
            <a:solidFill>
              <a:srgbClr val="008A5E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8" name="Shape 6"/>
          <p:cNvSpPr/>
          <p:nvPr/>
        </p:nvSpPr>
        <p:spPr>
          <a:xfrm>
            <a:off x="1222058" y="2926080"/>
            <a:ext cx="5910262" cy="548640"/>
          </a:xfrm>
          <a:prstGeom prst="rect">
            <a:avLst/>
          </a:prstGeom>
          <a:solidFill>
            <a:srgbClr val="E7E6E6"/>
          </a:solidFill>
          <a:ln w="12700">
            <a:solidFill>
              <a:srgbClr val="BFBFBF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9" name="Text 7"/>
          <p:cNvSpPr txBox="1"/>
          <p:nvPr/>
        </p:nvSpPr>
        <p:spPr>
          <a:xfrm>
            <a:off x="411480" y="2560320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56082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前処理 69 ms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891254" y="352044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08A5E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推論 41 ms（計算 9 ＋ 重みの読み出し 32）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1404938" y="2926080"/>
            <a:ext cx="5486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40404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空き 850 ms（音の取り込み・表示・ログ）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3977640"/>
            <a:ext cx="6675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音が鳴ってから知らせるまで：1.1〜1.9 秒（実測）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457200" y="4434840"/>
            <a:ext cx="3125910" cy="548640"/>
          </a:xfrm>
          <a:prstGeom prst="rect">
            <a:avLst/>
          </a:prstGeom>
          <a:solidFill>
            <a:srgbClr val="F2F2F2"/>
          </a:solidFill>
          <a:ln w="12700">
            <a:solidFill>
              <a:srgbClr val="7F7F7F"/>
            </a:solidFill>
            <a:prstDash val="dash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4" name="Shape 12"/>
          <p:cNvSpPr/>
          <p:nvPr/>
        </p:nvSpPr>
        <p:spPr>
          <a:xfrm>
            <a:off x="3583110" y="4434840"/>
            <a:ext cx="3174752" cy="548640"/>
          </a:xfrm>
          <a:prstGeom prst="rect">
            <a:avLst/>
          </a:prstGeom>
          <a:solidFill>
            <a:srgbClr val="156082"/>
          </a:solidFill>
          <a:ln w="12700">
            <a:solidFill>
              <a:srgbClr val="156082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5" name="Shape 13"/>
          <p:cNvSpPr/>
          <p:nvPr/>
        </p:nvSpPr>
        <p:spPr>
          <a:xfrm>
            <a:off x="6757862" y="4434840"/>
            <a:ext cx="382977" cy="548640"/>
          </a:xfrm>
          <a:prstGeom prst="rect">
            <a:avLst/>
          </a:prstGeom>
          <a:solidFill>
            <a:srgbClr val="008A5E"/>
          </a:solidFill>
          <a:ln w="12700">
            <a:solidFill>
              <a:srgbClr val="008A5E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6" name="Text 14"/>
          <p:cNvSpPr txBox="1"/>
          <p:nvPr/>
        </p:nvSpPr>
        <p:spPr>
          <a:xfrm>
            <a:off x="457200" y="4434840"/>
            <a:ext cx="312591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窓の区切りを待つ 0〜0.96 s</a:t>
            </a:r>
            <a:endParaRPr lang="en-US" sz="1400" dirty="0"/>
          </a:p>
        </p:txBody>
      </p:sp>
      <p:sp>
        <p:nvSpPr>
          <p:cNvPr id="17" name="Text 15"/>
          <p:cNvSpPr txBox="1"/>
          <p:nvPr/>
        </p:nvSpPr>
        <p:spPr>
          <a:xfrm>
            <a:off x="3583110" y="4434840"/>
            <a:ext cx="31747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窓 0.975 s</a:t>
            </a:r>
            <a:endParaRPr lang="en-US" sz="1500" dirty="0"/>
          </a:p>
        </p:txBody>
      </p:sp>
      <p:sp>
        <p:nvSpPr>
          <p:cNvPr id="18" name="Text 16"/>
          <p:cNvSpPr txBox="1"/>
          <p:nvPr/>
        </p:nvSpPr>
        <p:spPr>
          <a:xfrm>
            <a:off x="5569142" y="5029200"/>
            <a:ext cx="1600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400" b="1" dirty="0">
                <a:solidFill>
                  <a:srgbClr val="008A5E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処理 0.112 s</a:t>
            </a:r>
            <a:endParaRPr lang="en-US" sz="1400" dirty="0"/>
          </a:p>
        </p:txBody>
      </p:sp>
      <p:sp>
        <p:nvSpPr>
          <p:cNvPr id="19" name="Text 17"/>
          <p:cNvSpPr txBox="1"/>
          <p:nvPr/>
        </p:nvSpPr>
        <p:spPr>
          <a:xfrm>
            <a:off x="457200" y="5349240"/>
            <a:ext cx="6675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遅れの大半は窓の長さと区切り待ちで決まる（理論 1.07〜2.03 s）。RTOS 側の処理は 0.112 s</a:t>
            </a:r>
            <a:endParaRPr lang="en-US" sz="1500" dirty="0"/>
          </a:p>
        </p:txBody>
      </p:sp>
      <p:sp>
        <p:nvSpPr>
          <p:cNvPr id="20" name="Text 18"/>
          <p:cNvSpPr txBox="1"/>
          <p:nvPr/>
        </p:nvSpPr>
        <p:spPr>
          <a:xfrm>
            <a:off x="7406640" y="2148840"/>
            <a:ext cx="43251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メモリの置き場所</a:t>
            </a:r>
            <a:endParaRPr lang="en-US" sz="1800" dirty="0"/>
          </a:p>
        </p:txBody>
      </p:sp>
      <p:sp>
        <p:nvSpPr>
          <p:cNvPr id="21" name="Shape 19"/>
          <p:cNvSpPr/>
          <p:nvPr/>
        </p:nvSpPr>
        <p:spPr>
          <a:xfrm>
            <a:off x="7406640" y="2606040"/>
            <a:ext cx="4325112" cy="548640"/>
          </a:xfrm>
          <a:prstGeom prst="rect">
            <a:avLst/>
          </a:prstGeom>
          <a:solidFill>
            <a:srgbClr val="DDEBF3"/>
          </a:solidFill>
          <a:ln w="12700">
            <a:solidFill>
              <a:srgbClr val="156082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2" name="Text 20"/>
          <p:cNvSpPr txBox="1"/>
          <p:nvPr/>
        </p:nvSpPr>
        <p:spPr>
          <a:xfrm>
            <a:off x="7516368" y="2606040"/>
            <a:ext cx="1508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AXISRAM1・2</a:t>
            </a:r>
            <a:endParaRPr lang="en-US" sz="1400" dirty="0"/>
          </a:p>
        </p:txBody>
      </p:sp>
      <p:sp>
        <p:nvSpPr>
          <p:cNvPr id="23" name="Text 21"/>
          <p:cNvSpPr txBox="1"/>
          <p:nvPr/>
        </p:nvSpPr>
        <p:spPr>
          <a:xfrm>
            <a:off x="9052560" y="2606040"/>
            <a:ext cx="25877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1 MB　プログラムと作業領域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7406640" y="3209544"/>
            <a:ext cx="4325112" cy="548640"/>
          </a:xfrm>
          <a:prstGeom prst="rect">
            <a:avLst/>
          </a:prstGeom>
          <a:solidFill>
            <a:srgbClr val="DDEBF3"/>
          </a:solidFill>
          <a:ln w="12700">
            <a:solidFill>
              <a:srgbClr val="156082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5" name="Text 23"/>
          <p:cNvSpPr txBox="1"/>
          <p:nvPr/>
        </p:nvSpPr>
        <p:spPr>
          <a:xfrm>
            <a:off x="7516368" y="3209544"/>
            <a:ext cx="1508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AXISRAM3</a:t>
            </a:r>
            <a:endParaRPr lang="en-US" sz="1400" dirty="0"/>
          </a:p>
        </p:txBody>
      </p:sp>
      <p:sp>
        <p:nvSpPr>
          <p:cNvPr id="26" name="Text 24"/>
          <p:cNvSpPr txBox="1"/>
          <p:nvPr/>
        </p:nvSpPr>
        <p:spPr>
          <a:xfrm>
            <a:off x="9052560" y="3209544"/>
            <a:ext cx="25877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384 KB　LCD の画面</a:t>
            </a:r>
            <a:endParaRPr lang="en-US" sz="1400" dirty="0"/>
          </a:p>
        </p:txBody>
      </p:sp>
      <p:sp>
        <p:nvSpPr>
          <p:cNvPr id="27" name="Shape 25"/>
          <p:cNvSpPr/>
          <p:nvPr/>
        </p:nvSpPr>
        <p:spPr>
          <a:xfrm>
            <a:off x="7406640" y="3813048"/>
            <a:ext cx="4325112" cy="548640"/>
          </a:xfrm>
          <a:prstGeom prst="rect">
            <a:avLst/>
          </a:prstGeom>
          <a:solidFill>
            <a:srgbClr val="DDEBF3"/>
          </a:solidFill>
          <a:ln w="12700">
            <a:solidFill>
              <a:srgbClr val="156082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8" name="Text 26"/>
          <p:cNvSpPr txBox="1"/>
          <p:nvPr/>
        </p:nvSpPr>
        <p:spPr>
          <a:xfrm>
            <a:off x="7516368" y="3813048"/>
            <a:ext cx="1508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AXISRAM4</a:t>
            </a:r>
            <a:endParaRPr lang="en-US" sz="1400" dirty="0"/>
          </a:p>
        </p:txBody>
      </p:sp>
      <p:sp>
        <p:nvSpPr>
          <p:cNvPr id="29" name="Text 27"/>
          <p:cNvSpPr txBox="1"/>
          <p:nvPr/>
        </p:nvSpPr>
        <p:spPr>
          <a:xfrm>
            <a:off x="9052560" y="3813048"/>
            <a:ext cx="25877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148 KB　FSD50K 版の重み</a:t>
            </a:r>
            <a:endParaRPr lang="en-US" sz="1400" dirty="0"/>
          </a:p>
        </p:txBody>
      </p:sp>
      <p:sp>
        <p:nvSpPr>
          <p:cNvPr id="30" name="Shape 28"/>
          <p:cNvSpPr/>
          <p:nvPr/>
        </p:nvSpPr>
        <p:spPr>
          <a:xfrm>
            <a:off x="7406640" y="4416552"/>
            <a:ext cx="4325112" cy="548640"/>
          </a:xfrm>
          <a:prstGeom prst="rect">
            <a:avLst/>
          </a:prstGeom>
          <a:solidFill>
            <a:srgbClr val="DDEBF3"/>
          </a:solidFill>
          <a:ln w="12700">
            <a:solidFill>
              <a:srgbClr val="156082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31" name="Text 29"/>
          <p:cNvSpPr txBox="1"/>
          <p:nvPr/>
        </p:nvSpPr>
        <p:spPr>
          <a:xfrm>
            <a:off x="7516368" y="4416552"/>
            <a:ext cx="1508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AXISRAM6</a:t>
            </a:r>
            <a:endParaRPr lang="en-US" sz="1400" dirty="0"/>
          </a:p>
        </p:txBody>
      </p:sp>
      <p:sp>
        <p:nvSpPr>
          <p:cNvPr id="32" name="Text 30"/>
          <p:cNvSpPr txBox="1"/>
          <p:nvPr/>
        </p:nvSpPr>
        <p:spPr>
          <a:xfrm>
            <a:off x="9052560" y="4416552"/>
            <a:ext cx="25877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144 KB　NPU の作業域</a:t>
            </a:r>
            <a:endParaRPr lang="en-US" sz="1400" dirty="0"/>
          </a:p>
        </p:txBody>
      </p:sp>
      <p:sp>
        <p:nvSpPr>
          <p:cNvPr id="33" name="Shape 31"/>
          <p:cNvSpPr/>
          <p:nvPr/>
        </p:nvSpPr>
        <p:spPr>
          <a:xfrm>
            <a:off x="7406640" y="5020056"/>
            <a:ext cx="4325112" cy="548640"/>
          </a:xfrm>
          <a:prstGeom prst="rect">
            <a:avLst/>
          </a:prstGeom>
          <a:solidFill>
            <a:srgbClr val="FBE9D3"/>
          </a:solidFill>
          <a:ln w="12700">
            <a:solidFill>
              <a:srgbClr val="E07B00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34" name="Text 32"/>
          <p:cNvSpPr txBox="1"/>
          <p:nvPr/>
        </p:nvSpPr>
        <p:spPr>
          <a:xfrm>
            <a:off x="7516368" y="5020056"/>
            <a:ext cx="1508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外部フラッシュ</a:t>
            </a:r>
            <a:endParaRPr lang="en-US" sz="1400" dirty="0"/>
          </a:p>
        </p:txBody>
      </p:sp>
      <p:sp>
        <p:nvSpPr>
          <p:cNvPr id="35" name="Text 33"/>
          <p:cNvSpPr txBox="1"/>
          <p:nvPr/>
        </p:nvSpPr>
        <p:spPr>
          <a:xfrm>
            <a:off x="9052560" y="5020056"/>
            <a:ext cx="25877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3.1 MiB　ESC-10 版の重み</a:t>
            </a:r>
            <a:endParaRPr lang="en-US" sz="1400" dirty="0"/>
          </a:p>
        </p:txBody>
      </p:sp>
      <p:sp>
        <p:nvSpPr>
          <p:cNvPr id="36" name="Text 34"/>
          <p:cNvSpPr txBox="1"/>
          <p:nvPr/>
        </p:nvSpPr>
        <p:spPr>
          <a:xfrm>
            <a:off x="7406640" y="5669280"/>
            <a:ext cx="432511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プログラム 372 KB（ESC-10 版）</a:t>
            </a:r>
            <a:endParaRPr lang="en-US" sz="1500" dirty="0"/>
          </a:p>
        </p:txBody>
      </p:sp>
      <p:sp>
        <p:nvSpPr>
          <p:cNvPr id="37" name="Text 35"/>
          <p:cNvSpPr txBox="1"/>
          <p:nvPr/>
        </p:nvSpPr>
        <p:spPr>
          <a:xfrm>
            <a:off x="457200" y="6379899"/>
            <a:ext cx="1127455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ja-JP" altLang="en-US" sz="1600" dirty="0">
                <a:solidFill>
                  <a:srgbClr val="595959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→</a:t>
            </a:r>
            <a:r>
              <a:rPr lang="en-US" sz="1600" dirty="0" err="1">
                <a:solidFill>
                  <a:srgbClr val="595959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省電力は未計測。空いている</a:t>
            </a:r>
            <a:r>
              <a:rPr lang="en-US" sz="1600" dirty="0">
                <a:solidFill>
                  <a:srgbClr val="595959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 88% の時間に待機命令（WFI）を入れるのが次の一手（9 章）</a:t>
            </a:r>
            <a:endParaRPr lang="en-US" sz="16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74320" y="109728"/>
            <a:ext cx="116128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3　工夫：無いものは作り、作ったものは確かめる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0" y="777240"/>
            <a:ext cx="12191695" cy="274320"/>
          </a:xfrm>
          <a:prstGeom prst="rect">
            <a:avLst/>
          </a:prstGeom>
          <a:solidFill>
            <a:srgbClr val="156082"/>
          </a:solidFill>
          <a:ln w="12700">
            <a:solidFill>
              <a:srgbClr val="156082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4" name="Shape 2"/>
          <p:cNvSpPr/>
          <p:nvPr/>
        </p:nvSpPr>
        <p:spPr>
          <a:xfrm>
            <a:off x="0" y="1051560"/>
            <a:ext cx="12191695" cy="1097280"/>
          </a:xfrm>
          <a:prstGeom prst="rect">
            <a:avLst/>
          </a:prstGeom>
          <a:solidFill>
            <a:srgbClr val="DDEBF3"/>
          </a:solidFill>
          <a:ln w="12700">
            <a:solidFill>
              <a:srgbClr val="DDEBF3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5" name="Text 3"/>
          <p:cNvSpPr txBox="1"/>
          <p:nvPr/>
        </p:nvSpPr>
        <p:spPr>
          <a:xfrm>
            <a:off x="457200" y="1097280"/>
            <a:ext cx="1127455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BSP2 </a:t>
            </a:r>
            <a:r>
              <a:rPr lang="en-US" sz="2800" b="1" dirty="0" err="1">
                <a:solidFill>
                  <a:srgbClr val="FF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に無かった初期化と前処理を自作し</a:t>
            </a:r>
            <a:r>
              <a:rPr lang="en-US" sz="2800" b="1" dirty="0">
                <a:solidFill>
                  <a:srgbClr val="FF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、</a:t>
            </a:r>
          </a:p>
          <a:p>
            <a:pPr marL="0" indent="0">
              <a:buNone/>
            </a:pPr>
            <a:r>
              <a:rPr lang="en-US" sz="2800" b="1" dirty="0" err="1">
                <a:solidFill>
                  <a:srgbClr val="FF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起動のたびに正しさを確かめる</a:t>
            </a:r>
            <a:endParaRPr lang="en-US" sz="28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6217920"/>
            <a:ext cx="12344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95959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この章の流れ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1737360" y="6217920"/>
            <a:ext cx="4850892" cy="420624"/>
          </a:xfrm>
          <a:prstGeom prst="rect">
            <a:avLst/>
          </a:prstGeom>
          <a:solidFill>
            <a:srgbClr val="FFFFFF"/>
          </a:solidFill>
          <a:ln w="15875">
            <a:solidFill>
              <a:srgbClr val="156082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8" name="Text 6"/>
          <p:cNvSpPr txBox="1"/>
          <p:nvPr/>
        </p:nvSpPr>
        <p:spPr>
          <a:xfrm>
            <a:off x="1783080" y="6217920"/>
            <a:ext cx="475945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56082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3-1 BSP2 に無かった初期化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661404" y="6318504"/>
            <a:ext cx="146304" cy="219456"/>
          </a:xfrm>
          <a:prstGeom prst="chevron">
            <a:avLst/>
          </a:prstGeom>
          <a:solidFill>
            <a:srgbClr val="156082"/>
          </a:solidFill>
          <a:ln w="12700">
            <a:solidFill>
              <a:srgbClr val="156082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0" name="Shape 8"/>
          <p:cNvSpPr/>
          <p:nvPr/>
        </p:nvSpPr>
        <p:spPr>
          <a:xfrm>
            <a:off x="6880860" y="6217920"/>
            <a:ext cx="4850892" cy="420624"/>
          </a:xfrm>
          <a:prstGeom prst="rect">
            <a:avLst/>
          </a:prstGeom>
          <a:solidFill>
            <a:srgbClr val="FFFFFF"/>
          </a:solidFill>
          <a:ln w="15875">
            <a:solidFill>
              <a:srgbClr val="156082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1" name="Text 9"/>
          <p:cNvSpPr txBox="1"/>
          <p:nvPr/>
        </p:nvSpPr>
        <p:spPr>
          <a:xfrm>
            <a:off x="6926580" y="6217920"/>
            <a:ext cx="475945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56082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3-2 前処理の自作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457200" y="2331720"/>
            <a:ext cx="5532120" cy="3657600"/>
          </a:xfrm>
          <a:prstGeom prst="rect">
            <a:avLst/>
          </a:prstGeom>
          <a:solidFill>
            <a:srgbClr val="F2F2F2"/>
          </a:solidFill>
          <a:ln w="12700">
            <a:solidFill>
              <a:srgbClr val="BFBFBF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3" name="Shape 11"/>
          <p:cNvSpPr/>
          <p:nvPr/>
        </p:nvSpPr>
        <p:spPr>
          <a:xfrm>
            <a:off x="685800" y="2560320"/>
            <a:ext cx="731520" cy="731520"/>
          </a:xfrm>
          <a:prstGeom prst="ellipse">
            <a:avLst/>
          </a:prstGeom>
          <a:solidFill>
            <a:srgbClr val="156082"/>
          </a:solidFill>
          <a:ln w="12700">
            <a:solidFill>
              <a:srgbClr val="156082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pic>
        <p:nvPicPr>
          <p:cNvPr id="14" name="Image 0" descr="/home/claude/v4/icons/FaCogs_FFFFFF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960" y="2697480"/>
            <a:ext cx="457200" cy="457200"/>
          </a:xfrm>
          <a:prstGeom prst="rect">
            <a:avLst/>
          </a:prstGeom>
        </p:spPr>
      </p:pic>
      <p:sp>
        <p:nvSpPr>
          <p:cNvPr id="15" name="Text 12"/>
          <p:cNvSpPr txBox="1"/>
          <p:nvPr/>
        </p:nvSpPr>
        <p:spPr>
          <a:xfrm>
            <a:off x="1554480" y="2560320"/>
            <a:ext cx="4297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NPU・外部フラッシュ・LCD の初期化</a:t>
            </a:r>
            <a:endParaRPr lang="en-US" sz="2200" dirty="0"/>
          </a:p>
        </p:txBody>
      </p:sp>
      <p:sp>
        <p:nvSpPr>
          <p:cNvPr id="16" name="Text 13"/>
          <p:cNvSpPr txBox="1"/>
          <p:nvPr/>
        </p:nvSpPr>
        <p:spPr>
          <a:xfrm>
            <a:off x="731520" y="3520440"/>
            <a:ext cx="4983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800" b="1" dirty="0">
                <a:solidFill>
                  <a:srgbClr val="156082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4 段</a:t>
            </a:r>
            <a:endParaRPr lang="en-US" sz="4800" dirty="0"/>
          </a:p>
        </p:txBody>
      </p:sp>
      <p:sp>
        <p:nvSpPr>
          <p:cNvPr id="17" name="Text 14"/>
          <p:cNvSpPr txBox="1"/>
          <p:nvPr/>
        </p:nvSpPr>
        <p:spPr>
          <a:xfrm>
            <a:off x="731520" y="4480560"/>
            <a:ext cx="4983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すべてレジスタを読み戻して一致を確認</a:t>
            </a:r>
            <a:endParaRPr lang="en-US" sz="2000" dirty="0"/>
          </a:p>
        </p:txBody>
      </p:sp>
      <p:sp>
        <p:nvSpPr>
          <p:cNvPr id="18" name="Text 15"/>
          <p:cNvSpPr txBox="1"/>
          <p:nvPr/>
        </p:nvSpPr>
        <p:spPr>
          <a:xfrm>
            <a:off x="731520" y="5074920"/>
            <a:ext cx="4983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dirty="0">
                <a:solidFill>
                  <a:srgbClr val="595959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外部フラッシュ → NPU → LCD → フォールト基盤</a:t>
            </a:r>
            <a:endParaRPr lang="en-US" sz="1600" dirty="0"/>
          </a:p>
        </p:txBody>
      </p:sp>
      <p:sp>
        <p:nvSpPr>
          <p:cNvPr id="19" name="Shape 16"/>
          <p:cNvSpPr/>
          <p:nvPr/>
        </p:nvSpPr>
        <p:spPr>
          <a:xfrm>
            <a:off x="6199632" y="2331720"/>
            <a:ext cx="5532120" cy="3657600"/>
          </a:xfrm>
          <a:prstGeom prst="rect">
            <a:avLst/>
          </a:prstGeom>
          <a:solidFill>
            <a:srgbClr val="F2F2F2"/>
          </a:solidFill>
          <a:ln w="12700">
            <a:solidFill>
              <a:srgbClr val="BFBFBF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0" name="Shape 17"/>
          <p:cNvSpPr/>
          <p:nvPr/>
        </p:nvSpPr>
        <p:spPr>
          <a:xfrm>
            <a:off x="6428232" y="2560320"/>
            <a:ext cx="731520" cy="731520"/>
          </a:xfrm>
          <a:prstGeom prst="ellipse">
            <a:avLst/>
          </a:prstGeom>
          <a:solidFill>
            <a:srgbClr val="156082"/>
          </a:solidFill>
          <a:ln w="12700">
            <a:solidFill>
              <a:srgbClr val="156082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pic>
        <p:nvPicPr>
          <p:cNvPr id="21" name="Image 1" descr="/home/claude/v4/icons/FaWaveSquare_FFFFFF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65392" y="2697480"/>
            <a:ext cx="457200" cy="457200"/>
          </a:xfrm>
          <a:prstGeom prst="rect">
            <a:avLst/>
          </a:prstGeom>
        </p:spPr>
      </p:pic>
      <p:sp>
        <p:nvSpPr>
          <p:cNvPr id="22" name="Text 18"/>
          <p:cNvSpPr txBox="1"/>
          <p:nvPr/>
        </p:nvSpPr>
        <p:spPr>
          <a:xfrm>
            <a:off x="7296912" y="2560320"/>
            <a:ext cx="4297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音を画像にする前処理</a:t>
            </a:r>
            <a:endParaRPr lang="en-US" sz="2200" dirty="0"/>
          </a:p>
        </p:txBody>
      </p:sp>
      <p:sp>
        <p:nvSpPr>
          <p:cNvPr id="23" name="Text 19"/>
          <p:cNvSpPr txBox="1"/>
          <p:nvPr/>
        </p:nvSpPr>
        <p:spPr>
          <a:xfrm>
            <a:off x="6473952" y="3520440"/>
            <a:ext cx="4983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800" b="1" dirty="0">
                <a:solidFill>
                  <a:srgbClr val="008A5E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差 0 / 12,288</a:t>
            </a:r>
            <a:endParaRPr lang="en-US" sz="4800" dirty="0"/>
          </a:p>
        </p:txBody>
      </p:sp>
      <p:sp>
        <p:nvSpPr>
          <p:cNvPr id="24" name="Text 20"/>
          <p:cNvSpPr txBox="1"/>
          <p:nvPr/>
        </p:nvSpPr>
        <p:spPr>
          <a:xfrm>
            <a:off x="6473952" y="4480560"/>
            <a:ext cx="4983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板と PC の出力が 1 ビットも違わない</a:t>
            </a:r>
            <a:endParaRPr lang="en-US" sz="2000" dirty="0"/>
          </a:p>
        </p:txBody>
      </p:sp>
      <p:sp>
        <p:nvSpPr>
          <p:cNvPr id="25" name="Text 21"/>
          <p:cNvSpPr txBox="1"/>
          <p:nvPr/>
        </p:nvSpPr>
        <p:spPr>
          <a:xfrm>
            <a:off x="6473952" y="5074920"/>
            <a:ext cx="4983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dirty="0">
                <a:solidFill>
                  <a:srgbClr val="595959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64 mel × 96 フレーム、int8 まで比較</a:t>
            </a:r>
            <a:endParaRPr lang="en-US" sz="16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74320" y="109728"/>
            <a:ext cx="116128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3-1　BSP2 に無かった 4 段の初期化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0" y="777240"/>
            <a:ext cx="12191695" cy="274320"/>
          </a:xfrm>
          <a:prstGeom prst="rect">
            <a:avLst/>
          </a:prstGeom>
          <a:solidFill>
            <a:srgbClr val="156082"/>
          </a:solidFill>
          <a:ln w="12700">
            <a:solidFill>
              <a:srgbClr val="156082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4" name="Text 2"/>
          <p:cNvSpPr txBox="1"/>
          <p:nvPr/>
        </p:nvSpPr>
        <p:spPr>
          <a:xfrm>
            <a:off x="457200" y="1417320"/>
            <a:ext cx="112745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初期化は 4 段。権限（RIF）を入れないと、黙って 0 が返る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457200" y="2194560"/>
            <a:ext cx="2606040" cy="685800"/>
          </a:xfrm>
          <a:prstGeom prst="rect">
            <a:avLst/>
          </a:prstGeom>
          <a:solidFill>
            <a:srgbClr val="DDEBF3"/>
          </a:solidFill>
          <a:ln w="19050">
            <a:solidFill>
              <a:srgbClr val="156082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pic>
        <p:nvPicPr>
          <p:cNvPr id="6" name="Image 0" descr="/home/claude/v4/icons/FaBolt_15608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6928" y="2304288"/>
            <a:ext cx="457200" cy="457200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097280" y="2194560"/>
            <a:ext cx="1920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外部フラッシュ</a:t>
            </a:r>
            <a:endParaRPr lang="en-US" sz="1700" dirty="0"/>
          </a:p>
        </p:txBody>
      </p:sp>
      <p:sp>
        <p:nvSpPr>
          <p:cNvPr id="8" name="Shape 5"/>
          <p:cNvSpPr/>
          <p:nvPr/>
        </p:nvSpPr>
        <p:spPr>
          <a:xfrm>
            <a:off x="3090672" y="2395728"/>
            <a:ext cx="201168" cy="274320"/>
          </a:xfrm>
          <a:prstGeom prst="rightArrow">
            <a:avLst/>
          </a:prstGeom>
          <a:solidFill>
            <a:srgbClr val="156082"/>
          </a:solidFill>
          <a:ln w="12700">
            <a:solidFill>
              <a:srgbClr val="156082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9" name="Text 6"/>
          <p:cNvSpPr txBox="1"/>
          <p:nvPr/>
        </p:nvSpPr>
        <p:spPr>
          <a:xfrm>
            <a:off x="502920" y="3017520"/>
            <a:ext cx="251460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XSPI2 を 50 MHz の DTR-OPI で動かし、メモリとして読めるようにした</a:t>
            </a:r>
            <a:endParaRPr lang="en-US" sz="1600" dirty="0"/>
          </a:p>
        </p:txBody>
      </p:sp>
      <p:sp>
        <p:nvSpPr>
          <p:cNvPr id="10" name="Text 7"/>
          <p:cNvSpPr txBox="1"/>
          <p:nvPr/>
        </p:nvSpPr>
        <p:spPr>
          <a:xfrm>
            <a:off x="502920" y="4251960"/>
            <a:ext cx="2514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156082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確かめ方　</a:t>
            </a:r>
            <a:r>
              <a:rPr lang="en-US" sz="150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ID と設定の読み戻し、既知データのハッシュ一致</a:t>
            </a:r>
            <a:endParaRPr lang="en-US" sz="1500" dirty="0"/>
          </a:p>
        </p:txBody>
      </p:sp>
      <p:sp>
        <p:nvSpPr>
          <p:cNvPr id="11" name="Shape 8"/>
          <p:cNvSpPr/>
          <p:nvPr/>
        </p:nvSpPr>
        <p:spPr>
          <a:xfrm>
            <a:off x="3310128" y="2194560"/>
            <a:ext cx="2606040" cy="685800"/>
          </a:xfrm>
          <a:prstGeom prst="rect">
            <a:avLst/>
          </a:prstGeom>
          <a:solidFill>
            <a:srgbClr val="DDEBF3"/>
          </a:solidFill>
          <a:ln w="19050">
            <a:solidFill>
              <a:srgbClr val="156082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pic>
        <p:nvPicPr>
          <p:cNvPr id="12" name="Image 1" descr="/home/claude/v4/icons/FaMicrochip_156082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19856" y="2304288"/>
            <a:ext cx="457200" cy="457200"/>
          </a:xfrm>
          <a:prstGeom prst="rect">
            <a:avLst/>
          </a:prstGeom>
        </p:spPr>
      </p:pic>
      <p:sp>
        <p:nvSpPr>
          <p:cNvPr id="13" name="Text 9"/>
          <p:cNvSpPr txBox="1"/>
          <p:nvPr/>
        </p:nvSpPr>
        <p:spPr>
          <a:xfrm>
            <a:off x="3950208" y="2194560"/>
            <a:ext cx="1920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NPU</a:t>
            </a:r>
            <a:endParaRPr lang="en-US" sz="1700" dirty="0"/>
          </a:p>
        </p:txBody>
      </p:sp>
      <p:sp>
        <p:nvSpPr>
          <p:cNvPr id="14" name="Shape 10"/>
          <p:cNvSpPr/>
          <p:nvPr/>
        </p:nvSpPr>
        <p:spPr>
          <a:xfrm>
            <a:off x="5943600" y="2395728"/>
            <a:ext cx="201168" cy="274320"/>
          </a:xfrm>
          <a:prstGeom prst="rightArrow">
            <a:avLst/>
          </a:prstGeom>
          <a:solidFill>
            <a:srgbClr val="156082"/>
          </a:solidFill>
          <a:ln w="12700">
            <a:solidFill>
              <a:srgbClr val="156082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5" name="Text 11"/>
          <p:cNvSpPr txBox="1"/>
          <p:nvPr/>
        </p:nvSpPr>
        <p:spPr>
          <a:xfrm>
            <a:off x="3355847" y="3017520"/>
            <a:ext cx="2740153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ja-JP" altLang="en-US" sz="160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・</a:t>
            </a:r>
            <a:r>
              <a:rPr lang="en-US" sz="1600" dirty="0" err="1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作業用</a:t>
            </a:r>
            <a:r>
              <a:rPr lang="en-US" sz="160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 RAM</a:t>
            </a:r>
            <a:br>
              <a:rPr lang="en-US" sz="160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</a:br>
            <a:r>
              <a:rPr lang="en-US" sz="160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（AXISRAM3〜6）</a:t>
            </a:r>
            <a:endParaRPr lang="en-US" altLang="ja-JP" sz="1600" dirty="0">
              <a:solidFill>
                <a:srgbClr val="000000"/>
              </a:solidFill>
              <a:latin typeface="游ゴシック" pitchFamily="34" charset="0"/>
              <a:ea typeface="游ゴシック" pitchFamily="34" charset="-122"/>
              <a:cs typeface="游ゴシック" pitchFamily="34" charset="-120"/>
            </a:endParaRPr>
          </a:p>
          <a:p>
            <a:pPr marL="0" indent="0">
              <a:buNone/>
            </a:pPr>
            <a:r>
              <a:rPr lang="ja-JP" altLang="en-US" sz="160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・</a:t>
            </a:r>
            <a:r>
              <a:rPr lang="en-US" sz="160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NPU </a:t>
            </a:r>
            <a:r>
              <a:rPr lang="en-US" sz="1600" dirty="0" err="1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のクロックとリセット</a:t>
            </a:r>
            <a:endParaRPr lang="en-US" sz="1600" dirty="0">
              <a:solidFill>
                <a:srgbClr val="000000"/>
              </a:solidFill>
              <a:latin typeface="游ゴシック" pitchFamily="34" charset="0"/>
              <a:ea typeface="游ゴシック" pitchFamily="34" charset="-122"/>
              <a:cs typeface="游ゴシック" pitchFamily="34" charset="-120"/>
            </a:endParaRPr>
          </a:p>
          <a:p>
            <a:pPr marL="0" indent="0">
              <a:buNone/>
            </a:pPr>
            <a:r>
              <a:rPr lang="ja-JP" altLang="en-US" sz="160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・</a:t>
            </a:r>
            <a:r>
              <a:rPr lang="en-US" sz="1600" dirty="0" err="1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バス権限（RIF</a:t>
            </a:r>
            <a:r>
              <a:rPr lang="en-US" sz="160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）</a:t>
            </a:r>
            <a:endParaRPr lang="en-US" sz="1600" dirty="0"/>
          </a:p>
        </p:txBody>
      </p:sp>
      <p:sp>
        <p:nvSpPr>
          <p:cNvPr id="16" name="Text 12"/>
          <p:cNvSpPr txBox="1"/>
          <p:nvPr/>
        </p:nvSpPr>
        <p:spPr>
          <a:xfrm>
            <a:off x="3355847" y="4251960"/>
            <a:ext cx="2627377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 err="1">
                <a:solidFill>
                  <a:srgbClr val="156082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確かめ方</a:t>
            </a:r>
            <a:r>
              <a:rPr lang="en-US" sz="1500" b="1" dirty="0">
                <a:solidFill>
                  <a:srgbClr val="156082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　</a:t>
            </a:r>
          </a:p>
          <a:p>
            <a:pPr marL="0" indent="0">
              <a:buNone/>
            </a:pPr>
            <a:r>
              <a:rPr lang="en-US" sz="150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RAM </a:t>
            </a:r>
            <a:r>
              <a:rPr lang="en-US" sz="1500" dirty="0" err="1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のR</a:t>
            </a:r>
            <a:r>
              <a:rPr lang="en-US" sz="150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/W</a:t>
            </a:r>
          </a:p>
          <a:p>
            <a:pPr marL="0" indent="0">
              <a:buNone/>
            </a:pPr>
            <a:r>
              <a:rPr lang="en-US" sz="150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NPU の版番号レジスタの一致</a:t>
            </a:r>
            <a:endParaRPr lang="en-US" sz="1500" dirty="0"/>
          </a:p>
        </p:txBody>
      </p:sp>
      <p:sp>
        <p:nvSpPr>
          <p:cNvPr id="17" name="Shape 13"/>
          <p:cNvSpPr/>
          <p:nvPr/>
        </p:nvSpPr>
        <p:spPr>
          <a:xfrm>
            <a:off x="6163056" y="2194560"/>
            <a:ext cx="2606040" cy="685800"/>
          </a:xfrm>
          <a:prstGeom prst="rect">
            <a:avLst/>
          </a:prstGeom>
          <a:solidFill>
            <a:srgbClr val="DDEBF3"/>
          </a:solidFill>
          <a:ln w="19050">
            <a:solidFill>
              <a:srgbClr val="156082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pic>
        <p:nvPicPr>
          <p:cNvPr id="18" name="Image 2" descr="/home/claude/v4/icons/FaDesktop_156082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72784" y="2304288"/>
            <a:ext cx="457200" cy="457200"/>
          </a:xfrm>
          <a:prstGeom prst="rect">
            <a:avLst/>
          </a:prstGeom>
        </p:spPr>
      </p:pic>
      <p:sp>
        <p:nvSpPr>
          <p:cNvPr id="19" name="Text 14"/>
          <p:cNvSpPr txBox="1"/>
          <p:nvPr/>
        </p:nvSpPr>
        <p:spPr>
          <a:xfrm>
            <a:off x="6803136" y="2194560"/>
            <a:ext cx="1920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LCD（LTDC 直結）</a:t>
            </a:r>
            <a:endParaRPr lang="en-US" sz="1700" dirty="0"/>
          </a:p>
        </p:txBody>
      </p:sp>
      <p:sp>
        <p:nvSpPr>
          <p:cNvPr id="20" name="Shape 15"/>
          <p:cNvSpPr/>
          <p:nvPr/>
        </p:nvSpPr>
        <p:spPr>
          <a:xfrm>
            <a:off x="8796528" y="2395728"/>
            <a:ext cx="201168" cy="274320"/>
          </a:xfrm>
          <a:prstGeom prst="rightArrow">
            <a:avLst/>
          </a:prstGeom>
          <a:solidFill>
            <a:srgbClr val="156082"/>
          </a:solidFill>
          <a:ln w="12700">
            <a:solidFill>
              <a:srgbClr val="156082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1" name="Text 16"/>
          <p:cNvSpPr txBox="1"/>
          <p:nvPr/>
        </p:nvSpPr>
        <p:spPr>
          <a:xfrm>
            <a:off x="6208776" y="3017520"/>
            <a:ext cx="251460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25 MHz のクロック、800×480 の画面メモリと 16 色の色表</a:t>
            </a:r>
            <a:endParaRPr lang="en-US" sz="1600" dirty="0"/>
          </a:p>
        </p:txBody>
      </p:sp>
      <p:sp>
        <p:nvSpPr>
          <p:cNvPr id="22" name="Text 17"/>
          <p:cNvSpPr txBox="1"/>
          <p:nvPr/>
        </p:nvSpPr>
        <p:spPr>
          <a:xfrm>
            <a:off x="6208776" y="4251960"/>
            <a:ext cx="2514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156082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確かめ方　</a:t>
            </a:r>
            <a:r>
              <a:rPr lang="en-US" sz="150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アクセス違反レジスタを見張り、行ごとにキャッシュを掃き出す</a:t>
            </a:r>
            <a:endParaRPr lang="en-US" sz="1500" dirty="0"/>
          </a:p>
        </p:txBody>
      </p:sp>
      <p:sp>
        <p:nvSpPr>
          <p:cNvPr id="23" name="Shape 18"/>
          <p:cNvSpPr/>
          <p:nvPr/>
        </p:nvSpPr>
        <p:spPr>
          <a:xfrm>
            <a:off x="9015984" y="2194560"/>
            <a:ext cx="2606040" cy="685800"/>
          </a:xfrm>
          <a:prstGeom prst="rect">
            <a:avLst/>
          </a:prstGeom>
          <a:solidFill>
            <a:srgbClr val="DDEBF3"/>
          </a:solidFill>
          <a:ln w="19050">
            <a:solidFill>
              <a:srgbClr val="156082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pic>
        <p:nvPicPr>
          <p:cNvPr id="24" name="Image 3" descr="/home/claude/v4/icons/FaExclamationTriangle_C00000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125712" y="2304288"/>
            <a:ext cx="457200" cy="457200"/>
          </a:xfrm>
          <a:prstGeom prst="rect">
            <a:avLst/>
          </a:prstGeom>
        </p:spPr>
      </p:pic>
      <p:sp>
        <p:nvSpPr>
          <p:cNvPr id="25" name="Text 19"/>
          <p:cNvSpPr txBox="1"/>
          <p:nvPr/>
        </p:nvSpPr>
        <p:spPr>
          <a:xfrm>
            <a:off x="9656064" y="2194560"/>
            <a:ext cx="1920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フォールト基盤</a:t>
            </a:r>
            <a:endParaRPr lang="en-US" sz="1700" dirty="0"/>
          </a:p>
        </p:txBody>
      </p:sp>
      <p:sp>
        <p:nvSpPr>
          <p:cNvPr id="26" name="Text 20"/>
          <p:cNvSpPr txBox="1"/>
          <p:nvPr/>
        </p:nvSpPr>
        <p:spPr>
          <a:xfrm>
            <a:off x="9061704" y="3017520"/>
            <a:ext cx="251460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256 本の割込み表を張り替え、処理の無い割込みも必ずログに出す</a:t>
            </a:r>
            <a:endParaRPr lang="en-US" sz="1600" dirty="0"/>
          </a:p>
        </p:txBody>
      </p:sp>
      <p:sp>
        <p:nvSpPr>
          <p:cNvPr id="27" name="Text 21"/>
          <p:cNvSpPr txBox="1"/>
          <p:nvPr/>
        </p:nvSpPr>
        <p:spPr>
          <a:xfrm>
            <a:off x="9061704" y="4251960"/>
            <a:ext cx="2514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156082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確かめ方　</a:t>
            </a:r>
            <a:r>
              <a:rPr lang="en-US" sz="150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未処理の割込みで黙って止まらない</a:t>
            </a:r>
            <a:endParaRPr lang="en-US" sz="1500" dirty="0"/>
          </a:p>
        </p:txBody>
      </p:sp>
      <p:sp>
        <p:nvSpPr>
          <p:cNvPr id="28" name="Shape 22"/>
          <p:cNvSpPr/>
          <p:nvPr/>
        </p:nvSpPr>
        <p:spPr>
          <a:xfrm>
            <a:off x="457200" y="5257800"/>
            <a:ext cx="11274552" cy="1234440"/>
          </a:xfrm>
          <a:prstGeom prst="rect">
            <a:avLst/>
          </a:prstGeom>
          <a:solidFill>
            <a:srgbClr val="FDECEC"/>
          </a:solidFill>
          <a:ln w="25400">
            <a:solidFill>
              <a:srgbClr val="C00000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pic>
        <p:nvPicPr>
          <p:cNvPr id="29" name="Image 4" descr="/home/claude/v4/icons/FaExclamationTriangle_C00000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40080" y="5577840"/>
            <a:ext cx="594360" cy="594360"/>
          </a:xfrm>
          <a:prstGeom prst="rect">
            <a:avLst/>
          </a:prstGeom>
        </p:spPr>
      </p:pic>
      <p:sp>
        <p:nvSpPr>
          <p:cNvPr id="30" name="Text 23"/>
          <p:cNvSpPr txBox="1"/>
          <p:nvPr/>
        </p:nvSpPr>
        <p:spPr>
          <a:xfrm>
            <a:off x="1417320" y="5257800"/>
            <a:ext cx="1014984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罠：バス権限（RIF）が無いと、読み出しは黙って 0 </a:t>
            </a:r>
            <a:r>
              <a:rPr lang="en-US" sz="1800" b="1" dirty="0" err="1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になり、フォルトも出ない</a:t>
            </a:r>
            <a:r>
              <a:rPr lang="en-US" sz="1800" b="1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。</a:t>
            </a:r>
          </a:p>
          <a:p>
            <a:pPr marL="0" indent="0">
              <a:buNone/>
            </a:pPr>
            <a:r>
              <a:rPr lang="en-US" sz="1800" b="1" dirty="0" err="1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アクセス違反レジスタ（RISAF</a:t>
            </a:r>
            <a:r>
              <a:rPr lang="en-US" sz="1800" b="1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 の IASR＝0x2）を見つけるまで、LCD は真っ黒だった</a:t>
            </a:r>
            <a:endParaRPr lang="en-US" sz="18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74320" y="109728"/>
            <a:ext cx="116128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3-2　前処理を自作し、PC と 1 ビットも違わなくした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0" y="777240"/>
            <a:ext cx="12191695" cy="274320"/>
          </a:xfrm>
          <a:prstGeom prst="rect">
            <a:avLst/>
          </a:prstGeom>
          <a:solidFill>
            <a:srgbClr val="156082"/>
          </a:solidFill>
          <a:ln w="12700">
            <a:solidFill>
              <a:srgbClr val="156082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4" name="Text 2"/>
          <p:cNvSpPr txBox="1"/>
          <p:nvPr/>
        </p:nvSpPr>
        <p:spPr>
          <a:xfrm>
            <a:off x="457200" y="1188720"/>
            <a:ext cx="11274552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200" b="1" dirty="0">
                <a:solidFill>
                  <a:srgbClr val="FF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板の前処理は PC と 12,288 </a:t>
            </a:r>
            <a:r>
              <a:rPr lang="en-US" sz="3200" b="1" dirty="0" err="1">
                <a:solidFill>
                  <a:srgbClr val="FF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個すべて一致</a:t>
            </a:r>
            <a:r>
              <a:rPr lang="en-US" sz="3200" b="1" dirty="0">
                <a:solidFill>
                  <a:srgbClr val="FF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。</a:t>
            </a:r>
          </a:p>
          <a:p>
            <a:pPr marL="0" indent="0">
              <a:buNone/>
            </a:pPr>
            <a:r>
              <a:rPr lang="en-US" sz="2000" b="1" dirty="0" err="1"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入力を疑わなくてよい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457200" y="2194560"/>
            <a:ext cx="2011680" cy="914400"/>
          </a:xfrm>
          <a:prstGeom prst="rect">
            <a:avLst/>
          </a:prstGeom>
          <a:solidFill>
            <a:srgbClr val="DDEBF3"/>
          </a:solidFill>
          <a:ln w="19050">
            <a:solidFill>
              <a:srgbClr val="156082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6" name="Text 4"/>
          <p:cNvSpPr txBox="1"/>
          <p:nvPr/>
        </p:nvSpPr>
        <p:spPr>
          <a:xfrm>
            <a:off x="530352" y="2194560"/>
            <a:ext cx="186537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音 15,600 サンプル（0.975 秒）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2505456" y="2514600"/>
            <a:ext cx="219456" cy="274320"/>
          </a:xfrm>
          <a:prstGeom prst="rightArrow">
            <a:avLst/>
          </a:prstGeom>
          <a:solidFill>
            <a:srgbClr val="156082"/>
          </a:solidFill>
          <a:ln w="12700">
            <a:solidFill>
              <a:srgbClr val="156082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8" name="Shape 6"/>
          <p:cNvSpPr/>
          <p:nvPr/>
        </p:nvSpPr>
        <p:spPr>
          <a:xfrm>
            <a:off x="2761488" y="2194560"/>
            <a:ext cx="2011680" cy="914400"/>
          </a:xfrm>
          <a:prstGeom prst="rect">
            <a:avLst/>
          </a:prstGeom>
          <a:solidFill>
            <a:srgbClr val="DDEBF3"/>
          </a:solidFill>
          <a:ln w="19050">
            <a:solidFill>
              <a:srgbClr val="156082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9" name="Text 7"/>
          <p:cNvSpPr txBox="1"/>
          <p:nvPr/>
        </p:nvSpPr>
        <p:spPr>
          <a:xfrm>
            <a:off x="2834640" y="2194560"/>
            <a:ext cx="186537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FFT 512 点（Hann 400・hop 160）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4809744" y="2514600"/>
            <a:ext cx="219456" cy="274320"/>
          </a:xfrm>
          <a:prstGeom prst="rightArrow">
            <a:avLst/>
          </a:prstGeom>
          <a:solidFill>
            <a:srgbClr val="156082"/>
          </a:solidFill>
          <a:ln w="12700">
            <a:solidFill>
              <a:srgbClr val="156082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1" name="Shape 9"/>
          <p:cNvSpPr/>
          <p:nvPr/>
        </p:nvSpPr>
        <p:spPr>
          <a:xfrm>
            <a:off x="5065776" y="2194560"/>
            <a:ext cx="2011680" cy="914400"/>
          </a:xfrm>
          <a:prstGeom prst="rect">
            <a:avLst/>
          </a:prstGeom>
          <a:solidFill>
            <a:srgbClr val="DDEBF3"/>
          </a:solidFill>
          <a:ln w="19050">
            <a:solidFill>
              <a:srgbClr val="156082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2" name="Text 10"/>
          <p:cNvSpPr txBox="1"/>
          <p:nvPr/>
        </p:nvSpPr>
        <p:spPr>
          <a:xfrm>
            <a:off x="5138928" y="2194560"/>
            <a:ext cx="186537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mel 64 本 × 96 フレーム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7114032" y="2514600"/>
            <a:ext cx="219456" cy="274320"/>
          </a:xfrm>
          <a:prstGeom prst="rightArrow">
            <a:avLst/>
          </a:prstGeom>
          <a:solidFill>
            <a:srgbClr val="156082"/>
          </a:solidFill>
          <a:ln w="12700">
            <a:solidFill>
              <a:srgbClr val="156082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4" name="Shape 12"/>
          <p:cNvSpPr/>
          <p:nvPr/>
        </p:nvSpPr>
        <p:spPr>
          <a:xfrm>
            <a:off x="7370064" y="2194560"/>
            <a:ext cx="2011680" cy="914400"/>
          </a:xfrm>
          <a:prstGeom prst="rect">
            <a:avLst/>
          </a:prstGeom>
          <a:solidFill>
            <a:srgbClr val="DDEBF3"/>
          </a:solidFill>
          <a:ln w="19050">
            <a:solidFill>
              <a:srgbClr val="156082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5" name="Text 13"/>
          <p:cNvSpPr txBox="1"/>
          <p:nvPr/>
        </p:nvSpPr>
        <p:spPr>
          <a:xfrm>
            <a:off x="7443216" y="2194560"/>
            <a:ext cx="186537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対数をとって int8 へ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9418320" y="2514600"/>
            <a:ext cx="219456" cy="274320"/>
          </a:xfrm>
          <a:prstGeom prst="rightArrow">
            <a:avLst/>
          </a:prstGeom>
          <a:solidFill>
            <a:srgbClr val="156082"/>
          </a:solidFill>
          <a:ln w="12700">
            <a:solidFill>
              <a:srgbClr val="156082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7" name="Shape 15"/>
          <p:cNvSpPr/>
          <p:nvPr/>
        </p:nvSpPr>
        <p:spPr>
          <a:xfrm>
            <a:off x="9674352" y="2194560"/>
            <a:ext cx="2011680" cy="914400"/>
          </a:xfrm>
          <a:prstGeom prst="rect">
            <a:avLst/>
          </a:prstGeom>
          <a:solidFill>
            <a:srgbClr val="F2F2F2"/>
          </a:solidFill>
          <a:ln w="19050">
            <a:solidFill>
              <a:srgbClr val="A6A6A6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8" name="Text 16"/>
          <p:cNvSpPr txBox="1"/>
          <p:nvPr/>
        </p:nvSpPr>
        <p:spPr>
          <a:xfrm>
            <a:off x="9747504" y="2194560"/>
            <a:ext cx="186537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NPU へ</a:t>
            </a:r>
            <a:endParaRPr lang="en-US" sz="1500" dirty="0"/>
          </a:p>
        </p:txBody>
      </p:sp>
      <p:sp>
        <p:nvSpPr>
          <p:cNvPr id="19" name="Text 17"/>
          <p:cNvSpPr txBox="1"/>
          <p:nvPr/>
        </p:nvSpPr>
        <p:spPr>
          <a:xfrm>
            <a:off x="457200" y="3337560"/>
            <a:ext cx="4206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595959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同じ音クリップ 2 本（ESC-50）</a:t>
            </a:r>
            <a:endParaRPr lang="en-US" sz="1500" dirty="0"/>
          </a:p>
        </p:txBody>
      </p:sp>
      <p:sp>
        <p:nvSpPr>
          <p:cNvPr id="20" name="Shape 18"/>
          <p:cNvSpPr/>
          <p:nvPr/>
        </p:nvSpPr>
        <p:spPr>
          <a:xfrm>
            <a:off x="457200" y="3703320"/>
            <a:ext cx="4206240" cy="777240"/>
          </a:xfrm>
          <a:prstGeom prst="rect">
            <a:avLst/>
          </a:prstGeom>
          <a:solidFill>
            <a:srgbClr val="DDEBF3"/>
          </a:solidFill>
          <a:ln w="19050">
            <a:solidFill>
              <a:srgbClr val="156082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1" name="Text 19"/>
          <p:cNvSpPr txBox="1"/>
          <p:nvPr/>
        </p:nvSpPr>
        <p:spPr>
          <a:xfrm>
            <a:off x="530352" y="3703320"/>
            <a:ext cx="405993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板：C で自作（preproc.c）</a:t>
            </a:r>
            <a:endParaRPr lang="en-US" sz="1700" dirty="0"/>
          </a:p>
        </p:txBody>
      </p:sp>
      <p:sp>
        <p:nvSpPr>
          <p:cNvPr id="22" name="Shape 20"/>
          <p:cNvSpPr/>
          <p:nvPr/>
        </p:nvSpPr>
        <p:spPr>
          <a:xfrm>
            <a:off x="457200" y="4663440"/>
            <a:ext cx="4206240" cy="777240"/>
          </a:xfrm>
          <a:prstGeom prst="rect">
            <a:avLst/>
          </a:prstGeom>
          <a:solidFill>
            <a:srgbClr val="F2F2F2"/>
          </a:solidFill>
          <a:ln w="12700">
            <a:solidFill>
              <a:srgbClr val="A6A6A6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3" name="Text 21"/>
          <p:cNvSpPr txBox="1"/>
          <p:nvPr/>
        </p:nvSpPr>
        <p:spPr>
          <a:xfrm>
            <a:off x="530352" y="4663440"/>
            <a:ext cx="405993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PC：Python（scripts/aed_clips.py）</a:t>
            </a:r>
            <a:endParaRPr lang="en-US" sz="1700" dirty="0"/>
          </a:p>
        </p:txBody>
      </p:sp>
      <p:sp>
        <p:nvSpPr>
          <p:cNvPr id="24" name="Shape 22"/>
          <p:cNvSpPr/>
          <p:nvPr/>
        </p:nvSpPr>
        <p:spPr>
          <a:xfrm>
            <a:off x="4754880" y="3931920"/>
            <a:ext cx="502920" cy="320040"/>
          </a:xfrm>
          <a:prstGeom prst="rightArrow">
            <a:avLst/>
          </a:prstGeom>
          <a:solidFill>
            <a:srgbClr val="156082"/>
          </a:solidFill>
          <a:ln w="12700">
            <a:solidFill>
              <a:srgbClr val="156082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5" name="Shape 23"/>
          <p:cNvSpPr/>
          <p:nvPr/>
        </p:nvSpPr>
        <p:spPr>
          <a:xfrm>
            <a:off x="4754880" y="4892040"/>
            <a:ext cx="502920" cy="320040"/>
          </a:xfrm>
          <a:prstGeom prst="rightArrow">
            <a:avLst/>
          </a:prstGeom>
          <a:solidFill>
            <a:srgbClr val="156082"/>
          </a:solidFill>
          <a:ln w="12700">
            <a:solidFill>
              <a:srgbClr val="156082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6" name="Shape 24"/>
          <p:cNvSpPr/>
          <p:nvPr/>
        </p:nvSpPr>
        <p:spPr>
          <a:xfrm>
            <a:off x="5349240" y="3703320"/>
            <a:ext cx="2834640" cy="1737360"/>
          </a:xfrm>
          <a:prstGeom prst="rect">
            <a:avLst/>
          </a:prstGeom>
          <a:solidFill>
            <a:srgbClr val="FFFFFF"/>
          </a:solidFill>
          <a:ln w="19050">
            <a:solidFill>
              <a:srgbClr val="156082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7" name="Text 25"/>
          <p:cNvSpPr txBox="1"/>
          <p:nvPr/>
        </p:nvSpPr>
        <p:spPr>
          <a:xfrm>
            <a:off x="5422392" y="3703320"/>
            <a:ext cx="2688336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int8 の値を</a:t>
            </a:r>
            <a:endParaRPr lang="en-US" sz="1700" dirty="0"/>
          </a:p>
          <a:p>
            <a:pPr marL="0" indent="0" algn="ctr">
              <a:buNone/>
            </a:pPr>
            <a:r>
              <a:rPr lang="en-US" sz="1700" b="1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1 個ずつ比べる</a:t>
            </a:r>
            <a:endParaRPr lang="en-US" sz="1700" dirty="0"/>
          </a:p>
          <a:p>
            <a:pPr marL="0" indent="0" algn="ctr">
              <a:buNone/>
            </a:pPr>
            <a:r>
              <a:rPr lang="en-US" sz="1700" b="1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（2 本 × 6,144 個）</a:t>
            </a:r>
            <a:endParaRPr lang="en-US" sz="1700" dirty="0"/>
          </a:p>
        </p:txBody>
      </p:sp>
      <p:sp>
        <p:nvSpPr>
          <p:cNvPr id="28" name="Shape 26"/>
          <p:cNvSpPr/>
          <p:nvPr/>
        </p:nvSpPr>
        <p:spPr>
          <a:xfrm>
            <a:off x="8275320" y="4389120"/>
            <a:ext cx="502920" cy="365760"/>
          </a:xfrm>
          <a:prstGeom prst="rightArrow">
            <a:avLst/>
          </a:prstGeom>
          <a:solidFill>
            <a:srgbClr val="156082"/>
          </a:solidFill>
          <a:ln w="12700">
            <a:solidFill>
              <a:srgbClr val="156082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9" name="Text 27"/>
          <p:cNvSpPr txBox="1"/>
          <p:nvPr/>
        </p:nvSpPr>
        <p:spPr>
          <a:xfrm>
            <a:off x="8869680" y="3520440"/>
            <a:ext cx="2862072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000" b="1" dirty="0">
                <a:solidFill>
                  <a:srgbClr val="008A5E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差 0</a:t>
            </a:r>
            <a:endParaRPr lang="en-US" sz="6000" dirty="0"/>
          </a:p>
        </p:txBody>
      </p:sp>
      <p:sp>
        <p:nvSpPr>
          <p:cNvPr id="30" name="Text 28"/>
          <p:cNvSpPr txBox="1"/>
          <p:nvPr/>
        </p:nvSpPr>
        <p:spPr>
          <a:xfrm>
            <a:off x="8869680" y="4709160"/>
            <a:ext cx="28620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12,288 個すべて一致</a:t>
            </a:r>
            <a:endParaRPr lang="en-US" sz="1800" dirty="0"/>
          </a:p>
        </p:txBody>
      </p:sp>
      <p:sp>
        <p:nvSpPr>
          <p:cNvPr id="31" name="Text 29"/>
          <p:cNvSpPr txBox="1"/>
          <p:nvPr/>
        </p:nvSpPr>
        <p:spPr>
          <a:xfrm>
            <a:off x="434340" y="5943600"/>
            <a:ext cx="112745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起動のたびにこの比較を自動で行い、結果を READY の前に出す（10-2。比べる音は ESC-50 から作る）。</a:t>
            </a:r>
          </a:p>
          <a:p>
            <a:pPr marL="0" indent="0">
              <a:buNone/>
            </a:pPr>
            <a:r>
              <a:rPr lang="en-US" dirty="0" err="1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推論にかかる時間は</a:t>
            </a:r>
            <a:r>
              <a:rPr lang="en-US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(2-3)</a:t>
            </a:r>
            <a:endParaRPr lang="en-US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74320" y="109728"/>
            <a:ext cx="116128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4　検証の方法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0" y="777240"/>
            <a:ext cx="12191695" cy="274320"/>
          </a:xfrm>
          <a:prstGeom prst="rect">
            <a:avLst/>
          </a:prstGeom>
          <a:solidFill>
            <a:srgbClr val="156082"/>
          </a:solidFill>
          <a:ln w="12700">
            <a:solidFill>
              <a:srgbClr val="156082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4" name="Shape 2"/>
          <p:cNvSpPr/>
          <p:nvPr/>
        </p:nvSpPr>
        <p:spPr>
          <a:xfrm>
            <a:off x="0" y="1051560"/>
            <a:ext cx="12191695" cy="1097280"/>
          </a:xfrm>
          <a:prstGeom prst="rect">
            <a:avLst/>
          </a:prstGeom>
          <a:solidFill>
            <a:srgbClr val="DDEBF3"/>
          </a:solidFill>
          <a:ln w="12700">
            <a:solidFill>
              <a:srgbClr val="DDEBF3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5" name="Text 3"/>
          <p:cNvSpPr txBox="1"/>
          <p:nvPr/>
        </p:nvSpPr>
        <p:spPr>
          <a:xfrm>
            <a:off x="457200" y="1097280"/>
            <a:ext cx="1127455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 err="1">
                <a:solidFill>
                  <a:srgbClr val="FF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設計どおりかは実測でしか言えない</a:t>
            </a:r>
            <a:r>
              <a:rPr lang="en-US" sz="2800" b="1" dirty="0">
                <a:solidFill>
                  <a:srgbClr val="FF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。</a:t>
            </a:r>
          </a:p>
          <a:p>
            <a:pPr marL="0" indent="0">
              <a:buNone/>
            </a:pPr>
            <a:r>
              <a:rPr lang="en-US" sz="2000" b="1" dirty="0" err="1"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一段ずつ確かめ、最後は</a:t>
            </a:r>
            <a:r>
              <a:rPr lang="en-US" sz="2000" b="1" dirty="0"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 3 つの実験で測った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6217920"/>
            <a:ext cx="12344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95959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この章の流れ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1737360" y="6217920"/>
            <a:ext cx="4850892" cy="420624"/>
          </a:xfrm>
          <a:prstGeom prst="rect">
            <a:avLst/>
          </a:prstGeom>
          <a:solidFill>
            <a:srgbClr val="FFFFFF"/>
          </a:solidFill>
          <a:ln w="15875">
            <a:solidFill>
              <a:srgbClr val="156082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8" name="Text 6"/>
          <p:cNvSpPr txBox="1"/>
          <p:nvPr/>
        </p:nvSpPr>
        <p:spPr>
          <a:xfrm>
            <a:off x="1783080" y="6217920"/>
            <a:ext cx="475945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56082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4-1 一段ずつ確かめる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661404" y="6318504"/>
            <a:ext cx="146304" cy="219456"/>
          </a:xfrm>
          <a:prstGeom prst="chevron">
            <a:avLst/>
          </a:prstGeom>
          <a:solidFill>
            <a:srgbClr val="156082"/>
          </a:solidFill>
          <a:ln w="12700">
            <a:solidFill>
              <a:srgbClr val="156082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0" name="Shape 8"/>
          <p:cNvSpPr/>
          <p:nvPr/>
        </p:nvSpPr>
        <p:spPr>
          <a:xfrm>
            <a:off x="6880860" y="6217920"/>
            <a:ext cx="4850892" cy="420624"/>
          </a:xfrm>
          <a:prstGeom prst="rect">
            <a:avLst/>
          </a:prstGeom>
          <a:solidFill>
            <a:srgbClr val="FFFFFF"/>
          </a:solidFill>
          <a:ln w="15875">
            <a:solidFill>
              <a:srgbClr val="156082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1" name="Text 9"/>
          <p:cNvSpPr txBox="1"/>
          <p:nvPr/>
        </p:nvSpPr>
        <p:spPr>
          <a:xfrm>
            <a:off x="6926580" y="6217920"/>
            <a:ext cx="475945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56082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4-2 数字はすべてログから作り直せる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457200" y="2331720"/>
            <a:ext cx="3611880" cy="3703320"/>
          </a:xfrm>
          <a:prstGeom prst="rect">
            <a:avLst/>
          </a:prstGeom>
          <a:solidFill>
            <a:srgbClr val="F2F2F2"/>
          </a:solidFill>
          <a:ln w="12700">
            <a:solidFill>
              <a:srgbClr val="BFBFBF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3" name="Shape 11"/>
          <p:cNvSpPr/>
          <p:nvPr/>
        </p:nvSpPr>
        <p:spPr>
          <a:xfrm>
            <a:off x="640080" y="2514600"/>
            <a:ext cx="685800" cy="685800"/>
          </a:xfrm>
          <a:prstGeom prst="ellipse">
            <a:avLst/>
          </a:prstGeom>
          <a:solidFill>
            <a:srgbClr val="156082"/>
          </a:solidFill>
          <a:ln w="12700">
            <a:solidFill>
              <a:srgbClr val="156082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pic>
        <p:nvPicPr>
          <p:cNvPr id="14" name="Image 0" descr="/home/claude/v4/icons/FaBug_FFFFFF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" y="2651760"/>
            <a:ext cx="411480" cy="411480"/>
          </a:xfrm>
          <a:prstGeom prst="rect">
            <a:avLst/>
          </a:prstGeom>
        </p:spPr>
      </p:pic>
      <p:sp>
        <p:nvSpPr>
          <p:cNvPr id="15" name="Text 12"/>
          <p:cNvSpPr txBox="1"/>
          <p:nvPr/>
        </p:nvSpPr>
        <p:spPr>
          <a:xfrm>
            <a:off x="1417320" y="2468880"/>
            <a:ext cx="2606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実験 1　対照試験</a:t>
            </a:r>
            <a:endParaRPr lang="en-US" sz="2000" dirty="0"/>
          </a:p>
        </p:txBody>
      </p:sp>
      <p:sp>
        <p:nvSpPr>
          <p:cNvPr id="16" name="Text 13"/>
          <p:cNvSpPr txBox="1"/>
          <p:nvPr/>
        </p:nvSpPr>
        <p:spPr>
          <a:xfrm>
            <a:off x="1417320" y="2898648"/>
            <a:ext cx="2606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595959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わざと壊す</a:t>
            </a:r>
            <a:endParaRPr lang="en-US" sz="1600" dirty="0"/>
          </a:p>
        </p:txBody>
      </p:sp>
      <p:sp>
        <p:nvSpPr>
          <p:cNvPr id="17" name="Text 14"/>
          <p:cNvSpPr txBox="1"/>
          <p:nvPr/>
        </p:nvSpPr>
        <p:spPr>
          <a:xfrm>
            <a:off x="640080" y="3474720"/>
            <a:ext cx="324612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rgbClr val="156082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問い
</a:t>
            </a:r>
            <a:r>
              <a:rPr lang="en-US" sz="2000" dirty="0" err="1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優先度を逆に</a:t>
            </a:r>
            <a:r>
              <a:rPr lang="ja-JP" altLang="en-US" sz="200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、</a:t>
            </a:r>
            <a:endParaRPr lang="en-US" altLang="ja-JP" sz="2000" dirty="0">
              <a:solidFill>
                <a:srgbClr val="000000"/>
              </a:solidFill>
              <a:latin typeface="游ゴシック" pitchFamily="34" charset="0"/>
              <a:ea typeface="游ゴシック" pitchFamily="34" charset="-122"/>
              <a:cs typeface="游ゴシック" pitchFamily="34" charset="-120"/>
            </a:endParaRPr>
          </a:p>
          <a:p>
            <a:pPr marL="0" indent="0">
              <a:buNone/>
            </a:pPr>
            <a:r>
              <a:rPr lang="ja-JP" altLang="en-US" sz="200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また</a:t>
            </a:r>
            <a:r>
              <a:rPr lang="en-US" sz="2000" dirty="0" err="1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推論が周期を超えたら</a:t>
            </a:r>
            <a:endParaRPr lang="en-US" sz="2000" dirty="0">
              <a:solidFill>
                <a:srgbClr val="000000"/>
              </a:solidFill>
              <a:latin typeface="游ゴシック" pitchFamily="34" charset="0"/>
              <a:ea typeface="游ゴシック" pitchFamily="34" charset="-122"/>
              <a:cs typeface="游ゴシック" pitchFamily="34" charset="-120"/>
            </a:endParaRPr>
          </a:p>
          <a:p>
            <a:pPr marL="0" indent="0">
              <a:buNone/>
            </a:pPr>
            <a:r>
              <a:rPr lang="en-US" sz="2000" dirty="0" err="1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何が先に壊れるか</a:t>
            </a:r>
            <a:endParaRPr lang="en-US" sz="1600" dirty="0"/>
          </a:p>
        </p:txBody>
      </p:sp>
      <p:sp>
        <p:nvSpPr>
          <p:cNvPr id="18" name="Text 15"/>
          <p:cNvSpPr txBox="1"/>
          <p:nvPr/>
        </p:nvSpPr>
        <p:spPr>
          <a:xfrm>
            <a:off x="640080" y="5486400"/>
            <a:ext cx="3246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800" b="1" dirty="0">
                <a:solidFill>
                  <a:srgbClr val="156082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→ 5 章</a:t>
            </a:r>
            <a:endParaRPr lang="en-US" sz="1800" dirty="0"/>
          </a:p>
        </p:txBody>
      </p:sp>
      <p:sp>
        <p:nvSpPr>
          <p:cNvPr id="19" name="Shape 16"/>
          <p:cNvSpPr/>
          <p:nvPr/>
        </p:nvSpPr>
        <p:spPr>
          <a:xfrm>
            <a:off x="4288536" y="2331720"/>
            <a:ext cx="3611880" cy="3703320"/>
          </a:xfrm>
          <a:prstGeom prst="rect">
            <a:avLst/>
          </a:prstGeom>
          <a:solidFill>
            <a:srgbClr val="F2F2F2"/>
          </a:solidFill>
          <a:ln w="12700">
            <a:solidFill>
              <a:srgbClr val="BFBFBF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0" name="Shape 17"/>
          <p:cNvSpPr/>
          <p:nvPr/>
        </p:nvSpPr>
        <p:spPr>
          <a:xfrm>
            <a:off x="4471416" y="2514600"/>
            <a:ext cx="685800" cy="685800"/>
          </a:xfrm>
          <a:prstGeom prst="ellipse">
            <a:avLst/>
          </a:prstGeom>
          <a:solidFill>
            <a:srgbClr val="156082"/>
          </a:solidFill>
          <a:ln w="12700">
            <a:solidFill>
              <a:srgbClr val="156082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pic>
        <p:nvPicPr>
          <p:cNvPr id="21" name="Image 1" descr="/home/claude/v4/icons/FaHourglassHalf_FFFFFF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08576" y="2651760"/>
            <a:ext cx="411480" cy="411480"/>
          </a:xfrm>
          <a:prstGeom prst="rect">
            <a:avLst/>
          </a:prstGeom>
        </p:spPr>
      </p:pic>
      <p:sp>
        <p:nvSpPr>
          <p:cNvPr id="22" name="Text 18"/>
          <p:cNvSpPr txBox="1"/>
          <p:nvPr/>
        </p:nvSpPr>
        <p:spPr>
          <a:xfrm>
            <a:off x="5248656" y="2468880"/>
            <a:ext cx="2606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実験 2　長時間運転</a:t>
            </a:r>
            <a:endParaRPr lang="en-US" sz="2000" dirty="0"/>
          </a:p>
        </p:txBody>
      </p:sp>
      <p:sp>
        <p:nvSpPr>
          <p:cNvPr id="23" name="Text 19"/>
          <p:cNvSpPr txBox="1"/>
          <p:nvPr/>
        </p:nvSpPr>
        <p:spPr>
          <a:xfrm>
            <a:off x="5248656" y="2898648"/>
            <a:ext cx="2606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595959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1 時間止めない</a:t>
            </a:r>
            <a:endParaRPr lang="en-US" sz="1600" dirty="0"/>
          </a:p>
        </p:txBody>
      </p:sp>
      <p:sp>
        <p:nvSpPr>
          <p:cNvPr id="24" name="Text 20"/>
          <p:cNvSpPr txBox="1"/>
          <p:nvPr/>
        </p:nvSpPr>
        <p:spPr>
          <a:xfrm>
            <a:off x="4471416" y="3474720"/>
            <a:ext cx="324612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rgbClr val="156082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問い
</a:t>
            </a:r>
            <a:r>
              <a:rPr lang="en-US" sz="2000" dirty="0" err="1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音・ログ・画面</a:t>
            </a:r>
            <a:r>
              <a:rPr lang="ja-JP" altLang="en-US" sz="200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が</a:t>
            </a:r>
            <a:endParaRPr lang="en-US" altLang="ja-JP" sz="2000" dirty="0">
              <a:solidFill>
                <a:srgbClr val="000000"/>
              </a:solidFill>
              <a:latin typeface="游ゴシック" pitchFamily="34" charset="0"/>
              <a:ea typeface="游ゴシック" pitchFamily="34" charset="-122"/>
              <a:cs typeface="游ゴシック" pitchFamily="34" charset="-120"/>
            </a:endParaRPr>
          </a:p>
          <a:p>
            <a:pPr marL="0" indent="0">
              <a:buNone/>
            </a:pPr>
            <a:r>
              <a:rPr lang="en-US" sz="2000" dirty="0" err="1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欠けないか</a:t>
            </a:r>
            <a:r>
              <a:rPr lang="en-US" sz="200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。</a:t>
            </a:r>
          </a:p>
          <a:p>
            <a:pPr marL="0" indent="0">
              <a:buNone/>
            </a:pPr>
            <a:r>
              <a:rPr lang="en-US" sz="2000" dirty="0" err="1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実際の部屋で誤報</a:t>
            </a:r>
            <a:r>
              <a:rPr lang="ja-JP" altLang="en-US" sz="200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が</a:t>
            </a:r>
            <a:endParaRPr lang="en-US" altLang="ja-JP" sz="2000" dirty="0">
              <a:solidFill>
                <a:srgbClr val="000000"/>
              </a:solidFill>
              <a:latin typeface="游ゴシック" pitchFamily="34" charset="0"/>
              <a:ea typeface="游ゴシック" pitchFamily="34" charset="-122"/>
              <a:cs typeface="游ゴシック" pitchFamily="34" charset="-120"/>
            </a:endParaRPr>
          </a:p>
          <a:p>
            <a:pPr marL="0" indent="0">
              <a:buNone/>
            </a:pPr>
            <a:r>
              <a:rPr lang="en-US" sz="2000" dirty="0" err="1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何件出るか</a:t>
            </a:r>
            <a:endParaRPr lang="en-US" sz="1600" dirty="0"/>
          </a:p>
        </p:txBody>
      </p:sp>
      <p:sp>
        <p:nvSpPr>
          <p:cNvPr id="25" name="Text 21"/>
          <p:cNvSpPr txBox="1"/>
          <p:nvPr/>
        </p:nvSpPr>
        <p:spPr>
          <a:xfrm>
            <a:off x="4471416" y="5486400"/>
            <a:ext cx="3246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800" b="1" dirty="0">
                <a:solidFill>
                  <a:srgbClr val="156082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→ 6 章</a:t>
            </a:r>
            <a:endParaRPr lang="en-US" sz="1800" dirty="0"/>
          </a:p>
        </p:txBody>
      </p:sp>
      <p:sp>
        <p:nvSpPr>
          <p:cNvPr id="26" name="Shape 22"/>
          <p:cNvSpPr/>
          <p:nvPr/>
        </p:nvSpPr>
        <p:spPr>
          <a:xfrm>
            <a:off x="8119872" y="2331720"/>
            <a:ext cx="3611880" cy="3703320"/>
          </a:xfrm>
          <a:prstGeom prst="rect">
            <a:avLst/>
          </a:prstGeom>
          <a:solidFill>
            <a:srgbClr val="F2F2F2"/>
          </a:solidFill>
          <a:ln w="12700">
            <a:solidFill>
              <a:srgbClr val="BFBFBF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7" name="Shape 23"/>
          <p:cNvSpPr/>
          <p:nvPr/>
        </p:nvSpPr>
        <p:spPr>
          <a:xfrm>
            <a:off x="8302752" y="2514600"/>
            <a:ext cx="685800" cy="685800"/>
          </a:xfrm>
          <a:prstGeom prst="ellipse">
            <a:avLst/>
          </a:prstGeom>
          <a:solidFill>
            <a:srgbClr val="156082"/>
          </a:solidFill>
          <a:ln w="12700">
            <a:solidFill>
              <a:srgbClr val="156082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pic>
        <p:nvPicPr>
          <p:cNvPr id="28" name="Image 2" descr="/home/claude/v4/icons/FaExchangeAlt_FFFFFF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439912" y="2651760"/>
            <a:ext cx="411480" cy="411480"/>
          </a:xfrm>
          <a:prstGeom prst="rect">
            <a:avLst/>
          </a:prstGeom>
        </p:spPr>
      </p:pic>
      <p:sp>
        <p:nvSpPr>
          <p:cNvPr id="29" name="Text 24"/>
          <p:cNvSpPr txBox="1"/>
          <p:nvPr/>
        </p:nvSpPr>
        <p:spPr>
          <a:xfrm>
            <a:off x="9079992" y="2468880"/>
            <a:ext cx="2606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実験 3　モデル差し替え</a:t>
            </a:r>
            <a:endParaRPr lang="en-US" sz="2000" dirty="0"/>
          </a:p>
        </p:txBody>
      </p:sp>
      <p:sp>
        <p:nvSpPr>
          <p:cNvPr id="30" name="Text 25"/>
          <p:cNvSpPr txBox="1"/>
          <p:nvPr/>
        </p:nvSpPr>
        <p:spPr>
          <a:xfrm>
            <a:off x="9079992" y="2898648"/>
            <a:ext cx="2606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595959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別のモデルを載せる</a:t>
            </a:r>
            <a:endParaRPr lang="en-US" sz="1600" dirty="0"/>
          </a:p>
        </p:txBody>
      </p:sp>
      <p:sp>
        <p:nvSpPr>
          <p:cNvPr id="31" name="Text 26"/>
          <p:cNvSpPr txBox="1"/>
          <p:nvPr/>
        </p:nvSpPr>
        <p:spPr>
          <a:xfrm>
            <a:off x="8302752" y="3474720"/>
            <a:ext cx="324612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rgbClr val="156082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問い
</a:t>
            </a:r>
            <a:r>
              <a:rPr lang="en-US" sz="2000" dirty="0" err="1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同じ手順が通るか</a:t>
            </a:r>
            <a:r>
              <a:rPr lang="en-US" sz="200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。</a:t>
            </a:r>
          </a:p>
          <a:p>
            <a:pPr marL="0" indent="0">
              <a:buNone/>
            </a:pPr>
            <a:r>
              <a:rPr lang="en-US" sz="2000" dirty="0" err="1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基盤の数字は変わらないか</a:t>
            </a:r>
            <a:endParaRPr lang="en-US" sz="1600" dirty="0"/>
          </a:p>
        </p:txBody>
      </p:sp>
      <p:sp>
        <p:nvSpPr>
          <p:cNvPr id="32" name="Text 27"/>
          <p:cNvSpPr txBox="1"/>
          <p:nvPr/>
        </p:nvSpPr>
        <p:spPr>
          <a:xfrm>
            <a:off x="8302752" y="5486400"/>
            <a:ext cx="3246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800" b="1" dirty="0">
                <a:solidFill>
                  <a:srgbClr val="156082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→ 7 章</a:t>
            </a:r>
            <a:endParaRPr lang="en-US" sz="18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74320" y="109728"/>
            <a:ext cx="116128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4-1　一段ずつ確かめる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0" y="777240"/>
            <a:ext cx="12191695" cy="274320"/>
          </a:xfrm>
          <a:prstGeom prst="rect">
            <a:avLst/>
          </a:prstGeom>
          <a:solidFill>
            <a:srgbClr val="156082"/>
          </a:solidFill>
          <a:ln w="12700">
            <a:solidFill>
              <a:srgbClr val="156082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4" name="Text 2"/>
          <p:cNvSpPr txBox="1"/>
          <p:nvPr/>
        </p:nvSpPr>
        <p:spPr>
          <a:xfrm>
            <a:off x="457200" y="1188720"/>
            <a:ext cx="11274552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800" b="1" dirty="0">
                <a:solidFill>
                  <a:srgbClr val="FF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前の段が通っていれば、次の段の失敗は次の段のせいだと分かる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457200" y="4343400"/>
            <a:ext cx="1371600" cy="1143000"/>
          </a:xfrm>
          <a:prstGeom prst="rect">
            <a:avLst/>
          </a:prstGeom>
          <a:solidFill>
            <a:srgbClr val="DDEBF3"/>
          </a:solidFill>
          <a:ln w="15875">
            <a:solidFill>
              <a:srgbClr val="156082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6" name="Shape 4"/>
          <p:cNvSpPr/>
          <p:nvPr/>
        </p:nvSpPr>
        <p:spPr>
          <a:xfrm>
            <a:off x="530352" y="4416552"/>
            <a:ext cx="329184" cy="329184"/>
          </a:xfrm>
          <a:prstGeom prst="ellipse">
            <a:avLst/>
          </a:prstGeom>
          <a:solidFill>
            <a:srgbClr val="156082"/>
          </a:solidFill>
          <a:ln w="12700">
            <a:solidFill>
              <a:srgbClr val="156082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7" name="Text 5"/>
          <p:cNvSpPr txBox="1"/>
          <p:nvPr/>
        </p:nvSpPr>
        <p:spPr>
          <a:xfrm>
            <a:off x="530352" y="441655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1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475488" y="4773168"/>
            <a:ext cx="133502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外部フラッシュ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493776" y="5120640"/>
            <a:ext cx="12984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300" dirty="0">
                <a:solidFill>
                  <a:srgbClr val="40404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ハッシュ一致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1865376" y="4069080"/>
            <a:ext cx="1371600" cy="1417320"/>
          </a:xfrm>
          <a:prstGeom prst="rect">
            <a:avLst/>
          </a:prstGeom>
          <a:solidFill>
            <a:srgbClr val="DDEBF3"/>
          </a:solidFill>
          <a:ln w="15875">
            <a:solidFill>
              <a:srgbClr val="156082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1" name="Shape 9"/>
          <p:cNvSpPr/>
          <p:nvPr/>
        </p:nvSpPr>
        <p:spPr>
          <a:xfrm>
            <a:off x="1938528" y="4142232"/>
            <a:ext cx="329184" cy="329184"/>
          </a:xfrm>
          <a:prstGeom prst="ellipse">
            <a:avLst/>
          </a:prstGeom>
          <a:solidFill>
            <a:srgbClr val="156082"/>
          </a:solidFill>
          <a:ln w="12700">
            <a:solidFill>
              <a:srgbClr val="156082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2" name="Text 10"/>
          <p:cNvSpPr txBox="1"/>
          <p:nvPr/>
        </p:nvSpPr>
        <p:spPr>
          <a:xfrm>
            <a:off x="1938528" y="414223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2</a:t>
            </a:r>
            <a:endParaRPr lang="en-US" sz="1300" dirty="0"/>
          </a:p>
        </p:txBody>
      </p:sp>
      <p:sp>
        <p:nvSpPr>
          <p:cNvPr id="13" name="Text 11"/>
          <p:cNvSpPr txBox="1"/>
          <p:nvPr/>
        </p:nvSpPr>
        <p:spPr>
          <a:xfrm>
            <a:off x="1883664" y="4498848"/>
            <a:ext cx="133502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NPU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1901952" y="4846320"/>
            <a:ext cx="12984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300" dirty="0">
                <a:solidFill>
                  <a:srgbClr val="40404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版番号一致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3273552" y="3794760"/>
            <a:ext cx="1371600" cy="1691640"/>
          </a:xfrm>
          <a:prstGeom prst="rect">
            <a:avLst/>
          </a:prstGeom>
          <a:solidFill>
            <a:srgbClr val="DDEBF3"/>
          </a:solidFill>
          <a:ln w="15875">
            <a:solidFill>
              <a:srgbClr val="156082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6" name="Shape 14"/>
          <p:cNvSpPr/>
          <p:nvPr/>
        </p:nvSpPr>
        <p:spPr>
          <a:xfrm>
            <a:off x="3346704" y="3867912"/>
            <a:ext cx="329184" cy="329184"/>
          </a:xfrm>
          <a:prstGeom prst="ellipse">
            <a:avLst/>
          </a:prstGeom>
          <a:solidFill>
            <a:srgbClr val="156082"/>
          </a:solidFill>
          <a:ln w="12700">
            <a:solidFill>
              <a:srgbClr val="156082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7" name="Text 15"/>
          <p:cNvSpPr txBox="1"/>
          <p:nvPr/>
        </p:nvSpPr>
        <p:spPr>
          <a:xfrm>
            <a:off x="3346704" y="386791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3</a:t>
            </a:r>
            <a:endParaRPr lang="en-US" sz="1300" dirty="0"/>
          </a:p>
        </p:txBody>
      </p:sp>
      <p:sp>
        <p:nvSpPr>
          <p:cNvPr id="18" name="Text 16"/>
          <p:cNvSpPr txBox="1"/>
          <p:nvPr/>
        </p:nvSpPr>
        <p:spPr>
          <a:xfrm>
            <a:off x="3291840" y="4224528"/>
            <a:ext cx="133502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推論</a:t>
            </a:r>
            <a:endParaRPr lang="en-US" sz="1400" dirty="0"/>
          </a:p>
        </p:txBody>
      </p:sp>
      <p:sp>
        <p:nvSpPr>
          <p:cNvPr id="19" name="Text 17"/>
          <p:cNvSpPr txBox="1"/>
          <p:nvPr/>
        </p:nvSpPr>
        <p:spPr>
          <a:xfrm>
            <a:off x="3310128" y="4572000"/>
            <a:ext cx="12984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300" dirty="0">
                <a:solidFill>
                  <a:srgbClr val="40404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10 回同じ結果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4681728" y="3520440"/>
            <a:ext cx="1371600" cy="1965960"/>
          </a:xfrm>
          <a:prstGeom prst="rect">
            <a:avLst/>
          </a:prstGeom>
          <a:solidFill>
            <a:srgbClr val="DDEBF3"/>
          </a:solidFill>
          <a:ln w="15875">
            <a:solidFill>
              <a:srgbClr val="156082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1" name="Shape 19"/>
          <p:cNvSpPr/>
          <p:nvPr/>
        </p:nvSpPr>
        <p:spPr>
          <a:xfrm>
            <a:off x="4754880" y="3593592"/>
            <a:ext cx="329184" cy="329184"/>
          </a:xfrm>
          <a:prstGeom prst="ellipse">
            <a:avLst/>
          </a:prstGeom>
          <a:solidFill>
            <a:srgbClr val="156082"/>
          </a:solidFill>
          <a:ln w="12700">
            <a:solidFill>
              <a:srgbClr val="156082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2" name="Text 20"/>
          <p:cNvSpPr txBox="1"/>
          <p:nvPr/>
        </p:nvSpPr>
        <p:spPr>
          <a:xfrm>
            <a:off x="4754880" y="359359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4</a:t>
            </a:r>
            <a:endParaRPr lang="en-US" sz="1300" dirty="0"/>
          </a:p>
        </p:txBody>
      </p:sp>
      <p:sp>
        <p:nvSpPr>
          <p:cNvPr id="23" name="Text 21"/>
          <p:cNvSpPr txBox="1"/>
          <p:nvPr/>
        </p:nvSpPr>
        <p:spPr>
          <a:xfrm>
            <a:off x="4700016" y="3950208"/>
            <a:ext cx="133502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前処理</a:t>
            </a:r>
            <a:endParaRPr lang="en-US" sz="1400" dirty="0"/>
          </a:p>
        </p:txBody>
      </p:sp>
      <p:sp>
        <p:nvSpPr>
          <p:cNvPr id="24" name="Text 22"/>
          <p:cNvSpPr txBox="1"/>
          <p:nvPr/>
        </p:nvSpPr>
        <p:spPr>
          <a:xfrm>
            <a:off x="4718304" y="4297680"/>
            <a:ext cx="12984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300" dirty="0">
                <a:solidFill>
                  <a:srgbClr val="40404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PC と差 0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6089904" y="3246120"/>
            <a:ext cx="1371600" cy="2240280"/>
          </a:xfrm>
          <a:prstGeom prst="rect">
            <a:avLst/>
          </a:prstGeom>
          <a:solidFill>
            <a:srgbClr val="156082"/>
          </a:solidFill>
          <a:ln w="15875">
            <a:solidFill>
              <a:srgbClr val="156082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6" name="Shape 24"/>
          <p:cNvSpPr/>
          <p:nvPr/>
        </p:nvSpPr>
        <p:spPr>
          <a:xfrm>
            <a:off x="6163056" y="3319272"/>
            <a:ext cx="329184" cy="329184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7" name="Text 25"/>
          <p:cNvSpPr txBox="1"/>
          <p:nvPr/>
        </p:nvSpPr>
        <p:spPr>
          <a:xfrm>
            <a:off x="6163056" y="331927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56082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5</a:t>
            </a:r>
            <a:endParaRPr lang="en-US" sz="1300" dirty="0"/>
          </a:p>
        </p:txBody>
      </p:sp>
      <p:sp>
        <p:nvSpPr>
          <p:cNvPr id="28" name="Text 26"/>
          <p:cNvSpPr txBox="1"/>
          <p:nvPr/>
        </p:nvSpPr>
        <p:spPr>
          <a:xfrm>
            <a:off x="6108192" y="3675888"/>
            <a:ext cx="133502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通し試験</a:t>
            </a:r>
            <a:endParaRPr lang="en-US" sz="1400" dirty="0"/>
          </a:p>
        </p:txBody>
      </p:sp>
      <p:sp>
        <p:nvSpPr>
          <p:cNvPr id="29" name="Text 27"/>
          <p:cNvSpPr txBox="1"/>
          <p:nvPr/>
        </p:nvSpPr>
        <p:spPr>
          <a:xfrm>
            <a:off x="6126480" y="4023360"/>
            <a:ext cx="12984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300" dirty="0">
                <a:solidFill>
                  <a:srgbClr val="E6EEF3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検出・誤報</a:t>
            </a:r>
            <a:endParaRPr lang="en-US" sz="1300" dirty="0"/>
          </a:p>
        </p:txBody>
      </p:sp>
      <p:sp>
        <p:nvSpPr>
          <p:cNvPr id="30" name="Shape 28"/>
          <p:cNvSpPr/>
          <p:nvPr/>
        </p:nvSpPr>
        <p:spPr>
          <a:xfrm>
            <a:off x="7498080" y="2971800"/>
            <a:ext cx="1371600" cy="2514600"/>
          </a:xfrm>
          <a:prstGeom prst="rect">
            <a:avLst/>
          </a:prstGeom>
          <a:solidFill>
            <a:srgbClr val="156082"/>
          </a:solidFill>
          <a:ln w="15875">
            <a:solidFill>
              <a:srgbClr val="156082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31" name="Shape 29"/>
          <p:cNvSpPr/>
          <p:nvPr/>
        </p:nvSpPr>
        <p:spPr>
          <a:xfrm>
            <a:off x="7571232" y="3044952"/>
            <a:ext cx="329184" cy="329184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32" name="Text 30"/>
          <p:cNvSpPr txBox="1"/>
          <p:nvPr/>
        </p:nvSpPr>
        <p:spPr>
          <a:xfrm>
            <a:off x="7571232" y="304495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56082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6</a:t>
            </a:r>
            <a:endParaRPr lang="en-US" sz="1300" dirty="0"/>
          </a:p>
        </p:txBody>
      </p:sp>
      <p:sp>
        <p:nvSpPr>
          <p:cNvPr id="33" name="Text 31"/>
          <p:cNvSpPr txBox="1"/>
          <p:nvPr/>
        </p:nvSpPr>
        <p:spPr>
          <a:xfrm>
            <a:off x="7516368" y="3401568"/>
            <a:ext cx="133502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実験 1</a:t>
            </a:r>
            <a:endParaRPr lang="en-US" sz="1400" dirty="0"/>
          </a:p>
        </p:txBody>
      </p:sp>
      <p:sp>
        <p:nvSpPr>
          <p:cNvPr id="34" name="Text 32"/>
          <p:cNvSpPr txBox="1"/>
          <p:nvPr/>
        </p:nvSpPr>
        <p:spPr>
          <a:xfrm>
            <a:off x="7534656" y="3749040"/>
            <a:ext cx="12984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300" dirty="0">
                <a:solidFill>
                  <a:srgbClr val="E6EEF3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壊れる順番</a:t>
            </a:r>
            <a:endParaRPr lang="en-US" sz="1300" dirty="0"/>
          </a:p>
        </p:txBody>
      </p:sp>
      <p:sp>
        <p:nvSpPr>
          <p:cNvPr id="35" name="Shape 33"/>
          <p:cNvSpPr/>
          <p:nvPr/>
        </p:nvSpPr>
        <p:spPr>
          <a:xfrm>
            <a:off x="8906256" y="2697480"/>
            <a:ext cx="1371600" cy="2788920"/>
          </a:xfrm>
          <a:prstGeom prst="rect">
            <a:avLst/>
          </a:prstGeom>
          <a:solidFill>
            <a:srgbClr val="156082"/>
          </a:solidFill>
          <a:ln w="15875">
            <a:solidFill>
              <a:srgbClr val="156082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36" name="Shape 34"/>
          <p:cNvSpPr/>
          <p:nvPr/>
        </p:nvSpPr>
        <p:spPr>
          <a:xfrm>
            <a:off x="8979408" y="2770632"/>
            <a:ext cx="329184" cy="329184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37" name="Text 35"/>
          <p:cNvSpPr txBox="1"/>
          <p:nvPr/>
        </p:nvSpPr>
        <p:spPr>
          <a:xfrm>
            <a:off x="8979408" y="277063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56082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7</a:t>
            </a:r>
            <a:endParaRPr lang="en-US" sz="1300" dirty="0"/>
          </a:p>
        </p:txBody>
      </p:sp>
      <p:sp>
        <p:nvSpPr>
          <p:cNvPr id="38" name="Text 36"/>
          <p:cNvSpPr txBox="1"/>
          <p:nvPr/>
        </p:nvSpPr>
        <p:spPr>
          <a:xfrm>
            <a:off x="8924544" y="3127248"/>
            <a:ext cx="133502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実験 2</a:t>
            </a:r>
            <a:endParaRPr lang="en-US" sz="1400" dirty="0"/>
          </a:p>
        </p:txBody>
      </p:sp>
      <p:sp>
        <p:nvSpPr>
          <p:cNvPr id="39" name="Text 37"/>
          <p:cNvSpPr txBox="1"/>
          <p:nvPr/>
        </p:nvSpPr>
        <p:spPr>
          <a:xfrm>
            <a:off x="8942832" y="3474720"/>
            <a:ext cx="12984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300" dirty="0">
                <a:solidFill>
                  <a:srgbClr val="E6EEF3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取りこぼし 0</a:t>
            </a:r>
            <a:endParaRPr lang="en-US" sz="1300" dirty="0"/>
          </a:p>
        </p:txBody>
      </p:sp>
      <p:sp>
        <p:nvSpPr>
          <p:cNvPr id="40" name="Shape 38"/>
          <p:cNvSpPr/>
          <p:nvPr/>
        </p:nvSpPr>
        <p:spPr>
          <a:xfrm>
            <a:off x="10314432" y="2423160"/>
            <a:ext cx="1371600" cy="3063240"/>
          </a:xfrm>
          <a:prstGeom prst="rect">
            <a:avLst/>
          </a:prstGeom>
          <a:solidFill>
            <a:srgbClr val="156082"/>
          </a:solidFill>
          <a:ln w="15875">
            <a:solidFill>
              <a:srgbClr val="156082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41" name="Shape 39"/>
          <p:cNvSpPr/>
          <p:nvPr/>
        </p:nvSpPr>
        <p:spPr>
          <a:xfrm>
            <a:off x="10387584" y="2496312"/>
            <a:ext cx="329184" cy="329184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42" name="Text 40"/>
          <p:cNvSpPr txBox="1"/>
          <p:nvPr/>
        </p:nvSpPr>
        <p:spPr>
          <a:xfrm>
            <a:off x="10387584" y="249631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56082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8</a:t>
            </a:r>
            <a:endParaRPr lang="en-US" sz="1300" dirty="0"/>
          </a:p>
        </p:txBody>
      </p:sp>
      <p:sp>
        <p:nvSpPr>
          <p:cNvPr id="43" name="Text 41"/>
          <p:cNvSpPr txBox="1"/>
          <p:nvPr/>
        </p:nvSpPr>
        <p:spPr>
          <a:xfrm>
            <a:off x="10332720" y="2852928"/>
            <a:ext cx="133502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実験 3</a:t>
            </a:r>
            <a:endParaRPr lang="en-US" sz="1400" dirty="0"/>
          </a:p>
        </p:txBody>
      </p:sp>
      <p:sp>
        <p:nvSpPr>
          <p:cNvPr id="44" name="Text 42"/>
          <p:cNvSpPr txBox="1"/>
          <p:nvPr/>
        </p:nvSpPr>
        <p:spPr>
          <a:xfrm>
            <a:off x="10351008" y="3200400"/>
            <a:ext cx="12984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300" dirty="0">
                <a:solidFill>
                  <a:srgbClr val="E6EEF3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同じ手順が通る</a:t>
            </a:r>
            <a:endParaRPr lang="en-US" sz="1300" dirty="0"/>
          </a:p>
        </p:txBody>
      </p:sp>
      <p:sp>
        <p:nvSpPr>
          <p:cNvPr id="45" name="Shape 43"/>
          <p:cNvSpPr/>
          <p:nvPr/>
        </p:nvSpPr>
        <p:spPr>
          <a:xfrm>
            <a:off x="457200" y="5486400"/>
            <a:ext cx="11247120" cy="0"/>
          </a:xfrm>
          <a:prstGeom prst="line">
            <a:avLst/>
          </a:prstGeom>
          <a:noFill/>
          <a:ln w="12700">
            <a:solidFill>
              <a:srgbClr val="7F7F7F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46" name="Shape 44"/>
          <p:cNvSpPr/>
          <p:nvPr/>
        </p:nvSpPr>
        <p:spPr>
          <a:xfrm>
            <a:off x="457200" y="5577840"/>
            <a:ext cx="5486400" cy="0"/>
          </a:xfrm>
          <a:prstGeom prst="line">
            <a:avLst/>
          </a:prstGeom>
          <a:noFill/>
          <a:ln w="25400">
            <a:solidFill>
              <a:srgbClr val="156082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47" name="Text 45"/>
          <p:cNvSpPr txBox="1"/>
          <p:nvPr/>
        </p:nvSpPr>
        <p:spPr>
          <a:xfrm>
            <a:off x="457200" y="5650992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56082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起動のたびに自動（1〜4）。結果は READY の前に出る</a:t>
            </a:r>
            <a:endParaRPr lang="en-US" sz="1400" dirty="0"/>
          </a:p>
        </p:txBody>
      </p:sp>
      <p:sp>
        <p:nvSpPr>
          <p:cNvPr id="48" name="Shape 46"/>
          <p:cNvSpPr/>
          <p:nvPr/>
        </p:nvSpPr>
        <p:spPr>
          <a:xfrm>
            <a:off x="6089904" y="5577840"/>
            <a:ext cx="5486400" cy="0"/>
          </a:xfrm>
          <a:prstGeom prst="line">
            <a:avLst/>
          </a:prstGeom>
          <a:noFill/>
          <a:ln w="25400">
            <a:solidFill>
              <a:srgbClr val="156082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49" name="Text 47"/>
          <p:cNvSpPr txBox="1"/>
          <p:nvPr/>
        </p:nvSpPr>
        <p:spPr>
          <a:xfrm>
            <a:off x="6089904" y="5650992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56082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板を回して測る（5〜8）。UART のログを保存して集計</a:t>
            </a:r>
            <a:endParaRPr lang="en-US" sz="1400" dirty="0"/>
          </a:p>
        </p:txBody>
      </p:sp>
      <p:sp>
        <p:nvSpPr>
          <p:cNvPr id="50" name="Text 48"/>
          <p:cNvSpPr txBox="1"/>
          <p:nvPr/>
        </p:nvSpPr>
        <p:spPr>
          <a:xfrm>
            <a:off x="457200" y="2240280"/>
            <a:ext cx="56692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rgbClr val="40404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各段に完了条件を先に決めてから進めた。</a:t>
            </a:r>
            <a:endParaRPr lang="en-US" sz="1800" dirty="0"/>
          </a:p>
          <a:p>
            <a:pPr marL="0" indent="0">
              <a:buNone/>
            </a:pPr>
            <a:r>
              <a:rPr lang="en-US" sz="1800" b="1" dirty="0">
                <a:solidFill>
                  <a:srgbClr val="40404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前半は起動のたびに自動で、後半は板を回して測る</a:t>
            </a:r>
            <a:endParaRPr lang="en-US" sz="18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74320" y="109728"/>
            <a:ext cx="116128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4-2　数字はすべてログから作り直せる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0" y="777240"/>
            <a:ext cx="12191695" cy="274320"/>
          </a:xfrm>
          <a:prstGeom prst="rect">
            <a:avLst/>
          </a:prstGeom>
          <a:solidFill>
            <a:srgbClr val="156082"/>
          </a:solidFill>
          <a:ln w="12700">
            <a:solidFill>
              <a:srgbClr val="156082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4" name="Text 2"/>
          <p:cNvSpPr txBox="1"/>
          <p:nvPr/>
        </p:nvSpPr>
        <p:spPr>
          <a:xfrm>
            <a:off x="384048" y="1156156"/>
            <a:ext cx="11274552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ログは全部残し、表とグラフはスクリプトで作り直す</a:t>
            </a:r>
            <a:endParaRPr lang="en-US" sz="2800" dirty="0">
              <a:solidFill>
                <a:srgbClr val="FF0000"/>
              </a:solidFill>
            </a:endParaRPr>
          </a:p>
        </p:txBody>
      </p:sp>
      <p:sp>
        <p:nvSpPr>
          <p:cNvPr id="5" name="Shape 3"/>
          <p:cNvSpPr/>
          <p:nvPr/>
        </p:nvSpPr>
        <p:spPr>
          <a:xfrm>
            <a:off x="457200" y="2194560"/>
            <a:ext cx="2560320" cy="960120"/>
          </a:xfrm>
          <a:prstGeom prst="rect">
            <a:avLst/>
          </a:prstGeom>
          <a:solidFill>
            <a:srgbClr val="F2F2F2"/>
          </a:solidFill>
          <a:ln w="19050">
            <a:solidFill>
              <a:srgbClr val="A6A6A6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pic>
        <p:nvPicPr>
          <p:cNvPr id="6" name="Image 0" descr="/home/claude/v4/icons/FaMicrochip_595959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4360" y="2377440"/>
            <a:ext cx="502920" cy="502920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188720" y="2240280"/>
            <a:ext cx="1783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ボード</a:t>
            </a:r>
            <a:endParaRPr lang="en-US" sz="1800" dirty="0"/>
          </a:p>
        </p:txBody>
      </p:sp>
      <p:sp>
        <p:nvSpPr>
          <p:cNvPr id="8" name="Text 5"/>
          <p:cNvSpPr txBox="1"/>
          <p:nvPr/>
        </p:nvSpPr>
        <p:spPr>
          <a:xfrm>
            <a:off x="1188720" y="2651760"/>
            <a:ext cx="1783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9595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UART 115200 bps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3063240" y="2542032"/>
            <a:ext cx="228600" cy="274320"/>
          </a:xfrm>
          <a:prstGeom prst="rightArrow">
            <a:avLst/>
          </a:prstGeom>
          <a:solidFill>
            <a:srgbClr val="156082"/>
          </a:solidFill>
          <a:ln w="12700">
            <a:solidFill>
              <a:srgbClr val="156082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0" name="Shape 7"/>
          <p:cNvSpPr/>
          <p:nvPr/>
        </p:nvSpPr>
        <p:spPr>
          <a:xfrm>
            <a:off x="3337560" y="2194560"/>
            <a:ext cx="2560320" cy="960120"/>
          </a:xfrm>
          <a:prstGeom prst="rect">
            <a:avLst/>
          </a:prstGeom>
          <a:solidFill>
            <a:srgbClr val="DDEBF3"/>
          </a:solidFill>
          <a:ln w="19050">
            <a:solidFill>
              <a:srgbClr val="156082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pic>
        <p:nvPicPr>
          <p:cNvPr id="11" name="Image 1" descr="/home/claude/v4/icons/FaFileAlt_156082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74720" y="2377440"/>
            <a:ext cx="502920" cy="502920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4069080" y="2240280"/>
            <a:ext cx="1783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ログを保存</a:t>
            </a:r>
            <a:endParaRPr lang="en-US" sz="1800" dirty="0"/>
          </a:p>
        </p:txBody>
      </p:sp>
      <p:sp>
        <p:nvSpPr>
          <p:cNvPr id="13" name="Text 9"/>
          <p:cNvSpPr txBox="1"/>
          <p:nvPr/>
        </p:nvSpPr>
        <p:spPr>
          <a:xfrm>
            <a:off x="4069080" y="2651760"/>
            <a:ext cx="1783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9595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scripts\log.ps1</a:t>
            </a:r>
            <a:endParaRPr lang="en-US" sz="1200" dirty="0"/>
          </a:p>
        </p:txBody>
      </p:sp>
      <p:sp>
        <p:nvSpPr>
          <p:cNvPr id="14" name="Shape 10"/>
          <p:cNvSpPr/>
          <p:nvPr/>
        </p:nvSpPr>
        <p:spPr>
          <a:xfrm>
            <a:off x="5943600" y="2542032"/>
            <a:ext cx="228600" cy="274320"/>
          </a:xfrm>
          <a:prstGeom prst="rightArrow">
            <a:avLst/>
          </a:prstGeom>
          <a:solidFill>
            <a:srgbClr val="156082"/>
          </a:solidFill>
          <a:ln w="12700">
            <a:solidFill>
              <a:srgbClr val="156082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5" name="Shape 11"/>
          <p:cNvSpPr/>
          <p:nvPr/>
        </p:nvSpPr>
        <p:spPr>
          <a:xfrm>
            <a:off x="6217920" y="2194560"/>
            <a:ext cx="2560320" cy="960120"/>
          </a:xfrm>
          <a:prstGeom prst="rect">
            <a:avLst/>
          </a:prstGeom>
          <a:solidFill>
            <a:srgbClr val="DDEBF3"/>
          </a:solidFill>
          <a:ln w="19050">
            <a:solidFill>
              <a:srgbClr val="156082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pic>
        <p:nvPicPr>
          <p:cNvPr id="16" name="Image 2" descr="/home/claude/v4/icons/FaTable_156082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55080" y="2377440"/>
            <a:ext cx="502920" cy="502920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6949440" y="2240280"/>
            <a:ext cx="1783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集計</a:t>
            </a:r>
            <a:endParaRPr lang="en-US" sz="1800" dirty="0"/>
          </a:p>
        </p:txBody>
      </p:sp>
      <p:sp>
        <p:nvSpPr>
          <p:cNvPr id="18" name="Text 13"/>
          <p:cNvSpPr txBox="1"/>
          <p:nvPr/>
        </p:nvSpPr>
        <p:spPr>
          <a:xfrm>
            <a:off x="6949440" y="2651760"/>
            <a:ext cx="1783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9595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scripts/analyze_31.py</a:t>
            </a:r>
            <a:endParaRPr lang="en-US" sz="1200" dirty="0"/>
          </a:p>
        </p:txBody>
      </p:sp>
      <p:sp>
        <p:nvSpPr>
          <p:cNvPr id="19" name="Shape 14"/>
          <p:cNvSpPr/>
          <p:nvPr/>
        </p:nvSpPr>
        <p:spPr>
          <a:xfrm>
            <a:off x="8823960" y="2542032"/>
            <a:ext cx="228600" cy="274320"/>
          </a:xfrm>
          <a:prstGeom prst="rightArrow">
            <a:avLst/>
          </a:prstGeom>
          <a:solidFill>
            <a:srgbClr val="156082"/>
          </a:solidFill>
          <a:ln w="12700">
            <a:solidFill>
              <a:srgbClr val="156082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0" name="Shape 15"/>
          <p:cNvSpPr/>
          <p:nvPr/>
        </p:nvSpPr>
        <p:spPr>
          <a:xfrm>
            <a:off x="9098280" y="2194560"/>
            <a:ext cx="2560320" cy="960120"/>
          </a:xfrm>
          <a:prstGeom prst="rect">
            <a:avLst/>
          </a:prstGeom>
          <a:solidFill>
            <a:srgbClr val="DDEBF3"/>
          </a:solidFill>
          <a:ln w="19050">
            <a:solidFill>
              <a:srgbClr val="156082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pic>
        <p:nvPicPr>
          <p:cNvPr id="21" name="Image 3" descr="/home/claude/v4/icons/FaCheckCircle_156082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235440" y="2377440"/>
            <a:ext cx="502920" cy="502920"/>
          </a:xfrm>
          <a:prstGeom prst="rect">
            <a:avLst/>
          </a:prstGeom>
        </p:spPr>
      </p:pic>
      <p:sp>
        <p:nvSpPr>
          <p:cNvPr id="22" name="Text 16"/>
          <p:cNvSpPr txBox="1"/>
          <p:nvPr/>
        </p:nvSpPr>
        <p:spPr>
          <a:xfrm>
            <a:off x="9829800" y="2240280"/>
            <a:ext cx="1783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本資料の表・グラフ</a:t>
            </a:r>
            <a:endParaRPr lang="en-US" sz="1800" dirty="0"/>
          </a:p>
        </p:txBody>
      </p:sp>
      <p:sp>
        <p:nvSpPr>
          <p:cNvPr id="23" name="Text 17"/>
          <p:cNvSpPr txBox="1"/>
          <p:nvPr/>
        </p:nvSpPr>
        <p:spPr>
          <a:xfrm>
            <a:off x="9829800" y="2651760"/>
            <a:ext cx="1783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200" dirty="0"/>
          </a:p>
        </p:txBody>
      </p:sp>
      <p:sp>
        <p:nvSpPr>
          <p:cNvPr id="24" name="Shape 18"/>
          <p:cNvSpPr/>
          <p:nvPr/>
        </p:nvSpPr>
        <p:spPr>
          <a:xfrm>
            <a:off x="3337560" y="3310128"/>
            <a:ext cx="8394192" cy="640080"/>
          </a:xfrm>
          <a:prstGeom prst="rect">
            <a:avLst/>
          </a:prstGeom>
          <a:solidFill>
            <a:srgbClr val="DDF3EA"/>
          </a:solidFill>
          <a:ln w="15875">
            <a:solidFill>
              <a:srgbClr val="008A5E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pic>
        <p:nvPicPr>
          <p:cNvPr id="25" name="Image 4" descr="/home/claude/v4/icons/FaRedo_156082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474720" y="3401568"/>
            <a:ext cx="457200" cy="457200"/>
          </a:xfrm>
          <a:prstGeom prst="rect">
            <a:avLst/>
          </a:prstGeom>
        </p:spPr>
      </p:pic>
      <p:sp>
        <p:nvSpPr>
          <p:cNvPr id="26" name="Text 19"/>
          <p:cNvSpPr txBox="1"/>
          <p:nvPr/>
        </p:nvSpPr>
        <p:spPr>
          <a:xfrm>
            <a:off x="4069080" y="3310128"/>
            <a:ext cx="7589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判定の再生　</a:t>
            </a:r>
            <a:r>
              <a:rPr lang="en-US" sz="1300" dirty="0">
                <a:solidFill>
                  <a:srgbClr val="59595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scripts/notify_replay.py </a:t>
            </a:r>
            <a:r>
              <a:rPr lang="en-US" sz="160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ログの窓行から板と同じ判定を PC で計算し、板の判定と照合（1 窓を除き一致）</a:t>
            </a:r>
            <a:endParaRPr lang="en-US" sz="1600" dirty="0"/>
          </a:p>
        </p:txBody>
      </p:sp>
      <p:graphicFrame>
        <p:nvGraphicFramePr>
          <p:cNvPr id="2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4114800"/>
          <a:ext cx="11274552" cy="2240280"/>
        </p:xfrm>
        <a:graphic>
          <a:graphicData uri="http://schemas.openxmlformats.org/drawingml/2006/table">
            <a:tbl>
              <a:tblPr/>
              <a:tblGrid>
                <a:gridCol w="4572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70255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游ゴシック" pitchFamily="34" charset="0"/>
                          <a:ea typeface="游ゴシック" pitchFamily="34" charset="-122"/>
                          <a:cs typeface="游ゴシック" pitchFamily="34" charset="-120"/>
                        </a:rPr>
                        <a:t>本資料の数字</a:t>
                      </a:r>
                      <a:endParaRPr lang="en-US" sz="1500" dirty="0">
                        <a:latin typeface="游ゴシック" charset="0"/>
                        <a:ea typeface="游ゴシック" charset="0"/>
                        <a:cs typeface="游ゴシック" charset="0"/>
                      </a:endParaRPr>
                    </a:p>
                  </a:txBody>
                  <a:tcPr marL="73152" marR="73152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608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游ゴシック" pitchFamily="34" charset="0"/>
                          <a:ea typeface="游ゴシック" pitchFamily="34" charset="-122"/>
                          <a:cs typeface="游ゴシック" pitchFamily="34" charset="-120"/>
                        </a:rPr>
                        <a:t>元のログ（docs/logs/）</a:t>
                      </a:r>
                      <a:endParaRPr lang="en-US" sz="1500" dirty="0">
                        <a:latin typeface="游ゴシック" charset="0"/>
                        <a:ea typeface="游ゴシック" charset="0"/>
                        <a:cs typeface="游ゴシック" charset="0"/>
                      </a:endParaRPr>
                    </a:p>
                  </a:txBody>
                  <a:tcPr marL="73152" marR="73152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608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rgbClr val="000000"/>
                          </a:solidFill>
                          <a:latin typeface="游ゴシック" pitchFamily="34" charset="0"/>
                          <a:ea typeface="游ゴシック" pitchFamily="34" charset="-122"/>
                          <a:cs typeface="游ゴシック" pitchFamily="34" charset="-120"/>
                        </a:rPr>
                        <a:t>実験 1（5 章）</a:t>
                      </a:r>
                      <a:endParaRPr lang="en-US" sz="1500" dirty="0">
                        <a:latin typeface="游ゴシック" charset="0"/>
                        <a:ea typeface="游ゴシック" charset="0"/>
                        <a:cs typeface="游ゴシック" charset="0"/>
                      </a:endParaRPr>
                    </a:p>
                  </a:txBody>
                  <a:tcPr marL="73152" marR="73152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rgbClr val="000000"/>
                          </a:solidFill>
                          <a:latin typeface="游ゴシック" pitchFamily="34" charset="0"/>
                          <a:ea typeface="游ゴシック" pitchFamily="34" charset="-122"/>
                          <a:cs typeface="游ゴシック" pitchFamily="34" charset="-120"/>
                        </a:rPr>
                        <a:t>①② は A・B のログ、③ は uart_20260927_013950</a:t>
                      </a:r>
                      <a:endParaRPr lang="en-US" sz="1500" dirty="0">
                        <a:latin typeface="游ゴシック" charset="0"/>
                        <a:ea typeface="游ゴシック" charset="0"/>
                        <a:cs typeface="游ゴシック" charset="0"/>
                      </a:endParaRPr>
                    </a:p>
                  </a:txBody>
                  <a:tcPr marL="73152" marR="73152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rgbClr val="000000"/>
                          </a:solidFill>
                          <a:latin typeface="游ゴシック" pitchFamily="34" charset="0"/>
                          <a:ea typeface="游ゴシック" pitchFamily="34" charset="-122"/>
                          <a:cs typeface="游ゴシック" pitchFamily="34" charset="-120"/>
                        </a:rPr>
                        <a:t>実験 2：対策前 1,216 件/時（6-2）</a:t>
                      </a:r>
                      <a:endParaRPr lang="en-US" sz="1500" dirty="0">
                        <a:latin typeface="游ゴシック" charset="0"/>
                        <a:ea typeface="游ゴシック" charset="0"/>
                        <a:cs typeface="游ゴシック" charset="0"/>
                      </a:endParaRPr>
                    </a:p>
                  </a:txBody>
                  <a:tcPr marL="73152" marR="73152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rgbClr val="000000"/>
                          </a:solidFill>
                          <a:latin typeface="游ゴシック" pitchFamily="34" charset="0"/>
                          <a:ea typeface="游ゴシック" pitchFamily="34" charset="-122"/>
                          <a:cs typeface="游ゴシック" pitchFamily="34" charset="-120"/>
                        </a:rPr>
                        <a:t>uart_20260927_130250</a:t>
                      </a:r>
                      <a:endParaRPr lang="en-US" sz="1500" dirty="0">
                        <a:latin typeface="游ゴシック" charset="0"/>
                        <a:ea typeface="游ゴシック" charset="0"/>
                        <a:cs typeface="游ゴシック" charset="0"/>
                      </a:endParaRPr>
                    </a:p>
                  </a:txBody>
                  <a:tcPr marL="73152" marR="73152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rgbClr val="000000"/>
                          </a:solidFill>
                          <a:latin typeface="游ゴシック" pitchFamily="34" charset="0"/>
                          <a:ea typeface="游ゴシック" pitchFamily="34" charset="-122"/>
                          <a:cs typeface="游ゴシック" pitchFamily="34" charset="-120"/>
                        </a:rPr>
                        <a:t>実験 2：1 時間運転（6-1）</a:t>
                      </a:r>
                      <a:endParaRPr lang="en-US" sz="1500" dirty="0">
                        <a:latin typeface="游ゴシック" charset="0"/>
                        <a:ea typeface="游ゴシック" charset="0"/>
                        <a:cs typeface="游ゴシック" charset="0"/>
                      </a:endParaRPr>
                    </a:p>
                  </a:txBody>
                  <a:tcPr marL="73152" marR="73152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rgbClr val="000000"/>
                          </a:solidFill>
                          <a:latin typeface="游ゴシック" pitchFamily="34" charset="0"/>
                          <a:ea typeface="游ゴシック" pitchFamily="34" charset="-122"/>
                          <a:cs typeface="游ゴシック" pitchFamily="34" charset="-120"/>
                        </a:rPr>
                        <a:t>uart_20260927_161828</a:t>
                      </a:r>
                      <a:endParaRPr lang="en-US" sz="1500" dirty="0">
                        <a:latin typeface="游ゴシック" charset="0"/>
                        <a:ea typeface="游ゴシック" charset="0"/>
                        <a:cs typeface="游ゴシック" charset="0"/>
                      </a:endParaRPr>
                    </a:p>
                  </a:txBody>
                  <a:tcPr marL="73152" marR="73152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rgbClr val="000000"/>
                          </a:solidFill>
                          <a:latin typeface="游ゴシック" pitchFamily="34" charset="0"/>
                          <a:ea typeface="游ゴシック" pitchFamily="34" charset="-122"/>
                          <a:cs typeface="游ゴシック" pitchFamily="34" charset="-120"/>
                        </a:rPr>
                        <a:t>実験 2：対策後・通し試験（6-3）</a:t>
                      </a:r>
                      <a:endParaRPr lang="en-US" sz="1500" dirty="0">
                        <a:latin typeface="游ゴシック" charset="0"/>
                        <a:ea typeface="游ゴシック" charset="0"/>
                        <a:cs typeface="游ゴシック" charset="0"/>
                      </a:endParaRPr>
                    </a:p>
                  </a:txBody>
                  <a:tcPr marL="73152" marR="73152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rgbClr val="000000"/>
                          </a:solidFill>
                          <a:latin typeface="游ゴシック" pitchFamily="34" charset="0"/>
                          <a:ea typeface="游ゴシック" pitchFamily="34" charset="-122"/>
                          <a:cs typeface="游ゴシック" pitchFamily="34" charset="-120"/>
                        </a:rPr>
                        <a:t>uart_20260928_002702 ＋ play_20260928_002821</a:t>
                      </a:r>
                      <a:endParaRPr lang="en-US" sz="1500" dirty="0">
                        <a:latin typeface="游ゴシック" charset="0"/>
                        <a:ea typeface="游ゴシック" charset="0"/>
                        <a:cs typeface="游ゴシック" charset="0"/>
                      </a:endParaRPr>
                    </a:p>
                  </a:txBody>
                  <a:tcPr marL="73152" marR="73152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rgbClr val="000000"/>
                          </a:solidFill>
                          <a:latin typeface="游ゴシック" pitchFamily="34" charset="0"/>
                          <a:ea typeface="游ゴシック" pitchFamily="34" charset="-122"/>
                          <a:cs typeface="游ゴシック" pitchFamily="34" charset="-120"/>
                        </a:rPr>
                        <a:t>実験 3（7 章）</a:t>
                      </a:r>
                      <a:endParaRPr lang="en-US" sz="1500" dirty="0">
                        <a:latin typeface="游ゴシック" charset="0"/>
                        <a:ea typeface="游ゴシック" charset="0"/>
                        <a:cs typeface="游ゴシック" charset="0"/>
                      </a:endParaRPr>
                    </a:p>
                  </a:txBody>
                  <a:tcPr marL="73152" marR="73152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rgbClr val="000000"/>
                          </a:solidFill>
                          <a:latin typeface="游ゴシック" pitchFamily="34" charset="0"/>
                          <a:ea typeface="游ゴシック" pitchFamily="34" charset="-122"/>
                          <a:cs typeface="游ゴシック" pitchFamily="34" charset="-120"/>
                        </a:rPr>
                        <a:t>uart_20260928_064258 ＋ play_20260928_064446</a:t>
                      </a:r>
                      <a:endParaRPr lang="en-US" sz="1500" dirty="0">
                        <a:latin typeface="游ゴシック" charset="0"/>
                        <a:ea typeface="游ゴシック" charset="0"/>
                        <a:cs typeface="游ゴシック" charset="0"/>
                      </a:endParaRPr>
                    </a:p>
                  </a:txBody>
                  <a:tcPr marL="73152" marR="73152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rgbClr val="000000"/>
                          </a:solidFill>
                          <a:latin typeface="游ゴシック" pitchFamily="34" charset="0"/>
                          <a:ea typeface="游ゴシック" pitchFamily="34" charset="-122"/>
                          <a:cs typeface="游ゴシック" pitchFamily="34" charset="-120"/>
                        </a:rPr>
                        <a:t>前処理の一致（3-2）</a:t>
                      </a:r>
                      <a:endParaRPr lang="en-US" sz="1500" dirty="0">
                        <a:latin typeface="游ゴシック" charset="0"/>
                        <a:ea typeface="游ゴシック" charset="0"/>
                        <a:cs typeface="游ゴシック" charset="0"/>
                      </a:endParaRPr>
                    </a:p>
                  </a:txBody>
                  <a:tcPr marL="73152" marR="73152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rgbClr val="000000"/>
                          </a:solidFill>
                          <a:latin typeface="游ゴシック" pitchFamily="34" charset="0"/>
                          <a:ea typeface="游ゴシック" pitchFamily="34" charset="-122"/>
                          <a:cs typeface="游ゴシック" pitchFamily="34" charset="-120"/>
                        </a:rPr>
                        <a:t>各起動ログの preproc test の行</a:t>
                      </a:r>
                      <a:endParaRPr lang="en-US" sz="1500" dirty="0">
                        <a:latin typeface="游ゴシック" charset="0"/>
                        <a:ea typeface="游ゴシック" charset="0"/>
                        <a:cs typeface="游ゴシック" charset="0"/>
                      </a:endParaRPr>
                    </a:p>
                  </a:txBody>
                  <a:tcPr marL="73152" marR="73152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74320" y="109728"/>
            <a:ext cx="116128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5　実験 1：対照試験（わざと壊す）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0" y="777240"/>
            <a:ext cx="12191695" cy="274320"/>
          </a:xfrm>
          <a:prstGeom prst="rect">
            <a:avLst/>
          </a:prstGeom>
          <a:solidFill>
            <a:srgbClr val="156082"/>
          </a:solidFill>
          <a:ln w="12700">
            <a:solidFill>
              <a:srgbClr val="156082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4" name="Shape 2"/>
          <p:cNvSpPr/>
          <p:nvPr/>
        </p:nvSpPr>
        <p:spPr>
          <a:xfrm>
            <a:off x="0" y="1051560"/>
            <a:ext cx="12191695" cy="1097280"/>
          </a:xfrm>
          <a:prstGeom prst="rect">
            <a:avLst/>
          </a:prstGeom>
          <a:solidFill>
            <a:srgbClr val="DDEBF3"/>
          </a:solidFill>
          <a:ln w="12700">
            <a:solidFill>
              <a:srgbClr val="DDEBF3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5" name="Text 3"/>
          <p:cNvSpPr txBox="1"/>
          <p:nvPr/>
        </p:nvSpPr>
        <p:spPr>
          <a:xfrm>
            <a:off x="457200" y="1097280"/>
            <a:ext cx="1127455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壊れる場所は優先度の並びだけで決まり、設計どおり表示から壊れた</a:t>
            </a:r>
            <a:endParaRPr lang="en-US" sz="28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6217920"/>
            <a:ext cx="12344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95959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この章の流れ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1737360" y="6217920"/>
            <a:ext cx="2279142" cy="420624"/>
          </a:xfrm>
          <a:prstGeom prst="rect">
            <a:avLst/>
          </a:prstGeom>
          <a:solidFill>
            <a:srgbClr val="FFFFFF"/>
          </a:solidFill>
          <a:ln w="15875">
            <a:solidFill>
              <a:srgbClr val="156082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8" name="Text 6"/>
          <p:cNvSpPr txBox="1"/>
          <p:nvPr/>
        </p:nvSpPr>
        <p:spPr>
          <a:xfrm>
            <a:off x="1783080" y="6217920"/>
            <a:ext cx="218770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56082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5-1 3 つの条件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4089654" y="6318504"/>
            <a:ext cx="146304" cy="219456"/>
          </a:xfrm>
          <a:prstGeom prst="chevron">
            <a:avLst/>
          </a:prstGeom>
          <a:solidFill>
            <a:srgbClr val="156082"/>
          </a:solidFill>
          <a:ln w="12700">
            <a:solidFill>
              <a:srgbClr val="156082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0" name="Shape 8"/>
          <p:cNvSpPr/>
          <p:nvPr/>
        </p:nvSpPr>
        <p:spPr>
          <a:xfrm>
            <a:off x="4309110" y="6217920"/>
            <a:ext cx="2279142" cy="420624"/>
          </a:xfrm>
          <a:prstGeom prst="rect">
            <a:avLst/>
          </a:prstGeom>
          <a:solidFill>
            <a:srgbClr val="FFFFFF"/>
          </a:solidFill>
          <a:ln w="15875">
            <a:solidFill>
              <a:srgbClr val="156082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1" name="Text 9"/>
          <p:cNvSpPr txBox="1"/>
          <p:nvPr/>
        </p:nvSpPr>
        <p:spPr>
          <a:xfrm>
            <a:off x="4354830" y="6217920"/>
            <a:ext cx="218770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56082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5-2 結果の数字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6661404" y="6318504"/>
            <a:ext cx="146304" cy="219456"/>
          </a:xfrm>
          <a:prstGeom prst="chevron">
            <a:avLst/>
          </a:prstGeom>
          <a:solidFill>
            <a:srgbClr val="156082"/>
          </a:solidFill>
          <a:ln w="12700">
            <a:solidFill>
              <a:srgbClr val="156082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3" name="Shape 11"/>
          <p:cNvSpPr/>
          <p:nvPr/>
        </p:nvSpPr>
        <p:spPr>
          <a:xfrm>
            <a:off x="6880860" y="6217920"/>
            <a:ext cx="2279142" cy="420624"/>
          </a:xfrm>
          <a:prstGeom prst="rect">
            <a:avLst/>
          </a:prstGeom>
          <a:solidFill>
            <a:srgbClr val="FFFFFF"/>
          </a:solidFill>
          <a:ln w="15875">
            <a:solidFill>
              <a:srgbClr val="156082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4" name="Text 12"/>
          <p:cNvSpPr txBox="1"/>
          <p:nvPr/>
        </p:nvSpPr>
        <p:spPr>
          <a:xfrm>
            <a:off x="6926580" y="6217920"/>
            <a:ext cx="218770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56082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5-3 ② の詳細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9233154" y="6318504"/>
            <a:ext cx="146304" cy="219456"/>
          </a:xfrm>
          <a:prstGeom prst="chevron">
            <a:avLst/>
          </a:prstGeom>
          <a:solidFill>
            <a:srgbClr val="156082"/>
          </a:solidFill>
          <a:ln w="12700">
            <a:solidFill>
              <a:srgbClr val="156082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6" name="Shape 14"/>
          <p:cNvSpPr/>
          <p:nvPr/>
        </p:nvSpPr>
        <p:spPr>
          <a:xfrm>
            <a:off x="9452610" y="6217920"/>
            <a:ext cx="2279142" cy="420624"/>
          </a:xfrm>
          <a:prstGeom prst="rect">
            <a:avLst/>
          </a:prstGeom>
          <a:solidFill>
            <a:srgbClr val="FFFFFF"/>
          </a:solidFill>
          <a:ln w="15875">
            <a:solidFill>
              <a:srgbClr val="156082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7" name="Text 15"/>
          <p:cNvSpPr txBox="1"/>
          <p:nvPr/>
        </p:nvSpPr>
        <p:spPr>
          <a:xfrm>
            <a:off x="9498330" y="6217920"/>
            <a:ext cx="218770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56082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5-4 ③ の詳細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2834640" y="2331720"/>
            <a:ext cx="2926080" cy="548640"/>
          </a:xfrm>
          <a:prstGeom prst="rect">
            <a:avLst/>
          </a:prstGeom>
          <a:solidFill>
            <a:srgbClr val="156082"/>
          </a:solidFill>
          <a:ln w="12700">
            <a:solidFill>
              <a:srgbClr val="156082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9" name="Text 17"/>
          <p:cNvSpPr txBox="1"/>
          <p:nvPr/>
        </p:nvSpPr>
        <p:spPr>
          <a:xfrm>
            <a:off x="2907792" y="2331720"/>
            <a:ext cx="277977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① 通常</a:t>
            </a:r>
            <a:endParaRPr lang="en-US" sz="1800" dirty="0"/>
          </a:p>
        </p:txBody>
      </p:sp>
      <p:sp>
        <p:nvSpPr>
          <p:cNvPr id="20" name="Shape 18"/>
          <p:cNvSpPr/>
          <p:nvPr/>
        </p:nvSpPr>
        <p:spPr>
          <a:xfrm>
            <a:off x="5806440" y="2331720"/>
            <a:ext cx="2926080" cy="548640"/>
          </a:xfrm>
          <a:prstGeom prst="rect">
            <a:avLst/>
          </a:prstGeom>
          <a:solidFill>
            <a:srgbClr val="156082"/>
          </a:solidFill>
          <a:ln w="12700">
            <a:solidFill>
              <a:srgbClr val="156082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1" name="Text 19"/>
          <p:cNvSpPr txBox="1"/>
          <p:nvPr/>
        </p:nvSpPr>
        <p:spPr>
          <a:xfrm>
            <a:off x="5879592" y="2331720"/>
            <a:ext cx="277977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② 推論を音より優先</a:t>
            </a:r>
            <a:endParaRPr lang="en-US" sz="1800" dirty="0"/>
          </a:p>
        </p:txBody>
      </p:sp>
      <p:sp>
        <p:nvSpPr>
          <p:cNvPr id="22" name="Shape 20"/>
          <p:cNvSpPr/>
          <p:nvPr/>
        </p:nvSpPr>
        <p:spPr>
          <a:xfrm>
            <a:off x="8778240" y="2331720"/>
            <a:ext cx="2953512" cy="548640"/>
          </a:xfrm>
          <a:prstGeom prst="rect">
            <a:avLst/>
          </a:prstGeom>
          <a:solidFill>
            <a:srgbClr val="156082"/>
          </a:solidFill>
          <a:ln w="12700">
            <a:solidFill>
              <a:srgbClr val="156082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3" name="Text 21"/>
          <p:cNvSpPr txBox="1"/>
          <p:nvPr/>
        </p:nvSpPr>
        <p:spPr>
          <a:xfrm>
            <a:off x="8851392" y="2331720"/>
            <a:ext cx="280720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③ 推論を 10 倍重く</a:t>
            </a:r>
            <a:endParaRPr lang="en-US" sz="1800" dirty="0"/>
          </a:p>
        </p:txBody>
      </p:sp>
      <p:sp>
        <p:nvSpPr>
          <p:cNvPr id="24" name="Shape 22"/>
          <p:cNvSpPr/>
          <p:nvPr/>
        </p:nvSpPr>
        <p:spPr>
          <a:xfrm>
            <a:off x="457200" y="2944368"/>
            <a:ext cx="2331720" cy="987552"/>
          </a:xfrm>
          <a:prstGeom prst="rect">
            <a:avLst/>
          </a:prstGeom>
          <a:solidFill>
            <a:srgbClr val="F2F2F2"/>
          </a:solidFill>
          <a:ln w="12700">
            <a:solidFill>
              <a:srgbClr val="BFBFBF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5" name="Text 23"/>
          <p:cNvSpPr txBox="1"/>
          <p:nvPr/>
        </p:nvSpPr>
        <p:spPr>
          <a:xfrm>
            <a:off x="530352" y="2944368"/>
            <a:ext cx="2185416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音（取り込み）</a:t>
            </a:r>
            <a:endParaRPr lang="en-US" sz="1800" dirty="0"/>
          </a:p>
        </p:txBody>
      </p:sp>
      <p:sp>
        <p:nvSpPr>
          <p:cNvPr id="26" name="Shape 24"/>
          <p:cNvSpPr/>
          <p:nvPr/>
        </p:nvSpPr>
        <p:spPr>
          <a:xfrm>
            <a:off x="2834640" y="2944368"/>
            <a:ext cx="2926080" cy="987552"/>
          </a:xfrm>
          <a:prstGeom prst="rect">
            <a:avLst/>
          </a:prstGeom>
          <a:solidFill>
            <a:srgbClr val="E6F4EE"/>
          </a:solidFill>
          <a:ln w="15875">
            <a:solidFill>
              <a:srgbClr val="008A5E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pic>
        <p:nvPicPr>
          <p:cNvPr id="27" name="Image 0" descr="/home/claude/v4/icons/FaCheckCircle_008A5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71800" y="3209544"/>
            <a:ext cx="457200" cy="457200"/>
          </a:xfrm>
          <a:prstGeom prst="rect">
            <a:avLst/>
          </a:prstGeom>
        </p:spPr>
      </p:pic>
      <p:sp>
        <p:nvSpPr>
          <p:cNvPr id="28" name="Text 25"/>
          <p:cNvSpPr txBox="1"/>
          <p:nvPr/>
        </p:nvSpPr>
        <p:spPr>
          <a:xfrm>
            <a:off x="3520440" y="2944368"/>
            <a:ext cx="2148840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無事</a:t>
            </a:r>
            <a:endParaRPr lang="en-US" sz="1700" dirty="0"/>
          </a:p>
        </p:txBody>
      </p:sp>
      <p:sp>
        <p:nvSpPr>
          <p:cNvPr id="29" name="Shape 26"/>
          <p:cNvSpPr/>
          <p:nvPr/>
        </p:nvSpPr>
        <p:spPr>
          <a:xfrm>
            <a:off x="5806440" y="2944368"/>
            <a:ext cx="2926080" cy="987552"/>
          </a:xfrm>
          <a:prstGeom prst="rect">
            <a:avLst/>
          </a:prstGeom>
          <a:solidFill>
            <a:srgbClr val="FDECEC"/>
          </a:solidFill>
          <a:ln w="15875">
            <a:solidFill>
              <a:srgbClr val="C00000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pic>
        <p:nvPicPr>
          <p:cNvPr id="30" name="Image 1" descr="/home/claude/v4/icons/FaTimesCircle_C00000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43600" y="3209544"/>
            <a:ext cx="457200" cy="457200"/>
          </a:xfrm>
          <a:prstGeom prst="rect">
            <a:avLst/>
          </a:prstGeom>
        </p:spPr>
      </p:pic>
      <p:sp>
        <p:nvSpPr>
          <p:cNvPr id="31" name="Text 27"/>
          <p:cNvSpPr txBox="1"/>
          <p:nvPr/>
        </p:nvSpPr>
        <p:spPr>
          <a:xfrm>
            <a:off x="6492240" y="2944368"/>
            <a:ext cx="2148840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C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8% 欠落</a:t>
            </a:r>
            <a:endParaRPr lang="en-US" sz="1700" dirty="0"/>
          </a:p>
          <a:p>
            <a:pPr marL="0" indent="0">
              <a:buNone/>
            </a:pPr>
            <a:r>
              <a:rPr lang="en-US" sz="1700" b="1" dirty="0">
                <a:solidFill>
                  <a:srgbClr val="C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途切れて聞こえる</a:t>
            </a:r>
            <a:endParaRPr lang="en-US" sz="1700" dirty="0"/>
          </a:p>
        </p:txBody>
      </p:sp>
      <p:sp>
        <p:nvSpPr>
          <p:cNvPr id="32" name="Shape 28"/>
          <p:cNvSpPr/>
          <p:nvPr/>
        </p:nvSpPr>
        <p:spPr>
          <a:xfrm>
            <a:off x="8778240" y="2944368"/>
            <a:ext cx="2953512" cy="987552"/>
          </a:xfrm>
          <a:prstGeom prst="rect">
            <a:avLst/>
          </a:prstGeom>
          <a:solidFill>
            <a:srgbClr val="E6F4EE"/>
          </a:solidFill>
          <a:ln w="15875">
            <a:solidFill>
              <a:srgbClr val="008A5E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pic>
        <p:nvPicPr>
          <p:cNvPr id="33" name="Image 2" descr="/home/claude/v4/icons/FaCheckCircle_008A5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15400" y="3209544"/>
            <a:ext cx="457200" cy="457200"/>
          </a:xfrm>
          <a:prstGeom prst="rect">
            <a:avLst/>
          </a:prstGeom>
        </p:spPr>
      </p:pic>
      <p:sp>
        <p:nvSpPr>
          <p:cNvPr id="34" name="Text 29"/>
          <p:cNvSpPr txBox="1"/>
          <p:nvPr/>
        </p:nvSpPr>
        <p:spPr>
          <a:xfrm>
            <a:off x="9464040" y="2944368"/>
            <a:ext cx="2176272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取りこぼし 0</a:t>
            </a:r>
            <a:endParaRPr lang="en-US" sz="1700" dirty="0"/>
          </a:p>
        </p:txBody>
      </p:sp>
      <p:sp>
        <p:nvSpPr>
          <p:cNvPr id="35" name="Shape 30"/>
          <p:cNvSpPr/>
          <p:nvPr/>
        </p:nvSpPr>
        <p:spPr>
          <a:xfrm>
            <a:off x="457200" y="3995928"/>
            <a:ext cx="2331720" cy="987552"/>
          </a:xfrm>
          <a:prstGeom prst="rect">
            <a:avLst/>
          </a:prstGeom>
          <a:solidFill>
            <a:srgbClr val="F2F2F2"/>
          </a:solidFill>
          <a:ln w="12700">
            <a:solidFill>
              <a:srgbClr val="BFBFBF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36" name="Text 31"/>
          <p:cNvSpPr txBox="1"/>
          <p:nvPr/>
        </p:nvSpPr>
        <p:spPr>
          <a:xfrm>
            <a:off x="530352" y="3995928"/>
            <a:ext cx="2185416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推論</a:t>
            </a:r>
            <a:endParaRPr lang="en-US" sz="1800" dirty="0"/>
          </a:p>
        </p:txBody>
      </p:sp>
      <p:sp>
        <p:nvSpPr>
          <p:cNvPr id="37" name="Shape 32"/>
          <p:cNvSpPr/>
          <p:nvPr/>
        </p:nvSpPr>
        <p:spPr>
          <a:xfrm>
            <a:off x="2834640" y="3995928"/>
            <a:ext cx="2926080" cy="987552"/>
          </a:xfrm>
          <a:prstGeom prst="rect">
            <a:avLst/>
          </a:prstGeom>
          <a:solidFill>
            <a:srgbClr val="E6F4EE"/>
          </a:solidFill>
          <a:ln w="15875">
            <a:solidFill>
              <a:srgbClr val="008A5E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pic>
        <p:nvPicPr>
          <p:cNvPr id="38" name="Image 3" descr="/home/claude/v4/icons/FaCheckCircle_008A5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71800" y="4261104"/>
            <a:ext cx="457200" cy="457200"/>
          </a:xfrm>
          <a:prstGeom prst="rect">
            <a:avLst/>
          </a:prstGeom>
        </p:spPr>
      </p:pic>
      <p:sp>
        <p:nvSpPr>
          <p:cNvPr id="39" name="Text 33"/>
          <p:cNvSpPr txBox="1"/>
          <p:nvPr/>
        </p:nvSpPr>
        <p:spPr>
          <a:xfrm>
            <a:off x="3520440" y="3995928"/>
            <a:ext cx="2148840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無事</a:t>
            </a:r>
            <a:endParaRPr lang="en-US" sz="1700" dirty="0"/>
          </a:p>
        </p:txBody>
      </p:sp>
      <p:sp>
        <p:nvSpPr>
          <p:cNvPr id="40" name="Shape 34"/>
          <p:cNvSpPr/>
          <p:nvPr/>
        </p:nvSpPr>
        <p:spPr>
          <a:xfrm>
            <a:off x="5806440" y="3995928"/>
            <a:ext cx="2926080" cy="987552"/>
          </a:xfrm>
          <a:prstGeom prst="rect">
            <a:avLst/>
          </a:prstGeom>
          <a:solidFill>
            <a:srgbClr val="E6F4EE"/>
          </a:solidFill>
          <a:ln w="15875">
            <a:solidFill>
              <a:srgbClr val="008A5E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pic>
        <p:nvPicPr>
          <p:cNvPr id="41" name="Image 4" descr="/home/claude/v4/icons/FaCheckCircle_008A5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43600" y="4261104"/>
            <a:ext cx="457200" cy="457200"/>
          </a:xfrm>
          <a:prstGeom prst="rect">
            <a:avLst/>
          </a:prstGeom>
        </p:spPr>
      </p:pic>
      <p:sp>
        <p:nvSpPr>
          <p:cNvPr id="42" name="Text 35"/>
          <p:cNvSpPr txBox="1"/>
          <p:nvPr/>
        </p:nvSpPr>
        <p:spPr>
          <a:xfrm>
            <a:off x="6492240" y="3995928"/>
            <a:ext cx="2148840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無事（判定も同じ）</a:t>
            </a:r>
            <a:endParaRPr lang="en-US" sz="1700" dirty="0"/>
          </a:p>
        </p:txBody>
      </p:sp>
      <p:sp>
        <p:nvSpPr>
          <p:cNvPr id="43" name="Shape 36"/>
          <p:cNvSpPr/>
          <p:nvPr/>
        </p:nvSpPr>
        <p:spPr>
          <a:xfrm>
            <a:off x="8778240" y="3995928"/>
            <a:ext cx="2953512" cy="987552"/>
          </a:xfrm>
          <a:prstGeom prst="rect">
            <a:avLst/>
          </a:prstGeom>
          <a:solidFill>
            <a:srgbClr val="FFF3E0"/>
          </a:solidFill>
          <a:ln w="15875">
            <a:solidFill>
              <a:srgbClr val="E07B00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pic>
        <p:nvPicPr>
          <p:cNvPr id="44" name="Image 5" descr="/home/claude/v4/icons/FaMinusCircle_E07B00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915400" y="4261104"/>
            <a:ext cx="457200" cy="457200"/>
          </a:xfrm>
          <a:prstGeom prst="rect">
            <a:avLst/>
          </a:prstGeom>
        </p:spPr>
      </p:pic>
      <p:sp>
        <p:nvSpPr>
          <p:cNvPr id="45" name="Text 37"/>
          <p:cNvSpPr txBox="1"/>
          <p:nvPr/>
        </p:nvSpPr>
        <p:spPr>
          <a:xfrm>
            <a:off x="9464040" y="3995928"/>
            <a:ext cx="2176272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E07B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窓の 13% が消えた</a:t>
            </a:r>
            <a:endParaRPr lang="en-US" sz="1700" dirty="0"/>
          </a:p>
        </p:txBody>
      </p:sp>
      <p:sp>
        <p:nvSpPr>
          <p:cNvPr id="46" name="Shape 38"/>
          <p:cNvSpPr/>
          <p:nvPr/>
        </p:nvSpPr>
        <p:spPr>
          <a:xfrm>
            <a:off x="457200" y="5047488"/>
            <a:ext cx="2331720" cy="987552"/>
          </a:xfrm>
          <a:prstGeom prst="rect">
            <a:avLst/>
          </a:prstGeom>
          <a:solidFill>
            <a:srgbClr val="F2F2F2"/>
          </a:solidFill>
          <a:ln w="12700">
            <a:solidFill>
              <a:srgbClr val="BFBFBF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47" name="Text 39"/>
          <p:cNvSpPr txBox="1"/>
          <p:nvPr/>
        </p:nvSpPr>
        <p:spPr>
          <a:xfrm>
            <a:off x="530352" y="5047488"/>
            <a:ext cx="2185416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表示・ログ</a:t>
            </a:r>
            <a:endParaRPr lang="en-US" sz="1800" dirty="0"/>
          </a:p>
        </p:txBody>
      </p:sp>
      <p:sp>
        <p:nvSpPr>
          <p:cNvPr id="48" name="Shape 40"/>
          <p:cNvSpPr/>
          <p:nvPr/>
        </p:nvSpPr>
        <p:spPr>
          <a:xfrm>
            <a:off x="2834640" y="5047488"/>
            <a:ext cx="2926080" cy="987552"/>
          </a:xfrm>
          <a:prstGeom prst="rect">
            <a:avLst/>
          </a:prstGeom>
          <a:solidFill>
            <a:srgbClr val="E6F4EE"/>
          </a:solidFill>
          <a:ln w="15875">
            <a:solidFill>
              <a:srgbClr val="008A5E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pic>
        <p:nvPicPr>
          <p:cNvPr id="49" name="Image 6" descr="/home/claude/v4/icons/FaCheckCircle_008A5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71800" y="5312664"/>
            <a:ext cx="457200" cy="457200"/>
          </a:xfrm>
          <a:prstGeom prst="rect">
            <a:avLst/>
          </a:prstGeom>
        </p:spPr>
      </p:pic>
      <p:sp>
        <p:nvSpPr>
          <p:cNvPr id="50" name="Text 41"/>
          <p:cNvSpPr txBox="1"/>
          <p:nvPr/>
        </p:nvSpPr>
        <p:spPr>
          <a:xfrm>
            <a:off x="3520440" y="5047488"/>
            <a:ext cx="2148840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無事</a:t>
            </a:r>
            <a:endParaRPr lang="en-US" sz="1700" dirty="0"/>
          </a:p>
        </p:txBody>
      </p:sp>
      <p:sp>
        <p:nvSpPr>
          <p:cNvPr id="51" name="Shape 42"/>
          <p:cNvSpPr/>
          <p:nvPr/>
        </p:nvSpPr>
        <p:spPr>
          <a:xfrm>
            <a:off x="5806440" y="5047488"/>
            <a:ext cx="2926080" cy="987552"/>
          </a:xfrm>
          <a:prstGeom prst="rect">
            <a:avLst/>
          </a:prstGeom>
          <a:solidFill>
            <a:srgbClr val="E6F4EE"/>
          </a:solidFill>
          <a:ln w="15875">
            <a:solidFill>
              <a:srgbClr val="008A5E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pic>
        <p:nvPicPr>
          <p:cNvPr id="52" name="Image 7" descr="/home/claude/v4/icons/FaCheckCircle_008A5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43600" y="5312664"/>
            <a:ext cx="457200" cy="457200"/>
          </a:xfrm>
          <a:prstGeom prst="rect">
            <a:avLst/>
          </a:prstGeom>
        </p:spPr>
      </p:pic>
      <p:sp>
        <p:nvSpPr>
          <p:cNvPr id="53" name="Text 43"/>
          <p:cNvSpPr txBox="1"/>
          <p:nvPr/>
        </p:nvSpPr>
        <p:spPr>
          <a:xfrm>
            <a:off x="6492240" y="5047488"/>
            <a:ext cx="2148840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無事</a:t>
            </a:r>
            <a:endParaRPr lang="en-US" sz="1700" dirty="0"/>
          </a:p>
        </p:txBody>
      </p:sp>
      <p:sp>
        <p:nvSpPr>
          <p:cNvPr id="54" name="Shape 44"/>
          <p:cNvSpPr/>
          <p:nvPr/>
        </p:nvSpPr>
        <p:spPr>
          <a:xfrm>
            <a:off x="8778240" y="5047488"/>
            <a:ext cx="2953512" cy="987552"/>
          </a:xfrm>
          <a:prstGeom prst="rect">
            <a:avLst/>
          </a:prstGeom>
          <a:solidFill>
            <a:srgbClr val="FDECEC"/>
          </a:solidFill>
          <a:ln w="15875">
            <a:solidFill>
              <a:srgbClr val="C00000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pic>
        <p:nvPicPr>
          <p:cNvPr id="55" name="Image 8" descr="/home/claude/v4/icons/FaTimesCircle_C00000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915400" y="5312664"/>
            <a:ext cx="457200" cy="457200"/>
          </a:xfrm>
          <a:prstGeom prst="rect">
            <a:avLst/>
          </a:prstGeom>
        </p:spPr>
      </p:pic>
      <p:sp>
        <p:nvSpPr>
          <p:cNvPr id="56" name="Text 45"/>
          <p:cNvSpPr txBox="1"/>
          <p:nvPr/>
        </p:nvSpPr>
        <p:spPr>
          <a:xfrm>
            <a:off x="9464040" y="5047488"/>
            <a:ext cx="2176272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C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画面 10 分停止</a:t>
            </a:r>
            <a:endParaRPr lang="en-US" sz="1700" dirty="0"/>
          </a:p>
          <a:p>
            <a:pPr marL="0" indent="0">
              <a:buNone/>
            </a:pPr>
            <a:r>
              <a:rPr lang="en-US" sz="1700" b="1" dirty="0">
                <a:solidFill>
                  <a:srgbClr val="C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ログ 93% を捨てた</a:t>
            </a:r>
            <a:endParaRPr lang="en-US" sz="17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74320" y="109728"/>
            <a:ext cx="116128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5-1　3 つの条件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0" y="777240"/>
            <a:ext cx="12191695" cy="274320"/>
          </a:xfrm>
          <a:prstGeom prst="rect">
            <a:avLst/>
          </a:prstGeom>
          <a:solidFill>
            <a:srgbClr val="156082"/>
          </a:solidFill>
          <a:ln w="12700">
            <a:solidFill>
              <a:srgbClr val="156082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4" name="Text 2"/>
          <p:cNvSpPr txBox="1"/>
          <p:nvPr/>
        </p:nvSpPr>
        <p:spPr>
          <a:xfrm>
            <a:off x="548640" y="1368987"/>
            <a:ext cx="11274552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200" b="1" dirty="0"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① 通常に対し、② は優先度を逆に、③ は推論を重くした</a:t>
            </a:r>
            <a:endParaRPr lang="en-US" sz="32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2148840"/>
            <a:ext cx="3611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① 通常</a:t>
            </a:r>
            <a:endParaRPr lang="en-US" sz="22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2606040"/>
            <a:ext cx="3611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95959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上ほど優先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57200" y="2907792"/>
            <a:ext cx="3611880" cy="548640"/>
          </a:xfrm>
          <a:prstGeom prst="rect">
            <a:avLst/>
          </a:prstGeom>
          <a:solidFill>
            <a:srgbClr val="DDEBF3"/>
          </a:solidFill>
          <a:ln w="15875">
            <a:solidFill>
              <a:srgbClr val="156082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8" name="Text 6"/>
          <p:cNvSpPr txBox="1"/>
          <p:nvPr/>
        </p:nvSpPr>
        <p:spPr>
          <a:xfrm>
            <a:off x="548640" y="2907792"/>
            <a:ext cx="3429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音　5・10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457200" y="3529584"/>
            <a:ext cx="3611880" cy="548640"/>
          </a:xfrm>
          <a:prstGeom prst="rect">
            <a:avLst/>
          </a:prstGeom>
          <a:solidFill>
            <a:srgbClr val="DDF3EA"/>
          </a:solidFill>
          <a:ln w="15875">
            <a:solidFill>
              <a:srgbClr val="008A5E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0" name="Text 8"/>
          <p:cNvSpPr txBox="1"/>
          <p:nvPr/>
        </p:nvSpPr>
        <p:spPr>
          <a:xfrm>
            <a:off x="548640" y="3529584"/>
            <a:ext cx="3429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推論　15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457200" y="4151376"/>
            <a:ext cx="3611880" cy="548640"/>
          </a:xfrm>
          <a:prstGeom prst="rect">
            <a:avLst/>
          </a:prstGeom>
          <a:solidFill>
            <a:srgbClr val="FBE9D3"/>
          </a:solidFill>
          <a:ln w="15875">
            <a:solidFill>
              <a:srgbClr val="E07B00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2" name="Text 10"/>
          <p:cNvSpPr txBox="1"/>
          <p:nvPr/>
        </p:nvSpPr>
        <p:spPr>
          <a:xfrm>
            <a:off x="548640" y="4151376"/>
            <a:ext cx="3429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表示・ログ　20・25</a:t>
            </a:r>
            <a:endParaRPr lang="en-US" sz="1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4944291"/>
            <a:ext cx="3611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595959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予想：何も壊れない（基準）</a:t>
            </a:r>
            <a:endParaRPr lang="en-US" sz="1700" dirty="0"/>
          </a:p>
        </p:txBody>
      </p:sp>
      <p:sp>
        <p:nvSpPr>
          <p:cNvPr id="14" name="Text 12"/>
          <p:cNvSpPr txBox="1"/>
          <p:nvPr/>
        </p:nvSpPr>
        <p:spPr>
          <a:xfrm>
            <a:off x="4288536" y="2148840"/>
            <a:ext cx="3611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② 推論を音より優先</a:t>
            </a:r>
            <a:endParaRPr lang="en-US" sz="2200" dirty="0"/>
          </a:p>
        </p:txBody>
      </p:sp>
      <p:sp>
        <p:nvSpPr>
          <p:cNvPr id="15" name="Text 13"/>
          <p:cNvSpPr txBox="1"/>
          <p:nvPr/>
        </p:nvSpPr>
        <p:spPr>
          <a:xfrm>
            <a:off x="4288536" y="2606040"/>
            <a:ext cx="3611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95959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上ほど優先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4288536" y="2907792"/>
            <a:ext cx="3611880" cy="548640"/>
          </a:xfrm>
          <a:prstGeom prst="rect">
            <a:avLst/>
          </a:prstGeom>
          <a:solidFill>
            <a:srgbClr val="DDF3EA"/>
          </a:solidFill>
          <a:ln w="31750">
            <a:solidFill>
              <a:srgbClr val="FF0000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7" name="Text 15"/>
          <p:cNvSpPr txBox="1"/>
          <p:nvPr/>
        </p:nvSpPr>
        <p:spPr>
          <a:xfrm>
            <a:off x="4379976" y="2907792"/>
            <a:ext cx="3429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推論　3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4288536" y="3529584"/>
            <a:ext cx="3611880" cy="548640"/>
          </a:xfrm>
          <a:prstGeom prst="rect">
            <a:avLst/>
          </a:prstGeom>
          <a:solidFill>
            <a:srgbClr val="DDEBF3"/>
          </a:solidFill>
          <a:ln w="15875">
            <a:solidFill>
              <a:srgbClr val="156082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9" name="Text 17"/>
          <p:cNvSpPr txBox="1"/>
          <p:nvPr/>
        </p:nvSpPr>
        <p:spPr>
          <a:xfrm>
            <a:off x="4379976" y="3529584"/>
            <a:ext cx="3429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音　5・10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4288536" y="4151376"/>
            <a:ext cx="3611880" cy="548640"/>
          </a:xfrm>
          <a:prstGeom prst="rect">
            <a:avLst/>
          </a:prstGeom>
          <a:solidFill>
            <a:srgbClr val="FBE9D3"/>
          </a:solidFill>
          <a:ln w="15875">
            <a:solidFill>
              <a:srgbClr val="E07B00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1" name="Text 19"/>
          <p:cNvSpPr txBox="1"/>
          <p:nvPr/>
        </p:nvSpPr>
        <p:spPr>
          <a:xfrm>
            <a:off x="4379976" y="4151376"/>
            <a:ext cx="3429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表示・ログ　20・25</a:t>
            </a:r>
            <a:endParaRPr lang="en-US" sz="1600" dirty="0"/>
          </a:p>
        </p:txBody>
      </p:sp>
      <p:sp>
        <p:nvSpPr>
          <p:cNvPr id="22" name="Text 20"/>
          <p:cNvSpPr txBox="1"/>
          <p:nvPr/>
        </p:nvSpPr>
        <p:spPr>
          <a:xfrm>
            <a:off x="4288536" y="4956048"/>
            <a:ext cx="3611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595959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予想：音が押しのけられる</a:t>
            </a:r>
            <a:endParaRPr lang="en-US" sz="1700" dirty="0"/>
          </a:p>
        </p:txBody>
      </p:sp>
      <p:sp>
        <p:nvSpPr>
          <p:cNvPr id="23" name="Text 21"/>
          <p:cNvSpPr txBox="1"/>
          <p:nvPr/>
        </p:nvSpPr>
        <p:spPr>
          <a:xfrm>
            <a:off x="8119872" y="2148840"/>
            <a:ext cx="3611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E07B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③ 推論を 10 倍重く</a:t>
            </a:r>
            <a:endParaRPr lang="en-US" sz="2200" dirty="0"/>
          </a:p>
        </p:txBody>
      </p:sp>
      <p:sp>
        <p:nvSpPr>
          <p:cNvPr id="24" name="Text 22"/>
          <p:cNvSpPr txBox="1"/>
          <p:nvPr/>
        </p:nvSpPr>
        <p:spPr>
          <a:xfrm>
            <a:off x="8119872" y="2606040"/>
            <a:ext cx="3611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95959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上ほど優先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8119872" y="2907792"/>
            <a:ext cx="3611880" cy="548640"/>
          </a:xfrm>
          <a:prstGeom prst="rect">
            <a:avLst/>
          </a:prstGeom>
          <a:solidFill>
            <a:srgbClr val="DDEBF3"/>
          </a:solidFill>
          <a:ln w="15875">
            <a:solidFill>
              <a:srgbClr val="156082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6" name="Text 24"/>
          <p:cNvSpPr txBox="1"/>
          <p:nvPr/>
        </p:nvSpPr>
        <p:spPr>
          <a:xfrm>
            <a:off x="8211312" y="2907792"/>
            <a:ext cx="3429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音　5・10</a:t>
            </a:r>
            <a:endParaRPr lang="en-US" sz="1600" dirty="0"/>
          </a:p>
        </p:txBody>
      </p:sp>
      <p:sp>
        <p:nvSpPr>
          <p:cNvPr id="27" name="Shape 25"/>
          <p:cNvSpPr/>
          <p:nvPr/>
        </p:nvSpPr>
        <p:spPr>
          <a:xfrm>
            <a:off x="8119872" y="3529584"/>
            <a:ext cx="3611880" cy="960120"/>
          </a:xfrm>
          <a:prstGeom prst="rect">
            <a:avLst/>
          </a:prstGeom>
          <a:solidFill>
            <a:srgbClr val="DDF3EA"/>
          </a:solidFill>
          <a:ln w="31750">
            <a:solidFill>
              <a:srgbClr val="FF0000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8" name="Text 26"/>
          <p:cNvSpPr txBox="1"/>
          <p:nvPr/>
        </p:nvSpPr>
        <p:spPr>
          <a:xfrm>
            <a:off x="8211312" y="3529584"/>
            <a:ext cx="34290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推論　15（重さ 10 倍）</a:t>
            </a:r>
            <a:endParaRPr lang="en-US" sz="1600" dirty="0"/>
          </a:p>
          <a:p>
            <a:pPr marL="0" indent="0" algn="ctr">
              <a:buNone/>
            </a:pPr>
            <a:r>
              <a:rPr lang="en-US" sz="1600" b="1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1 窓 1,103 ms ＞ 周期 960 ms</a:t>
            </a:r>
            <a:endParaRPr lang="en-US" sz="1600" dirty="0"/>
          </a:p>
        </p:txBody>
      </p:sp>
      <p:sp>
        <p:nvSpPr>
          <p:cNvPr id="29" name="Shape 27"/>
          <p:cNvSpPr/>
          <p:nvPr/>
        </p:nvSpPr>
        <p:spPr>
          <a:xfrm>
            <a:off x="8119872" y="4562856"/>
            <a:ext cx="3611880" cy="548640"/>
          </a:xfrm>
          <a:prstGeom prst="rect">
            <a:avLst/>
          </a:prstGeom>
          <a:solidFill>
            <a:srgbClr val="FBE9D3"/>
          </a:solidFill>
          <a:ln w="15875">
            <a:solidFill>
              <a:srgbClr val="E07B00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30" name="Text 28"/>
          <p:cNvSpPr txBox="1"/>
          <p:nvPr/>
        </p:nvSpPr>
        <p:spPr>
          <a:xfrm>
            <a:off x="8211312" y="4562856"/>
            <a:ext cx="3429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表示・ログ　20・25</a:t>
            </a:r>
            <a:endParaRPr lang="en-US" sz="1600" dirty="0"/>
          </a:p>
        </p:txBody>
      </p:sp>
      <p:sp>
        <p:nvSpPr>
          <p:cNvPr id="31" name="Text 29"/>
          <p:cNvSpPr txBox="1"/>
          <p:nvPr/>
        </p:nvSpPr>
        <p:spPr>
          <a:xfrm>
            <a:off x="8119872" y="5193792"/>
            <a:ext cx="3611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595959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予想：表示から壊れ、音は無事</a:t>
            </a:r>
            <a:endParaRPr lang="en-US" sz="1700" dirty="0"/>
          </a:p>
        </p:txBody>
      </p:sp>
      <p:sp>
        <p:nvSpPr>
          <p:cNvPr id="32" name="Shape 30"/>
          <p:cNvSpPr/>
          <p:nvPr/>
        </p:nvSpPr>
        <p:spPr>
          <a:xfrm>
            <a:off x="457200" y="5669280"/>
            <a:ext cx="11274552" cy="868680"/>
          </a:xfrm>
          <a:prstGeom prst="rect">
            <a:avLst/>
          </a:prstGeom>
          <a:solidFill>
            <a:srgbClr val="F2F2F2"/>
          </a:solidFill>
          <a:ln w="12700">
            <a:solidFill>
              <a:srgbClr val="BFBFBF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33" name="Text 31"/>
          <p:cNvSpPr txBox="1"/>
          <p:nvPr/>
        </p:nvSpPr>
        <p:spPr>
          <a:xfrm>
            <a:off x="640080" y="5669280"/>
            <a:ext cx="1090879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10 分ずつ、同じ部屋・同じ音源で比べた。切替はビルド時のマクロ 2 つだけで、ほかのコードは同じ。起動ログの CONFIG 行に条件が出る（ログ上の名前：①＝A、②＝B、③＝D）</a:t>
            </a:r>
            <a:endParaRPr lang="en-US" sz="16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74320" y="109728"/>
            <a:ext cx="116128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5-2　結果の数字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0" y="777240"/>
            <a:ext cx="12191695" cy="274320"/>
          </a:xfrm>
          <a:prstGeom prst="rect">
            <a:avLst/>
          </a:prstGeom>
          <a:solidFill>
            <a:srgbClr val="156082"/>
          </a:solidFill>
          <a:ln w="12700">
            <a:solidFill>
              <a:srgbClr val="156082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4" name="Text 2"/>
          <p:cNvSpPr txBox="1"/>
          <p:nvPr/>
        </p:nvSpPr>
        <p:spPr>
          <a:xfrm>
            <a:off x="457200" y="1269319"/>
            <a:ext cx="11274552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FF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② では音だけが壊れ、③ では音だけが無事だった</a:t>
            </a:r>
            <a:endParaRPr lang="en-US" sz="3200" dirty="0"/>
          </a:p>
        </p:txBody>
      </p:sp>
      <p:graphicFrame>
        <p:nvGraphicFramePr>
          <p:cNvPr id="1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04054663"/>
              </p:ext>
            </p:extLst>
          </p:nvPr>
        </p:nvGraphicFramePr>
        <p:xfrm>
          <a:off x="457200" y="2194560"/>
          <a:ext cx="11274552" cy="3432048"/>
        </p:xfrm>
        <a:graphic>
          <a:graphicData uri="http://schemas.openxmlformats.org/drawingml/2006/table">
            <a:tbl>
              <a:tblPr/>
              <a:tblGrid>
                <a:gridCol w="3429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514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6974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63347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754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600" dirty="0">
                        <a:latin typeface="游ゴシック" charset="0"/>
                        <a:ea typeface="游ゴシック" charset="0"/>
                        <a:cs typeface="游ゴシック" charset="0"/>
                      </a:endParaRPr>
                    </a:p>
                  </a:txBody>
                  <a:tcPr marL="73152" marR="73152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608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游ゴシック" pitchFamily="34" charset="0"/>
                          <a:ea typeface="游ゴシック" pitchFamily="34" charset="-122"/>
                          <a:cs typeface="游ゴシック" pitchFamily="34" charset="-120"/>
                        </a:rPr>
                        <a:t>① 通常</a:t>
                      </a:r>
                      <a:endParaRPr lang="en-US" sz="1600" dirty="0">
                        <a:latin typeface="游ゴシック" charset="0"/>
                        <a:ea typeface="游ゴシック" charset="0"/>
                        <a:cs typeface="游ゴシック" charset="0"/>
                      </a:endParaRPr>
                    </a:p>
                  </a:txBody>
                  <a:tcPr marL="73152" marR="73152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608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游ゴシック" pitchFamily="34" charset="0"/>
                          <a:ea typeface="游ゴシック" pitchFamily="34" charset="-122"/>
                          <a:cs typeface="游ゴシック" pitchFamily="34" charset="-120"/>
                        </a:rPr>
                        <a:t>② 推論を音より優先</a:t>
                      </a:r>
                      <a:endParaRPr lang="en-US" sz="1600" dirty="0">
                        <a:latin typeface="游ゴシック" charset="0"/>
                        <a:ea typeface="游ゴシック" charset="0"/>
                        <a:cs typeface="游ゴシック" charset="0"/>
                      </a:endParaRPr>
                    </a:p>
                  </a:txBody>
                  <a:tcPr marL="73152" marR="73152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608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游ゴシック" pitchFamily="34" charset="0"/>
                          <a:ea typeface="游ゴシック" pitchFamily="34" charset="-122"/>
                          <a:cs typeface="游ゴシック" pitchFamily="34" charset="-120"/>
                        </a:rPr>
                        <a:t>③ 推論を 10 倍重く</a:t>
                      </a:r>
                      <a:endParaRPr lang="en-US" sz="1600" dirty="0">
                        <a:latin typeface="游ゴシック" charset="0"/>
                        <a:ea typeface="游ゴシック" charset="0"/>
                        <a:cs typeface="游ゴシック" charset="0"/>
                      </a:endParaRPr>
                    </a:p>
                  </a:txBody>
                  <a:tcPr marL="73152" marR="73152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608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000000"/>
                          </a:solidFill>
                          <a:latin typeface="游ゴシック" pitchFamily="34" charset="0"/>
                          <a:ea typeface="游ゴシック" pitchFamily="34" charset="-122"/>
                          <a:cs typeface="游ゴシック" pitchFamily="34" charset="-120"/>
                        </a:rPr>
                        <a:t>音の取りこぼし（under/over/late）</a:t>
                      </a:r>
                      <a:endParaRPr lang="en-US" sz="1600" dirty="0">
                        <a:latin typeface="游ゴシック" charset="0"/>
                        <a:ea typeface="游ゴシック" charset="0"/>
                        <a:cs typeface="游ゴシック" charset="0"/>
                      </a:endParaRPr>
                    </a:p>
                  </a:txBody>
                  <a:tcPr marL="73152" marR="73152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000000"/>
                          </a:solidFill>
                          <a:latin typeface="游ゴシック" pitchFamily="34" charset="0"/>
                          <a:ea typeface="游ゴシック" pitchFamily="34" charset="-122"/>
                          <a:cs typeface="游ゴシック" pitchFamily="34" charset="-120"/>
                        </a:rPr>
                        <a:t>0 / 0 / 0</a:t>
                      </a:r>
                      <a:endParaRPr lang="en-US" sz="1600" dirty="0">
                        <a:latin typeface="游ゴシック" charset="0"/>
                        <a:ea typeface="游ゴシック" charset="0"/>
                        <a:cs typeface="游ゴシック" charset="0"/>
                      </a:endParaRPr>
                    </a:p>
                  </a:txBody>
                  <a:tcPr marL="73152" marR="73152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b="1" dirty="0">
                          <a:solidFill>
                            <a:srgbClr val="C00000"/>
                          </a:solidFill>
                          <a:latin typeface="游ゴシック" pitchFamily="34" charset="0"/>
                          <a:ea typeface="游ゴシック" pitchFamily="34" charset="-122"/>
                          <a:cs typeface="游ゴシック" pitchFamily="34" charset="-120"/>
                        </a:rPr>
                        <a:t>2,078 / 1,200 / 1,200</a:t>
                      </a:r>
                      <a:endParaRPr lang="en-US" sz="1600" dirty="0">
                        <a:latin typeface="游ゴシック" charset="0"/>
                        <a:ea typeface="游ゴシック" charset="0"/>
                        <a:cs typeface="游ゴシック" charset="0"/>
                      </a:endParaRPr>
                    </a:p>
                  </a:txBody>
                  <a:tcPr marL="73152" marR="73152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b="1" dirty="0">
                          <a:solidFill>
                            <a:srgbClr val="008A5E"/>
                          </a:solidFill>
                          <a:latin typeface="游ゴシック" pitchFamily="34" charset="0"/>
                          <a:ea typeface="游ゴシック" pitchFamily="34" charset="-122"/>
                          <a:cs typeface="游ゴシック" pitchFamily="34" charset="-120"/>
                        </a:rPr>
                        <a:t>0 / 0 / 0</a:t>
                      </a:r>
                      <a:endParaRPr lang="en-US" sz="1600" dirty="0">
                        <a:latin typeface="游ゴシック" charset="0"/>
                        <a:ea typeface="游ゴシック" charset="0"/>
                        <a:cs typeface="游ゴシック" charset="0"/>
                      </a:endParaRPr>
                    </a:p>
                  </a:txBody>
                  <a:tcPr marL="73152" marR="73152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000000"/>
                          </a:solidFill>
                          <a:latin typeface="游ゴシック" pitchFamily="34" charset="0"/>
                          <a:ea typeface="游ゴシック" pitchFamily="34" charset="-122"/>
                          <a:cs typeface="游ゴシック" pitchFamily="34" charset="-120"/>
                        </a:rPr>
                        <a:t>入力の速さ（本来 16,000 Hz）</a:t>
                      </a:r>
                      <a:endParaRPr lang="en-US" sz="1600" dirty="0">
                        <a:latin typeface="游ゴシック" charset="0"/>
                        <a:ea typeface="游ゴシック" charset="0"/>
                        <a:cs typeface="游ゴシック" charset="0"/>
                      </a:endParaRPr>
                    </a:p>
                  </a:txBody>
                  <a:tcPr marL="73152" marR="73152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000000"/>
                          </a:solidFill>
                          <a:latin typeface="游ゴシック" pitchFamily="34" charset="0"/>
                          <a:ea typeface="游ゴシック" pitchFamily="34" charset="-122"/>
                          <a:cs typeface="游ゴシック" pitchFamily="34" charset="-120"/>
                        </a:rPr>
                        <a:t>16,128 Hz</a:t>
                      </a:r>
                      <a:endParaRPr lang="en-US" sz="1600" dirty="0">
                        <a:latin typeface="游ゴシック" charset="0"/>
                        <a:ea typeface="游ゴシック" charset="0"/>
                        <a:cs typeface="游ゴシック" charset="0"/>
                      </a:endParaRPr>
                    </a:p>
                  </a:txBody>
                  <a:tcPr marL="73152" marR="73152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b="1" dirty="0">
                          <a:solidFill>
                            <a:srgbClr val="C00000"/>
                          </a:solidFill>
                          <a:latin typeface="游ゴシック" pitchFamily="34" charset="0"/>
                          <a:ea typeface="游ゴシック" pitchFamily="34" charset="-122"/>
                          <a:cs typeface="游ゴシック" pitchFamily="34" charset="-120"/>
                        </a:rPr>
                        <a:t>14,848 Hz（8% 欠落）</a:t>
                      </a:r>
                      <a:endParaRPr lang="en-US" sz="1600" dirty="0">
                        <a:latin typeface="游ゴシック" charset="0"/>
                        <a:ea typeface="游ゴシック" charset="0"/>
                        <a:cs typeface="游ゴシック" charset="0"/>
                      </a:endParaRPr>
                    </a:p>
                  </a:txBody>
                  <a:tcPr marL="73152" marR="73152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000000"/>
                          </a:solidFill>
                          <a:latin typeface="游ゴシック" pitchFamily="34" charset="0"/>
                          <a:ea typeface="游ゴシック" pitchFamily="34" charset="-122"/>
                          <a:cs typeface="游ゴシック" pitchFamily="34" charset="-120"/>
                        </a:rPr>
                        <a:t>16,128 Hz</a:t>
                      </a:r>
                      <a:endParaRPr lang="en-US" sz="1600" dirty="0">
                        <a:latin typeface="游ゴシック" charset="0"/>
                        <a:ea typeface="游ゴシック" charset="0"/>
                        <a:cs typeface="游ゴシック" charset="0"/>
                      </a:endParaRPr>
                    </a:p>
                  </a:txBody>
                  <a:tcPr marL="73152" marR="73152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000000"/>
                          </a:solidFill>
                          <a:latin typeface="游ゴシック" pitchFamily="34" charset="0"/>
                          <a:ea typeface="游ゴシック" pitchFamily="34" charset="-122"/>
                          <a:cs typeface="游ゴシック" pitchFamily="34" charset="-120"/>
                        </a:rPr>
                        <a:t>推論できなかった窓</a:t>
                      </a:r>
                      <a:endParaRPr lang="en-US" sz="1600" dirty="0">
                        <a:latin typeface="游ゴシック" charset="0"/>
                        <a:ea typeface="游ゴシック" charset="0"/>
                        <a:cs typeface="游ゴシック" charset="0"/>
                      </a:endParaRPr>
                    </a:p>
                  </a:txBody>
                  <a:tcPr marL="73152" marR="73152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000000"/>
                          </a:solidFill>
                          <a:latin typeface="游ゴシック" pitchFamily="34" charset="0"/>
                          <a:ea typeface="游ゴシック" pitchFamily="34" charset="-122"/>
                          <a:cs typeface="游ゴシック" pitchFamily="34" charset="-120"/>
                        </a:rPr>
                        <a:t>0</a:t>
                      </a:r>
                      <a:endParaRPr lang="en-US" sz="1600" dirty="0">
                        <a:latin typeface="游ゴシック" charset="0"/>
                        <a:ea typeface="游ゴシック" charset="0"/>
                        <a:cs typeface="游ゴシック" charset="0"/>
                      </a:endParaRPr>
                    </a:p>
                  </a:txBody>
                  <a:tcPr marL="73152" marR="73152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000000"/>
                          </a:solidFill>
                          <a:latin typeface="游ゴシック" pitchFamily="34" charset="0"/>
                          <a:ea typeface="游ゴシック" pitchFamily="34" charset="-122"/>
                          <a:cs typeface="游ゴシック" pitchFamily="34" charset="-120"/>
                        </a:rPr>
                        <a:t>0</a:t>
                      </a:r>
                      <a:endParaRPr lang="en-US" sz="1600" dirty="0">
                        <a:latin typeface="游ゴシック" charset="0"/>
                        <a:ea typeface="游ゴシック" charset="0"/>
                        <a:cs typeface="游ゴシック" charset="0"/>
                      </a:endParaRPr>
                    </a:p>
                  </a:txBody>
                  <a:tcPr marL="73152" marR="73152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b="1" dirty="0">
                          <a:solidFill>
                            <a:srgbClr val="C00000"/>
                          </a:solidFill>
                          <a:latin typeface="游ゴシック" pitchFamily="34" charset="0"/>
                          <a:ea typeface="游ゴシック" pitchFamily="34" charset="-122"/>
                          <a:cs typeface="游ゴシック" pitchFamily="34" charset="-120"/>
                        </a:rPr>
                        <a:t>13%</a:t>
                      </a:r>
                      <a:endParaRPr lang="en-US" sz="1600" dirty="0">
                        <a:latin typeface="游ゴシック" charset="0"/>
                        <a:ea typeface="游ゴシック" charset="0"/>
                        <a:cs typeface="游ゴシック" charset="0"/>
                      </a:endParaRPr>
                    </a:p>
                  </a:txBody>
                  <a:tcPr marL="73152" marR="73152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000000"/>
                          </a:solidFill>
                          <a:latin typeface="游ゴシック" pitchFamily="34" charset="0"/>
                          <a:ea typeface="游ゴシック" pitchFamily="34" charset="-122"/>
                          <a:cs typeface="游ゴシック" pitchFamily="34" charset="-120"/>
                        </a:rPr>
                        <a:t>捨てたログ</a:t>
                      </a:r>
                      <a:endParaRPr lang="en-US" sz="1600" dirty="0">
                        <a:latin typeface="游ゴシック" charset="0"/>
                        <a:ea typeface="游ゴシック" charset="0"/>
                        <a:cs typeface="游ゴシック" charset="0"/>
                      </a:endParaRPr>
                    </a:p>
                  </a:txBody>
                  <a:tcPr marL="73152" marR="73152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000000"/>
                          </a:solidFill>
                          <a:latin typeface="游ゴシック" pitchFamily="34" charset="0"/>
                          <a:ea typeface="游ゴシック" pitchFamily="34" charset="-122"/>
                          <a:cs typeface="游ゴシック" pitchFamily="34" charset="-120"/>
                        </a:rPr>
                        <a:t>0</a:t>
                      </a:r>
                      <a:endParaRPr lang="en-US" sz="1600" dirty="0">
                        <a:latin typeface="游ゴシック" charset="0"/>
                        <a:ea typeface="游ゴシック" charset="0"/>
                        <a:cs typeface="游ゴシック" charset="0"/>
                      </a:endParaRPr>
                    </a:p>
                  </a:txBody>
                  <a:tcPr marL="73152" marR="73152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000000"/>
                          </a:solidFill>
                          <a:latin typeface="游ゴシック" pitchFamily="34" charset="0"/>
                          <a:ea typeface="游ゴシック" pitchFamily="34" charset="-122"/>
                          <a:cs typeface="游ゴシック" pitchFamily="34" charset="-120"/>
                        </a:rPr>
                        <a:t>0</a:t>
                      </a:r>
                      <a:endParaRPr lang="en-US" sz="1600" dirty="0">
                        <a:latin typeface="游ゴシック" charset="0"/>
                        <a:ea typeface="游ゴシック" charset="0"/>
                        <a:cs typeface="游ゴシック" charset="0"/>
                      </a:endParaRPr>
                    </a:p>
                  </a:txBody>
                  <a:tcPr marL="73152" marR="73152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b="1" dirty="0">
                          <a:solidFill>
                            <a:srgbClr val="C00000"/>
                          </a:solidFill>
                          <a:latin typeface="游ゴシック" pitchFamily="34" charset="0"/>
                          <a:ea typeface="游ゴシック" pitchFamily="34" charset="-122"/>
                          <a:cs typeface="游ゴシック" pitchFamily="34" charset="-120"/>
                        </a:rPr>
                        <a:t>93%</a:t>
                      </a:r>
                      <a:endParaRPr lang="en-US" sz="1600" dirty="0">
                        <a:latin typeface="游ゴシック" charset="0"/>
                        <a:ea typeface="游ゴシック" charset="0"/>
                        <a:cs typeface="游ゴシック" charset="0"/>
                      </a:endParaRPr>
                    </a:p>
                  </a:txBody>
                  <a:tcPr marL="73152" marR="73152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000000"/>
                          </a:solidFill>
                          <a:latin typeface="游ゴシック" pitchFamily="34" charset="0"/>
                          <a:ea typeface="游ゴシック" pitchFamily="34" charset="-122"/>
                          <a:cs typeface="游ゴシック" pitchFamily="34" charset="-120"/>
                        </a:rPr>
                        <a:t>画面</a:t>
                      </a:r>
                      <a:endParaRPr lang="en-US" sz="1600" dirty="0">
                        <a:latin typeface="游ゴシック" charset="0"/>
                        <a:ea typeface="游ゴシック" charset="0"/>
                        <a:cs typeface="游ゴシック" charset="0"/>
                      </a:endParaRPr>
                    </a:p>
                  </a:txBody>
                  <a:tcPr marL="73152" marR="73152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000000"/>
                          </a:solidFill>
                          <a:latin typeface="游ゴシック" pitchFamily="34" charset="0"/>
                          <a:ea typeface="游ゴシック" pitchFamily="34" charset="-122"/>
                          <a:cs typeface="游ゴシック" pitchFamily="34" charset="-120"/>
                        </a:rPr>
                        <a:t>動作（遅れ最大 102 ms）</a:t>
                      </a:r>
                      <a:endParaRPr lang="en-US" sz="1600" dirty="0">
                        <a:latin typeface="游ゴシック" charset="0"/>
                        <a:ea typeface="游ゴシック" charset="0"/>
                        <a:cs typeface="游ゴシック" charset="0"/>
                      </a:endParaRPr>
                    </a:p>
                  </a:txBody>
                  <a:tcPr marL="73152" marR="73152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000000"/>
                          </a:solidFill>
                          <a:latin typeface="游ゴシック" pitchFamily="34" charset="0"/>
                          <a:ea typeface="游ゴシック" pitchFamily="34" charset="-122"/>
                          <a:cs typeface="游ゴシック" pitchFamily="34" charset="-120"/>
                        </a:rPr>
                        <a:t>動作</a:t>
                      </a:r>
                      <a:endParaRPr lang="en-US" sz="1600" dirty="0">
                        <a:latin typeface="游ゴシック" charset="0"/>
                        <a:ea typeface="游ゴシック" charset="0"/>
                        <a:cs typeface="游ゴシック" charset="0"/>
                      </a:endParaRPr>
                    </a:p>
                  </a:txBody>
                  <a:tcPr marL="73152" marR="73152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b="1" dirty="0">
                          <a:solidFill>
                            <a:srgbClr val="C00000"/>
                          </a:solidFill>
                          <a:latin typeface="游ゴシック" pitchFamily="34" charset="0"/>
                          <a:ea typeface="游ゴシック" pitchFamily="34" charset="-122"/>
                          <a:cs typeface="游ゴシック" pitchFamily="34" charset="-120"/>
                        </a:rPr>
                        <a:t>10 分間止まった</a:t>
                      </a:r>
                      <a:endParaRPr lang="en-US" sz="1600" dirty="0">
                        <a:latin typeface="游ゴシック" charset="0"/>
                        <a:ea typeface="游ゴシック" charset="0"/>
                        <a:cs typeface="游ゴシック" charset="0"/>
                      </a:endParaRPr>
                    </a:p>
                  </a:txBody>
                  <a:tcPr marL="73152" marR="73152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000000"/>
                          </a:solidFill>
                          <a:latin typeface="游ゴシック" pitchFamily="34" charset="0"/>
                          <a:ea typeface="游ゴシック" pitchFamily="34" charset="-122"/>
                          <a:cs typeface="游ゴシック" pitchFamily="34" charset="-120"/>
                        </a:rPr>
                        <a:t>ヘッドホンの聞こえ方</a:t>
                      </a:r>
                      <a:endParaRPr lang="en-US" sz="1600" dirty="0">
                        <a:latin typeface="游ゴシック" charset="0"/>
                        <a:ea typeface="游ゴシック" charset="0"/>
                        <a:cs typeface="游ゴシック" charset="0"/>
                      </a:endParaRPr>
                    </a:p>
                  </a:txBody>
                  <a:tcPr marL="73152" marR="73152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000000"/>
                          </a:solidFill>
                          <a:latin typeface="游ゴシック" pitchFamily="34" charset="0"/>
                          <a:ea typeface="游ゴシック" pitchFamily="34" charset="-122"/>
                          <a:cs typeface="游ゴシック" pitchFamily="34" charset="-120"/>
                        </a:rPr>
                        <a:t>正常</a:t>
                      </a:r>
                      <a:endParaRPr lang="en-US" sz="1600" dirty="0">
                        <a:latin typeface="游ゴシック" charset="0"/>
                        <a:ea typeface="游ゴシック" charset="0"/>
                        <a:cs typeface="游ゴシック" charset="0"/>
                      </a:endParaRPr>
                    </a:p>
                  </a:txBody>
                  <a:tcPr marL="73152" marR="73152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b="1" dirty="0">
                          <a:solidFill>
                            <a:srgbClr val="C00000"/>
                          </a:solidFill>
                          <a:latin typeface="游ゴシック" pitchFamily="34" charset="0"/>
                          <a:ea typeface="游ゴシック" pitchFamily="34" charset="-122"/>
                          <a:cs typeface="游ゴシック" pitchFamily="34" charset="-120"/>
                        </a:rPr>
                        <a:t>途切れる</a:t>
                      </a:r>
                      <a:endParaRPr lang="en-US" sz="1600" dirty="0">
                        <a:latin typeface="游ゴシック" charset="0"/>
                        <a:ea typeface="游ゴシック" charset="0"/>
                        <a:cs typeface="游ゴシック" charset="0"/>
                      </a:endParaRPr>
                    </a:p>
                  </a:txBody>
                  <a:tcPr marL="73152" marR="73152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000000"/>
                          </a:solidFill>
                          <a:latin typeface="游ゴシック" pitchFamily="34" charset="0"/>
                          <a:ea typeface="游ゴシック" pitchFamily="34" charset="-122"/>
                          <a:cs typeface="游ゴシック" pitchFamily="34" charset="-120"/>
                        </a:rPr>
                        <a:t>正常</a:t>
                      </a:r>
                      <a:endParaRPr lang="en-US" sz="1600" dirty="0">
                        <a:latin typeface="游ゴシック" charset="0"/>
                        <a:ea typeface="游ゴシック" charset="0"/>
                        <a:cs typeface="游ゴシック" charset="0"/>
                      </a:endParaRPr>
                    </a:p>
                  </a:txBody>
                  <a:tcPr marL="73152" marR="73152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6" name="Text 3"/>
          <p:cNvSpPr txBox="1"/>
          <p:nvPr/>
        </p:nvSpPr>
        <p:spPr>
          <a:xfrm>
            <a:off x="457200" y="5989320"/>
            <a:ext cx="112745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前処理 69 ms・推論 41 ms と判定の結果は 3 条件で同じ。変わったのは「間に合うか」だけ</a:t>
            </a:r>
            <a:endParaRPr lang="en-US" sz="1800" dirty="0"/>
          </a:p>
        </p:txBody>
      </p: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A29BF8B5-5CE6-71BB-0623-375AEDACDBCD}"/>
              </a:ext>
            </a:extLst>
          </p:cNvPr>
          <p:cNvSpPr txBox="1"/>
          <p:nvPr/>
        </p:nvSpPr>
        <p:spPr>
          <a:xfrm>
            <a:off x="373224" y="1080689"/>
            <a:ext cx="152089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b="1" dirty="0"/>
              <a:t>結果として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74320" y="109728"/>
            <a:ext cx="116128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5-3　② 推論を音より優先すると、なぜ音が壊れるか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0" y="777240"/>
            <a:ext cx="12191695" cy="274320"/>
          </a:xfrm>
          <a:prstGeom prst="rect">
            <a:avLst/>
          </a:prstGeom>
          <a:solidFill>
            <a:srgbClr val="156082"/>
          </a:solidFill>
          <a:ln w="12700">
            <a:solidFill>
              <a:srgbClr val="156082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4" name="Text 2"/>
          <p:cNvSpPr txBox="1"/>
          <p:nvPr/>
        </p:nvSpPr>
        <p:spPr>
          <a:xfrm>
            <a:off x="457200" y="1188720"/>
            <a:ext cx="11274552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推論の 112 ms の間、音のタスクが動けず、届いた音が溢れる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457200" y="2194560"/>
            <a:ext cx="7040880" cy="3429000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6" name="Text 4"/>
          <p:cNvSpPr txBox="1"/>
          <p:nvPr/>
        </p:nvSpPr>
        <p:spPr>
          <a:xfrm>
            <a:off x="548640" y="2423160"/>
            <a:ext cx="2011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マイクの DMA</a:t>
            </a:r>
            <a:endParaRPr lang="en-US" sz="1600" dirty="0"/>
          </a:p>
          <a:p>
            <a:pPr marL="0" indent="0">
              <a:buNone/>
            </a:pPr>
            <a:r>
              <a:rPr lang="en-US" sz="1600" b="1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（16 ms ごと）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3246120"/>
            <a:ext cx="2011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推論</a:t>
            </a:r>
            <a:endParaRPr lang="en-US" sz="1600" dirty="0"/>
          </a:p>
          <a:p>
            <a:pPr marL="0" indent="0">
              <a:buNone/>
            </a:pPr>
            <a:r>
              <a:rPr lang="en-US" sz="1600" b="1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（優先度 3）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4069080"/>
            <a:ext cx="2011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音の取り込み</a:t>
            </a:r>
            <a:endParaRPr lang="en-US" sz="1600" dirty="0"/>
          </a:p>
          <a:p>
            <a:pPr marL="0" indent="0">
              <a:buNone/>
            </a:pPr>
            <a:r>
              <a:rPr lang="en-US" sz="1600" b="1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（優先度 5）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2606040" y="2560320"/>
            <a:ext cx="54864" cy="365760"/>
          </a:xfrm>
          <a:prstGeom prst="rect">
            <a:avLst/>
          </a:prstGeom>
          <a:solidFill>
            <a:srgbClr val="156082"/>
          </a:solidFill>
          <a:ln w="12700">
            <a:solidFill>
              <a:srgbClr val="156082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0" name="Shape 8"/>
          <p:cNvSpPr/>
          <p:nvPr/>
        </p:nvSpPr>
        <p:spPr>
          <a:xfrm>
            <a:off x="2606040" y="4251960"/>
            <a:ext cx="73152" cy="274320"/>
          </a:xfrm>
          <a:prstGeom prst="rect">
            <a:avLst/>
          </a:prstGeom>
          <a:solidFill>
            <a:srgbClr val="008A5E"/>
          </a:solidFill>
          <a:ln w="12700">
            <a:solidFill>
              <a:srgbClr val="008A5E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1" name="Shape 9"/>
          <p:cNvSpPr/>
          <p:nvPr/>
        </p:nvSpPr>
        <p:spPr>
          <a:xfrm>
            <a:off x="2839212" y="2560320"/>
            <a:ext cx="54864" cy="365760"/>
          </a:xfrm>
          <a:prstGeom prst="rect">
            <a:avLst/>
          </a:prstGeom>
          <a:solidFill>
            <a:srgbClr val="156082"/>
          </a:solidFill>
          <a:ln w="12700">
            <a:solidFill>
              <a:srgbClr val="156082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2" name="Shape 10"/>
          <p:cNvSpPr/>
          <p:nvPr/>
        </p:nvSpPr>
        <p:spPr>
          <a:xfrm>
            <a:off x="2839212" y="4251960"/>
            <a:ext cx="73152" cy="274320"/>
          </a:xfrm>
          <a:prstGeom prst="rect">
            <a:avLst/>
          </a:prstGeom>
          <a:solidFill>
            <a:srgbClr val="008A5E"/>
          </a:solidFill>
          <a:ln w="12700">
            <a:solidFill>
              <a:srgbClr val="008A5E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3" name="Shape 11"/>
          <p:cNvSpPr/>
          <p:nvPr/>
        </p:nvSpPr>
        <p:spPr>
          <a:xfrm>
            <a:off x="3072384" y="2560320"/>
            <a:ext cx="54864" cy="365760"/>
          </a:xfrm>
          <a:prstGeom prst="rect">
            <a:avLst/>
          </a:prstGeom>
          <a:solidFill>
            <a:srgbClr val="156082"/>
          </a:solidFill>
          <a:ln w="12700">
            <a:solidFill>
              <a:srgbClr val="156082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4" name="Shape 12"/>
          <p:cNvSpPr/>
          <p:nvPr/>
        </p:nvSpPr>
        <p:spPr>
          <a:xfrm>
            <a:off x="3072384" y="4251960"/>
            <a:ext cx="73152" cy="274320"/>
          </a:xfrm>
          <a:prstGeom prst="rect">
            <a:avLst/>
          </a:prstGeom>
          <a:solidFill>
            <a:srgbClr val="008A5E"/>
          </a:solidFill>
          <a:ln w="12700">
            <a:solidFill>
              <a:srgbClr val="008A5E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5" name="Shape 13"/>
          <p:cNvSpPr/>
          <p:nvPr/>
        </p:nvSpPr>
        <p:spPr>
          <a:xfrm>
            <a:off x="3305556" y="2560320"/>
            <a:ext cx="54864" cy="365760"/>
          </a:xfrm>
          <a:prstGeom prst="rect">
            <a:avLst/>
          </a:prstGeom>
          <a:solidFill>
            <a:srgbClr val="156082"/>
          </a:solidFill>
          <a:ln w="12700">
            <a:solidFill>
              <a:srgbClr val="156082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6" name="Shape 14"/>
          <p:cNvSpPr/>
          <p:nvPr/>
        </p:nvSpPr>
        <p:spPr>
          <a:xfrm>
            <a:off x="3305556" y="4251960"/>
            <a:ext cx="73152" cy="274320"/>
          </a:xfrm>
          <a:prstGeom prst="rect">
            <a:avLst/>
          </a:prstGeom>
          <a:solidFill>
            <a:srgbClr val="008A5E"/>
          </a:solidFill>
          <a:ln w="12700">
            <a:solidFill>
              <a:srgbClr val="008A5E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7" name="Shape 15"/>
          <p:cNvSpPr/>
          <p:nvPr/>
        </p:nvSpPr>
        <p:spPr>
          <a:xfrm>
            <a:off x="3538728" y="2560320"/>
            <a:ext cx="54864" cy="365760"/>
          </a:xfrm>
          <a:prstGeom prst="rect">
            <a:avLst/>
          </a:prstGeom>
          <a:solidFill>
            <a:srgbClr val="C00000"/>
          </a:solidFill>
          <a:ln w="12700">
            <a:solidFill>
              <a:srgbClr val="C00000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8" name="Shape 16"/>
          <p:cNvSpPr/>
          <p:nvPr/>
        </p:nvSpPr>
        <p:spPr>
          <a:xfrm>
            <a:off x="3771900" y="2560320"/>
            <a:ext cx="54864" cy="365760"/>
          </a:xfrm>
          <a:prstGeom prst="rect">
            <a:avLst/>
          </a:prstGeom>
          <a:solidFill>
            <a:srgbClr val="C00000"/>
          </a:solidFill>
          <a:ln w="12700">
            <a:solidFill>
              <a:srgbClr val="C00000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9" name="Shape 17"/>
          <p:cNvSpPr/>
          <p:nvPr/>
        </p:nvSpPr>
        <p:spPr>
          <a:xfrm>
            <a:off x="4005072" y="2560320"/>
            <a:ext cx="54864" cy="365760"/>
          </a:xfrm>
          <a:prstGeom prst="rect">
            <a:avLst/>
          </a:prstGeom>
          <a:solidFill>
            <a:srgbClr val="C00000"/>
          </a:solidFill>
          <a:ln w="12700">
            <a:solidFill>
              <a:srgbClr val="C00000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0" name="Shape 18"/>
          <p:cNvSpPr/>
          <p:nvPr/>
        </p:nvSpPr>
        <p:spPr>
          <a:xfrm>
            <a:off x="4238244" y="2560320"/>
            <a:ext cx="54864" cy="365760"/>
          </a:xfrm>
          <a:prstGeom prst="rect">
            <a:avLst/>
          </a:prstGeom>
          <a:solidFill>
            <a:srgbClr val="C00000"/>
          </a:solidFill>
          <a:ln w="12700">
            <a:solidFill>
              <a:srgbClr val="C00000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1" name="Shape 19"/>
          <p:cNvSpPr/>
          <p:nvPr/>
        </p:nvSpPr>
        <p:spPr>
          <a:xfrm>
            <a:off x="4471416" y="2560320"/>
            <a:ext cx="54864" cy="365760"/>
          </a:xfrm>
          <a:prstGeom prst="rect">
            <a:avLst/>
          </a:prstGeom>
          <a:solidFill>
            <a:srgbClr val="C00000"/>
          </a:solidFill>
          <a:ln w="12700">
            <a:solidFill>
              <a:srgbClr val="C00000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2" name="Shape 20"/>
          <p:cNvSpPr/>
          <p:nvPr/>
        </p:nvSpPr>
        <p:spPr>
          <a:xfrm>
            <a:off x="4704588" y="2560320"/>
            <a:ext cx="54864" cy="365760"/>
          </a:xfrm>
          <a:prstGeom prst="rect">
            <a:avLst/>
          </a:prstGeom>
          <a:solidFill>
            <a:srgbClr val="C00000"/>
          </a:solidFill>
          <a:ln w="12700">
            <a:solidFill>
              <a:srgbClr val="C00000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3" name="Shape 21"/>
          <p:cNvSpPr/>
          <p:nvPr/>
        </p:nvSpPr>
        <p:spPr>
          <a:xfrm>
            <a:off x="4937760" y="2560320"/>
            <a:ext cx="54864" cy="365760"/>
          </a:xfrm>
          <a:prstGeom prst="rect">
            <a:avLst/>
          </a:prstGeom>
          <a:solidFill>
            <a:srgbClr val="C00000"/>
          </a:solidFill>
          <a:ln w="12700">
            <a:solidFill>
              <a:srgbClr val="C00000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4" name="Shape 22"/>
          <p:cNvSpPr/>
          <p:nvPr/>
        </p:nvSpPr>
        <p:spPr>
          <a:xfrm>
            <a:off x="5170932" y="2560320"/>
            <a:ext cx="54864" cy="365760"/>
          </a:xfrm>
          <a:prstGeom prst="rect">
            <a:avLst/>
          </a:prstGeom>
          <a:solidFill>
            <a:srgbClr val="C00000"/>
          </a:solidFill>
          <a:ln w="12700">
            <a:solidFill>
              <a:srgbClr val="C00000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5" name="Shape 23"/>
          <p:cNvSpPr/>
          <p:nvPr/>
        </p:nvSpPr>
        <p:spPr>
          <a:xfrm>
            <a:off x="5404104" y="2560320"/>
            <a:ext cx="54864" cy="365760"/>
          </a:xfrm>
          <a:prstGeom prst="rect">
            <a:avLst/>
          </a:prstGeom>
          <a:solidFill>
            <a:srgbClr val="C00000"/>
          </a:solidFill>
          <a:ln w="12700">
            <a:solidFill>
              <a:srgbClr val="C00000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6" name="Shape 24"/>
          <p:cNvSpPr/>
          <p:nvPr/>
        </p:nvSpPr>
        <p:spPr>
          <a:xfrm>
            <a:off x="5637276" y="2560320"/>
            <a:ext cx="54864" cy="365760"/>
          </a:xfrm>
          <a:prstGeom prst="rect">
            <a:avLst/>
          </a:prstGeom>
          <a:solidFill>
            <a:srgbClr val="C00000"/>
          </a:solidFill>
          <a:ln w="12700">
            <a:solidFill>
              <a:srgbClr val="C00000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7" name="Shape 25"/>
          <p:cNvSpPr/>
          <p:nvPr/>
        </p:nvSpPr>
        <p:spPr>
          <a:xfrm>
            <a:off x="5870448" y="2560320"/>
            <a:ext cx="54864" cy="365760"/>
          </a:xfrm>
          <a:prstGeom prst="rect">
            <a:avLst/>
          </a:prstGeom>
          <a:solidFill>
            <a:srgbClr val="C00000"/>
          </a:solidFill>
          <a:ln w="12700">
            <a:solidFill>
              <a:srgbClr val="C00000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8" name="Shape 26"/>
          <p:cNvSpPr/>
          <p:nvPr/>
        </p:nvSpPr>
        <p:spPr>
          <a:xfrm>
            <a:off x="6103620" y="2560320"/>
            <a:ext cx="54864" cy="365760"/>
          </a:xfrm>
          <a:prstGeom prst="rect">
            <a:avLst/>
          </a:prstGeom>
          <a:solidFill>
            <a:srgbClr val="C00000"/>
          </a:solidFill>
          <a:ln w="12700">
            <a:solidFill>
              <a:srgbClr val="C00000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9" name="Shape 27"/>
          <p:cNvSpPr/>
          <p:nvPr/>
        </p:nvSpPr>
        <p:spPr>
          <a:xfrm>
            <a:off x="6336792" y="2560320"/>
            <a:ext cx="54864" cy="365760"/>
          </a:xfrm>
          <a:prstGeom prst="rect">
            <a:avLst/>
          </a:prstGeom>
          <a:solidFill>
            <a:srgbClr val="156082"/>
          </a:solidFill>
          <a:ln w="12700">
            <a:solidFill>
              <a:srgbClr val="156082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30" name="Shape 28"/>
          <p:cNvSpPr/>
          <p:nvPr/>
        </p:nvSpPr>
        <p:spPr>
          <a:xfrm>
            <a:off x="6336792" y="4251960"/>
            <a:ext cx="73152" cy="274320"/>
          </a:xfrm>
          <a:prstGeom prst="rect">
            <a:avLst/>
          </a:prstGeom>
          <a:solidFill>
            <a:srgbClr val="008A5E"/>
          </a:solidFill>
          <a:ln w="12700">
            <a:solidFill>
              <a:srgbClr val="008A5E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31" name="Shape 29"/>
          <p:cNvSpPr/>
          <p:nvPr/>
        </p:nvSpPr>
        <p:spPr>
          <a:xfrm>
            <a:off x="6569964" y="2560320"/>
            <a:ext cx="54864" cy="365760"/>
          </a:xfrm>
          <a:prstGeom prst="rect">
            <a:avLst/>
          </a:prstGeom>
          <a:solidFill>
            <a:srgbClr val="156082"/>
          </a:solidFill>
          <a:ln w="12700">
            <a:solidFill>
              <a:srgbClr val="156082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32" name="Shape 30"/>
          <p:cNvSpPr/>
          <p:nvPr/>
        </p:nvSpPr>
        <p:spPr>
          <a:xfrm>
            <a:off x="6569964" y="4251960"/>
            <a:ext cx="73152" cy="274320"/>
          </a:xfrm>
          <a:prstGeom prst="rect">
            <a:avLst/>
          </a:prstGeom>
          <a:solidFill>
            <a:srgbClr val="008A5E"/>
          </a:solidFill>
          <a:ln w="12700">
            <a:solidFill>
              <a:srgbClr val="008A5E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33" name="Shape 31"/>
          <p:cNvSpPr/>
          <p:nvPr/>
        </p:nvSpPr>
        <p:spPr>
          <a:xfrm>
            <a:off x="6803136" y="2560320"/>
            <a:ext cx="54864" cy="365760"/>
          </a:xfrm>
          <a:prstGeom prst="rect">
            <a:avLst/>
          </a:prstGeom>
          <a:solidFill>
            <a:srgbClr val="156082"/>
          </a:solidFill>
          <a:ln w="12700">
            <a:solidFill>
              <a:srgbClr val="156082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34" name="Shape 32"/>
          <p:cNvSpPr/>
          <p:nvPr/>
        </p:nvSpPr>
        <p:spPr>
          <a:xfrm>
            <a:off x="6803136" y="4251960"/>
            <a:ext cx="73152" cy="274320"/>
          </a:xfrm>
          <a:prstGeom prst="rect">
            <a:avLst/>
          </a:prstGeom>
          <a:solidFill>
            <a:srgbClr val="008A5E"/>
          </a:solidFill>
          <a:ln w="12700">
            <a:solidFill>
              <a:srgbClr val="008A5E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35" name="Shape 33"/>
          <p:cNvSpPr/>
          <p:nvPr/>
        </p:nvSpPr>
        <p:spPr>
          <a:xfrm>
            <a:off x="7036308" y="2560320"/>
            <a:ext cx="54864" cy="365760"/>
          </a:xfrm>
          <a:prstGeom prst="rect">
            <a:avLst/>
          </a:prstGeom>
          <a:solidFill>
            <a:srgbClr val="156082"/>
          </a:solidFill>
          <a:ln w="12700">
            <a:solidFill>
              <a:srgbClr val="156082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36" name="Shape 34"/>
          <p:cNvSpPr/>
          <p:nvPr/>
        </p:nvSpPr>
        <p:spPr>
          <a:xfrm>
            <a:off x="7036308" y="4251960"/>
            <a:ext cx="73152" cy="274320"/>
          </a:xfrm>
          <a:prstGeom prst="rect">
            <a:avLst/>
          </a:prstGeom>
          <a:solidFill>
            <a:srgbClr val="008A5E"/>
          </a:solidFill>
          <a:ln w="12700">
            <a:solidFill>
              <a:srgbClr val="008A5E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37" name="Shape 35"/>
          <p:cNvSpPr/>
          <p:nvPr/>
        </p:nvSpPr>
        <p:spPr>
          <a:xfrm>
            <a:off x="3538728" y="3355848"/>
            <a:ext cx="2611526" cy="420624"/>
          </a:xfrm>
          <a:prstGeom prst="rect">
            <a:avLst/>
          </a:prstGeom>
          <a:solidFill>
            <a:srgbClr val="008A5E"/>
          </a:solidFill>
          <a:ln w="12700">
            <a:solidFill>
              <a:srgbClr val="008A5E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38" name="Text 36"/>
          <p:cNvSpPr txBox="1"/>
          <p:nvPr/>
        </p:nvSpPr>
        <p:spPr>
          <a:xfrm>
            <a:off x="3538728" y="3355848"/>
            <a:ext cx="261152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推論 112 ms</a:t>
            </a:r>
            <a:endParaRPr lang="en-US" sz="1500" dirty="0"/>
          </a:p>
        </p:txBody>
      </p:sp>
      <p:sp>
        <p:nvSpPr>
          <p:cNvPr id="39" name="Shape 37"/>
          <p:cNvSpPr/>
          <p:nvPr/>
        </p:nvSpPr>
        <p:spPr>
          <a:xfrm>
            <a:off x="3562045" y="4178808"/>
            <a:ext cx="2564892" cy="420624"/>
          </a:xfrm>
          <a:prstGeom prst="rect">
            <a:avLst/>
          </a:prstGeom>
          <a:solidFill>
            <a:srgbClr val="E7E6E6"/>
          </a:solidFill>
          <a:ln w="12700">
            <a:solidFill>
              <a:srgbClr val="A6A6A6"/>
            </a:solidFill>
            <a:prstDash val="dash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40" name="Text 38"/>
          <p:cNvSpPr txBox="1"/>
          <p:nvPr/>
        </p:nvSpPr>
        <p:spPr>
          <a:xfrm>
            <a:off x="3562045" y="4178808"/>
            <a:ext cx="256489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C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動けない → 届いた音が溢れる</a:t>
            </a:r>
            <a:endParaRPr lang="en-US" sz="1400" dirty="0"/>
          </a:p>
        </p:txBody>
      </p:sp>
      <p:sp>
        <p:nvSpPr>
          <p:cNvPr id="41" name="Shape 39"/>
          <p:cNvSpPr/>
          <p:nvPr/>
        </p:nvSpPr>
        <p:spPr>
          <a:xfrm>
            <a:off x="2606040" y="4892040"/>
            <a:ext cx="4663440" cy="0"/>
          </a:xfrm>
          <a:prstGeom prst="line">
            <a:avLst/>
          </a:prstGeom>
          <a:noFill/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42" name="Shape 40"/>
          <p:cNvSpPr/>
          <p:nvPr/>
        </p:nvSpPr>
        <p:spPr>
          <a:xfrm>
            <a:off x="2606040" y="4846320"/>
            <a:ext cx="0" cy="91440"/>
          </a:xfrm>
          <a:prstGeom prst="line">
            <a:avLst/>
          </a:prstGeom>
          <a:noFill/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43" name="Text 41"/>
          <p:cNvSpPr txBox="1"/>
          <p:nvPr/>
        </p:nvSpPr>
        <p:spPr>
          <a:xfrm>
            <a:off x="2331720" y="4937760"/>
            <a:ext cx="548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0</a:t>
            </a:r>
            <a:endParaRPr lang="en-US" sz="1300" dirty="0"/>
          </a:p>
        </p:txBody>
      </p:sp>
      <p:sp>
        <p:nvSpPr>
          <p:cNvPr id="44" name="Shape 42"/>
          <p:cNvSpPr/>
          <p:nvPr/>
        </p:nvSpPr>
        <p:spPr>
          <a:xfrm>
            <a:off x="3771900" y="4846320"/>
            <a:ext cx="0" cy="91440"/>
          </a:xfrm>
          <a:prstGeom prst="line">
            <a:avLst/>
          </a:prstGeom>
          <a:noFill/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45" name="Text 43"/>
          <p:cNvSpPr txBox="1"/>
          <p:nvPr/>
        </p:nvSpPr>
        <p:spPr>
          <a:xfrm>
            <a:off x="3497580" y="4937760"/>
            <a:ext cx="548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50</a:t>
            </a:r>
            <a:endParaRPr lang="en-US" sz="1300" dirty="0"/>
          </a:p>
        </p:txBody>
      </p:sp>
      <p:sp>
        <p:nvSpPr>
          <p:cNvPr id="46" name="Shape 44"/>
          <p:cNvSpPr/>
          <p:nvPr/>
        </p:nvSpPr>
        <p:spPr>
          <a:xfrm>
            <a:off x="4937760" y="4846320"/>
            <a:ext cx="0" cy="91440"/>
          </a:xfrm>
          <a:prstGeom prst="line">
            <a:avLst/>
          </a:prstGeom>
          <a:noFill/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47" name="Text 45"/>
          <p:cNvSpPr txBox="1"/>
          <p:nvPr/>
        </p:nvSpPr>
        <p:spPr>
          <a:xfrm>
            <a:off x="4663440" y="4937760"/>
            <a:ext cx="548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100</a:t>
            </a:r>
            <a:endParaRPr lang="en-US" sz="1300" dirty="0"/>
          </a:p>
        </p:txBody>
      </p:sp>
      <p:sp>
        <p:nvSpPr>
          <p:cNvPr id="48" name="Shape 46"/>
          <p:cNvSpPr/>
          <p:nvPr/>
        </p:nvSpPr>
        <p:spPr>
          <a:xfrm>
            <a:off x="6103620" y="4846320"/>
            <a:ext cx="0" cy="91440"/>
          </a:xfrm>
          <a:prstGeom prst="line">
            <a:avLst/>
          </a:prstGeom>
          <a:noFill/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49" name="Text 47"/>
          <p:cNvSpPr txBox="1"/>
          <p:nvPr/>
        </p:nvSpPr>
        <p:spPr>
          <a:xfrm>
            <a:off x="5829300" y="4937760"/>
            <a:ext cx="548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150</a:t>
            </a:r>
            <a:endParaRPr lang="en-US" sz="1300" dirty="0"/>
          </a:p>
        </p:txBody>
      </p:sp>
      <p:sp>
        <p:nvSpPr>
          <p:cNvPr id="50" name="Shape 48"/>
          <p:cNvSpPr/>
          <p:nvPr/>
        </p:nvSpPr>
        <p:spPr>
          <a:xfrm>
            <a:off x="7269480" y="4846320"/>
            <a:ext cx="0" cy="91440"/>
          </a:xfrm>
          <a:prstGeom prst="line">
            <a:avLst/>
          </a:prstGeom>
          <a:noFill/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51" name="Text 49"/>
          <p:cNvSpPr txBox="1"/>
          <p:nvPr/>
        </p:nvSpPr>
        <p:spPr>
          <a:xfrm>
            <a:off x="6995160" y="4937760"/>
            <a:ext cx="548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200</a:t>
            </a:r>
            <a:endParaRPr lang="en-US" sz="1300" dirty="0"/>
          </a:p>
        </p:txBody>
      </p:sp>
      <p:sp>
        <p:nvSpPr>
          <p:cNvPr id="52" name="Text 50"/>
          <p:cNvSpPr txBox="1"/>
          <p:nvPr/>
        </p:nvSpPr>
        <p:spPr>
          <a:xfrm>
            <a:off x="2331720" y="5221224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595959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時刻（ms）　※ 刻みは模式。実際は 16 ms ごと</a:t>
            </a:r>
            <a:endParaRPr lang="en-US" sz="1200" dirty="0"/>
          </a:p>
        </p:txBody>
      </p:sp>
      <p:sp>
        <p:nvSpPr>
          <p:cNvPr id="53" name="Text 51"/>
          <p:cNvSpPr txBox="1"/>
          <p:nvPr/>
        </p:nvSpPr>
        <p:spPr>
          <a:xfrm>
            <a:off x="7772400" y="2194560"/>
            <a:ext cx="39593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結果（10 分）</a:t>
            </a:r>
            <a:endParaRPr lang="en-US" sz="1800" dirty="0"/>
          </a:p>
        </p:txBody>
      </p:sp>
      <p:sp>
        <p:nvSpPr>
          <p:cNvPr id="54" name="Text 52"/>
          <p:cNvSpPr txBox="1"/>
          <p:nvPr/>
        </p:nvSpPr>
        <p:spPr>
          <a:xfrm>
            <a:off x="7772400" y="2651760"/>
            <a:ext cx="395935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595959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音の取りこぼし（under / over / late）</a:t>
            </a:r>
            <a:endParaRPr lang="en-US" sz="1500" dirty="0"/>
          </a:p>
        </p:txBody>
      </p:sp>
      <p:sp>
        <p:nvSpPr>
          <p:cNvPr id="55" name="Text 53"/>
          <p:cNvSpPr txBox="1"/>
          <p:nvPr/>
        </p:nvSpPr>
        <p:spPr>
          <a:xfrm>
            <a:off x="7772400" y="2971800"/>
            <a:ext cx="39593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C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2,078 / 1,200 / 1,200</a:t>
            </a:r>
            <a:endParaRPr lang="en-US" sz="2200" dirty="0"/>
          </a:p>
        </p:txBody>
      </p:sp>
      <p:sp>
        <p:nvSpPr>
          <p:cNvPr id="56" name="Text 54"/>
          <p:cNvSpPr txBox="1"/>
          <p:nvPr/>
        </p:nvSpPr>
        <p:spPr>
          <a:xfrm>
            <a:off x="7772400" y="3639312"/>
            <a:ext cx="395935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595959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入力の速さ（本来 16,000 Hz）</a:t>
            </a:r>
            <a:endParaRPr lang="en-US" sz="1500" dirty="0"/>
          </a:p>
        </p:txBody>
      </p:sp>
      <p:sp>
        <p:nvSpPr>
          <p:cNvPr id="57" name="Text 55"/>
          <p:cNvSpPr txBox="1"/>
          <p:nvPr/>
        </p:nvSpPr>
        <p:spPr>
          <a:xfrm>
            <a:off x="7772400" y="3959352"/>
            <a:ext cx="39593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C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14,848 Hz（8% 欠落）</a:t>
            </a:r>
            <a:endParaRPr lang="en-US" sz="2200" dirty="0"/>
          </a:p>
        </p:txBody>
      </p:sp>
      <p:sp>
        <p:nvSpPr>
          <p:cNvPr id="58" name="Text 56"/>
          <p:cNvSpPr txBox="1"/>
          <p:nvPr/>
        </p:nvSpPr>
        <p:spPr>
          <a:xfrm>
            <a:off x="7772400" y="4626864"/>
            <a:ext cx="395935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595959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窓バッファへの書き込みの最大待ち</a:t>
            </a:r>
            <a:endParaRPr lang="en-US" sz="1500" dirty="0"/>
          </a:p>
        </p:txBody>
      </p:sp>
      <p:sp>
        <p:nvSpPr>
          <p:cNvPr id="59" name="Text 57"/>
          <p:cNvSpPr txBox="1"/>
          <p:nvPr/>
        </p:nvSpPr>
        <p:spPr>
          <a:xfrm>
            <a:off x="7772400" y="4946904"/>
            <a:ext cx="39593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C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414 ms</a:t>
            </a:r>
            <a:endParaRPr lang="en-US" sz="2200" dirty="0"/>
          </a:p>
        </p:txBody>
      </p:sp>
      <p:sp>
        <p:nvSpPr>
          <p:cNvPr id="60" name="Text 58"/>
          <p:cNvSpPr txBox="1"/>
          <p:nvPr/>
        </p:nvSpPr>
        <p:spPr>
          <a:xfrm>
            <a:off x="7772400" y="5623560"/>
            <a:ext cx="39593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95959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over・late は窓ごとに 2 回ずつ積み上がった（600 窓 × 2 ＝ 1,200）</a:t>
            </a:r>
            <a:endParaRPr lang="en-US" sz="1300" dirty="0"/>
          </a:p>
        </p:txBody>
      </p:sp>
      <p:sp>
        <p:nvSpPr>
          <p:cNvPr id="61" name="Text 59"/>
          <p:cNvSpPr txBox="1"/>
          <p:nvPr/>
        </p:nvSpPr>
        <p:spPr>
          <a:xfrm>
            <a:off x="457200" y="5806440"/>
            <a:ext cx="70408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推論・画面・ログは無事で、判定も ① と同じ。ヘッドホンでは音が途切れて聞こえる</a:t>
            </a:r>
            <a:endParaRPr lang="en-US" sz="17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74320" y="109728"/>
            <a:ext cx="116128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5-4　③ 推論を 10 倍重くすると、表示から壊れる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0" y="777240"/>
            <a:ext cx="12191695" cy="274320"/>
          </a:xfrm>
          <a:prstGeom prst="rect">
            <a:avLst/>
          </a:prstGeom>
          <a:solidFill>
            <a:srgbClr val="156082"/>
          </a:solidFill>
          <a:ln w="12700">
            <a:solidFill>
              <a:srgbClr val="156082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4" name="Text 2"/>
          <p:cNvSpPr txBox="1"/>
          <p:nvPr/>
        </p:nvSpPr>
        <p:spPr>
          <a:xfrm>
            <a:off x="1528914" y="1216152"/>
            <a:ext cx="9050694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遅れが 150 ms </a:t>
            </a:r>
            <a:r>
              <a:rPr lang="en-US" sz="2800" b="1" dirty="0" err="1"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ずつ積み上がり、</a:t>
            </a:r>
            <a:r>
              <a:rPr lang="en-US" sz="2800" b="1" dirty="0" err="1">
                <a:solidFill>
                  <a:srgbClr val="FF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画面が</a:t>
            </a:r>
            <a:r>
              <a:rPr lang="ja-JP" altLang="en-US" sz="2800" b="1" dirty="0">
                <a:solidFill>
                  <a:srgbClr val="FF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停止</a:t>
            </a:r>
            <a:endParaRPr lang="en-US" altLang="ja-JP" sz="2800" b="1" dirty="0">
              <a:solidFill>
                <a:srgbClr val="FF0000"/>
              </a:solidFill>
              <a:latin typeface="游ゴシック" pitchFamily="34" charset="0"/>
              <a:ea typeface="游ゴシック" pitchFamily="34" charset="-122"/>
              <a:cs typeface="游ゴシック" pitchFamily="34" charset="-120"/>
            </a:endParaRPr>
          </a:p>
          <a:p>
            <a:pPr marL="0" indent="0">
              <a:buNone/>
            </a:pPr>
            <a:r>
              <a:rPr lang="en-US" sz="2800" b="1" dirty="0">
                <a:solidFill>
                  <a:srgbClr val="FF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音</a:t>
            </a:r>
            <a:r>
              <a:rPr lang="ja-JP" altLang="en-US" sz="2800" b="1" dirty="0">
                <a:solidFill>
                  <a:srgbClr val="FF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は流れる。</a:t>
            </a:r>
            <a:endParaRPr lang="en-US" sz="2800" dirty="0"/>
          </a:p>
        </p:txBody>
      </p:sp>
      <p:graphicFrame>
        <p:nvGraphicFramePr>
          <p:cNvPr id="5" name="Chart 0"/>
          <p:cNvGraphicFramePr/>
          <p:nvPr/>
        </p:nvGraphicFramePr>
        <p:xfrm>
          <a:off x="457200" y="2148840"/>
          <a:ext cx="6309360" cy="34747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6" name="Shape 3"/>
          <p:cNvSpPr/>
          <p:nvPr/>
        </p:nvSpPr>
        <p:spPr>
          <a:xfrm>
            <a:off x="7040880" y="2148840"/>
            <a:ext cx="2286000" cy="1645920"/>
          </a:xfrm>
          <a:prstGeom prst="rect">
            <a:avLst/>
          </a:prstGeom>
          <a:solidFill>
            <a:srgbClr val="E6F4EE"/>
          </a:solidFill>
          <a:ln w="12700">
            <a:solidFill>
              <a:srgbClr val="E6F4EE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7" name="Text 4"/>
          <p:cNvSpPr txBox="1"/>
          <p:nvPr/>
        </p:nvSpPr>
        <p:spPr>
          <a:xfrm>
            <a:off x="7178040" y="224028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音の取りこぼし</a:t>
            </a:r>
            <a:endParaRPr lang="en-US" sz="1600" dirty="0"/>
          </a:p>
        </p:txBody>
      </p:sp>
      <p:sp>
        <p:nvSpPr>
          <p:cNvPr id="8" name="Text 5"/>
          <p:cNvSpPr txBox="1"/>
          <p:nvPr/>
        </p:nvSpPr>
        <p:spPr>
          <a:xfrm>
            <a:off x="7178040" y="2606040"/>
            <a:ext cx="20116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08A5E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0 回</a:t>
            </a:r>
            <a:endParaRPr lang="en-US" sz="2800" dirty="0"/>
          </a:p>
        </p:txBody>
      </p:sp>
      <p:sp>
        <p:nvSpPr>
          <p:cNvPr id="9" name="Shape 6"/>
          <p:cNvSpPr/>
          <p:nvPr/>
        </p:nvSpPr>
        <p:spPr>
          <a:xfrm>
            <a:off x="9436608" y="2148840"/>
            <a:ext cx="2286000" cy="1645920"/>
          </a:xfrm>
          <a:prstGeom prst="rect">
            <a:avLst/>
          </a:prstGeom>
          <a:solidFill>
            <a:srgbClr val="FDECEC"/>
          </a:solidFill>
          <a:ln w="12700">
            <a:solidFill>
              <a:srgbClr val="FDECEC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0" name="Text 7"/>
          <p:cNvSpPr txBox="1"/>
          <p:nvPr/>
        </p:nvSpPr>
        <p:spPr>
          <a:xfrm>
            <a:off x="9573768" y="224028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消えた窓</a:t>
            </a:r>
            <a:endParaRPr lang="en-US" sz="1600" dirty="0"/>
          </a:p>
        </p:txBody>
      </p:sp>
      <p:sp>
        <p:nvSpPr>
          <p:cNvPr id="11" name="Text 8"/>
          <p:cNvSpPr txBox="1"/>
          <p:nvPr/>
        </p:nvSpPr>
        <p:spPr>
          <a:xfrm>
            <a:off x="9573768" y="2606040"/>
            <a:ext cx="20116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C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13%</a:t>
            </a:r>
            <a:endParaRPr lang="en-US" sz="2800" dirty="0"/>
          </a:p>
        </p:txBody>
      </p:sp>
      <p:sp>
        <p:nvSpPr>
          <p:cNvPr id="12" name="Shape 9"/>
          <p:cNvSpPr/>
          <p:nvPr/>
        </p:nvSpPr>
        <p:spPr>
          <a:xfrm>
            <a:off x="7040880" y="3931920"/>
            <a:ext cx="2286000" cy="1645920"/>
          </a:xfrm>
          <a:prstGeom prst="rect">
            <a:avLst/>
          </a:prstGeom>
          <a:solidFill>
            <a:srgbClr val="FDECEC"/>
          </a:solidFill>
          <a:ln w="12700">
            <a:solidFill>
              <a:srgbClr val="FDECEC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3" name="Text 10"/>
          <p:cNvSpPr txBox="1"/>
          <p:nvPr/>
        </p:nvSpPr>
        <p:spPr>
          <a:xfrm>
            <a:off x="7178040" y="402336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捨てたログ</a:t>
            </a:r>
            <a:endParaRPr lang="en-US" sz="1600" dirty="0"/>
          </a:p>
        </p:txBody>
      </p:sp>
      <p:sp>
        <p:nvSpPr>
          <p:cNvPr id="14" name="Text 11"/>
          <p:cNvSpPr txBox="1"/>
          <p:nvPr/>
        </p:nvSpPr>
        <p:spPr>
          <a:xfrm>
            <a:off x="7178040" y="4389120"/>
            <a:ext cx="20116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C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93%</a:t>
            </a:r>
            <a:endParaRPr lang="en-US" sz="2800" dirty="0"/>
          </a:p>
        </p:txBody>
      </p:sp>
      <p:sp>
        <p:nvSpPr>
          <p:cNvPr id="15" name="Shape 12"/>
          <p:cNvSpPr/>
          <p:nvPr/>
        </p:nvSpPr>
        <p:spPr>
          <a:xfrm>
            <a:off x="9436608" y="3931920"/>
            <a:ext cx="2286000" cy="1645920"/>
          </a:xfrm>
          <a:prstGeom prst="rect">
            <a:avLst/>
          </a:prstGeom>
          <a:solidFill>
            <a:srgbClr val="FDECEC"/>
          </a:solidFill>
          <a:ln w="12700">
            <a:solidFill>
              <a:srgbClr val="FDECEC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6" name="Text 13"/>
          <p:cNvSpPr txBox="1"/>
          <p:nvPr/>
        </p:nvSpPr>
        <p:spPr>
          <a:xfrm>
            <a:off x="9573768" y="402336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画面</a:t>
            </a:r>
            <a:endParaRPr lang="en-US" sz="1600" dirty="0"/>
          </a:p>
        </p:txBody>
      </p:sp>
      <p:sp>
        <p:nvSpPr>
          <p:cNvPr id="17" name="Text 14"/>
          <p:cNvSpPr txBox="1"/>
          <p:nvPr/>
        </p:nvSpPr>
        <p:spPr>
          <a:xfrm>
            <a:off x="9573768" y="4389120"/>
            <a:ext cx="20116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C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10 分停止</a:t>
            </a:r>
            <a:endParaRPr lang="en-US" sz="2800" dirty="0"/>
          </a:p>
        </p:txBody>
      </p:sp>
      <p:sp>
        <p:nvSpPr>
          <p:cNvPr id="18" name="Text 15"/>
          <p:cNvSpPr txBox="1"/>
          <p:nvPr/>
        </p:nvSpPr>
        <p:spPr>
          <a:xfrm>
            <a:off x="457200" y="5715000"/>
            <a:ext cx="1127455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1 窓に 1,103 ms かかり、周期 960 ms を超える。優先度の低いログと画面は 598 秒間一度も動けず、推論が止まった瞬間に溜まった分が一気に流れた。音のタスクは上にいるので、周期どおり動き続けた</a:t>
            </a:r>
            <a:endParaRPr lang="en-US" sz="16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74320" y="109728"/>
            <a:ext cx="116128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6　実験 2：長時間運転（1 時間）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0" y="777240"/>
            <a:ext cx="12191695" cy="274320"/>
          </a:xfrm>
          <a:prstGeom prst="rect">
            <a:avLst/>
          </a:prstGeom>
          <a:solidFill>
            <a:srgbClr val="156082"/>
          </a:solidFill>
          <a:ln w="12700">
            <a:solidFill>
              <a:srgbClr val="156082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4" name="Shape 2"/>
          <p:cNvSpPr/>
          <p:nvPr/>
        </p:nvSpPr>
        <p:spPr>
          <a:xfrm>
            <a:off x="0" y="1051560"/>
            <a:ext cx="12191695" cy="1097280"/>
          </a:xfrm>
          <a:prstGeom prst="rect">
            <a:avLst/>
          </a:prstGeom>
          <a:solidFill>
            <a:srgbClr val="DDEBF3"/>
          </a:solidFill>
          <a:ln w="12700">
            <a:solidFill>
              <a:srgbClr val="DDEBF3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5" name="Text 3"/>
          <p:cNvSpPr txBox="1"/>
          <p:nvPr/>
        </p:nvSpPr>
        <p:spPr>
          <a:xfrm>
            <a:off x="457200" y="1097280"/>
            <a:ext cx="1127455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1 </a:t>
            </a:r>
            <a:r>
              <a:rPr lang="en-US" sz="2800" b="1" dirty="0" err="1">
                <a:solidFill>
                  <a:srgbClr val="FF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時間、音もログも画面も一つも落とさなかった</a:t>
            </a:r>
            <a:r>
              <a:rPr lang="en-US" sz="2800" b="1" dirty="0">
                <a:solidFill>
                  <a:srgbClr val="FF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。</a:t>
            </a:r>
          </a:p>
          <a:p>
            <a:pPr marL="0" indent="0">
              <a:buNone/>
            </a:pPr>
            <a:r>
              <a:rPr lang="en-US" sz="2800" b="1" dirty="0" err="1"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誤報は</a:t>
            </a:r>
            <a:r>
              <a:rPr lang="en-US" sz="2800" b="1" dirty="0"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 1,216 → 3.5 件/時に減らした</a:t>
            </a:r>
            <a:endParaRPr lang="en-US" sz="28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6217920"/>
            <a:ext cx="12344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95959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この章の流れ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1737360" y="6217920"/>
            <a:ext cx="3136392" cy="420624"/>
          </a:xfrm>
          <a:prstGeom prst="rect">
            <a:avLst/>
          </a:prstGeom>
          <a:solidFill>
            <a:srgbClr val="FFFFFF"/>
          </a:solidFill>
          <a:ln w="15875">
            <a:solidFill>
              <a:srgbClr val="156082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8" name="Text 6"/>
          <p:cNvSpPr txBox="1"/>
          <p:nvPr/>
        </p:nvSpPr>
        <p:spPr>
          <a:xfrm>
            <a:off x="1783080" y="6217920"/>
            <a:ext cx="304495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56082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6-1 1 時間の結果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4946904" y="6318504"/>
            <a:ext cx="146304" cy="219456"/>
          </a:xfrm>
          <a:prstGeom prst="chevron">
            <a:avLst/>
          </a:prstGeom>
          <a:solidFill>
            <a:srgbClr val="156082"/>
          </a:solidFill>
          <a:ln w="12700">
            <a:solidFill>
              <a:srgbClr val="156082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0" name="Shape 8"/>
          <p:cNvSpPr/>
          <p:nvPr/>
        </p:nvSpPr>
        <p:spPr>
          <a:xfrm>
            <a:off x="5166360" y="6217920"/>
            <a:ext cx="3136392" cy="420624"/>
          </a:xfrm>
          <a:prstGeom prst="rect">
            <a:avLst/>
          </a:prstGeom>
          <a:solidFill>
            <a:srgbClr val="FFFFFF"/>
          </a:solidFill>
          <a:ln w="15875">
            <a:solidFill>
              <a:srgbClr val="156082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1" name="Text 9"/>
          <p:cNvSpPr txBox="1"/>
          <p:nvPr/>
        </p:nvSpPr>
        <p:spPr>
          <a:xfrm>
            <a:off x="5212080" y="6217920"/>
            <a:ext cx="304495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56082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6-2 誤報の原因と対策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8375904" y="6318504"/>
            <a:ext cx="146304" cy="219456"/>
          </a:xfrm>
          <a:prstGeom prst="chevron">
            <a:avLst/>
          </a:prstGeom>
          <a:solidFill>
            <a:srgbClr val="156082"/>
          </a:solidFill>
          <a:ln w="12700">
            <a:solidFill>
              <a:srgbClr val="156082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3" name="Shape 11"/>
          <p:cNvSpPr/>
          <p:nvPr/>
        </p:nvSpPr>
        <p:spPr>
          <a:xfrm>
            <a:off x="8595360" y="6217920"/>
            <a:ext cx="3136392" cy="420624"/>
          </a:xfrm>
          <a:prstGeom prst="rect">
            <a:avLst/>
          </a:prstGeom>
          <a:solidFill>
            <a:srgbClr val="FFFFFF"/>
          </a:solidFill>
          <a:ln w="15875">
            <a:solidFill>
              <a:srgbClr val="156082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4" name="Text 12"/>
          <p:cNvSpPr txBox="1"/>
          <p:nvPr/>
        </p:nvSpPr>
        <p:spPr>
          <a:xfrm>
            <a:off x="8641080" y="6217920"/>
            <a:ext cx="304495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56082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6-3 対策の効き目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457200" y="2331720"/>
            <a:ext cx="2697480" cy="1737360"/>
          </a:xfrm>
          <a:prstGeom prst="rect">
            <a:avLst/>
          </a:prstGeom>
          <a:solidFill>
            <a:srgbClr val="E6F4EE"/>
          </a:solidFill>
          <a:ln w="12700">
            <a:solidFill>
              <a:srgbClr val="E6F4EE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6" name="Text 14"/>
          <p:cNvSpPr txBox="1"/>
          <p:nvPr/>
        </p:nvSpPr>
        <p:spPr>
          <a:xfrm>
            <a:off x="594360" y="2423160"/>
            <a:ext cx="2423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音の取りこぼし</a:t>
            </a:r>
            <a:endParaRPr lang="en-US" sz="1600" dirty="0"/>
          </a:p>
        </p:txBody>
      </p:sp>
      <p:sp>
        <p:nvSpPr>
          <p:cNvPr id="17" name="Text 15"/>
          <p:cNvSpPr txBox="1"/>
          <p:nvPr/>
        </p:nvSpPr>
        <p:spPr>
          <a:xfrm>
            <a:off x="594360" y="2788920"/>
            <a:ext cx="24231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08A5E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0 回</a:t>
            </a:r>
            <a:endParaRPr lang="en-US" sz="3000" dirty="0"/>
          </a:p>
        </p:txBody>
      </p:sp>
      <p:sp>
        <p:nvSpPr>
          <p:cNvPr id="18" name="Shape 16"/>
          <p:cNvSpPr/>
          <p:nvPr/>
        </p:nvSpPr>
        <p:spPr>
          <a:xfrm>
            <a:off x="3273552" y="2331720"/>
            <a:ext cx="2697480" cy="1737360"/>
          </a:xfrm>
          <a:prstGeom prst="rect">
            <a:avLst/>
          </a:prstGeom>
          <a:solidFill>
            <a:srgbClr val="E6F4EE"/>
          </a:solidFill>
          <a:ln w="12700">
            <a:solidFill>
              <a:srgbClr val="E6F4EE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9" name="Text 17"/>
          <p:cNvSpPr txBox="1"/>
          <p:nvPr/>
        </p:nvSpPr>
        <p:spPr>
          <a:xfrm>
            <a:off x="3410712" y="2423160"/>
            <a:ext cx="2423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推論できなかった窓</a:t>
            </a:r>
            <a:endParaRPr lang="en-US" sz="1600" dirty="0"/>
          </a:p>
        </p:txBody>
      </p:sp>
      <p:sp>
        <p:nvSpPr>
          <p:cNvPr id="20" name="Text 18"/>
          <p:cNvSpPr txBox="1"/>
          <p:nvPr/>
        </p:nvSpPr>
        <p:spPr>
          <a:xfrm>
            <a:off x="3410712" y="2788920"/>
            <a:ext cx="24231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08A5E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0 / 3,854</a:t>
            </a:r>
            <a:endParaRPr lang="en-US" sz="3000" dirty="0"/>
          </a:p>
        </p:txBody>
      </p:sp>
      <p:sp>
        <p:nvSpPr>
          <p:cNvPr id="21" name="Shape 19"/>
          <p:cNvSpPr/>
          <p:nvPr/>
        </p:nvSpPr>
        <p:spPr>
          <a:xfrm>
            <a:off x="457200" y="4206240"/>
            <a:ext cx="2697480" cy="1737360"/>
          </a:xfrm>
          <a:prstGeom prst="rect">
            <a:avLst/>
          </a:prstGeom>
          <a:solidFill>
            <a:srgbClr val="E6F4EE"/>
          </a:solidFill>
          <a:ln w="12700">
            <a:solidFill>
              <a:srgbClr val="E6F4EE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2" name="Text 20"/>
          <p:cNvSpPr txBox="1"/>
          <p:nvPr/>
        </p:nvSpPr>
        <p:spPr>
          <a:xfrm>
            <a:off x="594360" y="4297680"/>
            <a:ext cx="2423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ログ 24,238 行</a:t>
            </a:r>
            <a:endParaRPr lang="en-US" sz="1600" dirty="0"/>
          </a:p>
        </p:txBody>
      </p:sp>
      <p:sp>
        <p:nvSpPr>
          <p:cNvPr id="23" name="Text 21"/>
          <p:cNvSpPr txBox="1"/>
          <p:nvPr/>
        </p:nvSpPr>
        <p:spPr>
          <a:xfrm>
            <a:off x="594360" y="4663440"/>
            <a:ext cx="24231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08A5E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欠け 0</a:t>
            </a:r>
            <a:endParaRPr lang="en-US" sz="3000" dirty="0"/>
          </a:p>
        </p:txBody>
      </p:sp>
      <p:sp>
        <p:nvSpPr>
          <p:cNvPr id="24" name="Shape 22"/>
          <p:cNvSpPr/>
          <p:nvPr/>
        </p:nvSpPr>
        <p:spPr>
          <a:xfrm>
            <a:off x="3273552" y="4206240"/>
            <a:ext cx="2697480" cy="1737360"/>
          </a:xfrm>
          <a:prstGeom prst="rect">
            <a:avLst/>
          </a:prstGeom>
          <a:solidFill>
            <a:srgbClr val="E6F4EE"/>
          </a:solidFill>
          <a:ln w="12700">
            <a:solidFill>
              <a:srgbClr val="E6F4EE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5" name="Text 23"/>
          <p:cNvSpPr txBox="1"/>
          <p:nvPr/>
        </p:nvSpPr>
        <p:spPr>
          <a:xfrm>
            <a:off x="3410712" y="4297680"/>
            <a:ext cx="2423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画面の更新 83 回</a:t>
            </a:r>
            <a:endParaRPr lang="en-US" sz="1600" dirty="0"/>
          </a:p>
        </p:txBody>
      </p:sp>
      <p:sp>
        <p:nvSpPr>
          <p:cNvPr id="26" name="Text 24"/>
          <p:cNvSpPr txBox="1"/>
          <p:nvPr/>
        </p:nvSpPr>
        <p:spPr>
          <a:xfrm>
            <a:off x="3410712" y="4663440"/>
            <a:ext cx="24231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08A5E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欠け 0</a:t>
            </a:r>
            <a:endParaRPr lang="en-US" sz="3000" dirty="0"/>
          </a:p>
        </p:txBody>
      </p:sp>
      <p:graphicFrame>
        <p:nvGraphicFramePr>
          <p:cNvPr id="27" name="Chart 0"/>
          <p:cNvGraphicFramePr/>
          <p:nvPr/>
        </p:nvGraphicFramePr>
        <p:xfrm>
          <a:off x="6309360" y="2286000"/>
          <a:ext cx="5422392" cy="37947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74320" y="109728"/>
            <a:ext cx="116128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6-1　1 時間の結果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0" y="777240"/>
            <a:ext cx="12191695" cy="274320"/>
          </a:xfrm>
          <a:prstGeom prst="rect">
            <a:avLst/>
          </a:prstGeom>
          <a:solidFill>
            <a:srgbClr val="156082"/>
          </a:solidFill>
          <a:ln w="12700">
            <a:solidFill>
              <a:srgbClr val="156082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4" name="Text 2"/>
          <p:cNvSpPr txBox="1"/>
          <p:nvPr/>
        </p:nvSpPr>
        <p:spPr>
          <a:xfrm>
            <a:off x="457200" y="1188720"/>
            <a:ext cx="11274552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800" b="1" dirty="0">
                <a:solidFill>
                  <a:srgbClr val="FF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基盤は 1 </a:t>
            </a:r>
            <a:r>
              <a:rPr lang="en-US" sz="2800" b="1" dirty="0" err="1">
                <a:solidFill>
                  <a:srgbClr val="FF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時間まったく劣化しない</a:t>
            </a:r>
            <a:r>
              <a:rPr lang="en-US" sz="2800" b="1" dirty="0">
                <a:solidFill>
                  <a:srgbClr val="FF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。</a:t>
            </a:r>
          </a:p>
          <a:p>
            <a:pPr marL="0" indent="0">
              <a:buNone/>
            </a:pPr>
            <a:r>
              <a:rPr lang="en-US" sz="2800" b="1" dirty="0" err="1">
                <a:solidFill>
                  <a:srgbClr val="0070C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一方で誤報が</a:t>
            </a:r>
            <a:r>
              <a:rPr lang="en-US" sz="2800" b="1" dirty="0">
                <a:solidFill>
                  <a:srgbClr val="0070C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 80 件/時出た</a:t>
            </a:r>
            <a:endParaRPr lang="en-US" sz="2800" dirty="0">
              <a:solidFill>
                <a:srgbClr val="0070C0"/>
              </a:solidFill>
            </a:endParaRPr>
          </a:p>
        </p:txBody>
      </p:sp>
      <p:graphicFrame>
        <p:nvGraphicFramePr>
          <p:cNvPr id="2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2194560"/>
          <a:ext cx="6766560" cy="3200400"/>
        </p:xfrm>
        <a:graphic>
          <a:graphicData uri="http://schemas.openxmlformats.org/drawingml/2006/table">
            <a:tbl>
              <a:tblPr/>
              <a:tblGrid>
                <a:gridCol w="20116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7548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游ゴシック" pitchFamily="34" charset="0"/>
                          <a:ea typeface="游ゴシック" pitchFamily="34" charset="-122"/>
                          <a:cs typeface="游ゴシック" pitchFamily="34" charset="-120"/>
                        </a:rPr>
                        <a:t>項目</a:t>
                      </a:r>
                      <a:endParaRPr lang="en-US" sz="1500" dirty="0">
                        <a:latin typeface="游ゴシック" charset="0"/>
                        <a:ea typeface="游ゴシック" charset="0"/>
                        <a:cs typeface="游ゴシック" charset="0"/>
                      </a:endParaRPr>
                    </a:p>
                  </a:txBody>
                  <a:tcPr marL="73152" marR="73152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608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游ゴシック" pitchFamily="34" charset="0"/>
                          <a:ea typeface="游ゴシック" pitchFamily="34" charset="-122"/>
                          <a:cs typeface="游ゴシック" pitchFamily="34" charset="-120"/>
                        </a:rPr>
                        <a:t>値</a:t>
                      </a:r>
                      <a:endParaRPr lang="en-US" sz="1500" dirty="0">
                        <a:latin typeface="游ゴシック" charset="0"/>
                        <a:ea typeface="游ゴシック" charset="0"/>
                        <a:cs typeface="游ゴシック" charset="0"/>
                      </a:endParaRPr>
                    </a:p>
                  </a:txBody>
                  <a:tcPr marL="73152" marR="73152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608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rgbClr val="000000"/>
                          </a:solidFill>
                          <a:latin typeface="游ゴシック" pitchFamily="34" charset="0"/>
                          <a:ea typeface="游ゴシック" pitchFamily="34" charset="-122"/>
                          <a:cs typeface="游ゴシック" pitchFamily="34" charset="-120"/>
                        </a:rPr>
                        <a:t>推論した窓</a:t>
                      </a:r>
                      <a:endParaRPr lang="en-US" sz="1500" dirty="0">
                        <a:latin typeface="游ゴシック" charset="0"/>
                        <a:ea typeface="游ゴシック" charset="0"/>
                        <a:cs typeface="游ゴシック" charset="0"/>
                      </a:endParaRPr>
                    </a:p>
                  </a:txBody>
                  <a:tcPr marL="73152" marR="73152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b="1" dirty="0">
                          <a:solidFill>
                            <a:srgbClr val="008A5E"/>
                          </a:solidFill>
                          <a:latin typeface="游ゴシック" pitchFamily="34" charset="0"/>
                          <a:ea typeface="游ゴシック" pitchFamily="34" charset="-122"/>
                          <a:cs typeface="游ゴシック" pitchFamily="34" charset="-120"/>
                        </a:rPr>
                        <a:t>3,854 / 3,854（できなかった窓 0）</a:t>
                      </a:r>
                      <a:endParaRPr lang="en-US" sz="1500" dirty="0">
                        <a:latin typeface="游ゴシック" charset="0"/>
                        <a:ea typeface="游ゴシック" charset="0"/>
                        <a:cs typeface="游ゴシック" charset="0"/>
                      </a:endParaRPr>
                    </a:p>
                  </a:txBody>
                  <a:tcPr marL="73152" marR="73152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rgbClr val="000000"/>
                          </a:solidFill>
                          <a:latin typeface="游ゴシック" pitchFamily="34" charset="0"/>
                          <a:ea typeface="游ゴシック" pitchFamily="34" charset="-122"/>
                          <a:cs typeface="游ゴシック" pitchFamily="34" charset="-120"/>
                        </a:rPr>
                        <a:t>音の取りこぼし</a:t>
                      </a:r>
                      <a:endParaRPr lang="en-US" sz="1500" dirty="0">
                        <a:latin typeface="游ゴシック" charset="0"/>
                        <a:ea typeface="游ゴシック" charset="0"/>
                        <a:cs typeface="游ゴシック" charset="0"/>
                      </a:endParaRPr>
                    </a:p>
                  </a:txBody>
                  <a:tcPr marL="73152" marR="73152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b="1" dirty="0">
                          <a:solidFill>
                            <a:srgbClr val="008A5E"/>
                          </a:solidFill>
                          <a:latin typeface="游ゴシック" pitchFamily="34" charset="0"/>
                          <a:ea typeface="游ゴシック" pitchFamily="34" charset="-122"/>
                          <a:cs typeface="游ゴシック" pitchFamily="34" charset="-120"/>
                        </a:rPr>
                        <a:t>0 / 0 / 0（書き込み 231,287 回、最大 10.5 µs）</a:t>
                      </a:r>
                      <a:endParaRPr lang="en-US" sz="1500" dirty="0">
                        <a:latin typeface="游ゴシック" charset="0"/>
                        <a:ea typeface="游ゴシック" charset="0"/>
                        <a:cs typeface="游ゴシック" charset="0"/>
                      </a:endParaRPr>
                    </a:p>
                  </a:txBody>
                  <a:tcPr marL="73152" marR="73152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rgbClr val="000000"/>
                          </a:solidFill>
                          <a:latin typeface="游ゴシック" pitchFamily="34" charset="0"/>
                          <a:ea typeface="游ゴシック" pitchFamily="34" charset="-122"/>
                          <a:cs typeface="游ゴシック" pitchFamily="34" charset="-120"/>
                        </a:rPr>
                        <a:t>前処理 / 推論</a:t>
                      </a:r>
                      <a:endParaRPr lang="en-US" sz="1500" dirty="0">
                        <a:latin typeface="游ゴシック" charset="0"/>
                        <a:ea typeface="游ゴシック" charset="0"/>
                        <a:cs typeface="游ゴシック" charset="0"/>
                      </a:endParaRPr>
                    </a:p>
                  </a:txBody>
                  <a:tcPr marL="73152" marR="73152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rgbClr val="000000"/>
                          </a:solidFill>
                          <a:latin typeface="游ゴシック" pitchFamily="34" charset="0"/>
                          <a:ea typeface="游ゴシック" pitchFamily="34" charset="-122"/>
                          <a:cs typeface="游ゴシック" pitchFamily="34" charset="-120"/>
                        </a:rPr>
                        <a:t>平均 69.08 / 41.05 ms（最大との差 0.1 ms 以内）</a:t>
                      </a:r>
                      <a:endParaRPr lang="en-US" sz="1500" dirty="0">
                        <a:latin typeface="游ゴシック" charset="0"/>
                        <a:ea typeface="游ゴシック" charset="0"/>
                        <a:cs typeface="游ゴシック" charset="0"/>
                      </a:endParaRPr>
                    </a:p>
                  </a:txBody>
                  <a:tcPr marL="73152" marR="73152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rgbClr val="000000"/>
                          </a:solidFill>
                          <a:latin typeface="游ゴシック" pitchFamily="34" charset="0"/>
                          <a:ea typeface="游ゴシック" pitchFamily="34" charset="-122"/>
                          <a:cs typeface="游ゴシック" pitchFamily="34" charset="-120"/>
                        </a:rPr>
                        <a:t>検出から通知まで</a:t>
                      </a:r>
                      <a:endParaRPr lang="en-US" sz="1500" dirty="0">
                        <a:latin typeface="游ゴシック" charset="0"/>
                        <a:ea typeface="游ゴシック" charset="0"/>
                        <a:cs typeface="游ゴシック" charset="0"/>
                      </a:endParaRPr>
                    </a:p>
                  </a:txBody>
                  <a:tcPr marL="73152" marR="73152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rgbClr val="000000"/>
                          </a:solidFill>
                          <a:latin typeface="游ゴシック" pitchFamily="34" charset="0"/>
                          <a:ea typeface="游ゴシック" pitchFamily="34" charset="-122"/>
                          <a:cs typeface="游ゴシック" pitchFamily="34" charset="-120"/>
                        </a:rPr>
                        <a:t>最大 112.3 ms</a:t>
                      </a:r>
                      <a:endParaRPr lang="en-US" sz="1500" dirty="0">
                        <a:latin typeface="游ゴシック" charset="0"/>
                        <a:ea typeface="游ゴシック" charset="0"/>
                        <a:cs typeface="游ゴシック" charset="0"/>
                      </a:endParaRPr>
                    </a:p>
                  </a:txBody>
                  <a:tcPr marL="73152" marR="73152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rgbClr val="000000"/>
                          </a:solidFill>
                          <a:latin typeface="游ゴシック" pitchFamily="34" charset="0"/>
                          <a:ea typeface="游ゴシック" pitchFamily="34" charset="-122"/>
                          <a:cs typeface="游ゴシック" pitchFamily="34" charset="-120"/>
                        </a:rPr>
                        <a:t>ログ</a:t>
                      </a:r>
                      <a:endParaRPr lang="en-US" sz="1500" dirty="0">
                        <a:latin typeface="游ゴシック" charset="0"/>
                        <a:ea typeface="游ゴシック" charset="0"/>
                        <a:cs typeface="游ゴシック" charset="0"/>
                      </a:endParaRPr>
                    </a:p>
                  </a:txBody>
                  <a:tcPr marL="73152" marR="73152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b="1" dirty="0">
                          <a:solidFill>
                            <a:srgbClr val="008A5E"/>
                          </a:solidFill>
                          <a:latin typeface="游ゴシック" pitchFamily="34" charset="0"/>
                          <a:ea typeface="游ゴシック" pitchFamily="34" charset="-122"/>
                          <a:cs typeface="游ゴシック" pitchFamily="34" charset="-120"/>
                        </a:rPr>
                        <a:t>24,238 行、欠け 0（遅れ最大 128 ms）</a:t>
                      </a:r>
                      <a:endParaRPr lang="en-US" sz="1500" dirty="0">
                        <a:latin typeface="游ゴシック" charset="0"/>
                        <a:ea typeface="游ゴシック" charset="0"/>
                        <a:cs typeface="游ゴシック" charset="0"/>
                      </a:endParaRPr>
                    </a:p>
                  </a:txBody>
                  <a:tcPr marL="73152" marR="73152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rgbClr val="000000"/>
                          </a:solidFill>
                          <a:latin typeface="游ゴシック" pitchFamily="34" charset="0"/>
                          <a:ea typeface="游ゴシック" pitchFamily="34" charset="-122"/>
                          <a:cs typeface="游ゴシック" pitchFamily="34" charset="-120"/>
                        </a:rPr>
                        <a:t>画面</a:t>
                      </a:r>
                      <a:endParaRPr lang="en-US" sz="1500" dirty="0">
                        <a:latin typeface="游ゴシック" charset="0"/>
                        <a:ea typeface="游ゴシック" charset="0"/>
                        <a:cs typeface="游ゴシック" charset="0"/>
                      </a:endParaRPr>
                    </a:p>
                  </a:txBody>
                  <a:tcPr marL="73152" marR="73152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b="1" dirty="0">
                          <a:solidFill>
                            <a:srgbClr val="008A5E"/>
                          </a:solidFill>
                          <a:latin typeface="游ゴシック" pitchFamily="34" charset="0"/>
                          <a:ea typeface="游ゴシック" pitchFamily="34" charset="-122"/>
                          <a:cs typeface="游ゴシック" pitchFamily="34" charset="-120"/>
                        </a:rPr>
                        <a:t>83 回更新、欠け 0（遅れ最大 98.7 ms）</a:t>
                      </a:r>
                      <a:endParaRPr lang="en-US" sz="1500" dirty="0">
                        <a:latin typeface="游ゴシック" charset="0"/>
                        <a:ea typeface="游ゴシック" charset="0"/>
                        <a:cs typeface="游ゴシック" charset="0"/>
                      </a:endParaRPr>
                    </a:p>
                  </a:txBody>
                  <a:tcPr marL="73152" marR="73152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graphicFrame>
        <p:nvGraphicFramePr>
          <p:cNvPr id="6" name="Chart 0"/>
          <p:cNvGraphicFramePr/>
          <p:nvPr/>
        </p:nvGraphicFramePr>
        <p:xfrm>
          <a:off x="7406640" y="2148840"/>
          <a:ext cx="4325112" cy="3429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7" name="Text 3"/>
          <p:cNvSpPr txBox="1"/>
          <p:nvPr/>
        </p:nvSpPr>
        <p:spPr>
          <a:xfrm>
            <a:off x="457200" y="5852160"/>
            <a:ext cx="1127455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2026-09-27 16:18〜17:20、冷蔵庫のある生活空間・在室、ESC-10 版、対策 1 段目の規則。通知 80 件はすべて何も鳴っていない窓（平均音量 −44〜−33 dBFS）だった</a:t>
            </a:r>
            <a:endParaRPr lang="en-US" sz="16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74320" y="109728"/>
            <a:ext cx="116128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6-2　誤報の原因と 2 段の対策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0" y="777240"/>
            <a:ext cx="12191695" cy="274320"/>
          </a:xfrm>
          <a:prstGeom prst="rect">
            <a:avLst/>
          </a:prstGeom>
          <a:solidFill>
            <a:srgbClr val="156082"/>
          </a:solidFill>
          <a:ln w="12700">
            <a:solidFill>
              <a:srgbClr val="156082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4" name="Text 2"/>
          <p:cNvSpPr txBox="1"/>
          <p:nvPr/>
        </p:nvSpPr>
        <p:spPr>
          <a:xfrm>
            <a:off x="457200" y="1188720"/>
            <a:ext cx="11274552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800" b="1" dirty="0">
                <a:solidFill>
                  <a:srgbClr val="FF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固定の音量ではなく、その部屋の暗騒音との差で切る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457200" y="2194560"/>
            <a:ext cx="4206240" cy="2834640"/>
          </a:xfrm>
          <a:prstGeom prst="rect">
            <a:avLst/>
          </a:prstGeom>
          <a:solidFill>
            <a:srgbClr val="FDECEC"/>
          </a:solidFill>
          <a:ln w="15875">
            <a:solidFill>
              <a:srgbClr val="C00000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pic>
        <p:nvPicPr>
          <p:cNvPr id="6" name="Image 0" descr="/home/claude/v4/icons/FaSnowflake_595959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2331720"/>
            <a:ext cx="502920" cy="502920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280160" y="2286000"/>
            <a:ext cx="3200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C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原因</a:t>
            </a:r>
            <a:endParaRPr lang="en-US" sz="2200" dirty="0"/>
          </a:p>
        </p:txBody>
      </p:sp>
      <p:sp>
        <p:nvSpPr>
          <p:cNvPr id="8" name="Text 5"/>
          <p:cNvSpPr txBox="1"/>
          <p:nvPr/>
        </p:nvSpPr>
        <p:spPr>
          <a:xfrm>
            <a:off x="640080" y="2926080"/>
            <a:ext cx="3886200" cy="2057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70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冷蔵庫の低い連続音（平均 −48 dBFS）を、モデルが「くしゃみ」と判定した。無音の実験室では 0 件だったのに、部屋で 10 分回すと 199 件（1,216 件/時）</a:t>
            </a:r>
            <a:endParaRPr lang="en-US" sz="1700" dirty="0"/>
          </a:p>
        </p:txBody>
      </p:sp>
      <p:sp>
        <p:nvSpPr>
          <p:cNvPr id="9" name="Text 6"/>
          <p:cNvSpPr txBox="1"/>
          <p:nvPr/>
        </p:nvSpPr>
        <p:spPr>
          <a:xfrm>
            <a:off x="4937760" y="2148840"/>
            <a:ext cx="679399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対策前の 10 分のログに規則を当て、残る件数を PC で数えた（判定の再生）</a:t>
            </a:r>
            <a:endParaRPr lang="en-US" sz="1600" dirty="0"/>
          </a:p>
        </p:txBody>
      </p:sp>
      <p:sp>
        <p:nvSpPr>
          <p:cNvPr id="10" name="Shape 7"/>
          <p:cNvSpPr/>
          <p:nvPr/>
        </p:nvSpPr>
        <p:spPr>
          <a:xfrm>
            <a:off x="7818120" y="2743200"/>
            <a:ext cx="1261872" cy="502920"/>
          </a:xfrm>
          <a:prstGeom prst="rect">
            <a:avLst/>
          </a:prstGeom>
          <a:solidFill>
            <a:srgbClr val="156082"/>
          </a:solidFill>
          <a:ln w="12700">
            <a:solidFill>
              <a:srgbClr val="156082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1" name="Text 8"/>
          <p:cNvSpPr txBox="1"/>
          <p:nvPr/>
        </p:nvSpPr>
        <p:spPr>
          <a:xfrm>
            <a:off x="7891272" y="2743200"/>
            <a:ext cx="111556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確率 0.5 以上</a:t>
            </a:r>
            <a:endParaRPr lang="en-US" sz="1500" dirty="0"/>
          </a:p>
        </p:txBody>
      </p:sp>
      <p:sp>
        <p:nvSpPr>
          <p:cNvPr id="12" name="Shape 9"/>
          <p:cNvSpPr/>
          <p:nvPr/>
        </p:nvSpPr>
        <p:spPr>
          <a:xfrm>
            <a:off x="9125712" y="2743200"/>
            <a:ext cx="1261872" cy="502920"/>
          </a:xfrm>
          <a:prstGeom prst="rect">
            <a:avLst/>
          </a:prstGeom>
          <a:solidFill>
            <a:srgbClr val="156082"/>
          </a:solidFill>
          <a:ln w="12700">
            <a:solidFill>
              <a:srgbClr val="156082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3" name="Text 10"/>
          <p:cNvSpPr txBox="1"/>
          <p:nvPr/>
        </p:nvSpPr>
        <p:spPr>
          <a:xfrm>
            <a:off x="9198864" y="2743200"/>
            <a:ext cx="111556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0.7 以上</a:t>
            </a:r>
            <a:endParaRPr lang="en-US" sz="1500" dirty="0"/>
          </a:p>
        </p:txBody>
      </p:sp>
      <p:sp>
        <p:nvSpPr>
          <p:cNvPr id="14" name="Shape 11"/>
          <p:cNvSpPr/>
          <p:nvPr/>
        </p:nvSpPr>
        <p:spPr>
          <a:xfrm>
            <a:off x="10433304" y="2743200"/>
            <a:ext cx="1298448" cy="502920"/>
          </a:xfrm>
          <a:prstGeom prst="rect">
            <a:avLst/>
          </a:prstGeom>
          <a:solidFill>
            <a:srgbClr val="156082"/>
          </a:solidFill>
          <a:ln w="12700">
            <a:solidFill>
              <a:srgbClr val="156082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5" name="Text 12"/>
          <p:cNvSpPr txBox="1"/>
          <p:nvPr/>
        </p:nvSpPr>
        <p:spPr>
          <a:xfrm>
            <a:off x="10506456" y="2743200"/>
            <a:ext cx="115214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0.8 以上</a:t>
            </a:r>
            <a:endParaRPr lang="en-US" sz="1500" dirty="0"/>
          </a:p>
        </p:txBody>
      </p:sp>
      <p:sp>
        <p:nvSpPr>
          <p:cNvPr id="16" name="Shape 13"/>
          <p:cNvSpPr/>
          <p:nvPr/>
        </p:nvSpPr>
        <p:spPr>
          <a:xfrm>
            <a:off x="4937760" y="3291840"/>
            <a:ext cx="2834640" cy="512064"/>
          </a:xfrm>
          <a:prstGeom prst="rect">
            <a:avLst/>
          </a:prstGeom>
          <a:solidFill>
            <a:srgbClr val="F2F2F2"/>
          </a:solidFill>
          <a:ln w="12700">
            <a:solidFill>
              <a:srgbClr val="BFBFBF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7" name="Text 14"/>
          <p:cNvSpPr txBox="1"/>
          <p:nvPr/>
        </p:nvSpPr>
        <p:spPr>
          <a:xfrm>
            <a:off x="5010912" y="3291840"/>
            <a:ext cx="268833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音量の条件なし</a:t>
            </a:r>
            <a:endParaRPr lang="en-US" sz="1500" dirty="0"/>
          </a:p>
        </p:txBody>
      </p:sp>
      <p:sp>
        <p:nvSpPr>
          <p:cNvPr id="18" name="Shape 15"/>
          <p:cNvSpPr/>
          <p:nvPr/>
        </p:nvSpPr>
        <p:spPr>
          <a:xfrm>
            <a:off x="7818120" y="3291840"/>
            <a:ext cx="1261872" cy="512064"/>
          </a:xfrm>
          <a:prstGeom prst="rect">
            <a:avLst/>
          </a:prstGeom>
          <a:solidFill>
            <a:srgbClr val="F4B6B6"/>
          </a:solidFill>
          <a:ln w="9525">
            <a:solidFill>
              <a:srgbClr val="BFBFBF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9" name="Text 16"/>
          <p:cNvSpPr txBox="1"/>
          <p:nvPr/>
        </p:nvSpPr>
        <p:spPr>
          <a:xfrm>
            <a:off x="7818120" y="3291840"/>
            <a:ext cx="126187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202</a:t>
            </a:r>
            <a:endParaRPr lang="en-US" sz="2000" dirty="0"/>
          </a:p>
        </p:txBody>
      </p:sp>
      <p:sp>
        <p:nvSpPr>
          <p:cNvPr id="20" name="Shape 17"/>
          <p:cNvSpPr/>
          <p:nvPr/>
        </p:nvSpPr>
        <p:spPr>
          <a:xfrm>
            <a:off x="9125712" y="3291840"/>
            <a:ext cx="1261872" cy="512064"/>
          </a:xfrm>
          <a:prstGeom prst="rect">
            <a:avLst/>
          </a:prstGeom>
          <a:solidFill>
            <a:srgbClr val="F8CFCF"/>
          </a:solidFill>
          <a:ln w="9525">
            <a:solidFill>
              <a:srgbClr val="BFBFBF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1" name="Text 18"/>
          <p:cNvSpPr txBox="1"/>
          <p:nvPr/>
        </p:nvSpPr>
        <p:spPr>
          <a:xfrm>
            <a:off x="9125712" y="3291840"/>
            <a:ext cx="126187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75</a:t>
            </a:r>
            <a:endParaRPr lang="en-US" sz="2000" dirty="0"/>
          </a:p>
        </p:txBody>
      </p:sp>
      <p:sp>
        <p:nvSpPr>
          <p:cNvPr id="22" name="Shape 19"/>
          <p:cNvSpPr/>
          <p:nvPr/>
        </p:nvSpPr>
        <p:spPr>
          <a:xfrm>
            <a:off x="10433304" y="3291840"/>
            <a:ext cx="1298448" cy="512064"/>
          </a:xfrm>
          <a:prstGeom prst="rect">
            <a:avLst/>
          </a:prstGeom>
          <a:solidFill>
            <a:srgbClr val="FBE3E3"/>
          </a:solidFill>
          <a:ln w="9525">
            <a:solidFill>
              <a:srgbClr val="BFBFBF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3" name="Text 20"/>
          <p:cNvSpPr txBox="1"/>
          <p:nvPr/>
        </p:nvSpPr>
        <p:spPr>
          <a:xfrm>
            <a:off x="10433304" y="3291840"/>
            <a:ext cx="129844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25</a:t>
            </a:r>
            <a:endParaRPr lang="en-US" sz="2000" dirty="0"/>
          </a:p>
        </p:txBody>
      </p:sp>
      <p:sp>
        <p:nvSpPr>
          <p:cNvPr id="24" name="Shape 21"/>
          <p:cNvSpPr/>
          <p:nvPr/>
        </p:nvSpPr>
        <p:spPr>
          <a:xfrm>
            <a:off x="4937760" y="3858768"/>
            <a:ext cx="2834640" cy="512064"/>
          </a:xfrm>
          <a:prstGeom prst="rect">
            <a:avLst/>
          </a:prstGeom>
          <a:solidFill>
            <a:srgbClr val="F2F2F2"/>
          </a:solidFill>
          <a:ln w="12700">
            <a:solidFill>
              <a:srgbClr val="BFBFBF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5" name="Text 22"/>
          <p:cNvSpPr txBox="1"/>
          <p:nvPr/>
        </p:nvSpPr>
        <p:spPr>
          <a:xfrm>
            <a:off x="5010912" y="3858768"/>
            <a:ext cx="268833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瞬間音量 −30 dBFS 以上</a:t>
            </a:r>
            <a:endParaRPr lang="en-US" sz="1500" dirty="0"/>
          </a:p>
        </p:txBody>
      </p:sp>
      <p:sp>
        <p:nvSpPr>
          <p:cNvPr id="26" name="Shape 23"/>
          <p:cNvSpPr/>
          <p:nvPr/>
        </p:nvSpPr>
        <p:spPr>
          <a:xfrm>
            <a:off x="7818120" y="3858768"/>
            <a:ext cx="1261872" cy="512064"/>
          </a:xfrm>
          <a:prstGeom prst="rect">
            <a:avLst/>
          </a:prstGeom>
          <a:solidFill>
            <a:srgbClr val="FBE3E3"/>
          </a:solidFill>
          <a:ln w="9525">
            <a:solidFill>
              <a:srgbClr val="BFBFBF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7" name="Text 24"/>
          <p:cNvSpPr txBox="1"/>
          <p:nvPr/>
        </p:nvSpPr>
        <p:spPr>
          <a:xfrm>
            <a:off x="7818120" y="3858768"/>
            <a:ext cx="126187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17</a:t>
            </a:r>
            <a:endParaRPr lang="en-US" sz="2000" dirty="0"/>
          </a:p>
        </p:txBody>
      </p:sp>
      <p:sp>
        <p:nvSpPr>
          <p:cNvPr id="28" name="Shape 25"/>
          <p:cNvSpPr/>
          <p:nvPr/>
        </p:nvSpPr>
        <p:spPr>
          <a:xfrm>
            <a:off x="9125712" y="3858768"/>
            <a:ext cx="1261872" cy="512064"/>
          </a:xfrm>
          <a:prstGeom prst="rect">
            <a:avLst/>
          </a:prstGeom>
          <a:solidFill>
            <a:srgbClr val="FFF3E0"/>
          </a:solidFill>
          <a:ln w="31750">
            <a:solidFill>
              <a:srgbClr val="156082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9" name="Text 26"/>
          <p:cNvSpPr txBox="1"/>
          <p:nvPr/>
        </p:nvSpPr>
        <p:spPr>
          <a:xfrm>
            <a:off x="9125712" y="3858768"/>
            <a:ext cx="126187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6</a:t>
            </a:r>
            <a:endParaRPr lang="en-US" sz="2000" dirty="0"/>
          </a:p>
        </p:txBody>
      </p:sp>
      <p:sp>
        <p:nvSpPr>
          <p:cNvPr id="30" name="Shape 27"/>
          <p:cNvSpPr/>
          <p:nvPr/>
        </p:nvSpPr>
        <p:spPr>
          <a:xfrm>
            <a:off x="10433304" y="3858768"/>
            <a:ext cx="1298448" cy="512064"/>
          </a:xfrm>
          <a:prstGeom prst="rect">
            <a:avLst/>
          </a:prstGeom>
          <a:solidFill>
            <a:srgbClr val="F2F2F2"/>
          </a:solidFill>
          <a:ln w="9525">
            <a:solidFill>
              <a:srgbClr val="BFBFBF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31" name="Text 28"/>
          <p:cNvSpPr txBox="1"/>
          <p:nvPr/>
        </p:nvSpPr>
        <p:spPr>
          <a:xfrm>
            <a:off x="10433304" y="3858768"/>
            <a:ext cx="129844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1</a:t>
            </a:r>
            <a:endParaRPr lang="en-US" sz="2000" dirty="0"/>
          </a:p>
        </p:txBody>
      </p:sp>
      <p:sp>
        <p:nvSpPr>
          <p:cNvPr id="32" name="Shape 29"/>
          <p:cNvSpPr/>
          <p:nvPr/>
        </p:nvSpPr>
        <p:spPr>
          <a:xfrm>
            <a:off x="4937760" y="4425696"/>
            <a:ext cx="2834640" cy="512064"/>
          </a:xfrm>
          <a:prstGeom prst="rect">
            <a:avLst/>
          </a:prstGeom>
          <a:solidFill>
            <a:srgbClr val="F2F2F2"/>
          </a:solidFill>
          <a:ln w="12700">
            <a:solidFill>
              <a:srgbClr val="BFBFBF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33" name="Text 30"/>
          <p:cNvSpPr txBox="1"/>
          <p:nvPr/>
        </p:nvSpPr>
        <p:spPr>
          <a:xfrm>
            <a:off x="5010912" y="4425696"/>
            <a:ext cx="268833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＋暗騒音より 10 dB 以上大きい</a:t>
            </a:r>
            <a:endParaRPr lang="en-US" sz="1500" dirty="0"/>
          </a:p>
        </p:txBody>
      </p:sp>
      <p:sp>
        <p:nvSpPr>
          <p:cNvPr id="34" name="Shape 31"/>
          <p:cNvSpPr/>
          <p:nvPr/>
        </p:nvSpPr>
        <p:spPr>
          <a:xfrm>
            <a:off x="7818120" y="4425696"/>
            <a:ext cx="1261872" cy="512064"/>
          </a:xfrm>
          <a:prstGeom prst="rect">
            <a:avLst/>
          </a:prstGeom>
          <a:solidFill>
            <a:srgbClr val="F2F2F2"/>
          </a:solidFill>
          <a:ln w="9525">
            <a:solidFill>
              <a:srgbClr val="BFBFBF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35" name="Text 32"/>
          <p:cNvSpPr txBox="1"/>
          <p:nvPr/>
        </p:nvSpPr>
        <p:spPr>
          <a:xfrm>
            <a:off x="7818120" y="4425696"/>
            <a:ext cx="126187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8</a:t>
            </a:r>
            <a:endParaRPr lang="en-US" sz="2000" dirty="0"/>
          </a:p>
        </p:txBody>
      </p:sp>
      <p:sp>
        <p:nvSpPr>
          <p:cNvPr id="36" name="Shape 33"/>
          <p:cNvSpPr/>
          <p:nvPr/>
        </p:nvSpPr>
        <p:spPr>
          <a:xfrm>
            <a:off x="9125712" y="4425696"/>
            <a:ext cx="1261872" cy="512064"/>
          </a:xfrm>
          <a:prstGeom prst="rect">
            <a:avLst/>
          </a:prstGeom>
          <a:solidFill>
            <a:srgbClr val="DDF3EA"/>
          </a:solidFill>
          <a:ln w="31750">
            <a:solidFill>
              <a:srgbClr val="156082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37" name="Text 34"/>
          <p:cNvSpPr txBox="1"/>
          <p:nvPr/>
        </p:nvSpPr>
        <p:spPr>
          <a:xfrm>
            <a:off x="9125712" y="4425696"/>
            <a:ext cx="126187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3</a:t>
            </a:r>
            <a:endParaRPr lang="en-US" sz="2000" dirty="0"/>
          </a:p>
        </p:txBody>
      </p:sp>
      <p:sp>
        <p:nvSpPr>
          <p:cNvPr id="38" name="Shape 35"/>
          <p:cNvSpPr/>
          <p:nvPr/>
        </p:nvSpPr>
        <p:spPr>
          <a:xfrm>
            <a:off x="10433304" y="4425696"/>
            <a:ext cx="1298448" cy="512064"/>
          </a:xfrm>
          <a:prstGeom prst="rect">
            <a:avLst/>
          </a:prstGeom>
          <a:solidFill>
            <a:srgbClr val="F2F2F2"/>
          </a:solidFill>
          <a:ln w="9525">
            <a:solidFill>
              <a:srgbClr val="BFBFBF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39" name="Text 36"/>
          <p:cNvSpPr txBox="1"/>
          <p:nvPr/>
        </p:nvSpPr>
        <p:spPr>
          <a:xfrm>
            <a:off x="10433304" y="4425696"/>
            <a:ext cx="129844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0</a:t>
            </a:r>
            <a:endParaRPr lang="en-US" sz="2000" dirty="0"/>
          </a:p>
        </p:txBody>
      </p:sp>
      <p:sp>
        <p:nvSpPr>
          <p:cNvPr id="40" name="Text 37"/>
          <p:cNvSpPr txBox="1"/>
          <p:nvPr/>
        </p:nvSpPr>
        <p:spPr>
          <a:xfrm>
            <a:off x="4937760" y="5029200"/>
            <a:ext cx="67939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95959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太枠が採用した組み合わせ（上：1 段目、下：2 段目）。起動から 1 分は相対の条件を使わない</a:t>
            </a:r>
            <a:endParaRPr lang="en-US" sz="1300" dirty="0"/>
          </a:p>
        </p:txBody>
      </p:sp>
      <p:sp>
        <p:nvSpPr>
          <p:cNvPr id="41" name="Shape 38"/>
          <p:cNvSpPr/>
          <p:nvPr/>
        </p:nvSpPr>
        <p:spPr>
          <a:xfrm>
            <a:off x="457200" y="5440680"/>
            <a:ext cx="5120640" cy="1051560"/>
          </a:xfrm>
          <a:prstGeom prst="rect">
            <a:avLst/>
          </a:prstGeom>
          <a:solidFill>
            <a:srgbClr val="DDEBF3"/>
          </a:solidFill>
          <a:ln w="19050">
            <a:solidFill>
              <a:srgbClr val="156082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42" name="Text 39"/>
          <p:cNvSpPr txBox="1"/>
          <p:nvPr/>
        </p:nvSpPr>
        <p:spPr>
          <a:xfrm>
            <a:off x="530352" y="5440680"/>
            <a:ext cx="4974336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1 段目：確率 0.7 以上 ＋ 瞬間音量 −30 dBFS 以上</a:t>
            </a:r>
            <a:endParaRPr lang="en-US" sz="1500" dirty="0"/>
          </a:p>
          <a:p>
            <a:pPr marL="0" indent="0" algn="ctr">
              <a:buNone/>
            </a:pPr>
            <a:r>
              <a:rPr lang="en-US" sz="1500" b="1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→ 1 時間で 80 件/時（6-1）</a:t>
            </a:r>
            <a:endParaRPr lang="en-US" sz="1500" dirty="0"/>
          </a:p>
        </p:txBody>
      </p:sp>
      <p:sp>
        <p:nvSpPr>
          <p:cNvPr id="43" name="Shape 40"/>
          <p:cNvSpPr/>
          <p:nvPr/>
        </p:nvSpPr>
        <p:spPr>
          <a:xfrm>
            <a:off x="5669280" y="5806440"/>
            <a:ext cx="457200" cy="329184"/>
          </a:xfrm>
          <a:prstGeom prst="rightArrow">
            <a:avLst/>
          </a:prstGeom>
          <a:solidFill>
            <a:srgbClr val="156082"/>
          </a:solidFill>
          <a:ln w="12700">
            <a:solidFill>
              <a:srgbClr val="156082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44" name="Shape 41"/>
          <p:cNvSpPr/>
          <p:nvPr/>
        </p:nvSpPr>
        <p:spPr>
          <a:xfrm>
            <a:off x="6217920" y="5440680"/>
            <a:ext cx="5513832" cy="1051560"/>
          </a:xfrm>
          <a:prstGeom prst="rect">
            <a:avLst/>
          </a:prstGeom>
          <a:solidFill>
            <a:srgbClr val="DDF3EA"/>
          </a:solidFill>
          <a:ln w="19050">
            <a:solidFill>
              <a:srgbClr val="008A5E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45" name="Text 42"/>
          <p:cNvSpPr txBox="1"/>
          <p:nvPr/>
        </p:nvSpPr>
        <p:spPr>
          <a:xfrm>
            <a:off x="6291072" y="5440680"/>
            <a:ext cx="5367528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2 段目：＋ 直近 1 分の暗騒音（音量の下位 10%）より 10 dB 大きい音だけ通す → 3.5 件/時（6-3）</a:t>
            </a:r>
            <a:endParaRPr lang="en-US" sz="15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74320" y="109728"/>
            <a:ext cx="116128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6-3　対策の効き目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0" y="777240"/>
            <a:ext cx="12191695" cy="274320"/>
          </a:xfrm>
          <a:prstGeom prst="rect">
            <a:avLst/>
          </a:prstGeom>
          <a:solidFill>
            <a:srgbClr val="156082"/>
          </a:solidFill>
          <a:ln w="12700">
            <a:solidFill>
              <a:srgbClr val="156082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4" name="Text 2"/>
          <p:cNvSpPr txBox="1"/>
          <p:nvPr/>
        </p:nvSpPr>
        <p:spPr>
          <a:xfrm>
            <a:off x="457200" y="1188720"/>
            <a:ext cx="11274552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800" b="1" dirty="0">
                <a:solidFill>
                  <a:srgbClr val="FF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2,117 窓のうち通知まで届いたのは、実際に鳴った 2 回だけ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457200" y="2194560"/>
            <a:ext cx="2926080" cy="658368"/>
          </a:xfrm>
          <a:prstGeom prst="rect">
            <a:avLst/>
          </a:prstGeom>
          <a:solidFill>
            <a:srgbClr val="BFBFBF"/>
          </a:solidFill>
          <a:ln w="12700">
            <a:solidFill>
              <a:srgbClr val="BFBFBF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6" name="Text 4"/>
          <p:cNvSpPr txBox="1"/>
          <p:nvPr/>
        </p:nvSpPr>
        <p:spPr>
          <a:xfrm>
            <a:off x="502920" y="2194560"/>
            <a:ext cx="2834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2,117</a:t>
            </a:r>
            <a:endParaRPr lang="en-US" sz="2400" dirty="0"/>
          </a:p>
        </p:txBody>
      </p:sp>
      <p:sp>
        <p:nvSpPr>
          <p:cNvPr id="7" name="Text 5"/>
          <p:cNvSpPr txBox="1"/>
          <p:nvPr/>
        </p:nvSpPr>
        <p:spPr>
          <a:xfrm>
            <a:off x="3520440" y="2194560"/>
            <a:ext cx="36118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34 分のすべての窓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457200" y="2971800"/>
            <a:ext cx="2240280" cy="658368"/>
          </a:xfrm>
          <a:prstGeom prst="rect">
            <a:avLst/>
          </a:prstGeom>
          <a:solidFill>
            <a:srgbClr val="9DC3E6"/>
          </a:solidFill>
          <a:ln w="12700">
            <a:solidFill>
              <a:srgbClr val="9DC3E6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9" name="Text 7"/>
          <p:cNvSpPr txBox="1"/>
          <p:nvPr/>
        </p:nvSpPr>
        <p:spPr>
          <a:xfrm>
            <a:off x="502920" y="2971800"/>
            <a:ext cx="21488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53</a:t>
            </a:r>
            <a:endParaRPr lang="en-US" sz="2400" dirty="0"/>
          </a:p>
        </p:txBody>
      </p:sp>
      <p:sp>
        <p:nvSpPr>
          <p:cNvPr id="10" name="Text 8"/>
          <p:cNvSpPr txBox="1"/>
          <p:nvPr/>
        </p:nvSpPr>
        <p:spPr>
          <a:xfrm>
            <a:off x="2834640" y="2971800"/>
            <a:ext cx="42976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モデルが対象の音だと確信した窓（確率 0.7 以上）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457200" y="3749040"/>
            <a:ext cx="1554480" cy="658368"/>
          </a:xfrm>
          <a:prstGeom prst="rect">
            <a:avLst/>
          </a:prstGeom>
          <a:solidFill>
            <a:srgbClr val="5B9BD5"/>
          </a:solidFill>
          <a:ln w="12700">
            <a:solidFill>
              <a:srgbClr val="5B9BD5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2" name="Text 10"/>
          <p:cNvSpPr txBox="1"/>
          <p:nvPr/>
        </p:nvSpPr>
        <p:spPr>
          <a:xfrm>
            <a:off x="502920" y="3749040"/>
            <a:ext cx="14630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19</a:t>
            </a:r>
            <a:endParaRPr lang="en-US" sz="2400" dirty="0"/>
          </a:p>
        </p:txBody>
      </p:sp>
      <p:sp>
        <p:nvSpPr>
          <p:cNvPr id="13" name="Text 11"/>
          <p:cNvSpPr txBox="1"/>
          <p:nvPr/>
        </p:nvSpPr>
        <p:spPr>
          <a:xfrm>
            <a:off x="2148840" y="3749040"/>
            <a:ext cx="4983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そのうち瞬間音量 −30 dBFS 以上（1 段目で残る）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457200" y="4526280"/>
            <a:ext cx="868680" cy="658368"/>
          </a:xfrm>
          <a:prstGeom prst="rect">
            <a:avLst/>
          </a:prstGeom>
          <a:solidFill>
            <a:srgbClr val="008A5E"/>
          </a:solidFill>
          <a:ln w="12700">
            <a:solidFill>
              <a:srgbClr val="008A5E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5" name="Text 13"/>
          <p:cNvSpPr txBox="1"/>
          <p:nvPr/>
        </p:nvSpPr>
        <p:spPr>
          <a:xfrm>
            <a:off x="502920" y="4526280"/>
            <a:ext cx="777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2</a:t>
            </a:r>
            <a:endParaRPr lang="en-US" sz="2400" dirty="0"/>
          </a:p>
        </p:txBody>
      </p:sp>
      <p:sp>
        <p:nvSpPr>
          <p:cNvPr id="16" name="Text 14"/>
          <p:cNvSpPr txBox="1"/>
          <p:nvPr/>
        </p:nvSpPr>
        <p:spPr>
          <a:xfrm>
            <a:off x="1463040" y="4526280"/>
            <a:ext cx="5669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そのうち暗騒音より 10 dB 以上大きい ＝ 通知</a:t>
            </a:r>
            <a:endParaRPr lang="en-US" sz="1600" dirty="0"/>
          </a:p>
        </p:txBody>
      </p:sp>
      <p:sp>
        <p:nvSpPr>
          <p:cNvPr id="17" name="Text 15"/>
          <p:cNvSpPr txBox="1"/>
          <p:nvPr/>
        </p:nvSpPr>
        <p:spPr>
          <a:xfrm>
            <a:off x="457200" y="5349240"/>
            <a:ext cx="6583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2 段目が無ければ 19 回（34 件/時）通知していた。残った 2 回は暗騒音 +19 dB・+13 dB の実際の物音</a:t>
            </a:r>
            <a:endParaRPr lang="en-US" sz="1600" dirty="0"/>
          </a:p>
        </p:txBody>
      </p:sp>
      <p:sp>
        <p:nvSpPr>
          <p:cNvPr id="18" name="Text 16"/>
          <p:cNvSpPr txBox="1"/>
          <p:nvPr/>
        </p:nvSpPr>
        <p:spPr>
          <a:xfrm>
            <a:off x="7315200" y="2148840"/>
            <a:ext cx="441655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通し試験（同じ夜・同じ規則）</a:t>
            </a:r>
            <a:endParaRPr lang="en-US" sz="1800" dirty="0"/>
          </a:p>
        </p:txBody>
      </p:sp>
      <p:pic>
        <p:nvPicPr>
          <p:cNvPr id="19" name="Image 0" descr="/home/claude/v4/icons/FaCheckCircle_008A5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0" y="2724912"/>
            <a:ext cx="365760" cy="365760"/>
          </a:xfrm>
          <a:prstGeom prst="rect">
            <a:avLst/>
          </a:prstGeom>
        </p:spPr>
      </p:pic>
      <p:sp>
        <p:nvSpPr>
          <p:cNvPr id="20" name="Text 17"/>
          <p:cNvSpPr txBox="1"/>
          <p:nvPr/>
        </p:nvSpPr>
        <p:spPr>
          <a:xfrm>
            <a:off x="7772400" y="2651760"/>
            <a:ext cx="395935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無音 60 秒</a:t>
            </a:r>
            <a:endParaRPr lang="en-US" sz="1600" dirty="0"/>
          </a:p>
        </p:txBody>
      </p:sp>
      <p:sp>
        <p:nvSpPr>
          <p:cNvPr id="21" name="Text 18"/>
          <p:cNvSpPr txBox="1"/>
          <p:nvPr/>
        </p:nvSpPr>
        <p:spPr>
          <a:xfrm>
            <a:off x="7772400" y="2944368"/>
            <a:ext cx="395935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通知 0</a:t>
            </a:r>
            <a:endParaRPr lang="en-US" sz="1400" dirty="0"/>
          </a:p>
        </p:txBody>
      </p:sp>
      <p:pic>
        <p:nvPicPr>
          <p:cNvPr id="22" name="Image 1" descr="/home/claude/v4/icons/FaCheckCircle_008A5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0" y="3410712"/>
            <a:ext cx="365760" cy="365760"/>
          </a:xfrm>
          <a:prstGeom prst="rect">
            <a:avLst/>
          </a:prstGeom>
        </p:spPr>
      </p:pic>
      <p:sp>
        <p:nvSpPr>
          <p:cNvPr id="23" name="Text 19"/>
          <p:cNvSpPr txBox="1"/>
          <p:nvPr/>
        </p:nvSpPr>
        <p:spPr>
          <a:xfrm>
            <a:off x="7772400" y="3337560"/>
            <a:ext cx="395935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対象の音のクリップ 6 本</a:t>
            </a:r>
            <a:endParaRPr lang="en-US" sz="1600" dirty="0"/>
          </a:p>
        </p:txBody>
      </p:sp>
      <p:sp>
        <p:nvSpPr>
          <p:cNvPr id="24" name="Text 20"/>
          <p:cNvSpPr txBox="1"/>
          <p:nvPr/>
        </p:nvSpPr>
        <p:spPr>
          <a:xfrm>
            <a:off x="7772400" y="3630168"/>
            <a:ext cx="395935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4 本を検出（2 本は音量過大でマイクが飽和）</a:t>
            </a:r>
            <a:endParaRPr lang="en-US" sz="1400" dirty="0"/>
          </a:p>
        </p:txBody>
      </p:sp>
      <p:pic>
        <p:nvPicPr>
          <p:cNvPr id="25" name="Image 2" descr="/home/claude/v4/icons/FaCheckCircle_008A5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0" y="4096512"/>
            <a:ext cx="365760" cy="365760"/>
          </a:xfrm>
          <a:prstGeom prst="rect">
            <a:avLst/>
          </a:prstGeom>
        </p:spPr>
      </p:pic>
      <p:sp>
        <p:nvSpPr>
          <p:cNvPr id="26" name="Text 21"/>
          <p:cNvSpPr txBox="1"/>
          <p:nvPr/>
        </p:nvSpPr>
        <p:spPr>
          <a:xfrm>
            <a:off x="7772400" y="4023360"/>
            <a:ext cx="395935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対象外のクリップ 4 本</a:t>
            </a:r>
            <a:endParaRPr lang="en-US" sz="1600" dirty="0"/>
          </a:p>
        </p:txBody>
      </p:sp>
      <p:sp>
        <p:nvSpPr>
          <p:cNvPr id="27" name="Text 22"/>
          <p:cNvSpPr txBox="1"/>
          <p:nvPr/>
        </p:nvSpPr>
        <p:spPr>
          <a:xfrm>
            <a:off x="7772400" y="4315968"/>
            <a:ext cx="395935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通知 0</a:t>
            </a:r>
            <a:endParaRPr lang="en-US" sz="1400" dirty="0"/>
          </a:p>
        </p:txBody>
      </p:sp>
      <p:pic>
        <p:nvPicPr>
          <p:cNvPr id="28" name="Image 3" descr="/home/claude/v4/icons/FaCheckCircle_008A5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0" y="4782312"/>
            <a:ext cx="365760" cy="365760"/>
          </a:xfrm>
          <a:prstGeom prst="rect">
            <a:avLst/>
          </a:prstGeom>
        </p:spPr>
      </p:pic>
      <p:sp>
        <p:nvSpPr>
          <p:cNvPr id="29" name="Text 23"/>
          <p:cNvSpPr txBox="1"/>
          <p:nvPr/>
        </p:nvSpPr>
        <p:spPr>
          <a:xfrm>
            <a:off x="7772400" y="4709160"/>
            <a:ext cx="395935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対象外の生活音 9 回</a:t>
            </a:r>
            <a:endParaRPr lang="en-US" sz="1600" dirty="0"/>
          </a:p>
        </p:txBody>
      </p:sp>
      <p:sp>
        <p:nvSpPr>
          <p:cNvPr id="30" name="Text 24"/>
          <p:cNvSpPr txBox="1"/>
          <p:nvPr/>
        </p:nvSpPr>
        <p:spPr>
          <a:xfrm>
            <a:off x="7772400" y="5001768"/>
            <a:ext cx="395935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誤報 0（対策前は 12 回中 1）</a:t>
            </a:r>
            <a:endParaRPr lang="en-US" sz="1400" dirty="0"/>
          </a:p>
        </p:txBody>
      </p:sp>
      <p:pic>
        <p:nvPicPr>
          <p:cNvPr id="31" name="Image 4" descr="/home/claude/v4/icons/FaCheckCircle_008A5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0" y="5468112"/>
            <a:ext cx="365760" cy="365760"/>
          </a:xfrm>
          <a:prstGeom prst="rect">
            <a:avLst/>
          </a:prstGeom>
        </p:spPr>
      </p:pic>
      <p:sp>
        <p:nvSpPr>
          <p:cNvPr id="32" name="Text 25"/>
          <p:cNvSpPr txBox="1"/>
          <p:nvPr/>
        </p:nvSpPr>
        <p:spPr>
          <a:xfrm>
            <a:off x="7772400" y="5394960"/>
            <a:ext cx="395935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板の判定と PC の再生</a:t>
            </a:r>
            <a:endParaRPr lang="en-US" sz="1600" dirty="0"/>
          </a:p>
        </p:txBody>
      </p:sp>
      <p:sp>
        <p:nvSpPr>
          <p:cNvPr id="33" name="Text 26"/>
          <p:cNvSpPr txBox="1"/>
          <p:nvPr/>
        </p:nvSpPr>
        <p:spPr>
          <a:xfrm>
            <a:off x="7772400" y="5687568"/>
            <a:ext cx="395935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1 窓を除き一致（起動直後）</a:t>
            </a:r>
            <a:endParaRPr lang="en-US" sz="1400" dirty="0"/>
          </a:p>
        </p:txBody>
      </p:sp>
      <p:sp>
        <p:nvSpPr>
          <p:cNvPr id="34" name="Text 27"/>
          <p:cNvSpPr txBox="1"/>
          <p:nvPr/>
        </p:nvSpPr>
        <p:spPr>
          <a:xfrm>
            <a:off x="457200" y="6172200"/>
            <a:ext cx="1127455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95959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2026-09-28 00:27〜01:08、ESC-10 版</a:t>
            </a:r>
            <a:endParaRPr lang="en-US" sz="13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74320" y="109728"/>
            <a:ext cx="116128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7　実験 3：モデル差し替え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0" y="777240"/>
            <a:ext cx="12191695" cy="274320"/>
          </a:xfrm>
          <a:prstGeom prst="rect">
            <a:avLst/>
          </a:prstGeom>
          <a:solidFill>
            <a:srgbClr val="156082"/>
          </a:solidFill>
          <a:ln w="12700">
            <a:solidFill>
              <a:srgbClr val="156082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4" name="Shape 2"/>
          <p:cNvSpPr/>
          <p:nvPr/>
        </p:nvSpPr>
        <p:spPr>
          <a:xfrm>
            <a:off x="0" y="1051560"/>
            <a:ext cx="12191695" cy="1097280"/>
          </a:xfrm>
          <a:prstGeom prst="rect">
            <a:avLst/>
          </a:prstGeom>
          <a:solidFill>
            <a:srgbClr val="DDEBF3"/>
          </a:solidFill>
          <a:ln w="12700">
            <a:solidFill>
              <a:srgbClr val="DDEBF3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5" name="Text 3"/>
          <p:cNvSpPr txBox="1"/>
          <p:nvPr/>
        </p:nvSpPr>
        <p:spPr>
          <a:xfrm>
            <a:off x="457200" y="1097280"/>
            <a:ext cx="1127455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1 行の切替で同じ検証が通り、基盤の数字は変わらなかった。弱点はモデル側に出た</a:t>
            </a:r>
            <a:endParaRPr lang="en-US" sz="28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6217920"/>
            <a:ext cx="12344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95959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この章の流れ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1737360" y="6217920"/>
            <a:ext cx="4850892" cy="420624"/>
          </a:xfrm>
          <a:prstGeom prst="rect">
            <a:avLst/>
          </a:prstGeom>
          <a:solidFill>
            <a:srgbClr val="FFFFFF"/>
          </a:solidFill>
          <a:ln w="15875">
            <a:solidFill>
              <a:srgbClr val="156082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8" name="Text 6"/>
          <p:cNvSpPr txBox="1"/>
          <p:nvPr/>
        </p:nvSpPr>
        <p:spPr>
          <a:xfrm>
            <a:off x="1783080" y="6217920"/>
            <a:ext cx="475945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56082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7-1 何を変えたか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661404" y="6318504"/>
            <a:ext cx="146304" cy="219456"/>
          </a:xfrm>
          <a:prstGeom prst="chevron">
            <a:avLst/>
          </a:prstGeom>
          <a:solidFill>
            <a:srgbClr val="156082"/>
          </a:solidFill>
          <a:ln w="12700">
            <a:solidFill>
              <a:srgbClr val="156082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0" name="Shape 8"/>
          <p:cNvSpPr/>
          <p:nvPr/>
        </p:nvSpPr>
        <p:spPr>
          <a:xfrm>
            <a:off x="6880860" y="6217920"/>
            <a:ext cx="4850892" cy="420624"/>
          </a:xfrm>
          <a:prstGeom prst="rect">
            <a:avLst/>
          </a:prstGeom>
          <a:solidFill>
            <a:srgbClr val="FFFFFF"/>
          </a:solidFill>
          <a:ln w="15875">
            <a:solidFill>
              <a:srgbClr val="156082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1" name="Text 9"/>
          <p:cNvSpPr txBox="1"/>
          <p:nvPr/>
        </p:nvSpPr>
        <p:spPr>
          <a:xfrm>
            <a:off x="6926580" y="6217920"/>
            <a:ext cx="475945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56082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7-2 結果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457200" y="2331720"/>
            <a:ext cx="5394960" cy="640080"/>
          </a:xfrm>
          <a:prstGeom prst="rect">
            <a:avLst/>
          </a:prstGeom>
          <a:solidFill>
            <a:srgbClr val="DDEBF3"/>
          </a:solidFill>
          <a:ln w="15875">
            <a:solidFill>
              <a:srgbClr val="156082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3" name="Text 11"/>
          <p:cNvSpPr txBox="1"/>
          <p:nvPr/>
        </p:nvSpPr>
        <p:spPr>
          <a:xfrm>
            <a:off x="548640" y="2331720"/>
            <a:ext cx="5212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判定・通知・ログ</a:t>
            </a:r>
            <a:endParaRPr lang="en-US" sz="1700" dirty="0"/>
          </a:p>
        </p:txBody>
      </p:sp>
      <p:sp>
        <p:nvSpPr>
          <p:cNvPr id="14" name="Shape 12"/>
          <p:cNvSpPr/>
          <p:nvPr/>
        </p:nvSpPr>
        <p:spPr>
          <a:xfrm>
            <a:off x="457200" y="3063240"/>
            <a:ext cx="5394960" cy="640080"/>
          </a:xfrm>
          <a:prstGeom prst="rect">
            <a:avLst/>
          </a:prstGeom>
          <a:solidFill>
            <a:srgbClr val="FBE9D3"/>
          </a:solidFill>
          <a:ln w="31750">
            <a:solidFill>
              <a:srgbClr val="E07B00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5" name="Text 13"/>
          <p:cNvSpPr txBox="1"/>
          <p:nvPr/>
        </p:nvSpPr>
        <p:spPr>
          <a:xfrm>
            <a:off x="548640" y="3063240"/>
            <a:ext cx="5212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モデル：ESC-10 版 ⇄ FSD50K 版</a:t>
            </a:r>
          </a:p>
          <a:p>
            <a:pPr marL="0" indent="0" algn="ctr">
              <a:buNone/>
            </a:pPr>
            <a:r>
              <a:rPr lang="en-US" sz="1200" b="1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（AED_MODEL を 1 行）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457200" y="3794760"/>
            <a:ext cx="5394960" cy="640080"/>
          </a:xfrm>
          <a:prstGeom prst="rect">
            <a:avLst/>
          </a:prstGeom>
          <a:solidFill>
            <a:srgbClr val="DDEBF3"/>
          </a:solidFill>
          <a:ln w="15875">
            <a:solidFill>
              <a:srgbClr val="156082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7" name="Text 15"/>
          <p:cNvSpPr txBox="1"/>
          <p:nvPr/>
        </p:nvSpPr>
        <p:spPr>
          <a:xfrm>
            <a:off x="548640" y="3794760"/>
            <a:ext cx="5212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前処理（log-mel）</a:t>
            </a:r>
            <a:endParaRPr lang="en-US" sz="1700" dirty="0"/>
          </a:p>
        </p:txBody>
      </p:sp>
      <p:sp>
        <p:nvSpPr>
          <p:cNvPr id="18" name="Shape 16"/>
          <p:cNvSpPr/>
          <p:nvPr/>
        </p:nvSpPr>
        <p:spPr>
          <a:xfrm>
            <a:off x="457200" y="4526280"/>
            <a:ext cx="5394960" cy="640080"/>
          </a:xfrm>
          <a:prstGeom prst="rect">
            <a:avLst/>
          </a:prstGeom>
          <a:solidFill>
            <a:srgbClr val="DDEBF3"/>
          </a:solidFill>
          <a:ln w="15875">
            <a:solidFill>
              <a:srgbClr val="156082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9" name="Text 17"/>
          <p:cNvSpPr txBox="1"/>
          <p:nvPr/>
        </p:nvSpPr>
        <p:spPr>
          <a:xfrm>
            <a:off x="548640" y="4526280"/>
            <a:ext cx="5212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タスク構成・μT-Kernel</a:t>
            </a:r>
            <a:endParaRPr lang="en-US" sz="1700" dirty="0"/>
          </a:p>
        </p:txBody>
      </p:sp>
      <p:sp>
        <p:nvSpPr>
          <p:cNvPr id="20" name="Shape 18"/>
          <p:cNvSpPr/>
          <p:nvPr/>
        </p:nvSpPr>
        <p:spPr>
          <a:xfrm>
            <a:off x="457200" y="5257800"/>
            <a:ext cx="5394960" cy="640080"/>
          </a:xfrm>
          <a:prstGeom prst="rect">
            <a:avLst/>
          </a:prstGeom>
          <a:solidFill>
            <a:srgbClr val="F2F2F2"/>
          </a:solidFill>
          <a:ln w="15875">
            <a:solidFill>
              <a:srgbClr val="A6A6A6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1" name="Text 19"/>
          <p:cNvSpPr txBox="1"/>
          <p:nvPr/>
        </p:nvSpPr>
        <p:spPr>
          <a:xfrm>
            <a:off x="548640" y="5257800"/>
            <a:ext cx="5212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ボード STM32N6570-DK</a:t>
            </a:r>
            <a:endParaRPr lang="en-US" sz="1700" dirty="0"/>
          </a:p>
        </p:txBody>
      </p:sp>
      <p:sp>
        <p:nvSpPr>
          <p:cNvPr id="22" name="Text 20"/>
          <p:cNvSpPr txBox="1"/>
          <p:nvPr/>
        </p:nvSpPr>
        <p:spPr>
          <a:xfrm>
            <a:off x="457200" y="5989320"/>
            <a:ext cx="5394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595959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オレンジだけを替えた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6172200" y="2331720"/>
            <a:ext cx="5559552" cy="411480"/>
          </a:xfrm>
          <a:prstGeom prst="rect">
            <a:avLst/>
          </a:prstGeom>
          <a:solidFill>
            <a:srgbClr val="008A5E"/>
          </a:solidFill>
          <a:ln w="12700">
            <a:solidFill>
              <a:srgbClr val="008A5E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4" name="Text 22"/>
          <p:cNvSpPr txBox="1"/>
          <p:nvPr/>
        </p:nvSpPr>
        <p:spPr>
          <a:xfrm>
            <a:off x="6245352" y="2331720"/>
            <a:ext cx="541324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基盤の数字：変わらない</a:t>
            </a:r>
            <a:endParaRPr lang="en-US" sz="1600" dirty="0"/>
          </a:p>
        </p:txBody>
      </p:sp>
      <p:sp>
        <p:nvSpPr>
          <p:cNvPr id="25" name="Text 23"/>
          <p:cNvSpPr txBox="1"/>
          <p:nvPr/>
        </p:nvSpPr>
        <p:spPr>
          <a:xfrm>
            <a:off x="6263640" y="2788920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音の取りこぼし</a:t>
            </a:r>
            <a:endParaRPr lang="en-US" sz="1600" dirty="0"/>
          </a:p>
        </p:txBody>
      </p:sp>
      <p:sp>
        <p:nvSpPr>
          <p:cNvPr id="26" name="Text 24"/>
          <p:cNvSpPr txBox="1"/>
          <p:nvPr/>
        </p:nvSpPr>
        <p:spPr>
          <a:xfrm>
            <a:off x="9098280" y="2788920"/>
            <a:ext cx="25420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08A5E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0 → 0</a:t>
            </a:r>
            <a:endParaRPr lang="en-US" sz="2000" dirty="0"/>
          </a:p>
        </p:txBody>
      </p:sp>
      <p:sp>
        <p:nvSpPr>
          <p:cNvPr id="27" name="Text 25"/>
          <p:cNvSpPr txBox="1"/>
          <p:nvPr/>
        </p:nvSpPr>
        <p:spPr>
          <a:xfrm>
            <a:off x="6263640" y="3291840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自己検証・前処理の一致</a:t>
            </a:r>
            <a:endParaRPr lang="en-US" sz="1600" dirty="0"/>
          </a:p>
        </p:txBody>
      </p:sp>
      <p:sp>
        <p:nvSpPr>
          <p:cNvPr id="28" name="Text 26"/>
          <p:cNvSpPr txBox="1"/>
          <p:nvPr/>
        </p:nvSpPr>
        <p:spPr>
          <a:xfrm>
            <a:off x="9098280" y="3291840"/>
            <a:ext cx="25420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08A5E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通過 → 通過</a:t>
            </a:r>
            <a:endParaRPr lang="en-US" sz="2000" dirty="0"/>
          </a:p>
        </p:txBody>
      </p:sp>
      <p:sp>
        <p:nvSpPr>
          <p:cNvPr id="29" name="Text 27"/>
          <p:cNvSpPr txBox="1"/>
          <p:nvPr/>
        </p:nvSpPr>
        <p:spPr>
          <a:xfrm>
            <a:off x="6263640" y="3794760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推論の時間</a:t>
            </a:r>
            <a:endParaRPr lang="en-US" sz="1600" dirty="0"/>
          </a:p>
        </p:txBody>
      </p:sp>
      <p:sp>
        <p:nvSpPr>
          <p:cNvPr id="30" name="Text 28"/>
          <p:cNvSpPr txBox="1"/>
          <p:nvPr/>
        </p:nvSpPr>
        <p:spPr>
          <a:xfrm>
            <a:off x="9098280" y="3794760"/>
            <a:ext cx="25420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08A5E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41.1 → 3.55 ms</a:t>
            </a:r>
            <a:endParaRPr lang="en-US" sz="2000" dirty="0"/>
          </a:p>
        </p:txBody>
      </p:sp>
      <p:sp>
        <p:nvSpPr>
          <p:cNvPr id="31" name="Shape 29"/>
          <p:cNvSpPr/>
          <p:nvPr/>
        </p:nvSpPr>
        <p:spPr>
          <a:xfrm>
            <a:off x="6172200" y="4389120"/>
            <a:ext cx="5559552" cy="411480"/>
          </a:xfrm>
          <a:prstGeom prst="rect">
            <a:avLst/>
          </a:prstGeom>
          <a:solidFill>
            <a:srgbClr val="C00000"/>
          </a:solidFill>
          <a:ln w="12700">
            <a:solidFill>
              <a:srgbClr val="C00000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32" name="Text 30"/>
          <p:cNvSpPr txBox="1"/>
          <p:nvPr/>
        </p:nvSpPr>
        <p:spPr>
          <a:xfrm>
            <a:off x="6245352" y="4389120"/>
            <a:ext cx="541324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モデルの数字：悪化</a:t>
            </a:r>
            <a:endParaRPr lang="en-US" sz="1600" dirty="0"/>
          </a:p>
        </p:txBody>
      </p:sp>
      <p:sp>
        <p:nvSpPr>
          <p:cNvPr id="33" name="Text 31"/>
          <p:cNvSpPr txBox="1"/>
          <p:nvPr/>
        </p:nvSpPr>
        <p:spPr>
          <a:xfrm>
            <a:off x="6263640" y="4846320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生活音の誤報</a:t>
            </a:r>
            <a:endParaRPr lang="en-US" sz="1600" dirty="0"/>
          </a:p>
        </p:txBody>
      </p:sp>
      <p:sp>
        <p:nvSpPr>
          <p:cNvPr id="34" name="Text 32"/>
          <p:cNvSpPr txBox="1"/>
          <p:nvPr/>
        </p:nvSpPr>
        <p:spPr>
          <a:xfrm>
            <a:off x="9098280" y="4846320"/>
            <a:ext cx="25420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C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0/9 → 9/10</a:t>
            </a:r>
            <a:endParaRPr lang="en-US" sz="2000" dirty="0"/>
          </a:p>
        </p:txBody>
      </p:sp>
      <p:sp>
        <p:nvSpPr>
          <p:cNvPr id="35" name="Text 33"/>
          <p:cNvSpPr txBox="1"/>
          <p:nvPr/>
        </p:nvSpPr>
        <p:spPr>
          <a:xfrm>
            <a:off x="6263640" y="5349240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放置中の通知</a:t>
            </a:r>
            <a:endParaRPr lang="en-US" sz="1600" dirty="0"/>
          </a:p>
        </p:txBody>
      </p:sp>
      <p:sp>
        <p:nvSpPr>
          <p:cNvPr id="36" name="Text 34"/>
          <p:cNvSpPr txBox="1"/>
          <p:nvPr/>
        </p:nvSpPr>
        <p:spPr>
          <a:xfrm>
            <a:off x="9098280" y="5349240"/>
            <a:ext cx="25420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C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3.5 → 250 件/時</a:t>
            </a:r>
            <a:endParaRPr lang="en-US" sz="20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74320" y="109728"/>
            <a:ext cx="116128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7-1　何を変えたか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0" y="777240"/>
            <a:ext cx="12191695" cy="274320"/>
          </a:xfrm>
          <a:prstGeom prst="rect">
            <a:avLst/>
          </a:prstGeom>
          <a:solidFill>
            <a:srgbClr val="156082"/>
          </a:solidFill>
          <a:ln w="12700">
            <a:solidFill>
              <a:srgbClr val="156082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4" name="Text 2"/>
          <p:cNvSpPr txBox="1"/>
          <p:nvPr/>
        </p:nvSpPr>
        <p:spPr>
          <a:xfrm>
            <a:off x="457200" y="1188720"/>
            <a:ext cx="11274552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800" b="1" dirty="0">
                <a:solidFill>
                  <a:srgbClr val="FF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変えたのはモデルだけ。重みが内蔵 RAM </a:t>
            </a:r>
            <a:r>
              <a:rPr lang="en-US" sz="2800" b="1" dirty="0" err="1">
                <a:solidFill>
                  <a:srgbClr val="FF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に入り</a:t>
            </a:r>
            <a:r>
              <a:rPr lang="en-US" sz="2800" b="1" dirty="0">
                <a:solidFill>
                  <a:srgbClr val="FF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、</a:t>
            </a:r>
          </a:p>
          <a:p>
            <a:pPr marL="0" indent="0">
              <a:buNone/>
            </a:pPr>
            <a:r>
              <a:rPr lang="en-US" sz="2800" b="1" dirty="0" err="1">
                <a:solidFill>
                  <a:srgbClr val="FF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推論は</a:t>
            </a:r>
            <a:r>
              <a:rPr lang="en-US" sz="2800" b="1" dirty="0">
                <a:solidFill>
                  <a:srgbClr val="FF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 41 → 3.55 ms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457200" y="2194560"/>
            <a:ext cx="5532120" cy="3246120"/>
          </a:xfrm>
          <a:prstGeom prst="rect">
            <a:avLst/>
          </a:prstGeom>
          <a:solidFill>
            <a:srgbClr val="FFFFFF"/>
          </a:solidFill>
          <a:ln w="19050">
            <a:solidFill>
              <a:srgbClr val="156082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6" name="Shape 4"/>
          <p:cNvSpPr/>
          <p:nvPr/>
        </p:nvSpPr>
        <p:spPr>
          <a:xfrm>
            <a:off x="457200" y="2194560"/>
            <a:ext cx="5532120" cy="548640"/>
          </a:xfrm>
          <a:prstGeom prst="rect">
            <a:avLst/>
          </a:prstGeom>
          <a:solidFill>
            <a:srgbClr val="156082"/>
          </a:solidFill>
          <a:ln w="12700">
            <a:solidFill>
              <a:srgbClr val="156082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7" name="Text 5"/>
          <p:cNvSpPr txBox="1"/>
          <p:nvPr/>
        </p:nvSpPr>
        <p:spPr>
          <a:xfrm>
            <a:off x="530352" y="2194560"/>
            <a:ext cx="538581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ESC-10 版（既定）</a:t>
            </a:r>
            <a:endParaRPr lang="en-US" sz="2000" dirty="0"/>
          </a:p>
        </p:txBody>
      </p:sp>
      <p:sp>
        <p:nvSpPr>
          <p:cNvPr id="8" name="Text 6"/>
          <p:cNvSpPr txBox="1"/>
          <p:nvPr/>
        </p:nvSpPr>
        <p:spPr>
          <a:xfrm>
            <a:off x="640080" y="2834640"/>
            <a:ext cx="1280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595959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モデル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1920240" y="2834640"/>
            <a:ext cx="3886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YAMNet-1024（ST model zoo）</a:t>
            </a:r>
            <a:endParaRPr lang="en-US" sz="1700" dirty="0"/>
          </a:p>
        </p:txBody>
      </p:sp>
      <p:sp>
        <p:nvSpPr>
          <p:cNvPr id="10" name="Text 8"/>
          <p:cNvSpPr txBox="1"/>
          <p:nvPr/>
        </p:nvSpPr>
        <p:spPr>
          <a:xfrm>
            <a:off x="640080" y="3401568"/>
            <a:ext cx="1280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595959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知らせる音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1920240" y="3401568"/>
            <a:ext cx="3886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犬・泣き声・くしゃみ（10 種のうち 3）</a:t>
            </a:r>
            <a:endParaRPr lang="en-US" sz="1700" dirty="0"/>
          </a:p>
        </p:txBody>
      </p:sp>
      <p:sp>
        <p:nvSpPr>
          <p:cNvPr id="12" name="Text 10"/>
          <p:cNvSpPr txBox="1"/>
          <p:nvPr/>
        </p:nvSpPr>
        <p:spPr>
          <a:xfrm>
            <a:off x="640080" y="3968496"/>
            <a:ext cx="1280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595959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重み</a:t>
            </a:r>
            <a:endParaRPr lang="en-US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1920240" y="3968496"/>
            <a:ext cx="3886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3.1 MiB・外部フラッシュ</a:t>
            </a:r>
            <a:endParaRPr lang="en-US" sz="1700" dirty="0"/>
          </a:p>
        </p:txBody>
      </p:sp>
      <p:sp>
        <p:nvSpPr>
          <p:cNvPr id="14" name="Text 12"/>
          <p:cNvSpPr txBox="1"/>
          <p:nvPr/>
        </p:nvSpPr>
        <p:spPr>
          <a:xfrm>
            <a:off x="640080" y="4617720"/>
            <a:ext cx="1280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595959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推論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1920240" y="4572000"/>
            <a:ext cx="3886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41.1 ms</a:t>
            </a:r>
            <a:endParaRPr lang="en-US" sz="3600" dirty="0"/>
          </a:p>
        </p:txBody>
      </p:sp>
      <p:sp>
        <p:nvSpPr>
          <p:cNvPr id="16" name="Shape 14"/>
          <p:cNvSpPr/>
          <p:nvPr/>
        </p:nvSpPr>
        <p:spPr>
          <a:xfrm>
            <a:off x="6199632" y="2194560"/>
            <a:ext cx="5532120" cy="3246120"/>
          </a:xfrm>
          <a:prstGeom prst="rect">
            <a:avLst/>
          </a:prstGeom>
          <a:solidFill>
            <a:srgbClr val="FFFFFF"/>
          </a:solidFill>
          <a:ln w="19050">
            <a:solidFill>
              <a:srgbClr val="E07B00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7" name="Shape 15"/>
          <p:cNvSpPr/>
          <p:nvPr/>
        </p:nvSpPr>
        <p:spPr>
          <a:xfrm>
            <a:off x="6199632" y="2194560"/>
            <a:ext cx="5532120" cy="548640"/>
          </a:xfrm>
          <a:prstGeom prst="rect">
            <a:avLst/>
          </a:prstGeom>
          <a:solidFill>
            <a:srgbClr val="E07B00"/>
          </a:solidFill>
          <a:ln w="12700">
            <a:solidFill>
              <a:srgbClr val="E07B00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8" name="Text 16"/>
          <p:cNvSpPr txBox="1"/>
          <p:nvPr/>
        </p:nvSpPr>
        <p:spPr>
          <a:xfrm>
            <a:off x="6272784" y="2194560"/>
            <a:ext cx="538581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FSD50K 版</a:t>
            </a:r>
            <a:endParaRPr lang="en-US" sz="2000" dirty="0"/>
          </a:p>
        </p:txBody>
      </p:sp>
      <p:sp>
        <p:nvSpPr>
          <p:cNvPr id="19" name="Text 17"/>
          <p:cNvSpPr txBox="1"/>
          <p:nvPr/>
        </p:nvSpPr>
        <p:spPr>
          <a:xfrm>
            <a:off x="6382512" y="2834640"/>
            <a:ext cx="1280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595959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モデル</a:t>
            </a:r>
            <a:endParaRPr lang="en-US" sz="1500" dirty="0"/>
          </a:p>
        </p:txBody>
      </p:sp>
      <p:sp>
        <p:nvSpPr>
          <p:cNvPr id="20" name="Text 18"/>
          <p:cNvSpPr txBox="1"/>
          <p:nvPr/>
        </p:nvSpPr>
        <p:spPr>
          <a:xfrm>
            <a:off x="7662672" y="2834640"/>
            <a:ext cx="3886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YAMNet-256（ST model zoo）</a:t>
            </a:r>
            <a:endParaRPr lang="en-US" sz="1700" dirty="0"/>
          </a:p>
        </p:txBody>
      </p:sp>
      <p:sp>
        <p:nvSpPr>
          <p:cNvPr id="21" name="Text 19"/>
          <p:cNvSpPr txBox="1"/>
          <p:nvPr/>
        </p:nvSpPr>
        <p:spPr>
          <a:xfrm>
            <a:off x="6382512" y="3401568"/>
            <a:ext cx="1280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595959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知らせる音</a:t>
            </a:r>
            <a:endParaRPr lang="en-US" sz="1500" dirty="0"/>
          </a:p>
        </p:txBody>
      </p:sp>
      <p:sp>
        <p:nvSpPr>
          <p:cNvPr id="22" name="Text 20"/>
          <p:cNvSpPr txBox="1"/>
          <p:nvPr/>
        </p:nvSpPr>
        <p:spPr>
          <a:xfrm>
            <a:off x="7662672" y="3401568"/>
            <a:ext cx="3886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ノック・ガラス・泣き声・話し声（5 種のうち 4）</a:t>
            </a:r>
            <a:endParaRPr lang="en-US" sz="1700" dirty="0"/>
          </a:p>
        </p:txBody>
      </p:sp>
      <p:sp>
        <p:nvSpPr>
          <p:cNvPr id="23" name="Text 21"/>
          <p:cNvSpPr txBox="1"/>
          <p:nvPr/>
        </p:nvSpPr>
        <p:spPr>
          <a:xfrm>
            <a:off x="6382512" y="3968496"/>
            <a:ext cx="1280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595959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重み</a:t>
            </a:r>
            <a:endParaRPr lang="en-US" sz="1500" dirty="0"/>
          </a:p>
        </p:txBody>
      </p:sp>
      <p:sp>
        <p:nvSpPr>
          <p:cNvPr id="24" name="Text 22"/>
          <p:cNvSpPr txBox="1"/>
          <p:nvPr/>
        </p:nvSpPr>
        <p:spPr>
          <a:xfrm>
            <a:off x="7662672" y="3968496"/>
            <a:ext cx="3886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148 KB・内蔵 RAM（AXISRAM4）</a:t>
            </a:r>
            <a:endParaRPr lang="en-US" sz="1700" dirty="0"/>
          </a:p>
        </p:txBody>
      </p:sp>
      <p:sp>
        <p:nvSpPr>
          <p:cNvPr id="25" name="Text 23"/>
          <p:cNvSpPr txBox="1"/>
          <p:nvPr/>
        </p:nvSpPr>
        <p:spPr>
          <a:xfrm>
            <a:off x="6382512" y="4617720"/>
            <a:ext cx="1280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595959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推論</a:t>
            </a:r>
            <a:endParaRPr lang="en-US" sz="1500" dirty="0"/>
          </a:p>
        </p:txBody>
      </p:sp>
      <p:sp>
        <p:nvSpPr>
          <p:cNvPr id="26" name="Text 24"/>
          <p:cNvSpPr txBox="1"/>
          <p:nvPr/>
        </p:nvSpPr>
        <p:spPr>
          <a:xfrm>
            <a:off x="7662672" y="4572000"/>
            <a:ext cx="3886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008A5E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3.55 ms</a:t>
            </a:r>
            <a:endParaRPr lang="en-US" sz="3600" dirty="0"/>
          </a:p>
        </p:txBody>
      </p:sp>
      <p:sp>
        <p:nvSpPr>
          <p:cNvPr id="27" name="Shape 25"/>
          <p:cNvSpPr/>
          <p:nvPr/>
        </p:nvSpPr>
        <p:spPr>
          <a:xfrm>
            <a:off x="457200" y="5596128"/>
            <a:ext cx="11274552" cy="914400"/>
          </a:xfrm>
          <a:prstGeom prst="rect">
            <a:avLst/>
          </a:prstGeom>
          <a:solidFill>
            <a:srgbClr val="F2F2F2"/>
          </a:solidFill>
          <a:ln w="12700">
            <a:solidFill>
              <a:srgbClr val="BFBFBF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8" name="Text 26"/>
          <p:cNvSpPr txBox="1"/>
          <p:nvPr/>
        </p:nvSpPr>
        <p:spPr>
          <a:xfrm>
            <a:off x="640080" y="5596128"/>
            <a:ext cx="1090879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変えていないもの：音の経路・前処理・タスク構成・判定規則・ログ・検証手順。int8 化の定数はモデルから読むので、切替は AED_MODEL の 1 行</a:t>
            </a:r>
            <a:endParaRPr lang="en-US" sz="16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74320" y="109728"/>
            <a:ext cx="116128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7-2　結果：基盤は同じ、モデルの弱点が出た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0" y="777240"/>
            <a:ext cx="12191695" cy="274320"/>
          </a:xfrm>
          <a:prstGeom prst="rect">
            <a:avLst/>
          </a:prstGeom>
          <a:solidFill>
            <a:srgbClr val="156082"/>
          </a:solidFill>
          <a:ln w="12700">
            <a:solidFill>
              <a:srgbClr val="156082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4" name="Text 2"/>
          <p:cNvSpPr txBox="1"/>
          <p:nvPr/>
        </p:nvSpPr>
        <p:spPr>
          <a:xfrm>
            <a:off x="457200" y="1188720"/>
            <a:ext cx="11274552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800" b="1" dirty="0">
                <a:solidFill>
                  <a:srgbClr val="FF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「その他」の無いモデルは、知らない音を全部ガラスかノックにする</a:t>
            </a:r>
            <a:endParaRPr lang="en-US" sz="2800" dirty="0"/>
          </a:p>
        </p:txBody>
      </p:sp>
      <p:graphicFrame>
        <p:nvGraphicFramePr>
          <p:cNvPr id="2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49695813"/>
              </p:ext>
            </p:extLst>
          </p:nvPr>
        </p:nvGraphicFramePr>
        <p:xfrm>
          <a:off x="457200" y="2194560"/>
          <a:ext cx="7613780" cy="3779520"/>
        </p:xfrm>
        <a:graphic>
          <a:graphicData uri="http://schemas.openxmlformats.org/drawingml/2006/table">
            <a:tbl>
              <a:tblPr/>
              <a:tblGrid>
                <a:gridCol w="291391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78594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91391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1206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700" dirty="0">
                        <a:latin typeface="游ゴシック" charset="0"/>
                        <a:ea typeface="游ゴシック" charset="0"/>
                        <a:cs typeface="游ゴシック" charset="0"/>
                      </a:endParaRPr>
                    </a:p>
                  </a:txBody>
                  <a:tcPr marL="73152" marR="73152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608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00" b="1" dirty="0">
                          <a:solidFill>
                            <a:srgbClr val="FFFFFF"/>
                          </a:solidFill>
                          <a:latin typeface="游ゴシック" pitchFamily="34" charset="0"/>
                          <a:ea typeface="游ゴシック" pitchFamily="34" charset="-122"/>
                          <a:cs typeface="游ゴシック" pitchFamily="34" charset="-120"/>
                        </a:rPr>
                        <a:t>ESC-10 版</a:t>
                      </a:r>
                      <a:endParaRPr lang="en-US" sz="1700" dirty="0">
                        <a:latin typeface="游ゴシック" charset="0"/>
                        <a:ea typeface="游ゴシック" charset="0"/>
                        <a:cs typeface="游ゴシック" charset="0"/>
                      </a:endParaRPr>
                    </a:p>
                  </a:txBody>
                  <a:tcPr marL="73152" marR="73152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608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00" b="1" dirty="0">
                          <a:solidFill>
                            <a:srgbClr val="FFFFFF"/>
                          </a:solidFill>
                          <a:latin typeface="游ゴシック" pitchFamily="34" charset="0"/>
                          <a:ea typeface="游ゴシック" pitchFamily="34" charset="-122"/>
                          <a:cs typeface="游ゴシック" pitchFamily="34" charset="-120"/>
                        </a:rPr>
                        <a:t>FSD50K 版</a:t>
                      </a:r>
                      <a:endParaRPr lang="en-US" sz="1700" dirty="0">
                        <a:latin typeface="游ゴシック" charset="0"/>
                        <a:ea typeface="游ゴシック" charset="0"/>
                        <a:cs typeface="游ゴシック" charset="0"/>
                      </a:endParaRPr>
                    </a:p>
                  </a:txBody>
                  <a:tcPr marL="73152" marR="73152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608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1206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00" dirty="0">
                          <a:solidFill>
                            <a:srgbClr val="000000"/>
                          </a:solidFill>
                          <a:latin typeface="游ゴシック" pitchFamily="34" charset="0"/>
                          <a:ea typeface="游ゴシック" pitchFamily="34" charset="-122"/>
                          <a:cs typeface="游ゴシック" pitchFamily="34" charset="-120"/>
                        </a:rPr>
                        <a:t>自己検証・前処理の一致</a:t>
                      </a:r>
                      <a:endParaRPr lang="en-US" sz="1700" dirty="0">
                        <a:latin typeface="游ゴシック" charset="0"/>
                        <a:ea typeface="游ゴシック" charset="0"/>
                        <a:cs typeface="游ゴシック" charset="0"/>
                      </a:endParaRPr>
                    </a:p>
                  </a:txBody>
                  <a:tcPr marL="73152" marR="73152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00" b="1" dirty="0">
                          <a:solidFill>
                            <a:srgbClr val="008A5E"/>
                          </a:solidFill>
                          <a:latin typeface="游ゴシック" pitchFamily="34" charset="0"/>
                          <a:ea typeface="游ゴシック" pitchFamily="34" charset="-122"/>
                          <a:cs typeface="游ゴシック" pitchFamily="34" charset="-120"/>
                        </a:rPr>
                        <a:t>通過・差 0</a:t>
                      </a:r>
                      <a:endParaRPr lang="en-US" sz="1700" dirty="0">
                        <a:latin typeface="游ゴシック" charset="0"/>
                        <a:ea typeface="游ゴシック" charset="0"/>
                        <a:cs typeface="游ゴシック" charset="0"/>
                      </a:endParaRPr>
                    </a:p>
                  </a:txBody>
                  <a:tcPr marL="73152" marR="73152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00" b="1" dirty="0">
                          <a:solidFill>
                            <a:srgbClr val="008A5E"/>
                          </a:solidFill>
                          <a:latin typeface="游ゴシック" pitchFamily="34" charset="0"/>
                          <a:ea typeface="游ゴシック" pitchFamily="34" charset="-122"/>
                          <a:cs typeface="游ゴシック" pitchFamily="34" charset="-120"/>
                        </a:rPr>
                        <a:t>通過・差 0</a:t>
                      </a:r>
                      <a:endParaRPr lang="en-US" sz="1700" dirty="0">
                        <a:latin typeface="游ゴシック" charset="0"/>
                        <a:ea typeface="游ゴシック" charset="0"/>
                        <a:cs typeface="游ゴシック" charset="0"/>
                      </a:endParaRPr>
                    </a:p>
                  </a:txBody>
                  <a:tcPr marL="73152" marR="73152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1206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00" dirty="0">
                          <a:solidFill>
                            <a:srgbClr val="000000"/>
                          </a:solidFill>
                          <a:latin typeface="游ゴシック" pitchFamily="34" charset="0"/>
                          <a:ea typeface="游ゴシック" pitchFamily="34" charset="-122"/>
                          <a:cs typeface="游ゴシック" pitchFamily="34" charset="-120"/>
                        </a:rPr>
                        <a:t>音の取りこぼし</a:t>
                      </a:r>
                      <a:endParaRPr lang="en-US" sz="1700" dirty="0">
                        <a:latin typeface="游ゴシック" charset="0"/>
                        <a:ea typeface="游ゴシック" charset="0"/>
                        <a:cs typeface="游ゴシック" charset="0"/>
                      </a:endParaRPr>
                    </a:p>
                  </a:txBody>
                  <a:tcPr marL="73152" marR="73152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00" b="1" dirty="0">
                          <a:solidFill>
                            <a:srgbClr val="008A5E"/>
                          </a:solidFill>
                          <a:latin typeface="游ゴシック" pitchFamily="34" charset="0"/>
                          <a:ea typeface="游ゴシック" pitchFamily="34" charset="-122"/>
                          <a:cs typeface="游ゴシック" pitchFamily="34" charset="-120"/>
                        </a:rPr>
                        <a:t>0</a:t>
                      </a:r>
                      <a:endParaRPr lang="en-US" sz="1700" dirty="0">
                        <a:latin typeface="游ゴシック" charset="0"/>
                        <a:ea typeface="游ゴシック" charset="0"/>
                        <a:cs typeface="游ゴシック" charset="0"/>
                      </a:endParaRPr>
                    </a:p>
                  </a:txBody>
                  <a:tcPr marL="73152" marR="73152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00" b="1" dirty="0">
                          <a:solidFill>
                            <a:srgbClr val="008A5E"/>
                          </a:solidFill>
                          <a:latin typeface="游ゴシック" pitchFamily="34" charset="0"/>
                          <a:ea typeface="游ゴシック" pitchFamily="34" charset="-122"/>
                          <a:cs typeface="游ゴシック" pitchFamily="34" charset="-120"/>
                        </a:rPr>
                        <a:t>0</a:t>
                      </a:r>
                      <a:endParaRPr lang="en-US" sz="1700" dirty="0">
                        <a:latin typeface="游ゴシック" charset="0"/>
                        <a:ea typeface="游ゴシック" charset="0"/>
                        <a:cs typeface="游ゴシック" charset="0"/>
                      </a:endParaRPr>
                    </a:p>
                  </a:txBody>
                  <a:tcPr marL="73152" marR="73152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1206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00" dirty="0">
                          <a:solidFill>
                            <a:srgbClr val="000000"/>
                          </a:solidFill>
                          <a:latin typeface="游ゴシック" pitchFamily="34" charset="0"/>
                          <a:ea typeface="游ゴシック" pitchFamily="34" charset="-122"/>
                          <a:cs typeface="游ゴシック" pitchFamily="34" charset="-120"/>
                        </a:rPr>
                        <a:t>対象の音のクリップ</a:t>
                      </a:r>
                      <a:endParaRPr lang="en-US" sz="1700" dirty="0">
                        <a:latin typeface="游ゴシック" charset="0"/>
                        <a:ea typeface="游ゴシック" charset="0"/>
                        <a:cs typeface="游ゴシック" charset="0"/>
                      </a:endParaRPr>
                    </a:p>
                  </a:txBody>
                  <a:tcPr marL="73152" marR="73152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00" dirty="0">
                          <a:solidFill>
                            <a:srgbClr val="000000"/>
                          </a:solidFill>
                          <a:latin typeface="游ゴシック" pitchFamily="34" charset="0"/>
                          <a:ea typeface="游ゴシック" pitchFamily="34" charset="-122"/>
                          <a:cs typeface="游ゴシック" pitchFamily="34" charset="-120"/>
                        </a:rPr>
                        <a:t>4/6</a:t>
                      </a:r>
                      <a:endParaRPr lang="en-US" sz="1700" dirty="0">
                        <a:latin typeface="游ゴシック" charset="0"/>
                        <a:ea typeface="游ゴシック" charset="0"/>
                        <a:cs typeface="游ゴシック" charset="0"/>
                      </a:endParaRPr>
                    </a:p>
                  </a:txBody>
                  <a:tcPr marL="73152" marR="73152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00" dirty="0">
                          <a:solidFill>
                            <a:srgbClr val="000000"/>
                          </a:solidFill>
                          <a:latin typeface="游ゴシック" pitchFamily="34" charset="0"/>
                          <a:ea typeface="游ゴシック" pitchFamily="34" charset="-122"/>
                          <a:cs typeface="游ゴシック" pitchFamily="34" charset="-120"/>
                        </a:rPr>
                        <a:t>5/6</a:t>
                      </a:r>
                    </a:p>
                    <a:p>
                      <a:pPr marL="0" indent="0">
                        <a:buNone/>
                      </a:pPr>
                      <a:r>
                        <a:rPr lang="en-US" sz="1700" dirty="0">
                          <a:solidFill>
                            <a:srgbClr val="000000"/>
                          </a:solidFill>
                          <a:latin typeface="游ゴシック" pitchFamily="34" charset="0"/>
                          <a:ea typeface="游ゴシック" pitchFamily="34" charset="-122"/>
                          <a:cs typeface="游ゴシック" pitchFamily="34" charset="-120"/>
                        </a:rPr>
                        <a:t>（ノック 2/2、話し声 2/2）</a:t>
                      </a:r>
                      <a:endParaRPr lang="en-US" sz="1700" dirty="0">
                        <a:latin typeface="游ゴシック" charset="0"/>
                        <a:ea typeface="游ゴシック" charset="0"/>
                        <a:cs typeface="游ゴシック" charset="0"/>
                      </a:endParaRPr>
                    </a:p>
                  </a:txBody>
                  <a:tcPr marL="73152" marR="73152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1206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00" dirty="0">
                          <a:solidFill>
                            <a:srgbClr val="000000"/>
                          </a:solidFill>
                          <a:latin typeface="游ゴシック" pitchFamily="34" charset="0"/>
                          <a:ea typeface="游ゴシック" pitchFamily="34" charset="-122"/>
                          <a:cs typeface="游ゴシック" pitchFamily="34" charset="-120"/>
                        </a:rPr>
                        <a:t>対象外の生活音の誤報</a:t>
                      </a:r>
                      <a:endParaRPr lang="en-US" sz="1700" dirty="0">
                        <a:latin typeface="游ゴシック" charset="0"/>
                        <a:ea typeface="游ゴシック" charset="0"/>
                        <a:cs typeface="游ゴシック" charset="0"/>
                      </a:endParaRPr>
                    </a:p>
                  </a:txBody>
                  <a:tcPr marL="73152" marR="73152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00" dirty="0">
                          <a:solidFill>
                            <a:srgbClr val="000000"/>
                          </a:solidFill>
                          <a:latin typeface="游ゴシック" pitchFamily="34" charset="0"/>
                          <a:ea typeface="游ゴシック" pitchFamily="34" charset="-122"/>
                          <a:cs typeface="游ゴシック" pitchFamily="34" charset="-120"/>
                        </a:rPr>
                        <a:t>0/9</a:t>
                      </a:r>
                      <a:endParaRPr lang="en-US" sz="1700" dirty="0">
                        <a:latin typeface="游ゴシック" charset="0"/>
                        <a:ea typeface="游ゴシック" charset="0"/>
                        <a:cs typeface="游ゴシック" charset="0"/>
                      </a:endParaRPr>
                    </a:p>
                  </a:txBody>
                  <a:tcPr marL="73152" marR="73152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00" b="1" dirty="0">
                          <a:solidFill>
                            <a:srgbClr val="C00000"/>
                          </a:solidFill>
                          <a:latin typeface="游ゴシック" pitchFamily="34" charset="0"/>
                          <a:ea typeface="游ゴシック" pitchFamily="34" charset="-122"/>
                          <a:cs typeface="游ゴシック" pitchFamily="34" charset="-120"/>
                        </a:rPr>
                        <a:t>9/10（ガラス・ノックと判定）</a:t>
                      </a:r>
                      <a:endParaRPr lang="en-US" sz="1700" dirty="0">
                        <a:latin typeface="游ゴシック" charset="0"/>
                        <a:ea typeface="游ゴシック" charset="0"/>
                        <a:cs typeface="游ゴシック" charset="0"/>
                      </a:endParaRPr>
                    </a:p>
                  </a:txBody>
                  <a:tcPr marL="73152" marR="73152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1206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00" dirty="0">
                          <a:solidFill>
                            <a:srgbClr val="000000"/>
                          </a:solidFill>
                          <a:latin typeface="游ゴシック" pitchFamily="34" charset="0"/>
                          <a:ea typeface="游ゴシック" pitchFamily="34" charset="-122"/>
                          <a:cs typeface="游ゴシック" pitchFamily="34" charset="-120"/>
                        </a:rPr>
                        <a:t>放置中の通知</a:t>
                      </a:r>
                      <a:endParaRPr lang="en-US" sz="1700" dirty="0">
                        <a:latin typeface="游ゴシック" charset="0"/>
                        <a:ea typeface="游ゴシック" charset="0"/>
                        <a:cs typeface="游ゴシック" charset="0"/>
                      </a:endParaRPr>
                    </a:p>
                  </a:txBody>
                  <a:tcPr marL="73152" marR="73152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00" dirty="0">
                          <a:solidFill>
                            <a:srgbClr val="000000"/>
                          </a:solidFill>
                          <a:latin typeface="游ゴシック" pitchFamily="34" charset="0"/>
                          <a:ea typeface="游ゴシック" pitchFamily="34" charset="-122"/>
                          <a:cs typeface="游ゴシック" pitchFamily="34" charset="-120"/>
                        </a:rPr>
                        <a:t>3.5 件/時</a:t>
                      </a:r>
                      <a:endParaRPr lang="en-US" sz="1700" dirty="0">
                        <a:latin typeface="游ゴシック" charset="0"/>
                        <a:ea typeface="游ゴシック" charset="0"/>
                        <a:cs typeface="游ゴシック" charset="0"/>
                      </a:endParaRPr>
                    </a:p>
                  </a:txBody>
                  <a:tcPr marL="73152" marR="73152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00" b="1" dirty="0">
                          <a:solidFill>
                            <a:srgbClr val="C00000"/>
                          </a:solidFill>
                          <a:latin typeface="游ゴシック" pitchFamily="34" charset="0"/>
                          <a:ea typeface="游ゴシック" pitchFamily="34" charset="-122"/>
                          <a:cs typeface="游ゴシック" pitchFamily="34" charset="-120"/>
                        </a:rPr>
                        <a:t>250 件/時</a:t>
                      </a:r>
                      <a:endParaRPr lang="en-US" sz="1700" dirty="0">
                        <a:latin typeface="游ゴシック" charset="0"/>
                        <a:ea typeface="游ゴシック" charset="0"/>
                        <a:cs typeface="游ゴシック" charset="0"/>
                      </a:endParaRPr>
                    </a:p>
                  </a:txBody>
                  <a:tcPr marL="73152" marR="73152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1206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00" dirty="0">
                          <a:solidFill>
                            <a:srgbClr val="000000"/>
                          </a:solidFill>
                          <a:latin typeface="游ゴシック" pitchFamily="34" charset="0"/>
                          <a:ea typeface="游ゴシック" pitchFamily="34" charset="-122"/>
                          <a:cs typeface="游ゴシック" pitchFamily="34" charset="-120"/>
                        </a:rPr>
                        <a:t>暗騒音の窓で確率 0.7 以上</a:t>
                      </a:r>
                      <a:endParaRPr lang="en-US" sz="1700" dirty="0">
                        <a:latin typeface="游ゴシック" charset="0"/>
                        <a:ea typeface="游ゴシック" charset="0"/>
                        <a:cs typeface="游ゴシック" charset="0"/>
                      </a:endParaRPr>
                    </a:p>
                  </a:txBody>
                  <a:tcPr marL="73152" marR="73152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00" dirty="0">
                          <a:solidFill>
                            <a:srgbClr val="000000"/>
                          </a:solidFill>
                          <a:latin typeface="游ゴシック" pitchFamily="34" charset="0"/>
                          <a:ea typeface="游ゴシック" pitchFamily="34" charset="-122"/>
                          <a:cs typeface="游ゴシック" pitchFamily="34" charset="-120"/>
                        </a:rPr>
                        <a:t>2.6%</a:t>
                      </a:r>
                      <a:endParaRPr lang="en-US" sz="1700" dirty="0">
                        <a:latin typeface="游ゴシック" charset="0"/>
                        <a:ea typeface="游ゴシック" charset="0"/>
                        <a:cs typeface="游ゴシック" charset="0"/>
                      </a:endParaRPr>
                    </a:p>
                  </a:txBody>
                  <a:tcPr marL="73152" marR="73152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00" b="1" dirty="0">
                          <a:solidFill>
                            <a:srgbClr val="C00000"/>
                          </a:solidFill>
                          <a:latin typeface="游ゴシック" pitchFamily="34" charset="0"/>
                          <a:ea typeface="游ゴシック" pitchFamily="34" charset="-122"/>
                          <a:cs typeface="游ゴシック" pitchFamily="34" charset="-120"/>
                        </a:rPr>
                        <a:t>66%</a:t>
                      </a:r>
                      <a:endParaRPr lang="en-US" sz="1700" dirty="0">
                        <a:latin typeface="游ゴシック" charset="0"/>
                        <a:ea typeface="游ゴシック" charset="0"/>
                        <a:cs typeface="游ゴシック" charset="0"/>
                      </a:endParaRPr>
                    </a:p>
                  </a:txBody>
                  <a:tcPr marL="73152" marR="73152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6" name="Text 3"/>
          <p:cNvSpPr txBox="1"/>
          <p:nvPr/>
        </p:nvSpPr>
        <p:spPr>
          <a:xfrm>
            <a:off x="8390086" y="2395729"/>
            <a:ext cx="3593592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700" dirty="0" err="1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暗騒音は音量の条件で止まる</a:t>
            </a:r>
            <a:r>
              <a:rPr lang="en-US" sz="170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。</a:t>
            </a:r>
          </a:p>
          <a:p>
            <a:pPr marL="0" indent="0">
              <a:buNone/>
            </a:pPr>
            <a:r>
              <a:rPr lang="en-US" sz="1700" dirty="0" err="1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しかし食器・咳・椅子など実際に鳴った音は暗騒音より大きいので判定まで進み、そこでモデルがガラスかノックと答える</a:t>
            </a:r>
            <a:endParaRPr lang="en-US" sz="1700" dirty="0"/>
          </a:p>
        </p:txBody>
      </p:sp>
      <p:sp>
        <p:nvSpPr>
          <p:cNvPr id="7" name="Shape 4"/>
          <p:cNvSpPr/>
          <p:nvPr/>
        </p:nvSpPr>
        <p:spPr>
          <a:xfrm>
            <a:off x="8390086" y="4054151"/>
            <a:ext cx="3593592" cy="1691640"/>
          </a:xfrm>
          <a:prstGeom prst="rect">
            <a:avLst/>
          </a:prstGeom>
          <a:solidFill>
            <a:srgbClr val="DDEBF3"/>
          </a:solidFill>
          <a:ln w="15875">
            <a:solidFill>
              <a:srgbClr val="156082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8" name="Text 5"/>
          <p:cNvSpPr txBox="1"/>
          <p:nvPr/>
        </p:nvSpPr>
        <p:spPr>
          <a:xfrm>
            <a:off x="8527246" y="4054151"/>
            <a:ext cx="3319272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既定は ESC-10 版。FSD50K 版は同梱して切替可能にした。次は「その他」クラス付きの版</a:t>
            </a:r>
            <a:endParaRPr lang="en-US" sz="17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74320" y="109728"/>
            <a:ext cx="116128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8　動作例：屋内音の検知と通知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0" y="777240"/>
            <a:ext cx="12191695" cy="274320"/>
          </a:xfrm>
          <a:prstGeom prst="rect">
            <a:avLst/>
          </a:prstGeom>
          <a:solidFill>
            <a:srgbClr val="156082"/>
          </a:solidFill>
          <a:ln w="12700">
            <a:solidFill>
              <a:srgbClr val="156082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4" name="Shape 2"/>
          <p:cNvSpPr/>
          <p:nvPr/>
        </p:nvSpPr>
        <p:spPr>
          <a:xfrm>
            <a:off x="0" y="1051560"/>
            <a:ext cx="12191695" cy="1097280"/>
          </a:xfrm>
          <a:prstGeom prst="rect">
            <a:avLst/>
          </a:prstGeom>
          <a:solidFill>
            <a:srgbClr val="DDEBF3"/>
          </a:solidFill>
          <a:ln w="12700">
            <a:solidFill>
              <a:srgbClr val="DDEBF3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5" name="Text 3"/>
          <p:cNvSpPr txBox="1"/>
          <p:nvPr/>
        </p:nvSpPr>
        <p:spPr>
          <a:xfrm>
            <a:off x="457200" y="1097280"/>
            <a:ext cx="1127455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基盤を実際の部屋で動かした。使えるかを決めたのはモデルだった</a:t>
            </a:r>
            <a:endParaRPr lang="en-US" sz="28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6217920"/>
            <a:ext cx="12344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95959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この章の流れ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1737360" y="6217920"/>
            <a:ext cx="4850892" cy="420624"/>
          </a:xfrm>
          <a:prstGeom prst="rect">
            <a:avLst/>
          </a:prstGeom>
          <a:solidFill>
            <a:srgbClr val="FFFFFF"/>
          </a:solidFill>
          <a:ln w="15875">
            <a:solidFill>
              <a:srgbClr val="156082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8" name="Text 6"/>
          <p:cNvSpPr txBox="1"/>
          <p:nvPr/>
        </p:nvSpPr>
        <p:spPr>
          <a:xfrm>
            <a:off x="1783080" y="6217920"/>
            <a:ext cx="475945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56082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8-1 知らせ方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661404" y="6318504"/>
            <a:ext cx="146304" cy="219456"/>
          </a:xfrm>
          <a:prstGeom prst="chevron">
            <a:avLst/>
          </a:prstGeom>
          <a:solidFill>
            <a:srgbClr val="156082"/>
          </a:solidFill>
          <a:ln w="12700">
            <a:solidFill>
              <a:srgbClr val="156082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0" name="Shape 8"/>
          <p:cNvSpPr/>
          <p:nvPr/>
        </p:nvSpPr>
        <p:spPr>
          <a:xfrm>
            <a:off x="6880860" y="6217920"/>
            <a:ext cx="4850892" cy="420624"/>
          </a:xfrm>
          <a:prstGeom prst="rect">
            <a:avLst/>
          </a:prstGeom>
          <a:solidFill>
            <a:srgbClr val="FFFFFF"/>
          </a:solidFill>
          <a:ln w="15875">
            <a:solidFill>
              <a:srgbClr val="156082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1" name="Text 9"/>
          <p:cNvSpPr txBox="1"/>
          <p:nvPr/>
        </p:nvSpPr>
        <p:spPr>
          <a:xfrm>
            <a:off x="6926580" y="6217920"/>
            <a:ext cx="475945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56082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8-2 使えるものだったか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731520" y="2834640"/>
            <a:ext cx="1371600" cy="1371600"/>
          </a:xfrm>
          <a:prstGeom prst="ellipse">
            <a:avLst/>
          </a:prstGeom>
          <a:solidFill>
            <a:srgbClr val="DDEBF3"/>
          </a:solidFill>
          <a:ln w="12700">
            <a:solidFill>
              <a:srgbClr val="DDEBF3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pic>
        <p:nvPicPr>
          <p:cNvPr id="13" name="Image 0" descr="/home/claude/v4/icons/FaVolumeUp_15608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51560" y="3154680"/>
            <a:ext cx="731520" cy="731520"/>
          </a:xfrm>
          <a:prstGeom prst="rect">
            <a:avLst/>
          </a:prstGeom>
        </p:spPr>
      </p:pic>
      <p:sp>
        <p:nvSpPr>
          <p:cNvPr id="14" name="Text 11"/>
          <p:cNvSpPr txBox="1"/>
          <p:nvPr/>
        </p:nvSpPr>
        <p:spPr>
          <a:xfrm>
            <a:off x="457200" y="4297680"/>
            <a:ext cx="1920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犬が吠える</a:t>
            </a:r>
            <a:endParaRPr lang="en-US" sz="1800" dirty="0"/>
          </a:p>
        </p:txBody>
      </p:sp>
      <p:sp>
        <p:nvSpPr>
          <p:cNvPr id="15" name="Shape 12"/>
          <p:cNvSpPr/>
          <p:nvPr/>
        </p:nvSpPr>
        <p:spPr>
          <a:xfrm>
            <a:off x="2514600" y="3291840"/>
            <a:ext cx="1005840" cy="457200"/>
          </a:xfrm>
          <a:prstGeom prst="rightArrow">
            <a:avLst/>
          </a:prstGeom>
          <a:solidFill>
            <a:srgbClr val="156082"/>
          </a:solidFill>
          <a:ln w="12700">
            <a:solidFill>
              <a:srgbClr val="156082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6" name="Text 13"/>
          <p:cNvSpPr txBox="1"/>
          <p:nvPr/>
        </p:nvSpPr>
        <p:spPr>
          <a:xfrm>
            <a:off x="2377440" y="2834640"/>
            <a:ext cx="1280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56082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約 1.6 秒</a:t>
            </a:r>
            <a:endParaRPr lang="en-US" sz="1600" dirty="0"/>
          </a:p>
        </p:txBody>
      </p:sp>
      <p:sp>
        <p:nvSpPr>
          <p:cNvPr id="17" name="Shape 14"/>
          <p:cNvSpPr/>
          <p:nvPr/>
        </p:nvSpPr>
        <p:spPr>
          <a:xfrm>
            <a:off x="3749040" y="2377440"/>
            <a:ext cx="4023360" cy="2414016"/>
          </a:xfrm>
          <a:prstGeom prst="rect">
            <a:avLst/>
          </a:prstGeom>
          <a:solidFill>
            <a:srgbClr val="FFD400"/>
          </a:solidFill>
          <a:ln w="25400">
            <a:solidFill>
              <a:srgbClr val="404040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8" name="Text 15"/>
          <p:cNvSpPr txBox="1"/>
          <p:nvPr/>
        </p:nvSpPr>
        <p:spPr>
          <a:xfrm>
            <a:off x="3749040" y="2908524"/>
            <a:ext cx="4023360" cy="96560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800" b="1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DOG</a:t>
            </a:r>
            <a:endParaRPr lang="en-US" sz="4800" dirty="0"/>
          </a:p>
        </p:txBody>
      </p:sp>
      <p:sp>
        <p:nvSpPr>
          <p:cNvPr id="19" name="Text 16"/>
          <p:cNvSpPr txBox="1"/>
          <p:nvPr/>
        </p:nvSpPr>
        <p:spPr>
          <a:xfrm>
            <a:off x="3749040" y="3874130"/>
            <a:ext cx="4023360" cy="48280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p=0.99</a:t>
            </a:r>
            <a:endParaRPr lang="en-US" sz="2000" dirty="0"/>
          </a:p>
        </p:txBody>
      </p:sp>
      <p:sp>
        <p:nvSpPr>
          <p:cNvPr id="20" name="Text 17"/>
          <p:cNvSpPr txBox="1"/>
          <p:nvPr/>
        </p:nvSpPr>
        <p:spPr>
          <a:xfrm>
            <a:off x="3749040" y="4837176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595959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画面全体を音の色に（模式図）</a:t>
            </a:r>
            <a:endParaRPr lang="en-US" sz="1400" dirty="0"/>
          </a:p>
        </p:txBody>
      </p:sp>
      <p:sp>
        <p:nvSpPr>
          <p:cNvPr id="21" name="Shape 18"/>
          <p:cNvSpPr/>
          <p:nvPr/>
        </p:nvSpPr>
        <p:spPr>
          <a:xfrm>
            <a:off x="8138159" y="2377440"/>
            <a:ext cx="3879669" cy="1097280"/>
          </a:xfrm>
          <a:prstGeom prst="rect">
            <a:avLst/>
          </a:prstGeom>
          <a:solidFill>
            <a:srgbClr val="F2F2F2"/>
          </a:solidFill>
          <a:ln w="12700">
            <a:solidFill>
              <a:srgbClr val="BFBFBF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pic>
        <p:nvPicPr>
          <p:cNvPr id="22" name="Image 1" descr="/home/claude/v4/icons/FaLightbulb_C00000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75320" y="2651760"/>
            <a:ext cx="548640" cy="548640"/>
          </a:xfrm>
          <a:prstGeom prst="rect">
            <a:avLst/>
          </a:prstGeom>
        </p:spPr>
      </p:pic>
      <p:sp>
        <p:nvSpPr>
          <p:cNvPr id="23" name="Text 19"/>
          <p:cNvSpPr txBox="1"/>
          <p:nvPr/>
        </p:nvSpPr>
        <p:spPr>
          <a:xfrm>
            <a:off x="8961120" y="2377440"/>
            <a:ext cx="2770632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赤 LED が 1 </a:t>
            </a:r>
            <a:r>
              <a:rPr lang="en-US" sz="1800" b="1" dirty="0" err="1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秒点灯</a:t>
            </a:r>
            <a:endParaRPr lang="en-US" sz="1800" b="1" dirty="0">
              <a:solidFill>
                <a:srgbClr val="000000"/>
              </a:solidFill>
              <a:latin typeface="游ゴシック" pitchFamily="34" charset="0"/>
              <a:ea typeface="游ゴシック" pitchFamily="34" charset="-122"/>
              <a:cs typeface="游ゴシック" pitchFamily="34" charset="-120"/>
            </a:endParaRPr>
          </a:p>
          <a:p>
            <a:pPr marL="0" indent="0">
              <a:buNone/>
            </a:pPr>
            <a:r>
              <a:rPr lang="en-US" b="1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</a:rPr>
              <a:t>(</a:t>
            </a:r>
            <a:r>
              <a:rPr lang="ja-JP" altLang="en-US" b="1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</a:rPr>
              <a:t>検出が続くあいだは点いたまま</a:t>
            </a:r>
            <a:r>
              <a:rPr lang="en-US" b="1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</a:rPr>
              <a:t>)</a:t>
            </a:r>
            <a:endParaRPr lang="en-US" sz="1800" dirty="0"/>
          </a:p>
        </p:txBody>
      </p:sp>
      <p:sp>
        <p:nvSpPr>
          <p:cNvPr id="24" name="Shape 20"/>
          <p:cNvSpPr/>
          <p:nvPr/>
        </p:nvSpPr>
        <p:spPr>
          <a:xfrm>
            <a:off x="8138160" y="3657600"/>
            <a:ext cx="3593592" cy="1828800"/>
          </a:xfrm>
          <a:prstGeom prst="rect">
            <a:avLst/>
          </a:prstGeom>
          <a:solidFill>
            <a:srgbClr val="1E1E1E"/>
          </a:solidFill>
          <a:ln w="12700">
            <a:solidFill>
              <a:srgbClr val="1E1E1E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5" name="Text 21"/>
          <p:cNvSpPr txBox="1"/>
          <p:nvPr/>
        </p:nvSpPr>
        <p:spPr>
          <a:xfrm>
            <a:off x="8275320" y="3703320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UART に JSON を 1 行</a:t>
            </a:r>
            <a:endParaRPr lang="en-US" sz="1500" dirty="0"/>
          </a:p>
        </p:txBody>
      </p:sp>
      <p:sp>
        <p:nvSpPr>
          <p:cNvPr id="26" name="Text 22"/>
          <p:cNvSpPr txBox="1"/>
          <p:nvPr/>
        </p:nvSpPr>
        <p:spPr>
          <a:xfrm>
            <a:off x="8275320" y="4114800"/>
            <a:ext cx="33832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DCDC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{"win":104,"cls":"dog",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DCDC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"p":0.99,"lat_ms":112,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DCDC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"under":0,"over":0,"late":0}</a:t>
            </a:r>
            <a:endParaRPr lang="en-US" sz="13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74320" y="109728"/>
            <a:ext cx="116128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8-1　知らせ方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0" y="777240"/>
            <a:ext cx="12191695" cy="274320"/>
          </a:xfrm>
          <a:prstGeom prst="rect">
            <a:avLst/>
          </a:prstGeom>
          <a:solidFill>
            <a:srgbClr val="156082"/>
          </a:solidFill>
          <a:ln w="12700">
            <a:solidFill>
              <a:srgbClr val="156082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4" name="Text 2"/>
          <p:cNvSpPr txBox="1"/>
          <p:nvPr/>
        </p:nvSpPr>
        <p:spPr>
          <a:xfrm>
            <a:off x="457200" y="1188720"/>
            <a:ext cx="11274552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800" b="1" dirty="0">
                <a:solidFill>
                  <a:srgbClr val="FF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音から平均 1.6 秒で、画面全体を音の種類の色に変えて知らせる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457200" y="2194560"/>
            <a:ext cx="3611880" cy="2167128"/>
          </a:xfrm>
          <a:prstGeom prst="rect">
            <a:avLst/>
          </a:prstGeom>
          <a:solidFill>
            <a:srgbClr val="000000"/>
          </a:solidFill>
          <a:ln w="25400">
            <a:solidFill>
              <a:srgbClr val="404040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7" name="Shape 5"/>
          <p:cNvSpPr/>
          <p:nvPr/>
        </p:nvSpPr>
        <p:spPr>
          <a:xfrm>
            <a:off x="457200" y="3061411"/>
            <a:ext cx="3611880" cy="433426"/>
          </a:xfrm>
          <a:prstGeom prst="rect">
            <a:avLst/>
          </a:prstGeom>
          <a:solidFill>
            <a:srgbClr val="303030"/>
          </a:solidFill>
          <a:ln w="12700">
            <a:solidFill>
              <a:srgbClr val="303030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8" name="Text 6"/>
          <p:cNvSpPr txBox="1"/>
          <p:nvPr/>
        </p:nvSpPr>
        <p:spPr>
          <a:xfrm>
            <a:off x="457200" y="3061411"/>
            <a:ext cx="3611880" cy="43342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READY</a:t>
            </a:r>
            <a:endParaRPr lang="en-US" sz="2000" dirty="0"/>
          </a:p>
        </p:txBody>
      </p:sp>
      <p:sp>
        <p:nvSpPr>
          <p:cNvPr id="9" name="Text 7"/>
          <p:cNvSpPr txBox="1"/>
          <p:nvPr/>
        </p:nvSpPr>
        <p:spPr>
          <a:xfrm>
            <a:off x="457200" y="4434840"/>
            <a:ext cx="3611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待機：READY と、1 秒ごとに変わる数字（生存表示）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4288536" y="2194560"/>
            <a:ext cx="3611880" cy="2167128"/>
          </a:xfrm>
          <a:prstGeom prst="rect">
            <a:avLst/>
          </a:prstGeom>
          <a:solidFill>
            <a:srgbClr val="FFD400"/>
          </a:solidFill>
          <a:ln w="25400">
            <a:solidFill>
              <a:srgbClr val="404040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1" name="Text 9"/>
          <p:cNvSpPr txBox="1"/>
          <p:nvPr/>
        </p:nvSpPr>
        <p:spPr>
          <a:xfrm>
            <a:off x="4288536" y="2671328"/>
            <a:ext cx="3611880" cy="8668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DOG</a:t>
            </a:r>
            <a:endParaRPr lang="en-US" sz="4000" dirty="0"/>
          </a:p>
        </p:txBody>
      </p:sp>
      <p:sp>
        <p:nvSpPr>
          <p:cNvPr id="12" name="Text 10"/>
          <p:cNvSpPr txBox="1"/>
          <p:nvPr/>
        </p:nvSpPr>
        <p:spPr>
          <a:xfrm>
            <a:off x="4288536" y="3538179"/>
            <a:ext cx="3611880" cy="43342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p=0.99</a:t>
            </a:r>
            <a:endParaRPr lang="en-US" sz="1600" dirty="0"/>
          </a:p>
        </p:txBody>
      </p:sp>
      <p:sp>
        <p:nvSpPr>
          <p:cNvPr id="13" name="Text 11"/>
          <p:cNvSpPr txBox="1"/>
          <p:nvPr/>
        </p:nvSpPr>
        <p:spPr>
          <a:xfrm>
            <a:off x="4288536" y="4434840"/>
            <a:ext cx="3611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通知：画面全体を音の色に（3 秒）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8119872" y="2194560"/>
            <a:ext cx="3611880" cy="2167128"/>
          </a:xfrm>
          <a:prstGeom prst="rect">
            <a:avLst/>
          </a:prstGeom>
          <a:solidFill>
            <a:srgbClr val="000000"/>
          </a:solidFill>
          <a:ln w="25400">
            <a:solidFill>
              <a:srgbClr val="404040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6" name="Shape 14"/>
          <p:cNvSpPr/>
          <p:nvPr/>
        </p:nvSpPr>
        <p:spPr>
          <a:xfrm>
            <a:off x="8119872" y="3061411"/>
            <a:ext cx="3611880" cy="433426"/>
          </a:xfrm>
          <a:prstGeom prst="rect">
            <a:avLst/>
          </a:prstGeom>
          <a:solidFill>
            <a:srgbClr val="303030"/>
          </a:solidFill>
          <a:ln w="12700">
            <a:solidFill>
              <a:srgbClr val="303030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7" name="Text 15"/>
          <p:cNvSpPr txBox="1"/>
          <p:nvPr/>
        </p:nvSpPr>
        <p:spPr>
          <a:xfrm>
            <a:off x="8119872" y="3061411"/>
            <a:ext cx="3611880" cy="43342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READY</a:t>
            </a:r>
            <a:endParaRPr lang="en-US" sz="2000" dirty="0"/>
          </a:p>
        </p:txBody>
      </p:sp>
      <p:sp>
        <p:nvSpPr>
          <p:cNvPr id="18" name="Text 16"/>
          <p:cNvSpPr txBox="1"/>
          <p:nvPr/>
        </p:nvSpPr>
        <p:spPr>
          <a:xfrm>
            <a:off x="8300466" y="3624864"/>
            <a:ext cx="3250692" cy="6501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+02:44  SNEEZE  p=0.79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+01:13  BABY    p=0.96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+00:04  DOG     p=0.99</a:t>
            </a:r>
            <a:endParaRPr lang="en-US" sz="1100" dirty="0"/>
          </a:p>
        </p:txBody>
      </p:sp>
      <p:sp>
        <p:nvSpPr>
          <p:cNvPr id="19" name="Text 17"/>
          <p:cNvSpPr txBox="1"/>
          <p:nvPr/>
        </p:nvSpPr>
        <p:spPr>
          <a:xfrm>
            <a:off x="8119872" y="4434840"/>
            <a:ext cx="3611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履歴：直近 3 件を画面の下に残す</a:t>
            </a:r>
            <a:endParaRPr lang="en-US" sz="1600" dirty="0"/>
          </a:p>
        </p:txBody>
      </p:sp>
      <p:sp>
        <p:nvSpPr>
          <p:cNvPr id="20" name="Text 18"/>
          <p:cNvSpPr txBox="1"/>
          <p:nvPr/>
        </p:nvSpPr>
        <p:spPr>
          <a:xfrm>
            <a:off x="457200" y="484632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95959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画面は模式図</a:t>
            </a:r>
            <a:endParaRPr lang="en-US" sz="1200" dirty="0"/>
          </a:p>
        </p:txBody>
      </p:sp>
      <p:sp>
        <p:nvSpPr>
          <p:cNvPr id="21" name="Text 19"/>
          <p:cNvSpPr txBox="1"/>
          <p:nvPr/>
        </p:nvSpPr>
        <p:spPr>
          <a:xfrm>
            <a:off x="457200" y="5230368"/>
            <a:ext cx="548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色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1005840" y="5303520"/>
            <a:ext cx="411480" cy="274320"/>
          </a:xfrm>
          <a:prstGeom prst="rect">
            <a:avLst/>
          </a:prstGeom>
          <a:solidFill>
            <a:srgbClr val="FFD400"/>
          </a:solidFill>
          <a:ln w="12700">
            <a:solidFill>
              <a:srgbClr val="404040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3" name="Text 21"/>
          <p:cNvSpPr txBox="1"/>
          <p:nvPr/>
        </p:nvSpPr>
        <p:spPr>
          <a:xfrm>
            <a:off x="1508760" y="5230368"/>
            <a:ext cx="2103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ノック・犬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3657600" y="5303520"/>
            <a:ext cx="411480" cy="274320"/>
          </a:xfrm>
          <a:prstGeom prst="rect">
            <a:avLst/>
          </a:prstGeom>
          <a:solidFill>
            <a:srgbClr val="E53935"/>
          </a:solidFill>
          <a:ln w="12700">
            <a:solidFill>
              <a:srgbClr val="404040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5" name="Text 23"/>
          <p:cNvSpPr txBox="1"/>
          <p:nvPr/>
        </p:nvSpPr>
        <p:spPr>
          <a:xfrm>
            <a:off x="4160520" y="5230368"/>
            <a:ext cx="2103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ガラス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6309360" y="5303520"/>
            <a:ext cx="411480" cy="274320"/>
          </a:xfrm>
          <a:prstGeom prst="rect">
            <a:avLst/>
          </a:prstGeom>
          <a:solidFill>
            <a:srgbClr val="FB8C00"/>
          </a:solidFill>
          <a:ln w="12700">
            <a:solidFill>
              <a:srgbClr val="404040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7" name="Text 25"/>
          <p:cNvSpPr txBox="1"/>
          <p:nvPr/>
        </p:nvSpPr>
        <p:spPr>
          <a:xfrm>
            <a:off x="6812280" y="5230368"/>
            <a:ext cx="2103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泣き声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8961120" y="5303520"/>
            <a:ext cx="411480" cy="274320"/>
          </a:xfrm>
          <a:prstGeom prst="rect">
            <a:avLst/>
          </a:prstGeom>
          <a:solidFill>
            <a:srgbClr val="1E88E5"/>
          </a:solidFill>
          <a:ln w="12700">
            <a:solidFill>
              <a:srgbClr val="404040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9" name="Text 27"/>
          <p:cNvSpPr txBox="1"/>
          <p:nvPr/>
        </p:nvSpPr>
        <p:spPr>
          <a:xfrm>
            <a:off x="9464040" y="5230368"/>
            <a:ext cx="2103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話し声・くしゃみ</a:t>
            </a:r>
            <a:endParaRPr lang="en-US" sz="1600" dirty="0"/>
          </a:p>
        </p:txBody>
      </p:sp>
      <p:sp>
        <p:nvSpPr>
          <p:cNvPr id="30" name="Text 28"/>
          <p:cNvSpPr txBox="1"/>
          <p:nvPr/>
        </p:nvSpPr>
        <p:spPr>
          <a:xfrm>
            <a:off x="457200" y="5806440"/>
            <a:ext cx="1127455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LED：通知で赤が 1 秒点灯、緑の点滅は動作中の印　　UART：通知ごとに JSON を 1 行（スマホ通知など外部連携の口）</a:t>
            </a:r>
            <a:endParaRPr lang="en-US" sz="1600" dirty="0"/>
          </a:p>
        </p:txBody>
      </p:sp>
      <p:sp>
        <p:nvSpPr>
          <p:cNvPr id="31" name="TextBox 30"/>
          <p:cNvSpPr txBox="1"/>
          <p:nvPr/>
        </p:nvSpPr>
        <p:spPr>
          <a:xfrm>
            <a:off x="511150" y="2233833"/>
            <a:ext cx="274320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200" b="1">
                <a:solidFill>
                  <a:srgbClr val="FFFFFF"/>
                </a:solidFill>
                <a:latin typeface="Consolas"/>
              </a:rPr>
              <a:t>7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173822" y="2233833"/>
            <a:ext cx="274320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200" b="1">
                <a:solidFill>
                  <a:srgbClr val="FFFFFF"/>
                </a:solidFill>
                <a:latin typeface="Consolas"/>
              </a:rPr>
              <a:t>8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74320" y="109728"/>
            <a:ext cx="116128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8-2　使えるものだったか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0" y="777240"/>
            <a:ext cx="12191695" cy="274320"/>
          </a:xfrm>
          <a:prstGeom prst="rect">
            <a:avLst/>
          </a:prstGeom>
          <a:solidFill>
            <a:srgbClr val="156082"/>
          </a:solidFill>
          <a:ln w="12700">
            <a:solidFill>
              <a:srgbClr val="156082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4" name="Text 2"/>
          <p:cNvSpPr txBox="1"/>
          <p:nvPr/>
        </p:nvSpPr>
        <p:spPr>
          <a:xfrm>
            <a:off x="457200" y="1188720"/>
            <a:ext cx="11274552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どちらの版もそのままでは製品にならない。足りないのはモデル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1188720" y="2240280"/>
            <a:ext cx="2788920" cy="1737360"/>
          </a:xfrm>
          <a:prstGeom prst="rect">
            <a:avLst/>
          </a:prstGeom>
          <a:solidFill>
            <a:srgbClr val="EEF4FA"/>
          </a:solidFill>
          <a:ln w="12700">
            <a:solidFill>
              <a:srgbClr val="BFBFBF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6" name="Shape 4"/>
          <p:cNvSpPr/>
          <p:nvPr/>
        </p:nvSpPr>
        <p:spPr>
          <a:xfrm>
            <a:off x="3977640" y="2240280"/>
            <a:ext cx="2788920" cy="1737360"/>
          </a:xfrm>
          <a:prstGeom prst="rect">
            <a:avLst/>
          </a:prstGeom>
          <a:solidFill>
            <a:srgbClr val="E6F4EE"/>
          </a:solidFill>
          <a:ln w="25400">
            <a:solidFill>
              <a:srgbClr val="008A5E"/>
            </a:solidFill>
            <a:prstDash val="dash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7" name="Shape 5"/>
          <p:cNvSpPr/>
          <p:nvPr/>
        </p:nvSpPr>
        <p:spPr>
          <a:xfrm>
            <a:off x="1188720" y="3977640"/>
            <a:ext cx="2788920" cy="1737360"/>
          </a:xfrm>
          <a:prstGeom prst="rect">
            <a:avLst/>
          </a:prstGeom>
          <a:solidFill>
            <a:srgbClr val="F7F7F7"/>
          </a:solidFill>
          <a:ln w="12700">
            <a:solidFill>
              <a:srgbClr val="BFBFBF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8" name="Shape 6"/>
          <p:cNvSpPr/>
          <p:nvPr/>
        </p:nvSpPr>
        <p:spPr>
          <a:xfrm>
            <a:off x="3977640" y="3977640"/>
            <a:ext cx="2788920" cy="1737360"/>
          </a:xfrm>
          <a:prstGeom prst="rect">
            <a:avLst/>
          </a:prstGeom>
          <a:solidFill>
            <a:srgbClr val="FFF7EE"/>
          </a:solidFill>
          <a:ln w="12700">
            <a:solidFill>
              <a:srgbClr val="BFBFBF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9" name="Shape 7"/>
          <p:cNvSpPr/>
          <p:nvPr/>
        </p:nvSpPr>
        <p:spPr>
          <a:xfrm>
            <a:off x="1417320" y="2514600"/>
            <a:ext cx="384048" cy="384048"/>
          </a:xfrm>
          <a:prstGeom prst="ellipse">
            <a:avLst/>
          </a:prstGeom>
          <a:solidFill>
            <a:srgbClr val="156082"/>
          </a:solidFill>
          <a:ln w="12700">
            <a:solidFill>
              <a:srgbClr val="156082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0" name="Text 8"/>
          <p:cNvSpPr txBox="1"/>
          <p:nvPr/>
        </p:nvSpPr>
        <p:spPr>
          <a:xfrm>
            <a:off x="1874520" y="2377440"/>
            <a:ext cx="201168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ESC-10 版</a:t>
            </a:r>
            <a:endParaRPr lang="en-US" sz="1500" dirty="0"/>
          </a:p>
          <a:p>
            <a:pPr marL="0" indent="0">
              <a:buNone/>
            </a:pPr>
            <a:r>
              <a:rPr lang="en-US" sz="150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誤報は少ない（3.5 件/時）が、知らせる音が部屋の用途に合わない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4206240" y="4251960"/>
            <a:ext cx="384048" cy="384048"/>
          </a:xfrm>
          <a:prstGeom prst="ellipse">
            <a:avLst/>
          </a:prstGeom>
          <a:solidFill>
            <a:srgbClr val="E07B00"/>
          </a:solidFill>
          <a:ln w="12700">
            <a:solidFill>
              <a:srgbClr val="E07B00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2" name="Text 10"/>
          <p:cNvSpPr txBox="1"/>
          <p:nvPr/>
        </p:nvSpPr>
        <p:spPr>
          <a:xfrm>
            <a:off x="4663440" y="4114800"/>
            <a:ext cx="201168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FSD50K 版</a:t>
            </a:r>
            <a:endParaRPr lang="en-US" sz="1500" dirty="0"/>
          </a:p>
          <a:p>
            <a:pPr marL="0" indent="0">
              <a:buNone/>
            </a:pPr>
            <a:r>
              <a:rPr lang="en-US" sz="150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知らせる音は合うが、誤報 250 件/時</a:t>
            </a:r>
            <a:endParaRPr lang="en-US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4160520" y="2377440"/>
            <a:ext cx="246888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008A5E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目標</a:t>
            </a:r>
            <a:endParaRPr lang="en-US" sz="1500" dirty="0"/>
          </a:p>
          <a:p>
            <a:pPr marL="0" indent="0">
              <a:buNone/>
            </a:pPr>
            <a:r>
              <a:rPr lang="en-US" sz="1500" b="1" dirty="0">
                <a:solidFill>
                  <a:srgbClr val="008A5E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「その他」クラス付きのモデル（基盤はそのまま）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1188720" y="5788152"/>
            <a:ext cx="5577840" cy="0"/>
          </a:xfrm>
          <a:prstGeom prst="line">
            <a:avLst/>
          </a:prstGeom>
          <a:noFill/>
          <a:ln w="1905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5" name="Text 13"/>
          <p:cNvSpPr txBox="1"/>
          <p:nvPr/>
        </p:nvSpPr>
        <p:spPr>
          <a:xfrm>
            <a:off x="1188720" y="5824728"/>
            <a:ext cx="5577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500" b="1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知らせる音が用途に合う →</a:t>
            </a:r>
            <a:endParaRPr lang="en-US" sz="1500" dirty="0"/>
          </a:p>
        </p:txBody>
      </p:sp>
      <p:sp>
        <p:nvSpPr>
          <p:cNvPr id="16" name="Text 14"/>
          <p:cNvSpPr txBox="1"/>
          <p:nvPr/>
        </p:nvSpPr>
        <p:spPr>
          <a:xfrm rot="16200000">
            <a:off x="-548640" y="379476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誤報が少ない →</a:t>
            </a:r>
            <a:endParaRPr lang="en-US" sz="1500" dirty="0"/>
          </a:p>
        </p:txBody>
      </p:sp>
      <p:sp>
        <p:nvSpPr>
          <p:cNvPr id="17" name="Text 15"/>
          <p:cNvSpPr txBox="1"/>
          <p:nvPr/>
        </p:nvSpPr>
        <p:spPr>
          <a:xfrm>
            <a:off x="7223760" y="2240280"/>
            <a:ext cx="4507992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70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ESC-10 版は誤報は少ないが、犬・泣き声・くしゃみは部屋の知らせとして弱い</a:t>
            </a:r>
            <a:endParaRPr lang="en-US" sz="17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70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FSD50K 版は知らせる音は合うが、誤報が多すぎる</a:t>
            </a:r>
            <a:endParaRPr lang="en-US" sz="17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70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2 つの版を同じ基盤・同じ手順で測れたので、弱いのがモデルだと数字で分かった</a:t>
            </a:r>
            <a:endParaRPr lang="en-US" sz="1700" dirty="0"/>
          </a:p>
        </p:txBody>
      </p:sp>
      <p:sp>
        <p:nvSpPr>
          <p:cNvPr id="18" name="Shape 16"/>
          <p:cNvSpPr/>
          <p:nvPr/>
        </p:nvSpPr>
        <p:spPr>
          <a:xfrm>
            <a:off x="7223760" y="5074920"/>
            <a:ext cx="4507992" cy="1188720"/>
          </a:xfrm>
          <a:prstGeom prst="rect">
            <a:avLst/>
          </a:prstGeom>
          <a:solidFill>
            <a:srgbClr val="DDEBF3"/>
          </a:solidFill>
          <a:ln w="15875">
            <a:solidFill>
              <a:srgbClr val="156082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9" name="Text 17"/>
          <p:cNvSpPr txBox="1"/>
          <p:nvPr/>
        </p:nvSpPr>
        <p:spPr>
          <a:xfrm>
            <a:off x="7360920" y="5074920"/>
            <a:ext cx="4233672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判定・通知・時間の保証はそのまま使える。替えるのはモデルだけ</a:t>
            </a:r>
            <a:endParaRPr lang="en-US" sz="18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74320" y="109728"/>
            <a:ext cx="116128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9　限界と展開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0" y="777240"/>
            <a:ext cx="12191695" cy="274320"/>
          </a:xfrm>
          <a:prstGeom prst="rect">
            <a:avLst/>
          </a:prstGeom>
          <a:solidFill>
            <a:srgbClr val="156082"/>
          </a:solidFill>
          <a:ln w="12700">
            <a:solidFill>
              <a:srgbClr val="156082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4" name="Shape 2"/>
          <p:cNvSpPr/>
          <p:nvPr/>
        </p:nvSpPr>
        <p:spPr>
          <a:xfrm>
            <a:off x="0" y="1051560"/>
            <a:ext cx="12191695" cy="1097280"/>
          </a:xfrm>
          <a:prstGeom prst="rect">
            <a:avLst/>
          </a:prstGeom>
          <a:solidFill>
            <a:srgbClr val="DDEBF3"/>
          </a:solidFill>
          <a:ln w="12700">
            <a:solidFill>
              <a:srgbClr val="DDEBF3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5" name="Text 3"/>
          <p:cNvSpPr txBox="1"/>
          <p:nvPr/>
        </p:nvSpPr>
        <p:spPr>
          <a:xfrm>
            <a:off x="457200" y="1097280"/>
            <a:ext cx="1127455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 err="1"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足りないのはモデルと時間</a:t>
            </a:r>
            <a:r>
              <a:rPr lang="en-US" sz="2400" b="1" dirty="0"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。</a:t>
            </a:r>
          </a:p>
          <a:p>
            <a:pPr marL="0" indent="0">
              <a:buNone/>
            </a:pPr>
            <a:r>
              <a:rPr lang="en-US" sz="3600" b="1" dirty="0" err="1">
                <a:solidFill>
                  <a:srgbClr val="FF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基盤はそのまま他の用途に使える</a:t>
            </a:r>
            <a:endParaRPr lang="en-US" sz="36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6217920"/>
            <a:ext cx="12344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95959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この章の流れ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1737360" y="6217920"/>
            <a:ext cx="4850892" cy="420624"/>
          </a:xfrm>
          <a:prstGeom prst="rect">
            <a:avLst/>
          </a:prstGeom>
          <a:solidFill>
            <a:srgbClr val="FFFFFF"/>
          </a:solidFill>
          <a:ln w="15875">
            <a:solidFill>
              <a:srgbClr val="156082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8" name="Text 6"/>
          <p:cNvSpPr txBox="1"/>
          <p:nvPr/>
        </p:nvSpPr>
        <p:spPr>
          <a:xfrm>
            <a:off x="1783080" y="6217920"/>
            <a:ext cx="475945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56082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9-1 限界と次の一手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661404" y="6318504"/>
            <a:ext cx="146304" cy="219456"/>
          </a:xfrm>
          <a:prstGeom prst="chevron">
            <a:avLst/>
          </a:prstGeom>
          <a:solidFill>
            <a:srgbClr val="156082"/>
          </a:solidFill>
          <a:ln w="12700">
            <a:solidFill>
              <a:srgbClr val="156082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0" name="Shape 8"/>
          <p:cNvSpPr/>
          <p:nvPr/>
        </p:nvSpPr>
        <p:spPr>
          <a:xfrm>
            <a:off x="6880860" y="6217920"/>
            <a:ext cx="4850892" cy="420624"/>
          </a:xfrm>
          <a:prstGeom prst="rect">
            <a:avLst/>
          </a:prstGeom>
          <a:solidFill>
            <a:srgbClr val="FFFFFF"/>
          </a:solidFill>
          <a:ln w="15875">
            <a:solidFill>
              <a:srgbClr val="156082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1" name="Text 9"/>
          <p:cNvSpPr txBox="1"/>
          <p:nvPr/>
        </p:nvSpPr>
        <p:spPr>
          <a:xfrm>
            <a:off x="6926580" y="6217920"/>
            <a:ext cx="475945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56082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9-2 展開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457200" y="2331720"/>
            <a:ext cx="5394960" cy="3703320"/>
          </a:xfrm>
          <a:prstGeom prst="rect">
            <a:avLst/>
          </a:prstGeom>
          <a:solidFill>
            <a:srgbClr val="F2F2F2"/>
          </a:solidFill>
          <a:ln w="12700">
            <a:solidFill>
              <a:srgbClr val="BFBFBF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3" name="Text 11"/>
          <p:cNvSpPr txBox="1"/>
          <p:nvPr/>
        </p:nvSpPr>
        <p:spPr>
          <a:xfrm>
            <a:off x="640080" y="237744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限界</a:t>
            </a:r>
            <a:endParaRPr lang="en-US" sz="2200" dirty="0"/>
          </a:p>
        </p:txBody>
      </p:sp>
      <p:sp>
        <p:nvSpPr>
          <p:cNvPr id="14" name="Shape 12"/>
          <p:cNvSpPr/>
          <p:nvPr/>
        </p:nvSpPr>
        <p:spPr>
          <a:xfrm>
            <a:off x="640080" y="2926080"/>
            <a:ext cx="5029200" cy="1325880"/>
          </a:xfrm>
          <a:prstGeom prst="rect">
            <a:avLst/>
          </a:prstGeom>
          <a:solidFill>
            <a:srgbClr val="FBE9D3"/>
          </a:solidFill>
          <a:ln w="12700">
            <a:solidFill>
              <a:srgbClr val="E07B00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5" name="Text 13"/>
          <p:cNvSpPr txBox="1"/>
          <p:nvPr/>
        </p:nvSpPr>
        <p:spPr>
          <a:xfrm>
            <a:off x="713232" y="2926080"/>
            <a:ext cx="4882896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モデルの問題（2 つ）</a:t>
            </a:r>
            <a:endParaRPr lang="en-US" sz="1600" dirty="0"/>
          </a:p>
          <a:p>
            <a:pPr marL="0" indent="0" algn="l">
              <a:buNone/>
            </a:pPr>
            <a:r>
              <a:rPr lang="en-US" sz="1600" b="1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知らせる音が用途に合わない／音量の判定は設置場所しだい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640080" y="4434840"/>
            <a:ext cx="5029200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A6A6A6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7" name="Text 15"/>
          <p:cNvSpPr txBox="1"/>
          <p:nvPr/>
        </p:nvSpPr>
        <p:spPr>
          <a:xfrm>
            <a:off x="713232" y="4434840"/>
            <a:ext cx="4882896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時間切れの問題（4 つ）</a:t>
            </a:r>
            <a:endParaRPr lang="en-US" sz="1600" dirty="0"/>
          </a:p>
          <a:p>
            <a:pPr marL="0" indent="0" algn="l">
              <a:buNone/>
            </a:pPr>
            <a:r>
              <a:rPr lang="en-US" sz="1600" b="1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マイクの飽和・遅延 1〜2 秒・省電力・FSD50K 版はデバッガ起動のみ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5989320" y="3931920"/>
            <a:ext cx="548640" cy="457200"/>
          </a:xfrm>
          <a:prstGeom prst="rightArrow">
            <a:avLst/>
          </a:prstGeom>
          <a:solidFill>
            <a:srgbClr val="156082"/>
          </a:solidFill>
          <a:ln w="12700">
            <a:solidFill>
              <a:srgbClr val="156082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9" name="Shape 17"/>
          <p:cNvSpPr/>
          <p:nvPr/>
        </p:nvSpPr>
        <p:spPr>
          <a:xfrm>
            <a:off x="6675120" y="2331720"/>
            <a:ext cx="5056632" cy="3703320"/>
          </a:xfrm>
          <a:prstGeom prst="rect">
            <a:avLst/>
          </a:prstGeom>
          <a:solidFill>
            <a:srgbClr val="DDEBF3"/>
          </a:solidFill>
          <a:ln w="19050">
            <a:solidFill>
              <a:srgbClr val="156082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0" name="Text 18"/>
          <p:cNvSpPr txBox="1"/>
          <p:nvPr/>
        </p:nvSpPr>
        <p:spPr>
          <a:xfrm>
            <a:off x="6858000" y="237744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展開</a:t>
            </a:r>
            <a:endParaRPr lang="en-US" sz="2200" dirty="0"/>
          </a:p>
        </p:txBody>
      </p:sp>
      <p:sp>
        <p:nvSpPr>
          <p:cNvPr id="21" name="Shape 19"/>
          <p:cNvSpPr/>
          <p:nvPr/>
        </p:nvSpPr>
        <p:spPr>
          <a:xfrm>
            <a:off x="7178040" y="2971800"/>
            <a:ext cx="914400" cy="91440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pic>
        <p:nvPicPr>
          <p:cNvPr id="22" name="Image 0" descr="/home/claude/v4/icons/FaIndustry_15608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79208" y="3172968"/>
            <a:ext cx="512064" cy="512064"/>
          </a:xfrm>
          <a:prstGeom prst="rect">
            <a:avLst/>
          </a:prstGeom>
        </p:spPr>
      </p:pic>
      <p:sp>
        <p:nvSpPr>
          <p:cNvPr id="23" name="Text 20"/>
          <p:cNvSpPr txBox="1"/>
          <p:nvPr/>
        </p:nvSpPr>
        <p:spPr>
          <a:xfrm>
            <a:off x="6903720" y="3931920"/>
            <a:ext cx="1508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機械の異音監視</a:t>
            </a:r>
            <a:endParaRPr lang="en-US" sz="1500" dirty="0"/>
          </a:p>
        </p:txBody>
      </p:sp>
      <p:sp>
        <p:nvSpPr>
          <p:cNvPr id="24" name="Shape 21"/>
          <p:cNvSpPr/>
          <p:nvPr/>
        </p:nvSpPr>
        <p:spPr>
          <a:xfrm>
            <a:off x="8778240" y="2971800"/>
            <a:ext cx="914400" cy="91440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pic>
        <p:nvPicPr>
          <p:cNvPr id="25" name="Image 1" descr="/home/claude/v4/icons/FaHome_156082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979408" y="3172968"/>
            <a:ext cx="512064" cy="512064"/>
          </a:xfrm>
          <a:prstGeom prst="rect">
            <a:avLst/>
          </a:prstGeom>
        </p:spPr>
      </p:pic>
      <p:sp>
        <p:nvSpPr>
          <p:cNvPr id="26" name="Text 22"/>
          <p:cNvSpPr txBox="1"/>
          <p:nvPr/>
        </p:nvSpPr>
        <p:spPr>
          <a:xfrm>
            <a:off x="8503920" y="3931920"/>
            <a:ext cx="1508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見守り・防犯</a:t>
            </a:r>
            <a:endParaRPr lang="en-US" sz="1500" dirty="0"/>
          </a:p>
        </p:txBody>
      </p:sp>
      <p:sp>
        <p:nvSpPr>
          <p:cNvPr id="27" name="Shape 23"/>
          <p:cNvSpPr/>
          <p:nvPr/>
        </p:nvSpPr>
        <p:spPr>
          <a:xfrm>
            <a:off x="10378440" y="2971800"/>
            <a:ext cx="914400" cy="91440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pic>
        <p:nvPicPr>
          <p:cNvPr id="28" name="Image 2" descr="/home/claude/v4/icons/FaMicrochip_156082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579608" y="3172968"/>
            <a:ext cx="512064" cy="512064"/>
          </a:xfrm>
          <a:prstGeom prst="rect">
            <a:avLst/>
          </a:prstGeom>
        </p:spPr>
      </p:pic>
      <p:sp>
        <p:nvSpPr>
          <p:cNvPr id="29" name="Text 24"/>
          <p:cNvSpPr txBox="1"/>
          <p:nvPr/>
        </p:nvSpPr>
        <p:spPr>
          <a:xfrm>
            <a:off x="10104120" y="3931920"/>
            <a:ext cx="1508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既存の制御装置</a:t>
            </a:r>
            <a:endParaRPr lang="en-US" sz="1500" dirty="0"/>
          </a:p>
        </p:txBody>
      </p:sp>
      <p:sp>
        <p:nvSpPr>
          <p:cNvPr id="30" name="Text 25"/>
          <p:cNvSpPr txBox="1"/>
          <p:nvPr/>
        </p:nvSpPr>
        <p:spPr>
          <a:xfrm>
            <a:off x="6858000" y="4663440"/>
            <a:ext cx="4690872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落とせない周期処理に推論を足す装置なら、同じ基盤と同じ確かめ方が使える</a:t>
            </a:r>
            <a:endParaRPr lang="en-US" sz="170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74320" y="109728"/>
            <a:ext cx="116128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9-1　限界と次の一手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0" y="777240"/>
            <a:ext cx="12191695" cy="274320"/>
          </a:xfrm>
          <a:prstGeom prst="rect">
            <a:avLst/>
          </a:prstGeom>
          <a:solidFill>
            <a:srgbClr val="156082"/>
          </a:solidFill>
          <a:ln w="12700">
            <a:solidFill>
              <a:srgbClr val="156082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4" name="Text 2"/>
          <p:cNvSpPr txBox="1"/>
          <p:nvPr/>
        </p:nvSpPr>
        <p:spPr>
          <a:xfrm>
            <a:off x="457200" y="1188720"/>
            <a:ext cx="11274552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上 2 つはモデル、下 4 つは時間切れ。基盤の主張には影響しない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1737360" y="2194560"/>
            <a:ext cx="4754880" cy="457200"/>
          </a:xfrm>
          <a:prstGeom prst="rect">
            <a:avLst/>
          </a:prstGeom>
          <a:solidFill>
            <a:srgbClr val="156082"/>
          </a:solidFill>
          <a:ln w="12700">
            <a:solidFill>
              <a:srgbClr val="156082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6" name="Text 4"/>
          <p:cNvSpPr txBox="1"/>
          <p:nvPr/>
        </p:nvSpPr>
        <p:spPr>
          <a:xfrm>
            <a:off x="1810512" y="2194560"/>
            <a:ext cx="460857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限界</a:t>
            </a:r>
            <a:endParaRPr lang="en-US" sz="1700" dirty="0"/>
          </a:p>
        </p:txBody>
      </p:sp>
      <p:sp>
        <p:nvSpPr>
          <p:cNvPr id="7" name="Shape 5"/>
          <p:cNvSpPr/>
          <p:nvPr/>
        </p:nvSpPr>
        <p:spPr>
          <a:xfrm>
            <a:off x="6537960" y="2194560"/>
            <a:ext cx="5193792" cy="457200"/>
          </a:xfrm>
          <a:prstGeom prst="rect">
            <a:avLst/>
          </a:prstGeom>
          <a:solidFill>
            <a:srgbClr val="156082"/>
          </a:solidFill>
          <a:ln w="12700">
            <a:solidFill>
              <a:srgbClr val="156082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8" name="Text 6"/>
          <p:cNvSpPr txBox="1"/>
          <p:nvPr/>
        </p:nvSpPr>
        <p:spPr>
          <a:xfrm>
            <a:off x="6611112" y="2194560"/>
            <a:ext cx="504748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次の一手</a:t>
            </a: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>
            <a:off x="1737360" y="2697480"/>
            <a:ext cx="4754880" cy="493776"/>
          </a:xfrm>
          <a:prstGeom prst="rect">
            <a:avLst/>
          </a:prstGeom>
          <a:solidFill>
            <a:srgbClr val="F2F2F2"/>
          </a:solidFill>
          <a:ln w="9525">
            <a:solidFill>
              <a:srgbClr val="BFBFBF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0" name="Shape 8"/>
          <p:cNvSpPr/>
          <p:nvPr/>
        </p:nvSpPr>
        <p:spPr>
          <a:xfrm>
            <a:off x="6537960" y="2697480"/>
            <a:ext cx="5193792" cy="493776"/>
          </a:xfrm>
          <a:prstGeom prst="rect">
            <a:avLst/>
          </a:prstGeom>
          <a:solidFill>
            <a:srgbClr val="F2F2F2"/>
          </a:solidFill>
          <a:ln w="9525">
            <a:solidFill>
              <a:srgbClr val="BFBFBF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1" name="Text 9"/>
          <p:cNvSpPr txBox="1"/>
          <p:nvPr/>
        </p:nvSpPr>
        <p:spPr>
          <a:xfrm>
            <a:off x="1828800" y="2697480"/>
            <a:ext cx="457200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知らせる音が用途に合わない／4 種類まで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6629400" y="2697480"/>
            <a:ext cx="502920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「</a:t>
            </a:r>
            <a:r>
              <a:rPr lang="en-US" sz="1600" dirty="0" err="1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その他」クラス付きのモデルへ</a:t>
            </a:r>
            <a:endParaRPr lang="en-US" sz="1600" dirty="0">
              <a:solidFill>
                <a:srgbClr val="000000"/>
              </a:solidFill>
              <a:latin typeface="游ゴシック" pitchFamily="34" charset="0"/>
              <a:ea typeface="游ゴシック" pitchFamily="34" charset="-122"/>
              <a:cs typeface="游ゴシック" pitchFamily="34" charset="-120"/>
            </a:endParaRPr>
          </a:p>
          <a:p>
            <a:pPr marL="0" indent="0">
              <a:buNone/>
            </a:pPr>
            <a:r>
              <a:rPr lang="en-US" sz="160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（切替の仕組みは済み）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1737360" y="3246120"/>
            <a:ext cx="4754880" cy="493776"/>
          </a:xfrm>
          <a:prstGeom prst="rect">
            <a:avLst/>
          </a:prstGeom>
          <a:solidFill>
            <a:srgbClr val="FFFFFF"/>
          </a:solidFill>
          <a:ln w="9525">
            <a:solidFill>
              <a:srgbClr val="BFBFBF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4" name="Shape 12"/>
          <p:cNvSpPr/>
          <p:nvPr/>
        </p:nvSpPr>
        <p:spPr>
          <a:xfrm>
            <a:off x="6537960" y="3246120"/>
            <a:ext cx="5193792" cy="493776"/>
          </a:xfrm>
          <a:prstGeom prst="rect">
            <a:avLst/>
          </a:prstGeom>
          <a:solidFill>
            <a:srgbClr val="FFFFFF"/>
          </a:solidFill>
          <a:ln w="9525">
            <a:solidFill>
              <a:srgbClr val="BFBFBF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5" name="Text 13"/>
          <p:cNvSpPr txBox="1"/>
          <p:nvPr/>
        </p:nvSpPr>
        <p:spPr>
          <a:xfrm>
            <a:off x="1828800" y="3246120"/>
            <a:ext cx="457200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音量による判定は設置場所しだい</a:t>
            </a:r>
            <a:endParaRPr lang="en-US" sz="1600" dirty="0"/>
          </a:p>
        </p:txBody>
      </p:sp>
      <p:sp>
        <p:nvSpPr>
          <p:cNvPr id="16" name="Text 14"/>
          <p:cNvSpPr txBox="1"/>
          <p:nvPr/>
        </p:nvSpPr>
        <p:spPr>
          <a:xfrm>
            <a:off x="6629400" y="3246120"/>
            <a:ext cx="502920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背景音を学習したモデル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1737360" y="3794760"/>
            <a:ext cx="4754880" cy="493776"/>
          </a:xfrm>
          <a:prstGeom prst="rect">
            <a:avLst/>
          </a:prstGeom>
          <a:solidFill>
            <a:srgbClr val="F2F2F2"/>
          </a:solidFill>
          <a:ln w="9525">
            <a:solidFill>
              <a:srgbClr val="BFBFBF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8" name="Shape 16"/>
          <p:cNvSpPr/>
          <p:nvPr/>
        </p:nvSpPr>
        <p:spPr>
          <a:xfrm>
            <a:off x="6537960" y="3794760"/>
            <a:ext cx="5193792" cy="493776"/>
          </a:xfrm>
          <a:prstGeom prst="rect">
            <a:avLst/>
          </a:prstGeom>
          <a:solidFill>
            <a:srgbClr val="F2F2F2"/>
          </a:solidFill>
          <a:ln w="9525">
            <a:solidFill>
              <a:srgbClr val="BFBFBF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9" name="Text 17"/>
          <p:cNvSpPr txBox="1"/>
          <p:nvPr/>
        </p:nvSpPr>
        <p:spPr>
          <a:xfrm>
            <a:off x="1828800" y="3794760"/>
            <a:ext cx="457200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10 cm ではマイクが飽和する</a:t>
            </a:r>
            <a:endParaRPr lang="en-US" sz="1600" dirty="0"/>
          </a:p>
        </p:txBody>
      </p:sp>
      <p:sp>
        <p:nvSpPr>
          <p:cNvPr id="20" name="Text 18"/>
          <p:cNvSpPr txBox="1"/>
          <p:nvPr/>
        </p:nvSpPr>
        <p:spPr>
          <a:xfrm>
            <a:off x="6629400" y="3794760"/>
            <a:ext cx="502920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設置距離の目安を手順書に。ゲインの切替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1737360" y="4343400"/>
            <a:ext cx="4754880" cy="493776"/>
          </a:xfrm>
          <a:prstGeom prst="rect">
            <a:avLst/>
          </a:prstGeom>
          <a:solidFill>
            <a:srgbClr val="FFFFFF"/>
          </a:solidFill>
          <a:ln w="9525">
            <a:solidFill>
              <a:srgbClr val="BFBFBF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2" name="Shape 20"/>
          <p:cNvSpPr/>
          <p:nvPr/>
        </p:nvSpPr>
        <p:spPr>
          <a:xfrm>
            <a:off x="6537960" y="4343400"/>
            <a:ext cx="5193792" cy="493776"/>
          </a:xfrm>
          <a:prstGeom prst="rect">
            <a:avLst/>
          </a:prstGeom>
          <a:solidFill>
            <a:srgbClr val="FFFFFF"/>
          </a:solidFill>
          <a:ln w="9525">
            <a:solidFill>
              <a:srgbClr val="BFBFBF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3" name="Text 21"/>
          <p:cNvSpPr txBox="1"/>
          <p:nvPr/>
        </p:nvSpPr>
        <p:spPr>
          <a:xfrm>
            <a:off x="1828800" y="4343400"/>
            <a:ext cx="457200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遅延 1〜2 秒</a:t>
            </a:r>
            <a:endParaRPr lang="en-US" sz="1600" dirty="0"/>
          </a:p>
        </p:txBody>
      </p:sp>
      <p:sp>
        <p:nvSpPr>
          <p:cNvPr id="24" name="Text 22"/>
          <p:cNvSpPr txBox="1"/>
          <p:nvPr/>
        </p:nvSpPr>
        <p:spPr>
          <a:xfrm>
            <a:off x="6629400" y="4343400"/>
            <a:ext cx="502920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窓をずらす間隔を縮めて約半分に</a:t>
            </a: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>
            <a:off x="1737360" y="4892040"/>
            <a:ext cx="4754880" cy="493776"/>
          </a:xfrm>
          <a:prstGeom prst="rect">
            <a:avLst/>
          </a:prstGeom>
          <a:solidFill>
            <a:srgbClr val="F2F2F2"/>
          </a:solidFill>
          <a:ln w="9525">
            <a:solidFill>
              <a:srgbClr val="BFBFBF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6" name="Shape 24"/>
          <p:cNvSpPr/>
          <p:nvPr/>
        </p:nvSpPr>
        <p:spPr>
          <a:xfrm>
            <a:off x="6537960" y="4892040"/>
            <a:ext cx="5193792" cy="493776"/>
          </a:xfrm>
          <a:prstGeom prst="rect">
            <a:avLst/>
          </a:prstGeom>
          <a:solidFill>
            <a:srgbClr val="F2F2F2"/>
          </a:solidFill>
          <a:ln w="9525">
            <a:solidFill>
              <a:srgbClr val="BFBFBF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7" name="Text 25"/>
          <p:cNvSpPr txBox="1"/>
          <p:nvPr/>
        </p:nvSpPr>
        <p:spPr>
          <a:xfrm>
            <a:off x="1828800" y="4892040"/>
            <a:ext cx="457200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省電力は未計測</a:t>
            </a:r>
            <a:endParaRPr lang="en-US" sz="1600" dirty="0"/>
          </a:p>
        </p:txBody>
      </p:sp>
      <p:sp>
        <p:nvSpPr>
          <p:cNvPr id="28" name="Text 26"/>
          <p:cNvSpPr txBox="1"/>
          <p:nvPr/>
        </p:nvSpPr>
        <p:spPr>
          <a:xfrm>
            <a:off x="6629400" y="4892040"/>
            <a:ext cx="502920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空き 88% の間は待機命令（WFI）</a:t>
            </a:r>
            <a:endParaRPr lang="en-US" sz="1600" dirty="0"/>
          </a:p>
        </p:txBody>
      </p:sp>
      <p:sp>
        <p:nvSpPr>
          <p:cNvPr id="29" name="Shape 27"/>
          <p:cNvSpPr/>
          <p:nvPr/>
        </p:nvSpPr>
        <p:spPr>
          <a:xfrm>
            <a:off x="1737360" y="5440680"/>
            <a:ext cx="4754880" cy="493776"/>
          </a:xfrm>
          <a:prstGeom prst="rect">
            <a:avLst/>
          </a:prstGeom>
          <a:solidFill>
            <a:srgbClr val="FFFFFF"/>
          </a:solidFill>
          <a:ln w="9525">
            <a:solidFill>
              <a:srgbClr val="BFBFBF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30" name="Shape 28"/>
          <p:cNvSpPr/>
          <p:nvPr/>
        </p:nvSpPr>
        <p:spPr>
          <a:xfrm>
            <a:off x="6537960" y="5440680"/>
            <a:ext cx="5193792" cy="493776"/>
          </a:xfrm>
          <a:prstGeom prst="rect">
            <a:avLst/>
          </a:prstGeom>
          <a:solidFill>
            <a:srgbClr val="FFFFFF"/>
          </a:solidFill>
          <a:ln w="9525">
            <a:solidFill>
              <a:srgbClr val="BFBFBF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31" name="Text 29"/>
          <p:cNvSpPr txBox="1"/>
          <p:nvPr/>
        </p:nvSpPr>
        <p:spPr>
          <a:xfrm>
            <a:off x="1828800" y="5440680"/>
            <a:ext cx="457200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FSD50K 版はデバッガ起動のみ</a:t>
            </a:r>
            <a:endParaRPr lang="en-US" sz="1600" dirty="0"/>
          </a:p>
        </p:txBody>
      </p:sp>
      <p:sp>
        <p:nvSpPr>
          <p:cNvPr id="32" name="Text 30"/>
          <p:cNvSpPr txBox="1"/>
          <p:nvPr/>
        </p:nvSpPr>
        <p:spPr>
          <a:xfrm>
            <a:off x="6629400" y="5440680"/>
            <a:ext cx="502920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重みを実行像に入れ、ROM 領域を広げる</a:t>
            </a:r>
            <a:endParaRPr lang="en-US" sz="1600" dirty="0"/>
          </a:p>
        </p:txBody>
      </p:sp>
      <p:sp>
        <p:nvSpPr>
          <p:cNvPr id="33" name="Shape 31"/>
          <p:cNvSpPr/>
          <p:nvPr/>
        </p:nvSpPr>
        <p:spPr>
          <a:xfrm>
            <a:off x="457200" y="2697480"/>
            <a:ext cx="1188720" cy="1042416"/>
          </a:xfrm>
          <a:prstGeom prst="rect">
            <a:avLst/>
          </a:prstGeom>
          <a:solidFill>
            <a:srgbClr val="FBE9D3"/>
          </a:solidFill>
          <a:ln w="12700">
            <a:solidFill>
              <a:srgbClr val="E07B00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34" name="Text 32"/>
          <p:cNvSpPr txBox="1"/>
          <p:nvPr/>
        </p:nvSpPr>
        <p:spPr>
          <a:xfrm>
            <a:off x="530352" y="2697480"/>
            <a:ext cx="1042416" cy="10424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モデル</a:t>
            </a:r>
            <a:endParaRPr lang="en-US" sz="1700" dirty="0"/>
          </a:p>
        </p:txBody>
      </p:sp>
      <p:sp>
        <p:nvSpPr>
          <p:cNvPr id="35" name="Shape 33"/>
          <p:cNvSpPr/>
          <p:nvPr/>
        </p:nvSpPr>
        <p:spPr>
          <a:xfrm>
            <a:off x="457200" y="3794760"/>
            <a:ext cx="1188720" cy="2139696"/>
          </a:xfrm>
          <a:prstGeom prst="rect">
            <a:avLst/>
          </a:prstGeom>
          <a:solidFill>
            <a:srgbClr val="F2F2F2"/>
          </a:solidFill>
          <a:ln w="12700">
            <a:solidFill>
              <a:srgbClr val="A6A6A6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36" name="Text 34"/>
          <p:cNvSpPr txBox="1"/>
          <p:nvPr/>
        </p:nvSpPr>
        <p:spPr>
          <a:xfrm>
            <a:off x="530352" y="3794760"/>
            <a:ext cx="1042416" cy="21396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時間切れ</a:t>
            </a:r>
            <a:endParaRPr lang="en-US" sz="1700" dirty="0"/>
          </a:p>
        </p:txBody>
      </p:sp>
      <p:sp>
        <p:nvSpPr>
          <p:cNvPr id="37" name="Text 35"/>
          <p:cNvSpPr txBox="1"/>
          <p:nvPr/>
        </p:nvSpPr>
        <p:spPr>
          <a:xfrm>
            <a:off x="457200" y="6080760"/>
            <a:ext cx="1127455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595959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基盤の主張（音を落とさずに推論と表示を同居させ、壊れ方が設計どおり）は、これらの影響を受けない</a:t>
            </a:r>
            <a:endParaRPr lang="en-US" sz="160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74320" y="109728"/>
            <a:ext cx="116128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9-2</a:t>
            </a:r>
            <a:r>
              <a:rPr lang="ja-JP" altLang="en-US" sz="3000" b="1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　発展</a:t>
            </a:r>
            <a:r>
              <a:rPr lang="en-US" sz="3000" b="1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：音は「落とせない周期処理」の代表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0" y="777240"/>
            <a:ext cx="12191695" cy="274320"/>
          </a:xfrm>
          <a:prstGeom prst="rect">
            <a:avLst/>
          </a:prstGeom>
          <a:solidFill>
            <a:srgbClr val="156082"/>
          </a:solidFill>
          <a:ln w="12700">
            <a:solidFill>
              <a:srgbClr val="156082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4" name="Text 2"/>
          <p:cNvSpPr txBox="1"/>
          <p:nvPr/>
        </p:nvSpPr>
        <p:spPr>
          <a:xfrm>
            <a:off x="457200" y="1188720"/>
            <a:ext cx="11274552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落とせない周期処理に推論を足し、壊れないことを数えて示せる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457200" y="2194560"/>
            <a:ext cx="3611880" cy="2057400"/>
          </a:xfrm>
          <a:prstGeom prst="rect">
            <a:avLst/>
          </a:prstGeom>
          <a:solidFill>
            <a:srgbClr val="F2F2F2"/>
          </a:solidFill>
          <a:ln w="12700">
            <a:solidFill>
              <a:srgbClr val="BFBFBF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6" name="Shape 4"/>
          <p:cNvSpPr/>
          <p:nvPr/>
        </p:nvSpPr>
        <p:spPr>
          <a:xfrm>
            <a:off x="594360" y="2331720"/>
            <a:ext cx="731520" cy="73152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pic>
        <p:nvPicPr>
          <p:cNvPr id="7" name="Image 0" descr="/home/claude/v4/icons/FaIndustry_15608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" y="2468880"/>
            <a:ext cx="457200" cy="457200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1417320" y="2286000"/>
            <a:ext cx="2560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回転機械・ポンプの異音監視</a:t>
            </a:r>
            <a:endParaRPr lang="en-US" sz="1700" dirty="0"/>
          </a:p>
        </p:txBody>
      </p:sp>
      <p:sp>
        <p:nvSpPr>
          <p:cNvPr id="9" name="Text 6"/>
          <p:cNvSpPr txBox="1"/>
          <p:nvPr/>
        </p:nvSpPr>
        <p:spPr>
          <a:xfrm>
            <a:off x="594360" y="3154680"/>
            <a:ext cx="33375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サンプルの取りこぼし 0 を数えて示せる。暗騒音との差で切る判定は、機械ごとの定常音に自動で合う</a:t>
            </a:r>
            <a:endParaRPr lang="en-US" sz="1500" dirty="0"/>
          </a:p>
        </p:txBody>
      </p:sp>
      <p:sp>
        <p:nvSpPr>
          <p:cNvPr id="10" name="Shape 7"/>
          <p:cNvSpPr/>
          <p:nvPr/>
        </p:nvSpPr>
        <p:spPr>
          <a:xfrm>
            <a:off x="4288536" y="2194560"/>
            <a:ext cx="3611880" cy="2057400"/>
          </a:xfrm>
          <a:prstGeom prst="rect">
            <a:avLst/>
          </a:prstGeom>
          <a:solidFill>
            <a:srgbClr val="F2F2F2"/>
          </a:solidFill>
          <a:ln w="12700">
            <a:solidFill>
              <a:srgbClr val="BFBFBF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1" name="Shape 8"/>
          <p:cNvSpPr/>
          <p:nvPr/>
        </p:nvSpPr>
        <p:spPr>
          <a:xfrm>
            <a:off x="4425696" y="2331720"/>
            <a:ext cx="731520" cy="73152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pic>
        <p:nvPicPr>
          <p:cNvPr id="12" name="Image 1" descr="/home/claude/v4/icons/FaCogs_156082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62856" y="2468880"/>
            <a:ext cx="457200" cy="457200"/>
          </a:xfrm>
          <a:prstGeom prst="rect">
            <a:avLst/>
          </a:prstGeom>
        </p:spPr>
      </p:pic>
      <p:sp>
        <p:nvSpPr>
          <p:cNvPr id="13" name="Text 9"/>
          <p:cNvSpPr txBox="1"/>
          <p:nvPr/>
        </p:nvSpPr>
        <p:spPr>
          <a:xfrm>
            <a:off x="5248656" y="2286000"/>
            <a:ext cx="2560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 err="1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工具の欠け・漏れ音</a:t>
            </a:r>
            <a:r>
              <a:rPr lang="en-US" sz="1700" b="1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・</a:t>
            </a:r>
          </a:p>
          <a:p>
            <a:pPr marL="0" indent="0">
              <a:buNone/>
            </a:pPr>
            <a:r>
              <a:rPr lang="en-US" sz="1700" b="1" dirty="0" err="1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古い設備の後付け監視</a:t>
            </a:r>
            <a:endParaRPr lang="en-US" sz="1700" dirty="0"/>
          </a:p>
        </p:txBody>
      </p:sp>
      <p:sp>
        <p:nvSpPr>
          <p:cNvPr id="14" name="Text 10"/>
          <p:cNvSpPr txBox="1"/>
          <p:nvPr/>
        </p:nvSpPr>
        <p:spPr>
          <a:xfrm>
            <a:off x="4425696" y="3154680"/>
            <a:ext cx="33375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配線に触らずマイクだけで足せる。1〜2 秒で止められる</a:t>
            </a:r>
            <a:endParaRPr lang="en-US" sz="1500" dirty="0"/>
          </a:p>
        </p:txBody>
      </p:sp>
      <p:sp>
        <p:nvSpPr>
          <p:cNvPr id="15" name="Shape 11"/>
          <p:cNvSpPr/>
          <p:nvPr/>
        </p:nvSpPr>
        <p:spPr>
          <a:xfrm>
            <a:off x="8119872" y="2194560"/>
            <a:ext cx="3611880" cy="2057400"/>
          </a:xfrm>
          <a:prstGeom prst="rect">
            <a:avLst/>
          </a:prstGeom>
          <a:solidFill>
            <a:srgbClr val="F2F2F2"/>
          </a:solidFill>
          <a:ln w="12700">
            <a:solidFill>
              <a:srgbClr val="BFBFBF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6" name="Shape 12"/>
          <p:cNvSpPr/>
          <p:nvPr/>
        </p:nvSpPr>
        <p:spPr>
          <a:xfrm>
            <a:off x="8257032" y="2331720"/>
            <a:ext cx="731520" cy="73152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pic>
        <p:nvPicPr>
          <p:cNvPr id="17" name="Image 2" descr="/home/claude/v4/icons/FaHeadphones_156082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394192" y="2468880"/>
            <a:ext cx="457200" cy="457200"/>
          </a:xfrm>
          <a:prstGeom prst="rect">
            <a:avLst/>
          </a:prstGeom>
        </p:spPr>
      </p:pic>
      <p:sp>
        <p:nvSpPr>
          <p:cNvPr id="18" name="Text 13"/>
          <p:cNvSpPr txBox="1"/>
          <p:nvPr/>
        </p:nvSpPr>
        <p:spPr>
          <a:xfrm>
            <a:off x="9079992" y="2286000"/>
            <a:ext cx="2560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打音検査・補聴器</a:t>
            </a:r>
            <a:endParaRPr lang="en-US" sz="1700" dirty="0"/>
          </a:p>
        </p:txBody>
      </p:sp>
      <p:sp>
        <p:nvSpPr>
          <p:cNvPr id="19" name="Text 14"/>
          <p:cNvSpPr txBox="1"/>
          <p:nvPr/>
        </p:nvSpPr>
        <p:spPr>
          <a:xfrm>
            <a:off x="8257032" y="3154680"/>
            <a:ext cx="33375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計測器として使った音の折り返しが、そのまま製品の機能になる</a:t>
            </a:r>
            <a:endParaRPr lang="en-US" sz="1500" dirty="0"/>
          </a:p>
        </p:txBody>
      </p:sp>
      <p:sp>
        <p:nvSpPr>
          <p:cNvPr id="20" name="Shape 15"/>
          <p:cNvSpPr/>
          <p:nvPr/>
        </p:nvSpPr>
        <p:spPr>
          <a:xfrm>
            <a:off x="457200" y="4389120"/>
            <a:ext cx="3611880" cy="2057400"/>
          </a:xfrm>
          <a:prstGeom prst="rect">
            <a:avLst/>
          </a:prstGeom>
          <a:solidFill>
            <a:srgbClr val="F2F2F2"/>
          </a:solidFill>
          <a:ln w="12700">
            <a:solidFill>
              <a:srgbClr val="BFBFBF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1" name="Shape 16"/>
          <p:cNvSpPr/>
          <p:nvPr/>
        </p:nvSpPr>
        <p:spPr>
          <a:xfrm>
            <a:off x="594360" y="4526280"/>
            <a:ext cx="731520" cy="73152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pic>
        <p:nvPicPr>
          <p:cNvPr id="22" name="Image 3" descr="/home/claude/v4/icons/FaHome_156082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31520" y="4663440"/>
            <a:ext cx="457200" cy="457200"/>
          </a:xfrm>
          <a:prstGeom prst="rect">
            <a:avLst/>
          </a:prstGeom>
        </p:spPr>
      </p:pic>
      <p:sp>
        <p:nvSpPr>
          <p:cNvPr id="23" name="Text 17"/>
          <p:cNvSpPr txBox="1"/>
          <p:nvPr/>
        </p:nvSpPr>
        <p:spPr>
          <a:xfrm>
            <a:off x="1417320" y="4480560"/>
            <a:ext cx="2560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一人暮らしの見守り・窓とドアの防犯</a:t>
            </a:r>
            <a:endParaRPr lang="en-US" sz="1700" dirty="0"/>
          </a:p>
        </p:txBody>
      </p:sp>
      <p:sp>
        <p:nvSpPr>
          <p:cNvPr id="24" name="Text 18"/>
          <p:cNvSpPr txBox="1"/>
          <p:nvPr/>
        </p:nvSpPr>
        <p:spPr>
          <a:xfrm>
            <a:off x="594360" y="5349240"/>
            <a:ext cx="33375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転倒音・呼び声、ガラスの破損・ノック。JSON で字幕装置やスマホへ</a:t>
            </a:r>
            <a:endParaRPr lang="en-US" sz="1500" dirty="0"/>
          </a:p>
        </p:txBody>
      </p:sp>
      <p:sp>
        <p:nvSpPr>
          <p:cNvPr id="25" name="Shape 19"/>
          <p:cNvSpPr/>
          <p:nvPr/>
        </p:nvSpPr>
        <p:spPr>
          <a:xfrm>
            <a:off x="4288536" y="4389120"/>
            <a:ext cx="3611880" cy="2057400"/>
          </a:xfrm>
          <a:prstGeom prst="rect">
            <a:avLst/>
          </a:prstGeom>
          <a:solidFill>
            <a:srgbClr val="F2F2F2"/>
          </a:solidFill>
          <a:ln w="12700">
            <a:solidFill>
              <a:srgbClr val="BFBFBF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6" name="Shape 20"/>
          <p:cNvSpPr/>
          <p:nvPr/>
        </p:nvSpPr>
        <p:spPr>
          <a:xfrm>
            <a:off x="4425696" y="4526280"/>
            <a:ext cx="731520" cy="73152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pic>
        <p:nvPicPr>
          <p:cNvPr id="27" name="Image 4" descr="/home/claude/v4/icons/FaMicrochip_156082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562856" y="4663440"/>
            <a:ext cx="457200" cy="457200"/>
          </a:xfrm>
          <a:prstGeom prst="rect">
            <a:avLst/>
          </a:prstGeom>
        </p:spPr>
      </p:pic>
      <p:sp>
        <p:nvSpPr>
          <p:cNvPr id="28" name="Text 21"/>
          <p:cNvSpPr txBox="1"/>
          <p:nvPr/>
        </p:nvSpPr>
        <p:spPr>
          <a:xfrm>
            <a:off x="5248656" y="4480560"/>
            <a:ext cx="2560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 err="1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既存の制御装置に</a:t>
            </a:r>
            <a:endParaRPr lang="en-US" sz="1700" b="1" dirty="0">
              <a:solidFill>
                <a:srgbClr val="000000"/>
              </a:solidFill>
              <a:latin typeface="游ゴシック" pitchFamily="34" charset="0"/>
              <a:ea typeface="游ゴシック" pitchFamily="34" charset="-122"/>
              <a:cs typeface="游ゴシック" pitchFamily="34" charset="-120"/>
            </a:endParaRPr>
          </a:p>
          <a:p>
            <a:pPr marL="0" indent="0">
              <a:buNone/>
            </a:pPr>
            <a:r>
              <a:rPr lang="en-US" sz="1700" b="1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NPU 推論を足す</a:t>
            </a:r>
            <a:endParaRPr lang="en-US" sz="1700" dirty="0"/>
          </a:p>
        </p:txBody>
      </p:sp>
      <p:sp>
        <p:nvSpPr>
          <p:cNvPr id="29" name="Text 22"/>
          <p:cNvSpPr txBox="1"/>
          <p:nvPr/>
        </p:nvSpPr>
        <p:spPr>
          <a:xfrm>
            <a:off x="4425696" y="5349240"/>
            <a:ext cx="33375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モータ制御やセンサの周期が上にある装置で、実験 1 の 3 条件がそのまま確かめ方になる</a:t>
            </a:r>
            <a:endParaRPr lang="en-US" sz="1500" dirty="0"/>
          </a:p>
        </p:txBody>
      </p:sp>
      <p:sp>
        <p:nvSpPr>
          <p:cNvPr id="30" name="Shape 23"/>
          <p:cNvSpPr/>
          <p:nvPr/>
        </p:nvSpPr>
        <p:spPr>
          <a:xfrm>
            <a:off x="8119872" y="4389120"/>
            <a:ext cx="3611880" cy="2057400"/>
          </a:xfrm>
          <a:prstGeom prst="rect">
            <a:avLst/>
          </a:prstGeom>
          <a:solidFill>
            <a:srgbClr val="DDEBF3"/>
          </a:solidFill>
          <a:ln w="19050">
            <a:solidFill>
              <a:srgbClr val="156082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31" name="Text 24"/>
          <p:cNvSpPr txBox="1"/>
          <p:nvPr/>
        </p:nvSpPr>
        <p:spPr>
          <a:xfrm>
            <a:off x="8257032" y="4389120"/>
            <a:ext cx="3474720" cy="2057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 err="1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共通するのは</a:t>
            </a:r>
            <a:endParaRPr lang="en-US" sz="1600" b="1" dirty="0">
              <a:solidFill>
                <a:srgbClr val="000000"/>
              </a:solidFill>
              <a:latin typeface="游ゴシック" pitchFamily="34" charset="0"/>
              <a:ea typeface="游ゴシック" pitchFamily="34" charset="-122"/>
              <a:cs typeface="游ゴシック" pitchFamily="34" charset="-120"/>
            </a:endParaRPr>
          </a:p>
          <a:p>
            <a:pPr marL="0" indent="0">
              <a:buNone/>
            </a:pPr>
            <a:r>
              <a:rPr lang="en-US" sz="1600" b="1" dirty="0" err="1">
                <a:solidFill>
                  <a:srgbClr val="FF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落とせない周期処理と推論を同居させ、壊れないことを数えて示せること</a:t>
            </a:r>
            <a:r>
              <a:rPr lang="en-US" sz="1600" b="1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。</a:t>
            </a:r>
          </a:p>
          <a:p>
            <a:pPr marL="0" indent="0">
              <a:buNone/>
            </a:pPr>
            <a:r>
              <a:rPr lang="en-US" sz="1600" b="1" dirty="0" err="1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モデルは用途ごとに替え</a:t>
            </a:r>
            <a:r>
              <a:rPr lang="ja-JP" altLang="en-US" sz="1600" b="1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られ</a:t>
            </a:r>
            <a:r>
              <a:rPr lang="en-US" sz="1600" b="1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る</a:t>
            </a:r>
            <a:endParaRPr lang="en-US" sz="160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74320" y="109728"/>
            <a:ext cx="116128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10　公開と再現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0" y="777240"/>
            <a:ext cx="12191695" cy="274320"/>
          </a:xfrm>
          <a:prstGeom prst="rect">
            <a:avLst/>
          </a:prstGeom>
          <a:solidFill>
            <a:srgbClr val="156082"/>
          </a:solidFill>
          <a:ln w="12700">
            <a:solidFill>
              <a:srgbClr val="156082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4" name="Shape 2"/>
          <p:cNvSpPr/>
          <p:nvPr/>
        </p:nvSpPr>
        <p:spPr>
          <a:xfrm>
            <a:off x="0" y="1051560"/>
            <a:ext cx="12191695" cy="1097280"/>
          </a:xfrm>
          <a:prstGeom prst="rect">
            <a:avLst/>
          </a:prstGeom>
          <a:solidFill>
            <a:srgbClr val="DDEBF3"/>
          </a:solidFill>
          <a:ln w="12700">
            <a:solidFill>
              <a:srgbClr val="DDEBF3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5" name="Text 3"/>
          <p:cNvSpPr txBox="1"/>
          <p:nvPr/>
        </p:nvSpPr>
        <p:spPr>
          <a:xfrm>
            <a:off x="457200" y="1097280"/>
            <a:ext cx="1127455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ソースと手順書・ログ・スクリプトを公開し、誰でも確かめられる</a:t>
            </a:r>
            <a:endParaRPr lang="en-US" sz="28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6217920"/>
            <a:ext cx="12344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95959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この章の流れ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1737360" y="6217920"/>
            <a:ext cx="2279142" cy="420624"/>
          </a:xfrm>
          <a:prstGeom prst="rect">
            <a:avLst/>
          </a:prstGeom>
          <a:solidFill>
            <a:srgbClr val="FFFFFF"/>
          </a:solidFill>
          <a:ln w="15875">
            <a:solidFill>
              <a:srgbClr val="156082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8" name="Text 6"/>
          <p:cNvSpPr txBox="1"/>
          <p:nvPr/>
        </p:nvSpPr>
        <p:spPr>
          <a:xfrm>
            <a:off x="1783080" y="6217920"/>
            <a:ext cx="218770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56082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10-1 手順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4089654" y="6318504"/>
            <a:ext cx="146304" cy="219456"/>
          </a:xfrm>
          <a:prstGeom prst="chevron">
            <a:avLst/>
          </a:prstGeom>
          <a:solidFill>
            <a:srgbClr val="156082"/>
          </a:solidFill>
          <a:ln w="12700">
            <a:solidFill>
              <a:srgbClr val="156082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0" name="Shape 8"/>
          <p:cNvSpPr/>
          <p:nvPr/>
        </p:nvSpPr>
        <p:spPr>
          <a:xfrm>
            <a:off x="4309110" y="6217920"/>
            <a:ext cx="2279142" cy="420624"/>
          </a:xfrm>
          <a:prstGeom prst="rect">
            <a:avLst/>
          </a:prstGeom>
          <a:solidFill>
            <a:srgbClr val="FFFFFF"/>
          </a:solidFill>
          <a:ln w="15875">
            <a:solidFill>
              <a:srgbClr val="156082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1" name="Text 9"/>
          <p:cNvSpPr txBox="1"/>
          <p:nvPr/>
        </p:nvSpPr>
        <p:spPr>
          <a:xfrm>
            <a:off x="4354830" y="6217920"/>
            <a:ext cx="218770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56082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10-2 起動ログ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6661404" y="6318504"/>
            <a:ext cx="146304" cy="219456"/>
          </a:xfrm>
          <a:prstGeom prst="chevron">
            <a:avLst/>
          </a:prstGeom>
          <a:solidFill>
            <a:srgbClr val="156082"/>
          </a:solidFill>
          <a:ln w="12700">
            <a:solidFill>
              <a:srgbClr val="156082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3" name="Shape 11"/>
          <p:cNvSpPr/>
          <p:nvPr/>
        </p:nvSpPr>
        <p:spPr>
          <a:xfrm>
            <a:off x="6880860" y="6217920"/>
            <a:ext cx="2279142" cy="420624"/>
          </a:xfrm>
          <a:prstGeom prst="rect">
            <a:avLst/>
          </a:prstGeom>
          <a:solidFill>
            <a:srgbClr val="FFFFFF"/>
          </a:solidFill>
          <a:ln w="15875">
            <a:solidFill>
              <a:srgbClr val="156082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4" name="Text 12"/>
          <p:cNvSpPr txBox="1"/>
          <p:nvPr/>
        </p:nvSpPr>
        <p:spPr>
          <a:xfrm>
            <a:off x="6926580" y="6217920"/>
            <a:ext cx="218770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56082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10-3 走行ログ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9233154" y="6318504"/>
            <a:ext cx="146304" cy="219456"/>
          </a:xfrm>
          <a:prstGeom prst="chevron">
            <a:avLst/>
          </a:prstGeom>
          <a:solidFill>
            <a:srgbClr val="156082"/>
          </a:solidFill>
          <a:ln w="12700">
            <a:solidFill>
              <a:srgbClr val="156082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6" name="Shape 14"/>
          <p:cNvSpPr/>
          <p:nvPr/>
        </p:nvSpPr>
        <p:spPr>
          <a:xfrm>
            <a:off x="9452610" y="6217920"/>
            <a:ext cx="2279142" cy="420624"/>
          </a:xfrm>
          <a:prstGeom prst="rect">
            <a:avLst/>
          </a:prstGeom>
          <a:solidFill>
            <a:srgbClr val="FFFFFF"/>
          </a:solidFill>
          <a:ln w="15875">
            <a:solidFill>
              <a:srgbClr val="156082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7" name="Text 15"/>
          <p:cNvSpPr txBox="1"/>
          <p:nvPr/>
        </p:nvSpPr>
        <p:spPr>
          <a:xfrm>
            <a:off x="9498330" y="6217920"/>
            <a:ext cx="218770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56082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10-4 最終集計</a:t>
            </a:r>
            <a:endParaRPr lang="en-US" sz="1400" dirty="0"/>
          </a:p>
        </p:txBody>
      </p:sp>
      <p:pic>
        <p:nvPicPr>
          <p:cNvPr id="18" name="Image 0" descr="/home/claude/v4/icons/FaGithub_15608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2423160"/>
            <a:ext cx="438912" cy="438912"/>
          </a:xfrm>
          <a:prstGeom prst="rect">
            <a:avLst/>
          </a:prstGeom>
        </p:spPr>
      </p:pic>
      <p:sp>
        <p:nvSpPr>
          <p:cNvPr id="19" name="Text 16"/>
          <p:cNvSpPr txBox="1"/>
          <p:nvPr/>
        </p:nvSpPr>
        <p:spPr>
          <a:xfrm>
            <a:off x="1097280" y="2377440"/>
            <a:ext cx="5669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GitHub リポジトリ（タグ submit）</a:t>
            </a:r>
            <a:endParaRPr lang="en-US" sz="1900" dirty="0"/>
          </a:p>
        </p:txBody>
      </p:sp>
      <p:sp>
        <p:nvSpPr>
          <p:cNvPr id="20" name="Shape 17"/>
          <p:cNvSpPr/>
          <p:nvPr/>
        </p:nvSpPr>
        <p:spPr>
          <a:xfrm>
            <a:off x="777240" y="3255264"/>
            <a:ext cx="274320" cy="0"/>
          </a:xfrm>
          <a:prstGeom prst="line">
            <a:avLst/>
          </a:prstGeom>
          <a:noFill/>
          <a:ln w="15875">
            <a:solidFill>
              <a:srgbClr val="A6A6A6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pic>
        <p:nvPicPr>
          <p:cNvPr id="21" name="Image 1" descr="/home/claude/v4/icons/FaCode_156082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0160" y="3026664"/>
            <a:ext cx="438912" cy="438912"/>
          </a:xfrm>
          <a:prstGeom prst="rect">
            <a:avLst/>
          </a:prstGeom>
        </p:spPr>
      </p:pic>
      <p:sp>
        <p:nvSpPr>
          <p:cNvPr id="22" name="Text 18"/>
          <p:cNvSpPr txBox="1"/>
          <p:nvPr/>
        </p:nvSpPr>
        <p:spPr>
          <a:xfrm>
            <a:off x="1828800" y="2980944"/>
            <a:ext cx="5669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ソース（自作部分は Apache-2.0）</a:t>
            </a:r>
            <a:endParaRPr lang="en-US" sz="1700" dirty="0"/>
          </a:p>
        </p:txBody>
      </p:sp>
      <p:sp>
        <p:nvSpPr>
          <p:cNvPr id="23" name="Shape 19"/>
          <p:cNvSpPr/>
          <p:nvPr/>
        </p:nvSpPr>
        <p:spPr>
          <a:xfrm>
            <a:off x="777240" y="3858768"/>
            <a:ext cx="274320" cy="0"/>
          </a:xfrm>
          <a:prstGeom prst="line">
            <a:avLst/>
          </a:prstGeom>
          <a:noFill/>
          <a:ln w="15875">
            <a:solidFill>
              <a:srgbClr val="A6A6A6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pic>
        <p:nvPicPr>
          <p:cNvPr id="24" name="Image 2" descr="/home/claude/v4/icons/FaBook_156082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80160" y="3630168"/>
            <a:ext cx="438912" cy="438912"/>
          </a:xfrm>
          <a:prstGeom prst="rect">
            <a:avLst/>
          </a:prstGeom>
        </p:spPr>
      </p:pic>
      <p:sp>
        <p:nvSpPr>
          <p:cNvPr id="25" name="Text 20"/>
          <p:cNvSpPr txBox="1"/>
          <p:nvPr/>
        </p:nvSpPr>
        <p:spPr>
          <a:xfrm>
            <a:off x="1828800" y="3584448"/>
            <a:ext cx="5669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docs/manual.md　手順書</a:t>
            </a:r>
            <a:endParaRPr lang="en-US" sz="1700" dirty="0"/>
          </a:p>
        </p:txBody>
      </p:sp>
      <p:sp>
        <p:nvSpPr>
          <p:cNvPr id="26" name="Shape 21"/>
          <p:cNvSpPr/>
          <p:nvPr/>
        </p:nvSpPr>
        <p:spPr>
          <a:xfrm>
            <a:off x="777240" y="4462272"/>
            <a:ext cx="274320" cy="0"/>
          </a:xfrm>
          <a:prstGeom prst="line">
            <a:avLst/>
          </a:prstGeom>
          <a:noFill/>
          <a:ln w="15875">
            <a:solidFill>
              <a:srgbClr val="A6A6A6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pic>
        <p:nvPicPr>
          <p:cNvPr id="27" name="Image 3" descr="/home/claude/v4/icons/FaFileAlt_156082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280160" y="4233672"/>
            <a:ext cx="438912" cy="438912"/>
          </a:xfrm>
          <a:prstGeom prst="rect">
            <a:avLst/>
          </a:prstGeom>
        </p:spPr>
      </p:pic>
      <p:sp>
        <p:nvSpPr>
          <p:cNvPr id="28" name="Text 22"/>
          <p:cNvSpPr txBox="1"/>
          <p:nvPr/>
        </p:nvSpPr>
        <p:spPr>
          <a:xfrm>
            <a:off x="1828800" y="4187952"/>
            <a:ext cx="5669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docs/logs/　本資料の数字のもとのログ</a:t>
            </a:r>
            <a:endParaRPr lang="en-US" sz="1700" dirty="0"/>
          </a:p>
        </p:txBody>
      </p:sp>
      <p:sp>
        <p:nvSpPr>
          <p:cNvPr id="29" name="Shape 23"/>
          <p:cNvSpPr/>
          <p:nvPr/>
        </p:nvSpPr>
        <p:spPr>
          <a:xfrm>
            <a:off x="777240" y="5065776"/>
            <a:ext cx="274320" cy="0"/>
          </a:xfrm>
          <a:prstGeom prst="line">
            <a:avLst/>
          </a:prstGeom>
          <a:noFill/>
          <a:ln w="15875">
            <a:solidFill>
              <a:srgbClr val="A6A6A6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pic>
        <p:nvPicPr>
          <p:cNvPr id="30" name="Image 4" descr="/home/claude/v4/icons/FaTable_156082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280160" y="4837176"/>
            <a:ext cx="438912" cy="438912"/>
          </a:xfrm>
          <a:prstGeom prst="rect">
            <a:avLst/>
          </a:prstGeom>
        </p:spPr>
      </p:pic>
      <p:sp>
        <p:nvSpPr>
          <p:cNvPr id="31" name="Text 24"/>
          <p:cNvSpPr txBox="1"/>
          <p:nvPr/>
        </p:nvSpPr>
        <p:spPr>
          <a:xfrm>
            <a:off x="1828800" y="4791456"/>
            <a:ext cx="5669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scripts/　ログ取得・集計・判定の再生</a:t>
            </a:r>
            <a:endParaRPr lang="en-US" sz="1700" dirty="0"/>
          </a:p>
        </p:txBody>
      </p:sp>
      <p:sp>
        <p:nvSpPr>
          <p:cNvPr id="32" name="Shape 25"/>
          <p:cNvSpPr/>
          <p:nvPr/>
        </p:nvSpPr>
        <p:spPr>
          <a:xfrm>
            <a:off x="777240" y="5669280"/>
            <a:ext cx="274320" cy="0"/>
          </a:xfrm>
          <a:prstGeom prst="line">
            <a:avLst/>
          </a:prstGeom>
          <a:noFill/>
          <a:ln w="15875">
            <a:solidFill>
              <a:srgbClr val="A6A6A6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pic>
        <p:nvPicPr>
          <p:cNvPr id="33" name="Image 5" descr="/home/claude/v4/icons/FaFolderOpen_156082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280160" y="5440680"/>
            <a:ext cx="438912" cy="438912"/>
          </a:xfrm>
          <a:prstGeom prst="rect">
            <a:avLst/>
          </a:prstGeom>
        </p:spPr>
      </p:pic>
      <p:sp>
        <p:nvSpPr>
          <p:cNvPr id="34" name="Text 26"/>
          <p:cNvSpPr txBox="1"/>
          <p:nvPr/>
        </p:nvSpPr>
        <p:spPr>
          <a:xfrm>
            <a:off x="1828800" y="5394960"/>
            <a:ext cx="5669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docs/third_party.md　既存ソフトとライセンス</a:t>
            </a:r>
            <a:endParaRPr lang="en-US" sz="1700" dirty="0"/>
          </a:p>
        </p:txBody>
      </p:sp>
      <p:sp>
        <p:nvSpPr>
          <p:cNvPr id="35" name="Shape 27"/>
          <p:cNvSpPr/>
          <p:nvPr/>
        </p:nvSpPr>
        <p:spPr>
          <a:xfrm>
            <a:off x="777240" y="2880360"/>
            <a:ext cx="0" cy="2880360"/>
          </a:xfrm>
          <a:prstGeom prst="line">
            <a:avLst/>
          </a:prstGeom>
          <a:noFill/>
          <a:ln w="15875">
            <a:solidFill>
              <a:srgbClr val="A6A6A6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36" name="Shape 28"/>
          <p:cNvSpPr/>
          <p:nvPr/>
        </p:nvSpPr>
        <p:spPr>
          <a:xfrm>
            <a:off x="6949440" y="2377440"/>
            <a:ext cx="4782312" cy="1051560"/>
          </a:xfrm>
          <a:prstGeom prst="rect">
            <a:avLst/>
          </a:prstGeom>
          <a:solidFill>
            <a:srgbClr val="DDEBF3"/>
          </a:solidFill>
          <a:ln w="15875">
            <a:solidFill>
              <a:srgbClr val="156082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pic>
        <p:nvPicPr>
          <p:cNvPr id="37" name="Image 6" descr="/home/claude/v4/icons/FaCheckCircle_008A5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086600" y="2679192"/>
            <a:ext cx="457200" cy="457200"/>
          </a:xfrm>
          <a:prstGeom prst="rect">
            <a:avLst/>
          </a:prstGeom>
        </p:spPr>
      </p:pic>
      <p:sp>
        <p:nvSpPr>
          <p:cNvPr id="38" name="Text 29"/>
          <p:cNvSpPr txBox="1"/>
          <p:nvPr/>
        </p:nvSpPr>
        <p:spPr>
          <a:xfrm>
            <a:off x="7680960" y="2377440"/>
            <a:ext cx="3931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手順書どおりに動かせば、起動ログで 4 段の確認が見える</a:t>
            </a:r>
            <a:endParaRPr lang="en-US" sz="1600" dirty="0"/>
          </a:p>
        </p:txBody>
      </p:sp>
      <p:sp>
        <p:nvSpPr>
          <p:cNvPr id="39" name="Text 30"/>
          <p:cNvSpPr txBox="1"/>
          <p:nvPr/>
        </p:nvSpPr>
        <p:spPr>
          <a:xfrm>
            <a:off x="7680960" y="3063240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56082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→ 10-2</a:t>
            </a:r>
            <a:endParaRPr lang="en-US" sz="1400" dirty="0"/>
          </a:p>
        </p:txBody>
      </p:sp>
      <p:sp>
        <p:nvSpPr>
          <p:cNvPr id="40" name="Shape 31"/>
          <p:cNvSpPr/>
          <p:nvPr/>
        </p:nvSpPr>
        <p:spPr>
          <a:xfrm>
            <a:off x="6949440" y="3566160"/>
            <a:ext cx="4782312" cy="1051560"/>
          </a:xfrm>
          <a:prstGeom prst="rect">
            <a:avLst/>
          </a:prstGeom>
          <a:solidFill>
            <a:srgbClr val="DDEBF3"/>
          </a:solidFill>
          <a:ln w="15875">
            <a:solidFill>
              <a:srgbClr val="156082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pic>
        <p:nvPicPr>
          <p:cNvPr id="41" name="Image 7" descr="/home/claude/v4/icons/FaCheckCircle_008A5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086600" y="3867912"/>
            <a:ext cx="457200" cy="457200"/>
          </a:xfrm>
          <a:prstGeom prst="rect">
            <a:avLst/>
          </a:prstGeom>
        </p:spPr>
      </p:pic>
      <p:sp>
        <p:nvSpPr>
          <p:cNvPr id="42" name="Text 32"/>
          <p:cNvSpPr txBox="1"/>
          <p:nvPr/>
        </p:nvSpPr>
        <p:spPr>
          <a:xfrm>
            <a:off x="7680960" y="3566160"/>
            <a:ext cx="3931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本資料の数字は、同梱のログからスクリプトで作り直せる</a:t>
            </a:r>
            <a:endParaRPr lang="en-US" sz="1600" dirty="0"/>
          </a:p>
        </p:txBody>
      </p:sp>
      <p:sp>
        <p:nvSpPr>
          <p:cNvPr id="43" name="Text 33"/>
          <p:cNvSpPr txBox="1"/>
          <p:nvPr/>
        </p:nvSpPr>
        <p:spPr>
          <a:xfrm>
            <a:off x="7680960" y="4251960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56082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→ 4-2</a:t>
            </a:r>
            <a:endParaRPr lang="en-US" sz="1400" dirty="0"/>
          </a:p>
        </p:txBody>
      </p:sp>
      <p:sp>
        <p:nvSpPr>
          <p:cNvPr id="44" name="Shape 34"/>
          <p:cNvSpPr/>
          <p:nvPr/>
        </p:nvSpPr>
        <p:spPr>
          <a:xfrm>
            <a:off x="6949440" y="4754880"/>
            <a:ext cx="4782312" cy="1051560"/>
          </a:xfrm>
          <a:prstGeom prst="rect">
            <a:avLst/>
          </a:prstGeom>
          <a:solidFill>
            <a:srgbClr val="DDEBF3"/>
          </a:solidFill>
          <a:ln w="15875">
            <a:solidFill>
              <a:srgbClr val="156082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pic>
        <p:nvPicPr>
          <p:cNvPr id="45" name="Image 8" descr="/home/claude/v4/icons/FaCheckCircle_008A5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086600" y="5056632"/>
            <a:ext cx="457200" cy="457200"/>
          </a:xfrm>
          <a:prstGeom prst="rect">
            <a:avLst/>
          </a:prstGeom>
        </p:spPr>
      </p:pic>
      <p:sp>
        <p:nvSpPr>
          <p:cNvPr id="46" name="Text 35"/>
          <p:cNvSpPr txBox="1"/>
          <p:nvPr/>
        </p:nvSpPr>
        <p:spPr>
          <a:xfrm>
            <a:off x="7680960" y="4754880"/>
            <a:ext cx="3931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判定の規則は PC で再生して、板を回さずに試せる</a:t>
            </a:r>
            <a:endParaRPr lang="en-US" sz="1600" dirty="0"/>
          </a:p>
        </p:txBody>
      </p:sp>
      <p:sp>
        <p:nvSpPr>
          <p:cNvPr id="47" name="Text 36"/>
          <p:cNvSpPr txBox="1"/>
          <p:nvPr/>
        </p:nvSpPr>
        <p:spPr>
          <a:xfrm>
            <a:off x="7680960" y="5440680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56082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→ 6-2</a:t>
            </a:r>
            <a:endParaRPr lang="en-US" sz="1400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74320" y="109728"/>
            <a:ext cx="116128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10-1　手順：取得から起動確認まで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0" y="777240"/>
            <a:ext cx="12191695" cy="274320"/>
          </a:xfrm>
          <a:prstGeom prst="rect">
            <a:avLst/>
          </a:prstGeom>
          <a:solidFill>
            <a:srgbClr val="156082"/>
          </a:solidFill>
          <a:ln w="12700">
            <a:solidFill>
              <a:srgbClr val="156082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4" name="Text 2"/>
          <p:cNvSpPr txBox="1"/>
          <p:nvPr/>
        </p:nvSpPr>
        <p:spPr>
          <a:xfrm>
            <a:off x="457200" y="1188720"/>
            <a:ext cx="11274552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5 つの手順で、起動確認のログまでたどり着ける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457200" y="2194560"/>
            <a:ext cx="2103120" cy="2834640"/>
          </a:xfrm>
          <a:prstGeom prst="rect">
            <a:avLst/>
          </a:prstGeom>
          <a:solidFill>
            <a:srgbClr val="F2F2F2"/>
          </a:solidFill>
          <a:ln w="12700">
            <a:solidFill>
              <a:srgbClr val="BFBFBF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6" name="Shape 4"/>
          <p:cNvSpPr/>
          <p:nvPr/>
        </p:nvSpPr>
        <p:spPr>
          <a:xfrm>
            <a:off x="566928" y="2304288"/>
            <a:ext cx="457200" cy="457200"/>
          </a:xfrm>
          <a:prstGeom prst="ellipse">
            <a:avLst/>
          </a:prstGeom>
          <a:solidFill>
            <a:srgbClr val="156082"/>
          </a:solidFill>
          <a:ln w="12700">
            <a:solidFill>
              <a:srgbClr val="156082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7" name="Text 5"/>
          <p:cNvSpPr txBox="1"/>
          <p:nvPr/>
        </p:nvSpPr>
        <p:spPr>
          <a:xfrm>
            <a:off x="566928" y="230428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1</a:t>
            </a:r>
            <a:endParaRPr lang="en-US" sz="1600" dirty="0"/>
          </a:p>
        </p:txBody>
      </p:sp>
      <p:pic>
        <p:nvPicPr>
          <p:cNvPr id="8" name="Image 0" descr="/home/claude/v4/icons/FaDownload_15608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01952" y="2304288"/>
            <a:ext cx="457200" cy="457200"/>
          </a:xfrm>
          <a:prstGeom prst="rect">
            <a:avLst/>
          </a:prstGeom>
        </p:spPr>
      </p:pic>
      <p:sp>
        <p:nvSpPr>
          <p:cNvPr id="9" name="Text 6"/>
          <p:cNvSpPr txBox="1"/>
          <p:nvPr/>
        </p:nvSpPr>
        <p:spPr>
          <a:xfrm>
            <a:off x="566928" y="2834640"/>
            <a:ext cx="188366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取得</a:t>
            </a:r>
            <a:endParaRPr lang="en-US" sz="2000" dirty="0"/>
          </a:p>
        </p:txBody>
      </p:sp>
      <p:sp>
        <p:nvSpPr>
          <p:cNvPr id="10" name="Text 7"/>
          <p:cNvSpPr txBox="1"/>
          <p:nvPr/>
        </p:nvSpPr>
        <p:spPr>
          <a:xfrm>
            <a:off x="566928" y="3310128"/>
            <a:ext cx="1883664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git clone のあと、タグ submit を checkout</a:t>
            </a:r>
            <a:endParaRPr lang="en-US" sz="1600" dirty="0"/>
          </a:p>
        </p:txBody>
      </p:sp>
      <p:sp>
        <p:nvSpPr>
          <p:cNvPr id="11" name="Shape 8"/>
          <p:cNvSpPr/>
          <p:nvPr/>
        </p:nvSpPr>
        <p:spPr>
          <a:xfrm>
            <a:off x="2587752" y="3429000"/>
            <a:ext cx="128016" cy="274320"/>
          </a:xfrm>
          <a:prstGeom prst="chevron">
            <a:avLst/>
          </a:prstGeom>
          <a:solidFill>
            <a:srgbClr val="156082"/>
          </a:solidFill>
          <a:ln w="12700">
            <a:solidFill>
              <a:srgbClr val="156082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2" name="Shape 9"/>
          <p:cNvSpPr/>
          <p:nvPr/>
        </p:nvSpPr>
        <p:spPr>
          <a:xfrm>
            <a:off x="2743200" y="2194560"/>
            <a:ext cx="2103120" cy="2834640"/>
          </a:xfrm>
          <a:prstGeom prst="rect">
            <a:avLst/>
          </a:prstGeom>
          <a:solidFill>
            <a:srgbClr val="F2F2F2"/>
          </a:solidFill>
          <a:ln w="12700">
            <a:solidFill>
              <a:srgbClr val="BFBFBF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3" name="Shape 10"/>
          <p:cNvSpPr/>
          <p:nvPr/>
        </p:nvSpPr>
        <p:spPr>
          <a:xfrm>
            <a:off x="2852928" y="2304288"/>
            <a:ext cx="457200" cy="457200"/>
          </a:xfrm>
          <a:prstGeom prst="ellipse">
            <a:avLst/>
          </a:prstGeom>
          <a:solidFill>
            <a:srgbClr val="156082"/>
          </a:solidFill>
          <a:ln w="12700">
            <a:solidFill>
              <a:srgbClr val="156082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4" name="Text 11"/>
          <p:cNvSpPr txBox="1"/>
          <p:nvPr/>
        </p:nvSpPr>
        <p:spPr>
          <a:xfrm>
            <a:off x="2852928" y="230428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2</a:t>
            </a:r>
            <a:endParaRPr lang="en-US" sz="1600" dirty="0"/>
          </a:p>
        </p:txBody>
      </p:sp>
      <p:pic>
        <p:nvPicPr>
          <p:cNvPr id="15" name="Image 1" descr="/home/claude/v4/icons/FaHammer_156082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87952" y="2304288"/>
            <a:ext cx="457200" cy="457200"/>
          </a:xfrm>
          <a:prstGeom prst="rect">
            <a:avLst/>
          </a:prstGeom>
        </p:spPr>
      </p:pic>
      <p:sp>
        <p:nvSpPr>
          <p:cNvPr id="16" name="Text 12"/>
          <p:cNvSpPr txBox="1"/>
          <p:nvPr/>
        </p:nvSpPr>
        <p:spPr>
          <a:xfrm>
            <a:off x="2852928" y="2834640"/>
            <a:ext cx="188366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ビルド</a:t>
            </a:r>
            <a:endParaRPr lang="en-US" sz="2000" dirty="0"/>
          </a:p>
        </p:txBody>
      </p:sp>
      <p:sp>
        <p:nvSpPr>
          <p:cNvPr id="17" name="Text 13"/>
          <p:cNvSpPr txBox="1"/>
          <p:nvPr/>
        </p:nvSpPr>
        <p:spPr>
          <a:xfrm>
            <a:off x="2852928" y="3310128"/>
            <a:ext cx="1883664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STM32CubeIDE で FSBL と Appli をビルド</a:t>
            </a:r>
            <a:endParaRPr lang="en-US" sz="1600" dirty="0"/>
          </a:p>
        </p:txBody>
      </p:sp>
      <p:sp>
        <p:nvSpPr>
          <p:cNvPr id="18" name="Shape 14"/>
          <p:cNvSpPr/>
          <p:nvPr/>
        </p:nvSpPr>
        <p:spPr>
          <a:xfrm>
            <a:off x="4873752" y="3429000"/>
            <a:ext cx="128016" cy="274320"/>
          </a:xfrm>
          <a:prstGeom prst="chevron">
            <a:avLst/>
          </a:prstGeom>
          <a:solidFill>
            <a:srgbClr val="156082"/>
          </a:solidFill>
          <a:ln w="12700">
            <a:solidFill>
              <a:srgbClr val="156082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9" name="Shape 15"/>
          <p:cNvSpPr/>
          <p:nvPr/>
        </p:nvSpPr>
        <p:spPr>
          <a:xfrm>
            <a:off x="5029200" y="2194560"/>
            <a:ext cx="2103120" cy="2834640"/>
          </a:xfrm>
          <a:prstGeom prst="rect">
            <a:avLst/>
          </a:prstGeom>
          <a:solidFill>
            <a:srgbClr val="F2F2F2"/>
          </a:solidFill>
          <a:ln w="12700">
            <a:solidFill>
              <a:srgbClr val="BFBFBF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0" name="Shape 16"/>
          <p:cNvSpPr/>
          <p:nvPr/>
        </p:nvSpPr>
        <p:spPr>
          <a:xfrm>
            <a:off x="5138928" y="2304288"/>
            <a:ext cx="457200" cy="457200"/>
          </a:xfrm>
          <a:prstGeom prst="ellipse">
            <a:avLst/>
          </a:prstGeom>
          <a:solidFill>
            <a:srgbClr val="156082"/>
          </a:solidFill>
          <a:ln w="12700">
            <a:solidFill>
              <a:srgbClr val="156082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1" name="Text 17"/>
          <p:cNvSpPr txBox="1"/>
          <p:nvPr/>
        </p:nvSpPr>
        <p:spPr>
          <a:xfrm>
            <a:off x="5138928" y="230428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3</a:t>
            </a:r>
            <a:endParaRPr lang="en-US" sz="1600" dirty="0"/>
          </a:p>
        </p:txBody>
      </p:sp>
      <p:pic>
        <p:nvPicPr>
          <p:cNvPr id="22" name="Image 2" descr="/home/claude/v4/icons/FaBolt_156082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73952" y="2304288"/>
            <a:ext cx="457200" cy="457200"/>
          </a:xfrm>
          <a:prstGeom prst="rect">
            <a:avLst/>
          </a:prstGeom>
        </p:spPr>
      </p:pic>
      <p:sp>
        <p:nvSpPr>
          <p:cNvPr id="23" name="Text 18"/>
          <p:cNvSpPr txBox="1"/>
          <p:nvPr/>
        </p:nvSpPr>
        <p:spPr>
          <a:xfrm>
            <a:off x="5138928" y="2834640"/>
            <a:ext cx="188366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重みを書く</a:t>
            </a:r>
            <a:endParaRPr lang="en-US" sz="2000" dirty="0"/>
          </a:p>
        </p:txBody>
      </p:sp>
      <p:sp>
        <p:nvSpPr>
          <p:cNvPr id="24" name="Text 19"/>
          <p:cNvSpPr txBox="1"/>
          <p:nvPr/>
        </p:nvSpPr>
        <p:spPr>
          <a:xfrm>
            <a:off x="5138928" y="3310128"/>
            <a:ext cx="1883664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ESC-10 </a:t>
            </a:r>
            <a:r>
              <a:rPr lang="en-US" sz="1600" dirty="0" err="1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版のみ</a:t>
            </a:r>
            <a:r>
              <a:rPr lang="en-US" sz="160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 1 回。</a:t>
            </a:r>
            <a:endParaRPr lang="en-US" sz="1600" dirty="0"/>
          </a:p>
          <a:p>
            <a:pPr marL="0" indent="0">
              <a:buNone/>
            </a:pPr>
            <a:r>
              <a:rPr lang="en-US" dirty="0" sz="160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ST 配布の hex を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外部フラッシュ 0x70180000 へ</a:t>
            </a:r>
            <a:endParaRPr lang="en-US" sz="1600" dirty="0"/>
          </a:p>
        </p:txBody>
      </p:sp>
      <p:sp>
        <p:nvSpPr>
          <p:cNvPr id="25" name="Shape 20"/>
          <p:cNvSpPr/>
          <p:nvPr/>
        </p:nvSpPr>
        <p:spPr>
          <a:xfrm>
            <a:off x="7159752" y="3429000"/>
            <a:ext cx="128016" cy="274320"/>
          </a:xfrm>
          <a:prstGeom prst="chevron">
            <a:avLst/>
          </a:prstGeom>
          <a:solidFill>
            <a:srgbClr val="156082"/>
          </a:solidFill>
          <a:ln w="12700">
            <a:solidFill>
              <a:srgbClr val="156082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6" name="Shape 21"/>
          <p:cNvSpPr/>
          <p:nvPr/>
        </p:nvSpPr>
        <p:spPr>
          <a:xfrm>
            <a:off x="7315200" y="2194560"/>
            <a:ext cx="2103120" cy="2834640"/>
          </a:xfrm>
          <a:prstGeom prst="rect">
            <a:avLst/>
          </a:prstGeom>
          <a:solidFill>
            <a:srgbClr val="F2F2F2"/>
          </a:solidFill>
          <a:ln w="12700">
            <a:solidFill>
              <a:srgbClr val="BFBFBF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7" name="Shape 22"/>
          <p:cNvSpPr/>
          <p:nvPr/>
        </p:nvSpPr>
        <p:spPr>
          <a:xfrm>
            <a:off x="7424928" y="2304288"/>
            <a:ext cx="457200" cy="457200"/>
          </a:xfrm>
          <a:prstGeom prst="ellipse">
            <a:avLst/>
          </a:prstGeom>
          <a:solidFill>
            <a:srgbClr val="156082"/>
          </a:solidFill>
          <a:ln w="12700">
            <a:solidFill>
              <a:srgbClr val="156082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8" name="Text 23"/>
          <p:cNvSpPr txBox="1"/>
          <p:nvPr/>
        </p:nvSpPr>
        <p:spPr>
          <a:xfrm>
            <a:off x="7424928" y="230428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4</a:t>
            </a:r>
            <a:endParaRPr lang="en-US" sz="1600" dirty="0"/>
          </a:p>
        </p:txBody>
      </p:sp>
      <p:pic>
        <p:nvPicPr>
          <p:cNvPr id="29" name="Image 3" descr="/home/claude/v4/icons/FaPlay_156082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759952" y="2304288"/>
            <a:ext cx="457200" cy="457200"/>
          </a:xfrm>
          <a:prstGeom prst="rect">
            <a:avLst/>
          </a:prstGeom>
        </p:spPr>
      </p:pic>
      <p:sp>
        <p:nvSpPr>
          <p:cNvPr id="30" name="Text 24"/>
          <p:cNvSpPr txBox="1"/>
          <p:nvPr/>
        </p:nvSpPr>
        <p:spPr>
          <a:xfrm>
            <a:off x="7424928" y="2834640"/>
            <a:ext cx="188366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実行</a:t>
            </a:r>
            <a:endParaRPr lang="en-US" sz="2000" dirty="0"/>
          </a:p>
        </p:txBody>
      </p:sp>
      <p:sp>
        <p:nvSpPr>
          <p:cNvPr id="31" name="Text 25"/>
          <p:cNvSpPr txBox="1"/>
          <p:nvPr/>
        </p:nvSpPr>
        <p:spPr>
          <a:xfrm>
            <a:off x="7424928" y="3310128"/>
            <a:ext cx="1883664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起動構成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「…FSBL Debug」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でデバッガから実行。SW1 は 1-3 側</a:t>
            </a:r>
            <a:endParaRPr lang="en-US" sz="1600" dirty="0"/>
          </a:p>
        </p:txBody>
      </p:sp>
      <p:sp>
        <p:nvSpPr>
          <p:cNvPr id="32" name="Shape 26"/>
          <p:cNvSpPr/>
          <p:nvPr/>
        </p:nvSpPr>
        <p:spPr>
          <a:xfrm>
            <a:off x="9445752" y="3429000"/>
            <a:ext cx="128016" cy="274320"/>
          </a:xfrm>
          <a:prstGeom prst="chevron">
            <a:avLst/>
          </a:prstGeom>
          <a:solidFill>
            <a:srgbClr val="156082"/>
          </a:solidFill>
          <a:ln w="12700">
            <a:solidFill>
              <a:srgbClr val="156082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33" name="Shape 27"/>
          <p:cNvSpPr/>
          <p:nvPr/>
        </p:nvSpPr>
        <p:spPr>
          <a:xfrm>
            <a:off x="9601200" y="2194560"/>
            <a:ext cx="2103120" cy="2834640"/>
          </a:xfrm>
          <a:prstGeom prst="rect">
            <a:avLst/>
          </a:prstGeom>
          <a:solidFill>
            <a:srgbClr val="F2F2F2"/>
          </a:solidFill>
          <a:ln w="12700">
            <a:solidFill>
              <a:srgbClr val="BFBFBF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34" name="Shape 28"/>
          <p:cNvSpPr/>
          <p:nvPr/>
        </p:nvSpPr>
        <p:spPr>
          <a:xfrm>
            <a:off x="9710928" y="2304288"/>
            <a:ext cx="457200" cy="457200"/>
          </a:xfrm>
          <a:prstGeom prst="ellipse">
            <a:avLst/>
          </a:prstGeom>
          <a:solidFill>
            <a:srgbClr val="156082"/>
          </a:solidFill>
          <a:ln w="12700">
            <a:solidFill>
              <a:srgbClr val="156082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35" name="Text 29"/>
          <p:cNvSpPr txBox="1"/>
          <p:nvPr/>
        </p:nvSpPr>
        <p:spPr>
          <a:xfrm>
            <a:off x="9710928" y="230428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5</a:t>
            </a:r>
            <a:endParaRPr lang="en-US" sz="1600" dirty="0"/>
          </a:p>
        </p:txBody>
      </p:sp>
      <p:pic>
        <p:nvPicPr>
          <p:cNvPr id="36" name="Image 4" descr="/home/claude/v4/icons/FaSearch_156082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1045952" y="2304288"/>
            <a:ext cx="457200" cy="457200"/>
          </a:xfrm>
          <a:prstGeom prst="rect">
            <a:avLst/>
          </a:prstGeom>
        </p:spPr>
      </p:pic>
      <p:sp>
        <p:nvSpPr>
          <p:cNvPr id="37" name="Text 30"/>
          <p:cNvSpPr txBox="1"/>
          <p:nvPr/>
        </p:nvSpPr>
        <p:spPr>
          <a:xfrm>
            <a:off x="9710928" y="2834640"/>
            <a:ext cx="188366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確認</a:t>
            </a:r>
            <a:endParaRPr lang="en-US" sz="2000" dirty="0"/>
          </a:p>
        </p:txBody>
      </p:sp>
      <p:sp>
        <p:nvSpPr>
          <p:cNvPr id="38" name="Text 31"/>
          <p:cNvSpPr txBox="1"/>
          <p:nvPr/>
        </p:nvSpPr>
        <p:spPr>
          <a:xfrm>
            <a:off x="9710928" y="3310128"/>
            <a:ext cx="1883664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UART 115200 bps で READY が出るのを見る</a:t>
            </a:r>
            <a:endParaRPr lang="en-US" sz="1600" dirty="0"/>
          </a:p>
        </p:txBody>
      </p:sp>
      <p:sp>
        <p:nvSpPr>
          <p:cNvPr id="39" name="Text 32"/>
          <p:cNvSpPr txBox="1"/>
          <p:nvPr/>
        </p:nvSpPr>
        <p:spPr>
          <a:xfrm>
            <a:off x="457200" y="521208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必要なもの</a:t>
            </a:r>
            <a:endParaRPr lang="en-US" sz="1700" dirty="0"/>
          </a:p>
        </p:txBody>
      </p:sp>
      <p:sp>
        <p:nvSpPr>
          <p:cNvPr id="40" name="Shape 33"/>
          <p:cNvSpPr/>
          <p:nvPr/>
        </p:nvSpPr>
        <p:spPr>
          <a:xfrm>
            <a:off x="457200" y="5623560"/>
            <a:ext cx="2651760" cy="457200"/>
          </a:xfrm>
          <a:prstGeom prst="rect">
            <a:avLst/>
          </a:prstGeom>
          <a:solidFill>
            <a:srgbClr val="FFFFFF"/>
          </a:solidFill>
          <a:ln w="15875">
            <a:solidFill>
              <a:srgbClr val="156082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41" name="Text 34"/>
          <p:cNvSpPr txBox="1"/>
          <p:nvPr/>
        </p:nvSpPr>
        <p:spPr>
          <a:xfrm>
            <a:off x="502920" y="5623560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56082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STM32N6570-DK と </a:t>
            </a:r>
          </a:p>
          <a:p>
            <a:pPr marL="0" indent="0" algn="ctr">
              <a:buNone/>
            </a:pPr>
            <a:r>
              <a:rPr lang="en-US" sz="1300" b="1" dirty="0">
                <a:solidFill>
                  <a:srgbClr val="156082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USB Type </a:t>
            </a:r>
            <a:r>
              <a:rPr lang="en-US" sz="1300" b="1" dirty="0" err="1">
                <a:solidFill>
                  <a:srgbClr val="156082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Cケーブル</a:t>
            </a:r>
            <a:endParaRPr lang="en-US" sz="1300" dirty="0"/>
          </a:p>
        </p:txBody>
      </p:sp>
      <p:sp>
        <p:nvSpPr>
          <p:cNvPr id="42" name="Shape 35"/>
          <p:cNvSpPr/>
          <p:nvPr/>
        </p:nvSpPr>
        <p:spPr>
          <a:xfrm>
            <a:off x="3200400" y="5623560"/>
            <a:ext cx="1828800" cy="457200"/>
          </a:xfrm>
          <a:prstGeom prst="rect">
            <a:avLst/>
          </a:prstGeom>
          <a:solidFill>
            <a:srgbClr val="FFFFFF"/>
          </a:solidFill>
          <a:ln w="15875">
            <a:solidFill>
              <a:srgbClr val="156082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43" name="Text 36"/>
          <p:cNvSpPr txBox="1"/>
          <p:nvPr/>
        </p:nvSpPr>
        <p:spPr>
          <a:xfrm>
            <a:off x="3246120" y="5623560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56082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STM32CubeIDE 2.2.0</a:t>
            </a:r>
            <a:endParaRPr lang="en-US" sz="1300" dirty="0"/>
          </a:p>
        </p:txBody>
      </p:sp>
      <p:sp>
        <p:nvSpPr>
          <p:cNvPr id="44" name="Shape 37"/>
          <p:cNvSpPr/>
          <p:nvPr/>
        </p:nvSpPr>
        <p:spPr>
          <a:xfrm>
            <a:off x="5120640" y="5623560"/>
            <a:ext cx="1463040" cy="457200"/>
          </a:xfrm>
          <a:prstGeom prst="rect">
            <a:avLst/>
          </a:prstGeom>
          <a:solidFill>
            <a:srgbClr val="FFFFFF"/>
          </a:solidFill>
          <a:ln w="15875">
            <a:solidFill>
              <a:srgbClr val="156082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45" name="Text 38"/>
          <p:cNvSpPr txBox="1"/>
          <p:nvPr/>
        </p:nvSpPr>
        <p:spPr>
          <a:xfrm>
            <a:off x="5166360" y="5623560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56082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Python 3（uv）</a:t>
            </a:r>
            <a:endParaRPr lang="en-US" sz="1300" dirty="0"/>
          </a:p>
        </p:txBody>
      </p:sp>
      <p:sp>
        <p:nvSpPr>
          <p:cNvPr id="46" name="Shape 39"/>
          <p:cNvSpPr/>
          <p:nvPr/>
        </p:nvSpPr>
        <p:spPr>
          <a:xfrm>
            <a:off x="6675120" y="5623560"/>
            <a:ext cx="2926080" cy="457200"/>
          </a:xfrm>
          <a:prstGeom prst="rect">
            <a:avLst/>
          </a:prstGeom>
          <a:solidFill>
            <a:srgbClr val="FFFFFF"/>
          </a:solidFill>
          <a:ln w="15875">
            <a:solidFill>
              <a:srgbClr val="156082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47" name="Text 40"/>
          <p:cNvSpPr txBox="1"/>
          <p:nvPr/>
        </p:nvSpPr>
        <p:spPr>
          <a:xfrm>
            <a:off x="6720840" y="5623560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56082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重みの hex：STM32N6-GettingStarted-Audio v2.3.0</a:t>
            </a:r>
            <a:endParaRPr lang="en-US" sz="1300" dirty="0"/>
          </a:p>
        </p:txBody>
      </p:sp>
      <p:sp>
        <p:nvSpPr>
          <p:cNvPr id="48" name="Shape 41"/>
          <p:cNvSpPr/>
          <p:nvPr/>
        </p:nvSpPr>
        <p:spPr>
          <a:xfrm>
            <a:off x="9692640" y="5623560"/>
            <a:ext cx="1947672" cy="457200"/>
          </a:xfrm>
          <a:prstGeom prst="rect">
            <a:avLst/>
          </a:prstGeom>
          <a:solidFill>
            <a:srgbClr val="FFFFFF"/>
          </a:solidFill>
          <a:ln w="15875">
            <a:solidFill>
              <a:srgbClr val="156082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49" name="Text 42"/>
          <p:cNvSpPr txBox="1"/>
          <p:nvPr/>
        </p:nvSpPr>
        <p:spPr>
          <a:xfrm>
            <a:off x="9738360" y="5623560"/>
            <a:ext cx="18562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56082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自己テストと通し試験に ESC-50</a:t>
            </a:r>
            <a:endParaRPr lang="en-US" sz="1300" dirty="0"/>
          </a:p>
        </p:txBody>
      </p:sp>
      <p:sp>
        <p:nvSpPr>
          <p:cNvPr id="50" name="Text 43"/>
          <p:cNvSpPr txBox="1"/>
          <p:nvPr/>
        </p:nvSpPr>
        <p:spPr>
          <a:xfrm>
            <a:off x="457200" y="6144768"/>
            <a:ext cx="112745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95959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詳しい手順と詰まりやすい点は docs/manual.md。モデルを作り直すときだけ ST Edge AI Core 4.0.1 を使う</a:t>
            </a:r>
            <a:endParaRPr lang="en-US" sz="1400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74320" y="109728"/>
            <a:ext cx="116128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10-2　起動ログの読み方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0" y="777240"/>
            <a:ext cx="12191695" cy="274320"/>
          </a:xfrm>
          <a:prstGeom prst="rect">
            <a:avLst/>
          </a:prstGeom>
          <a:solidFill>
            <a:srgbClr val="156082"/>
          </a:solidFill>
          <a:ln w="12700">
            <a:solidFill>
              <a:srgbClr val="156082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4" name="Text 2"/>
          <p:cNvSpPr txBox="1"/>
          <p:nvPr/>
        </p:nvSpPr>
        <p:spPr>
          <a:xfrm>
            <a:off x="457200" y="1188720"/>
            <a:ext cx="11274552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800" b="1" dirty="0">
                <a:solidFill>
                  <a:srgbClr val="FF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READY の前に、4 段の確認の結果がすべて出る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457200" y="2148840"/>
            <a:ext cx="8001000" cy="292608"/>
          </a:xfrm>
          <a:prstGeom prst="rect">
            <a:avLst/>
          </a:prstGeom>
          <a:solidFill>
            <a:srgbClr val="3C3C3C"/>
          </a:solidFill>
          <a:ln w="12700">
            <a:solidFill>
              <a:srgbClr val="3C3C3C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6" name="Shape 4"/>
          <p:cNvSpPr/>
          <p:nvPr/>
        </p:nvSpPr>
        <p:spPr>
          <a:xfrm>
            <a:off x="566928" y="2240280"/>
            <a:ext cx="109728" cy="109728"/>
          </a:xfrm>
          <a:prstGeom prst="ellipse">
            <a:avLst/>
          </a:prstGeom>
          <a:solidFill>
            <a:srgbClr val="FF5F57"/>
          </a:solidFill>
          <a:ln w="12700">
            <a:solidFill>
              <a:srgbClr val="FF5F57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7" name="Shape 5"/>
          <p:cNvSpPr/>
          <p:nvPr/>
        </p:nvSpPr>
        <p:spPr>
          <a:xfrm>
            <a:off x="731520" y="2240280"/>
            <a:ext cx="109728" cy="109728"/>
          </a:xfrm>
          <a:prstGeom prst="ellipse">
            <a:avLst/>
          </a:prstGeom>
          <a:solidFill>
            <a:srgbClr val="FEBC2E"/>
          </a:solidFill>
          <a:ln w="12700">
            <a:solidFill>
              <a:srgbClr val="FEBC2E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8" name="Shape 6"/>
          <p:cNvSpPr/>
          <p:nvPr/>
        </p:nvSpPr>
        <p:spPr>
          <a:xfrm>
            <a:off x="896112" y="2240280"/>
            <a:ext cx="109728" cy="109728"/>
          </a:xfrm>
          <a:prstGeom prst="ellipse">
            <a:avLst/>
          </a:prstGeom>
          <a:solidFill>
            <a:srgbClr val="28C840"/>
          </a:solidFill>
          <a:ln w="12700">
            <a:solidFill>
              <a:srgbClr val="28C840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9" name="Text 7"/>
          <p:cNvSpPr txBox="1"/>
          <p:nvPr/>
        </p:nvSpPr>
        <p:spPr>
          <a:xfrm>
            <a:off x="1097280" y="2148840"/>
            <a:ext cx="7269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0E0E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PowerShell — scripts\log.ps1 -Port COM3 -Timestamp（時刻と途中の行を省略）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57200" y="2441448"/>
            <a:ext cx="8001000" cy="4050792"/>
          </a:xfrm>
          <a:prstGeom prst="rect">
            <a:avLst/>
          </a:prstGeom>
          <a:solidFill>
            <a:srgbClr val="1E1E1E"/>
          </a:solidFill>
          <a:ln w="12700">
            <a:solidFill>
              <a:srgbClr val="1E1E1E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1" name="Text 9"/>
          <p:cNvSpPr txBox="1"/>
          <p:nvPr/>
        </p:nvSpPr>
        <p:spPr>
          <a:xfrm>
            <a:off x="868680" y="2560320"/>
            <a:ext cx="7498080" cy="3840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750"/>
              </a:lnSpc>
              <a:buNone/>
            </a:pPr>
            <a:r>
              <a:rPr lang="en-US" sz="1050" dirty="0">
                <a:solidFill>
                  <a:srgbClr val="9CDC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CONFIG: A production (INFER_PRIO_INVERT=0 INFER_SLOW_X=1 task_infer pri 15 model=esc10)</a:t>
            </a:r>
            <a:endParaRPr lang="en-US" sz="1050" dirty="0"/>
          </a:p>
          <a:p>
            <a:pPr marL="0" indent="0">
              <a:lnSpc>
                <a:spcPts val="1750"/>
              </a:lnSpc>
              <a:buNone/>
            </a:pPr>
            <a:r>
              <a:rPr lang="en-US" sz="10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extflash init (MX66UW1G45G, XSPI2, DTR-OPI) ...</a:t>
            </a:r>
            <a:endParaRPr lang="en-US" sz="1050" dirty="0"/>
          </a:p>
          <a:p>
            <a:pPr marL="0" indent="0">
              <a:lnSpc>
                <a:spcPts val="1750"/>
              </a:lnSpc>
              <a:buNone/>
            </a:pPr>
            <a:r>
              <a:rPr lang="en-US" sz="10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JEDEC ID: c2 81 3b</a:t>
            </a:r>
            <a:endParaRPr lang="en-US" sz="1050" dirty="0"/>
          </a:p>
          <a:p>
            <a:pPr marL="0" indent="0">
              <a:lnSpc>
                <a:spcPts val="1750"/>
              </a:lnSpc>
              <a:buNone/>
            </a:pPr>
            <a:r>
              <a:rPr lang="en-US" sz="10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[ OK ] Memory-mapped mode</a:t>
            </a:r>
            <a:endParaRPr lang="en-US" sz="1050" dirty="0"/>
          </a:p>
          <a:p>
            <a:pPr marL="0" indent="0">
              <a:lnSpc>
                <a:spcPts val="1750"/>
              </a:lnSpc>
              <a:buNone/>
            </a:pPr>
            <a:r>
              <a:rPr lang="en-US" sz="1050" dirty="0">
                <a:solidFill>
                  <a:srgbClr val="B5CE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[probe] FNV-1a 0x568e47bd (expect 0x568e47bd) MATCH</a:t>
            </a:r>
            <a:endParaRPr lang="en-US" sz="1050" dirty="0"/>
          </a:p>
          <a:p>
            <a:pPr marL="0" indent="0">
              <a:lnSpc>
                <a:spcPts val="1750"/>
              </a:lnSpc>
              <a:buNone/>
            </a:pPr>
            <a:r>
              <a:rPr lang="en-US" sz="10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npu hw init (AXISRAM3-6, NPU, CACHEAXI, RIF)</a:t>
            </a:r>
            <a:endParaRPr lang="en-US" sz="1050" dirty="0"/>
          </a:p>
          <a:p>
            <a:pPr marL="0" indent="0">
              <a:lnSpc>
                <a:spcPts val="1750"/>
              </a:lnSpc>
              <a:buNone/>
            </a:pPr>
            <a:r>
              <a:rPr lang="en-US" sz="1050" dirty="0">
                <a:solidFill>
                  <a:srgbClr val="B5CE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[ram] AXISRAM6 @ 0x34350000: MATCH (0 mismatches in 64 words x 2 patterns)</a:t>
            </a:r>
            <a:endParaRPr lang="en-US" sz="1050" dirty="0"/>
          </a:p>
          <a:p>
            <a:pPr marL="0" indent="0">
              <a:lnSpc>
                <a:spcPts val="1750"/>
              </a:lnSpc>
              <a:buNone/>
            </a:pPr>
            <a:r>
              <a:rPr lang="en-US" sz="1050" dirty="0">
                <a:solidFill>
                  <a:srgbClr val="B5CE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[npu] no fault. VERSION=0x01b4121f ... expect 0x01b4121f -&gt; MATCH</a:t>
            </a:r>
            <a:endParaRPr lang="en-US" sz="1050" dirty="0"/>
          </a:p>
          <a:p>
            <a:pPr marL="0" indent="0">
              <a:lnSpc>
                <a:spcPts val="1750"/>
              </a:lnSpc>
              <a:buNone/>
            </a:pPr>
            <a:r>
              <a:rPr lang="en-US" sz="10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notify: 3 target classes (dog crying_baby sneezing), threshold p&gt;0.70, peak gate -30 dBFS</a:t>
            </a:r>
            <a:endParaRPr lang="en-US" sz="1050" dirty="0"/>
          </a:p>
          <a:p>
            <a:pPr marL="0" indent="0">
              <a:lnSpc>
                <a:spcPts val="1750"/>
              </a:lnSpc>
              <a:buNone/>
            </a:pPr>
            <a:r>
              <a:rPr lang="en-US" sz="10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notify: rel gate rms &gt;= floor + 10 dB, floor = p10 of the last 60 windows' rms</a:t>
            </a:r>
            <a:endParaRPr lang="en-US" sz="1050" dirty="0"/>
          </a:p>
          <a:p>
            <a:pPr marL="0" indent="0">
              <a:lnSpc>
                <a:spcPts val="1750"/>
              </a:lnSpc>
              <a:buNone/>
            </a:pPr>
            <a:r>
              <a:rPr lang="en-US" sz="10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npu repeat x10 (same input):</a:t>
            </a:r>
            <a:endParaRPr lang="en-US" sz="1050" dirty="0"/>
          </a:p>
          <a:p>
            <a:pPr marL="0" indent="0">
              <a:lnSpc>
                <a:spcPts val="1750"/>
              </a:lnSpc>
              <a:buNone/>
            </a:pPr>
            <a:r>
              <a:rPr lang="en-US" sz="1050" dirty="0">
                <a:solidFill>
                  <a:srgbClr val="B5CE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[10]  40696 us, max diff vs first = 0 x1e-4 (bit-identical)</a:t>
            </a:r>
            <a:endParaRPr lang="en-US" sz="1050" dirty="0"/>
          </a:p>
          <a:p>
            <a:pPr marL="0" indent="0">
              <a:lnSpc>
                <a:spcPts val="1750"/>
              </a:lnSpc>
              <a:buNone/>
            </a:pPr>
            <a:r>
              <a:rPr lang="en-US" sz="10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inference time: min=40675 mean=40696 max=40709 us (10 of 10 runs OK)</a:t>
            </a:r>
            <a:endParaRPr lang="en-US" sz="1050" dirty="0"/>
          </a:p>
          <a:p>
            <a:pPr marL="0" indent="0">
              <a:lnSpc>
                <a:spcPts val="1750"/>
              </a:lnSpc>
              <a:buNone/>
            </a:pPr>
            <a:r>
              <a:rPr lang="en-US" sz="10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totals: same 12288 diff 0 of 12288, max |d| 0, |d|&gt;1: 0</a:t>
            </a:r>
            <a:endParaRPr lang="en-US" sz="1050" dirty="0"/>
          </a:p>
          <a:p>
            <a:pPr marL="0" indent="0">
              <a:lnSpc>
                <a:spcPts val="1750"/>
              </a:lnSpc>
              <a:buNone/>
            </a:pPr>
            <a:r>
              <a:rPr lang="en-US" sz="1050" b="1" dirty="0">
                <a:solidFill>
                  <a:srgbClr val="B5CE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preproc test PASS (no |d| &gt; 1, and top1 from the board tensor matches PC)</a:t>
            </a:r>
            <a:endParaRPr lang="en-US" sz="1050" dirty="0"/>
          </a:p>
          <a:p>
            <a:pPr marL="0" indent="0">
              <a:lnSpc>
                <a:spcPts val="1750"/>
              </a:lnSpc>
              <a:buNone/>
            </a:pPr>
            <a:r>
              <a:rPr lang="en-US" sz="1050" b="1" dirty="0">
                <a:solidFill>
                  <a:srgbClr val="DCDC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READY  起動確認おわり。ここから本番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548640" y="2570861"/>
            <a:ext cx="219456" cy="219456"/>
          </a:xfrm>
          <a:prstGeom prst="ellipse">
            <a:avLst/>
          </a:prstGeom>
          <a:solidFill>
            <a:srgbClr val="FFC000"/>
          </a:solidFill>
          <a:ln w="12700">
            <a:solidFill>
              <a:srgbClr val="FFC000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3" name="Text 11"/>
          <p:cNvSpPr txBox="1"/>
          <p:nvPr/>
        </p:nvSpPr>
        <p:spPr>
          <a:xfrm>
            <a:off x="548640" y="2570861"/>
            <a:ext cx="219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1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548640" y="3459861"/>
            <a:ext cx="219456" cy="219456"/>
          </a:xfrm>
          <a:prstGeom prst="ellipse">
            <a:avLst/>
          </a:prstGeom>
          <a:solidFill>
            <a:srgbClr val="FFC000"/>
          </a:solidFill>
          <a:ln w="12700">
            <a:solidFill>
              <a:srgbClr val="FFC000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5" name="Text 13"/>
          <p:cNvSpPr txBox="1"/>
          <p:nvPr/>
        </p:nvSpPr>
        <p:spPr>
          <a:xfrm>
            <a:off x="548640" y="3459861"/>
            <a:ext cx="219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2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548640" y="3904361"/>
            <a:ext cx="219456" cy="219456"/>
          </a:xfrm>
          <a:prstGeom prst="ellipse">
            <a:avLst/>
          </a:prstGeom>
          <a:solidFill>
            <a:srgbClr val="FFC000"/>
          </a:solidFill>
          <a:ln w="12700">
            <a:solidFill>
              <a:srgbClr val="FFC000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7" name="Text 15"/>
          <p:cNvSpPr txBox="1"/>
          <p:nvPr/>
        </p:nvSpPr>
        <p:spPr>
          <a:xfrm>
            <a:off x="548640" y="3904361"/>
            <a:ext cx="219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2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548640" y="4126611"/>
            <a:ext cx="219456" cy="219456"/>
          </a:xfrm>
          <a:prstGeom prst="ellipse">
            <a:avLst/>
          </a:prstGeom>
          <a:solidFill>
            <a:srgbClr val="FFC000"/>
          </a:solidFill>
          <a:ln w="12700">
            <a:solidFill>
              <a:srgbClr val="FFC000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9" name="Text 17"/>
          <p:cNvSpPr txBox="1"/>
          <p:nvPr/>
        </p:nvSpPr>
        <p:spPr>
          <a:xfrm>
            <a:off x="548640" y="4126611"/>
            <a:ext cx="219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2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548640" y="4348861"/>
            <a:ext cx="219456" cy="219456"/>
          </a:xfrm>
          <a:prstGeom prst="ellipse">
            <a:avLst/>
          </a:prstGeom>
          <a:solidFill>
            <a:srgbClr val="FFC000"/>
          </a:solidFill>
          <a:ln w="12700">
            <a:solidFill>
              <a:srgbClr val="FFC000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1" name="Text 19"/>
          <p:cNvSpPr txBox="1"/>
          <p:nvPr/>
        </p:nvSpPr>
        <p:spPr>
          <a:xfrm>
            <a:off x="548640" y="4348861"/>
            <a:ext cx="219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3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548640" y="4571111"/>
            <a:ext cx="219456" cy="219456"/>
          </a:xfrm>
          <a:prstGeom prst="ellipse">
            <a:avLst/>
          </a:prstGeom>
          <a:solidFill>
            <a:srgbClr val="FFC000"/>
          </a:solidFill>
          <a:ln w="12700">
            <a:solidFill>
              <a:srgbClr val="FFC000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3" name="Text 21"/>
          <p:cNvSpPr txBox="1"/>
          <p:nvPr/>
        </p:nvSpPr>
        <p:spPr>
          <a:xfrm>
            <a:off x="548640" y="4571111"/>
            <a:ext cx="219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3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548640" y="5015611"/>
            <a:ext cx="219456" cy="219456"/>
          </a:xfrm>
          <a:prstGeom prst="ellipse">
            <a:avLst/>
          </a:prstGeom>
          <a:solidFill>
            <a:srgbClr val="FFC000"/>
          </a:solidFill>
          <a:ln w="12700">
            <a:solidFill>
              <a:srgbClr val="FFC000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5" name="Text 23"/>
          <p:cNvSpPr txBox="1"/>
          <p:nvPr/>
        </p:nvSpPr>
        <p:spPr>
          <a:xfrm>
            <a:off x="548640" y="5015611"/>
            <a:ext cx="219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4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548640" y="5682361"/>
            <a:ext cx="219456" cy="219456"/>
          </a:xfrm>
          <a:prstGeom prst="ellipse">
            <a:avLst/>
          </a:prstGeom>
          <a:solidFill>
            <a:srgbClr val="FFC000"/>
          </a:solidFill>
          <a:ln w="12700">
            <a:solidFill>
              <a:srgbClr val="FFC000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7" name="Text 25"/>
          <p:cNvSpPr txBox="1"/>
          <p:nvPr/>
        </p:nvSpPr>
        <p:spPr>
          <a:xfrm>
            <a:off x="548640" y="5682361"/>
            <a:ext cx="219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5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548640" y="5904611"/>
            <a:ext cx="219456" cy="219456"/>
          </a:xfrm>
          <a:prstGeom prst="ellipse">
            <a:avLst/>
          </a:prstGeom>
          <a:solidFill>
            <a:srgbClr val="FFC000"/>
          </a:solidFill>
          <a:ln w="12700">
            <a:solidFill>
              <a:srgbClr val="FFC000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9" name="Text 27"/>
          <p:cNvSpPr txBox="1"/>
          <p:nvPr/>
        </p:nvSpPr>
        <p:spPr>
          <a:xfrm>
            <a:off x="548640" y="5904611"/>
            <a:ext cx="219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6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8641080" y="2167128"/>
            <a:ext cx="274320" cy="274320"/>
          </a:xfrm>
          <a:prstGeom prst="ellipse">
            <a:avLst/>
          </a:prstGeom>
          <a:solidFill>
            <a:srgbClr val="FFC000"/>
          </a:solidFill>
          <a:ln w="12700">
            <a:solidFill>
              <a:srgbClr val="FFC000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31" name="Text 29"/>
          <p:cNvSpPr txBox="1"/>
          <p:nvPr/>
        </p:nvSpPr>
        <p:spPr>
          <a:xfrm>
            <a:off x="8641080" y="216712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1</a:t>
            </a:r>
            <a:endParaRPr lang="en-US" sz="1200" dirty="0"/>
          </a:p>
        </p:txBody>
      </p:sp>
      <p:sp>
        <p:nvSpPr>
          <p:cNvPr id="32" name="Text 30"/>
          <p:cNvSpPr txBox="1"/>
          <p:nvPr/>
        </p:nvSpPr>
        <p:spPr>
          <a:xfrm>
            <a:off x="9006840" y="2148840"/>
            <a:ext cx="272491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56082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CONFIG</a:t>
            </a:r>
            <a:endParaRPr lang="en-US" sz="1600" dirty="0"/>
          </a:p>
        </p:txBody>
      </p:sp>
      <p:sp>
        <p:nvSpPr>
          <p:cNvPr id="33" name="Text 31"/>
          <p:cNvSpPr txBox="1"/>
          <p:nvPr/>
        </p:nvSpPr>
        <p:spPr>
          <a:xfrm>
            <a:off x="9006840" y="2459736"/>
            <a:ext cx="272491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実験の条件（A・B・D）と、使うモデル</a:t>
            </a:r>
            <a:endParaRPr lang="en-US" sz="1400" dirty="0"/>
          </a:p>
        </p:txBody>
      </p:sp>
      <p:sp>
        <p:nvSpPr>
          <p:cNvPr id="34" name="Shape 32"/>
          <p:cNvSpPr/>
          <p:nvPr/>
        </p:nvSpPr>
        <p:spPr>
          <a:xfrm>
            <a:off x="8641080" y="2898648"/>
            <a:ext cx="274320" cy="274320"/>
          </a:xfrm>
          <a:prstGeom prst="ellipse">
            <a:avLst/>
          </a:prstGeom>
          <a:solidFill>
            <a:srgbClr val="FFC000"/>
          </a:solidFill>
          <a:ln w="12700">
            <a:solidFill>
              <a:srgbClr val="FFC000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35" name="Text 33"/>
          <p:cNvSpPr txBox="1"/>
          <p:nvPr/>
        </p:nvSpPr>
        <p:spPr>
          <a:xfrm>
            <a:off x="8641080" y="289864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2</a:t>
            </a:r>
            <a:endParaRPr lang="en-US" sz="1200" dirty="0"/>
          </a:p>
        </p:txBody>
      </p:sp>
      <p:sp>
        <p:nvSpPr>
          <p:cNvPr id="36" name="Text 34"/>
          <p:cNvSpPr txBox="1"/>
          <p:nvPr/>
        </p:nvSpPr>
        <p:spPr>
          <a:xfrm>
            <a:off x="9006840" y="2880360"/>
            <a:ext cx="272491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56082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MATCH</a:t>
            </a:r>
            <a:endParaRPr lang="en-US" sz="1600" dirty="0"/>
          </a:p>
        </p:txBody>
      </p:sp>
      <p:sp>
        <p:nvSpPr>
          <p:cNvPr id="37" name="Text 35"/>
          <p:cNvSpPr txBox="1"/>
          <p:nvPr/>
        </p:nvSpPr>
        <p:spPr>
          <a:xfrm>
            <a:off x="9006840" y="3191256"/>
            <a:ext cx="272491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フラッシュ・RAM・NPU を実際に読んで一致</a:t>
            </a:r>
            <a:endParaRPr lang="en-US" sz="1400" dirty="0"/>
          </a:p>
        </p:txBody>
      </p:sp>
      <p:sp>
        <p:nvSpPr>
          <p:cNvPr id="38" name="Shape 36"/>
          <p:cNvSpPr/>
          <p:nvPr/>
        </p:nvSpPr>
        <p:spPr>
          <a:xfrm>
            <a:off x="8641080" y="3630168"/>
            <a:ext cx="274320" cy="274320"/>
          </a:xfrm>
          <a:prstGeom prst="ellipse">
            <a:avLst/>
          </a:prstGeom>
          <a:solidFill>
            <a:srgbClr val="FFC000"/>
          </a:solidFill>
          <a:ln w="12700">
            <a:solidFill>
              <a:srgbClr val="FFC000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39" name="Text 37"/>
          <p:cNvSpPr txBox="1"/>
          <p:nvPr/>
        </p:nvSpPr>
        <p:spPr>
          <a:xfrm>
            <a:off x="8641080" y="363016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3</a:t>
            </a:r>
            <a:endParaRPr lang="en-US" sz="1200" dirty="0"/>
          </a:p>
        </p:txBody>
      </p:sp>
      <p:sp>
        <p:nvSpPr>
          <p:cNvPr id="40" name="Text 38"/>
          <p:cNvSpPr txBox="1"/>
          <p:nvPr/>
        </p:nvSpPr>
        <p:spPr>
          <a:xfrm>
            <a:off x="9006840" y="3611880"/>
            <a:ext cx="272491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56082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notify</a:t>
            </a:r>
            <a:endParaRPr lang="en-US" sz="1600" dirty="0"/>
          </a:p>
        </p:txBody>
      </p:sp>
      <p:sp>
        <p:nvSpPr>
          <p:cNvPr id="41" name="Text 39"/>
          <p:cNvSpPr txBox="1"/>
          <p:nvPr/>
        </p:nvSpPr>
        <p:spPr>
          <a:xfrm>
            <a:off x="9006840" y="3922776"/>
            <a:ext cx="272491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判定の規則（確率・音量・暗騒音との差）</a:t>
            </a:r>
            <a:endParaRPr lang="en-US" sz="1400" dirty="0"/>
          </a:p>
        </p:txBody>
      </p:sp>
      <p:sp>
        <p:nvSpPr>
          <p:cNvPr id="42" name="Shape 40"/>
          <p:cNvSpPr/>
          <p:nvPr/>
        </p:nvSpPr>
        <p:spPr>
          <a:xfrm>
            <a:off x="8641080" y="4361688"/>
            <a:ext cx="274320" cy="274320"/>
          </a:xfrm>
          <a:prstGeom prst="ellipse">
            <a:avLst/>
          </a:prstGeom>
          <a:solidFill>
            <a:srgbClr val="FFC000"/>
          </a:solidFill>
          <a:ln w="12700">
            <a:solidFill>
              <a:srgbClr val="FFC000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43" name="Text 41"/>
          <p:cNvSpPr txBox="1"/>
          <p:nvPr/>
        </p:nvSpPr>
        <p:spPr>
          <a:xfrm>
            <a:off x="8641080" y="436168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4</a:t>
            </a:r>
            <a:endParaRPr lang="en-US" sz="1200" dirty="0"/>
          </a:p>
        </p:txBody>
      </p:sp>
      <p:sp>
        <p:nvSpPr>
          <p:cNvPr id="44" name="Text 42"/>
          <p:cNvSpPr txBox="1"/>
          <p:nvPr/>
        </p:nvSpPr>
        <p:spPr>
          <a:xfrm>
            <a:off x="9006840" y="4343400"/>
            <a:ext cx="272491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56082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bit-identical</a:t>
            </a:r>
            <a:endParaRPr lang="en-US" sz="1600" dirty="0"/>
          </a:p>
        </p:txBody>
      </p:sp>
      <p:sp>
        <p:nvSpPr>
          <p:cNvPr id="45" name="Text 43"/>
          <p:cNvSpPr txBox="1"/>
          <p:nvPr/>
        </p:nvSpPr>
        <p:spPr>
          <a:xfrm>
            <a:off x="9006840" y="4654296"/>
            <a:ext cx="272491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同じ入力で 10 回推論し、結果が完全に同じ</a:t>
            </a:r>
            <a:endParaRPr lang="en-US" sz="1400" dirty="0"/>
          </a:p>
        </p:txBody>
      </p:sp>
      <p:sp>
        <p:nvSpPr>
          <p:cNvPr id="46" name="Shape 44"/>
          <p:cNvSpPr/>
          <p:nvPr/>
        </p:nvSpPr>
        <p:spPr>
          <a:xfrm>
            <a:off x="8641080" y="5093208"/>
            <a:ext cx="274320" cy="274320"/>
          </a:xfrm>
          <a:prstGeom prst="ellipse">
            <a:avLst/>
          </a:prstGeom>
          <a:solidFill>
            <a:srgbClr val="FFC000"/>
          </a:solidFill>
          <a:ln w="12700">
            <a:solidFill>
              <a:srgbClr val="FFC000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47" name="Text 45"/>
          <p:cNvSpPr txBox="1"/>
          <p:nvPr/>
        </p:nvSpPr>
        <p:spPr>
          <a:xfrm>
            <a:off x="8641080" y="509320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5</a:t>
            </a:r>
            <a:endParaRPr lang="en-US" sz="1200" dirty="0"/>
          </a:p>
        </p:txBody>
      </p:sp>
      <p:sp>
        <p:nvSpPr>
          <p:cNvPr id="48" name="Text 46"/>
          <p:cNvSpPr txBox="1"/>
          <p:nvPr/>
        </p:nvSpPr>
        <p:spPr>
          <a:xfrm>
            <a:off x="9006840" y="5074920"/>
            <a:ext cx="272491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56082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preproc test PASS</a:t>
            </a:r>
            <a:endParaRPr lang="en-US" sz="1600" dirty="0"/>
          </a:p>
        </p:txBody>
      </p:sp>
      <p:sp>
        <p:nvSpPr>
          <p:cNvPr id="49" name="Text 47"/>
          <p:cNvSpPr txBox="1"/>
          <p:nvPr/>
        </p:nvSpPr>
        <p:spPr>
          <a:xfrm>
            <a:off x="9006840" y="5385816"/>
            <a:ext cx="272491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前処理が PC と 12,288 個すべて一致（参照が無ければ SKIP）</a:t>
            </a:r>
            <a:endParaRPr lang="en-US" sz="1400" dirty="0"/>
          </a:p>
        </p:txBody>
      </p:sp>
      <p:sp>
        <p:nvSpPr>
          <p:cNvPr id="50" name="Shape 48"/>
          <p:cNvSpPr/>
          <p:nvPr/>
        </p:nvSpPr>
        <p:spPr>
          <a:xfrm>
            <a:off x="8641080" y="5824728"/>
            <a:ext cx="274320" cy="274320"/>
          </a:xfrm>
          <a:prstGeom prst="ellipse">
            <a:avLst/>
          </a:prstGeom>
          <a:solidFill>
            <a:srgbClr val="FFC000"/>
          </a:solidFill>
          <a:ln w="12700">
            <a:solidFill>
              <a:srgbClr val="FFC000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51" name="Text 49"/>
          <p:cNvSpPr txBox="1"/>
          <p:nvPr/>
        </p:nvSpPr>
        <p:spPr>
          <a:xfrm>
            <a:off x="8641080" y="582472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6</a:t>
            </a:r>
            <a:endParaRPr lang="en-US" sz="1200" dirty="0"/>
          </a:p>
        </p:txBody>
      </p:sp>
      <p:sp>
        <p:nvSpPr>
          <p:cNvPr id="52" name="Text 50"/>
          <p:cNvSpPr txBox="1"/>
          <p:nvPr/>
        </p:nvSpPr>
        <p:spPr>
          <a:xfrm>
            <a:off x="9006840" y="5806440"/>
            <a:ext cx="272491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56082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READY</a:t>
            </a:r>
            <a:endParaRPr lang="en-US" sz="1600" dirty="0"/>
          </a:p>
        </p:txBody>
      </p:sp>
      <p:sp>
        <p:nvSpPr>
          <p:cNvPr id="53" name="Text 51"/>
          <p:cNvSpPr txBox="1"/>
          <p:nvPr/>
        </p:nvSpPr>
        <p:spPr>
          <a:xfrm>
            <a:off x="9006840" y="6117336"/>
            <a:ext cx="272491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確認が終わった印。合否は 2〜5 の行で見る</a:t>
            </a:r>
            <a:endParaRPr lang="en-US" sz="1400" dirty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74320" y="109728"/>
            <a:ext cx="116128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10-3　走行ログの読み方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0" y="777240"/>
            <a:ext cx="12191695" cy="274320"/>
          </a:xfrm>
          <a:prstGeom prst="rect">
            <a:avLst/>
          </a:prstGeom>
          <a:solidFill>
            <a:srgbClr val="156082"/>
          </a:solidFill>
          <a:ln w="12700">
            <a:solidFill>
              <a:srgbClr val="156082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4" name="Text 2"/>
          <p:cNvSpPr txBox="1"/>
          <p:nvPr/>
        </p:nvSpPr>
        <p:spPr>
          <a:xfrm>
            <a:off x="457200" y="1188720"/>
            <a:ext cx="11274552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800" b="1" dirty="0">
                <a:solidFill>
                  <a:srgbClr val="FF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1 窓ごとに、音量・判定・遅れが行として残る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457200" y="2148840"/>
            <a:ext cx="11274552" cy="292608"/>
          </a:xfrm>
          <a:prstGeom prst="rect">
            <a:avLst/>
          </a:prstGeom>
          <a:solidFill>
            <a:srgbClr val="3C3C3C"/>
          </a:solidFill>
          <a:ln w="12700">
            <a:solidFill>
              <a:srgbClr val="3C3C3C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6" name="Shape 4"/>
          <p:cNvSpPr/>
          <p:nvPr/>
        </p:nvSpPr>
        <p:spPr>
          <a:xfrm>
            <a:off x="566928" y="2240280"/>
            <a:ext cx="109728" cy="109728"/>
          </a:xfrm>
          <a:prstGeom prst="ellipse">
            <a:avLst/>
          </a:prstGeom>
          <a:solidFill>
            <a:srgbClr val="FF5F57"/>
          </a:solidFill>
          <a:ln w="12700">
            <a:solidFill>
              <a:srgbClr val="FF5F57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7" name="Shape 5"/>
          <p:cNvSpPr/>
          <p:nvPr/>
        </p:nvSpPr>
        <p:spPr>
          <a:xfrm>
            <a:off x="731520" y="2240280"/>
            <a:ext cx="109728" cy="109728"/>
          </a:xfrm>
          <a:prstGeom prst="ellipse">
            <a:avLst/>
          </a:prstGeom>
          <a:solidFill>
            <a:srgbClr val="FEBC2E"/>
          </a:solidFill>
          <a:ln w="12700">
            <a:solidFill>
              <a:srgbClr val="FEBC2E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8" name="Shape 6"/>
          <p:cNvSpPr/>
          <p:nvPr/>
        </p:nvSpPr>
        <p:spPr>
          <a:xfrm>
            <a:off x="896112" y="2240280"/>
            <a:ext cx="109728" cy="109728"/>
          </a:xfrm>
          <a:prstGeom prst="ellipse">
            <a:avLst/>
          </a:prstGeom>
          <a:solidFill>
            <a:srgbClr val="28C840"/>
          </a:solidFill>
          <a:ln w="12700">
            <a:solidFill>
              <a:srgbClr val="28C840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9" name="Text 7"/>
          <p:cNvSpPr txBox="1"/>
          <p:nvPr/>
        </p:nvSpPr>
        <p:spPr>
          <a:xfrm>
            <a:off x="1097280" y="2148840"/>
            <a:ext cx="105430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0E0E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走行中の出力（通し試験で犬のクリップを流したところ。時刻と一部の行を省略）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57200" y="2441448"/>
            <a:ext cx="11274552" cy="1719072"/>
          </a:xfrm>
          <a:prstGeom prst="rect">
            <a:avLst/>
          </a:prstGeom>
          <a:solidFill>
            <a:srgbClr val="1E1E1E"/>
          </a:solidFill>
          <a:ln w="12700">
            <a:solidFill>
              <a:srgbClr val="1E1E1E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1" name="Text 9"/>
          <p:cNvSpPr txBox="1"/>
          <p:nvPr/>
        </p:nvSpPr>
        <p:spPr>
          <a:xfrm>
            <a:off x="868680" y="2560320"/>
            <a:ext cx="10771632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000"/>
              </a:lnSpc>
              <a:buNone/>
            </a:pPr>
            <a:r>
              <a:rPr lang="en-US" sz="1300" dirty="0">
                <a:solidFill>
                  <a:srgbClr val="9CDC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in=16128Hz out=16000Hz ring=1200 under=0 over=0 (dt=1000000us) loglag=119563us</a:t>
            </a:r>
            <a:endParaRPr lang="en-US" sz="1300" dirty="0"/>
          </a:p>
          <a:p>
            <a:pPr marL="0" indent="0">
              <a:lnSpc>
                <a:spcPts val="2000"/>
              </a:lnSpc>
              <a:buNone/>
            </a:pPr>
            <a:r>
              <a:rPr lang="en-US" sz="1300" dirty="0">
                <a:solidFill>
                  <a:srgbClr val="DCDC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{"win":104,"cls":"dog","p":0.99,"lat_ms":112,"under":0,"over":0,"late":0}</a:t>
            </a:r>
            <a:endParaRPr lang="en-US" sz="1300" dirty="0"/>
          </a:p>
          <a:p>
            <a:pPr marL="0" indent="0">
              <a:lnSpc>
                <a:spcPts val="2000"/>
              </a:lnSpc>
              <a:buNone/>
            </a:pPr>
            <a:r>
              <a:rPr lang="en-US" sz="13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win  104 pos= 1597440  -11dBFS [################....] rms= 9429 peak=32768 seam=ok lag=334us</a:t>
            </a:r>
            <a:endParaRPr lang="en-US" sz="1300" dirty="0"/>
          </a:p>
          <a:p>
            <a:pPr marL="0" indent="0">
              <a:lnSpc>
                <a:spcPts val="2000"/>
              </a:lnSpc>
              <a:buNone/>
            </a:pPr>
            <a:r>
              <a:rPr lang="en-US" sz="1300" dirty="0">
                <a:solidFill>
                  <a:srgbClr val="B5CE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-&gt; dog             p=0.99 (floor -44.8 Δ+34.0)  preproc=69225us infer=41093us</a:t>
            </a:r>
            <a:endParaRPr lang="en-US" sz="1300" dirty="0"/>
          </a:p>
          <a:p>
            <a:pPr marL="0" indent="0">
              <a:lnSpc>
                <a:spcPts val="2000"/>
              </a:lnSpc>
              <a:buNone/>
            </a:pPr>
            <a:r>
              <a:rPr lang="en-US" sz="13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lcd: win 104 -&gt; DOG p=0.99 (23611 us after notify)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548640" y="2586736"/>
            <a:ext cx="219456" cy="219456"/>
          </a:xfrm>
          <a:prstGeom prst="ellipse">
            <a:avLst/>
          </a:prstGeom>
          <a:solidFill>
            <a:srgbClr val="FFC000"/>
          </a:solidFill>
          <a:ln w="12700">
            <a:solidFill>
              <a:srgbClr val="FFC000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3" name="Text 11"/>
          <p:cNvSpPr txBox="1"/>
          <p:nvPr/>
        </p:nvSpPr>
        <p:spPr>
          <a:xfrm>
            <a:off x="548640" y="2586736"/>
            <a:ext cx="219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1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548640" y="2840736"/>
            <a:ext cx="219456" cy="219456"/>
          </a:xfrm>
          <a:prstGeom prst="ellipse">
            <a:avLst/>
          </a:prstGeom>
          <a:solidFill>
            <a:srgbClr val="FFC000"/>
          </a:solidFill>
          <a:ln w="12700">
            <a:solidFill>
              <a:srgbClr val="FFC000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5" name="Text 13"/>
          <p:cNvSpPr txBox="1"/>
          <p:nvPr/>
        </p:nvSpPr>
        <p:spPr>
          <a:xfrm>
            <a:off x="548640" y="2840736"/>
            <a:ext cx="219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2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548640" y="3094736"/>
            <a:ext cx="219456" cy="219456"/>
          </a:xfrm>
          <a:prstGeom prst="ellipse">
            <a:avLst/>
          </a:prstGeom>
          <a:solidFill>
            <a:srgbClr val="FFC000"/>
          </a:solidFill>
          <a:ln w="12700">
            <a:solidFill>
              <a:srgbClr val="FFC000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7" name="Text 15"/>
          <p:cNvSpPr txBox="1"/>
          <p:nvPr/>
        </p:nvSpPr>
        <p:spPr>
          <a:xfrm>
            <a:off x="548640" y="3094736"/>
            <a:ext cx="219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3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548640" y="3348736"/>
            <a:ext cx="219456" cy="219456"/>
          </a:xfrm>
          <a:prstGeom prst="ellipse">
            <a:avLst/>
          </a:prstGeom>
          <a:solidFill>
            <a:srgbClr val="FFC000"/>
          </a:solidFill>
          <a:ln w="12700">
            <a:solidFill>
              <a:srgbClr val="FFC000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9" name="Text 17"/>
          <p:cNvSpPr txBox="1"/>
          <p:nvPr/>
        </p:nvSpPr>
        <p:spPr>
          <a:xfrm>
            <a:off x="548640" y="3348736"/>
            <a:ext cx="219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4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457200" y="4389120"/>
            <a:ext cx="5486400" cy="960120"/>
          </a:xfrm>
          <a:prstGeom prst="rect">
            <a:avLst/>
          </a:prstGeom>
          <a:solidFill>
            <a:srgbClr val="F2F2F2"/>
          </a:solidFill>
          <a:ln w="12700">
            <a:solidFill>
              <a:srgbClr val="F2F2F2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1" name="Shape 19"/>
          <p:cNvSpPr/>
          <p:nvPr/>
        </p:nvSpPr>
        <p:spPr>
          <a:xfrm>
            <a:off x="594360" y="4498848"/>
            <a:ext cx="329184" cy="329184"/>
          </a:xfrm>
          <a:prstGeom prst="ellipse">
            <a:avLst/>
          </a:prstGeom>
          <a:solidFill>
            <a:srgbClr val="FFC000"/>
          </a:solidFill>
          <a:ln w="12700">
            <a:solidFill>
              <a:srgbClr val="FFC000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2" name="Text 20"/>
          <p:cNvSpPr txBox="1"/>
          <p:nvPr/>
        </p:nvSpPr>
        <p:spPr>
          <a:xfrm>
            <a:off x="594360" y="449884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1</a:t>
            </a:r>
            <a:endParaRPr lang="en-US" sz="1400" dirty="0"/>
          </a:p>
        </p:txBody>
      </p:sp>
      <p:sp>
        <p:nvSpPr>
          <p:cNvPr id="23" name="Text 21"/>
          <p:cNvSpPr txBox="1"/>
          <p:nvPr/>
        </p:nvSpPr>
        <p:spPr>
          <a:xfrm>
            <a:off x="1051560" y="4462272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56082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in=…Hz</a:t>
            </a:r>
            <a:endParaRPr lang="en-US" sz="1800" dirty="0"/>
          </a:p>
        </p:txBody>
      </p:sp>
      <p:sp>
        <p:nvSpPr>
          <p:cNvPr id="24" name="Text 22"/>
          <p:cNvSpPr txBox="1"/>
          <p:nvPr/>
        </p:nvSpPr>
        <p:spPr>
          <a:xfrm>
            <a:off x="1051560" y="4828032"/>
            <a:ext cx="4754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周期ハンドラが 1 秒ごとに出す統計。入力の速さと取りこぼし</a:t>
            </a:r>
            <a:endParaRPr lang="en-US" sz="1500" dirty="0"/>
          </a:p>
        </p:txBody>
      </p:sp>
      <p:sp>
        <p:nvSpPr>
          <p:cNvPr id="25" name="Shape 23"/>
          <p:cNvSpPr/>
          <p:nvPr/>
        </p:nvSpPr>
        <p:spPr>
          <a:xfrm>
            <a:off x="6172200" y="4389120"/>
            <a:ext cx="5486400" cy="960120"/>
          </a:xfrm>
          <a:prstGeom prst="rect">
            <a:avLst/>
          </a:prstGeom>
          <a:solidFill>
            <a:srgbClr val="F2F2F2"/>
          </a:solidFill>
          <a:ln w="12700">
            <a:solidFill>
              <a:srgbClr val="F2F2F2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6" name="Shape 24"/>
          <p:cNvSpPr/>
          <p:nvPr/>
        </p:nvSpPr>
        <p:spPr>
          <a:xfrm>
            <a:off x="6309360" y="4498848"/>
            <a:ext cx="329184" cy="329184"/>
          </a:xfrm>
          <a:prstGeom prst="ellipse">
            <a:avLst/>
          </a:prstGeom>
          <a:solidFill>
            <a:srgbClr val="FFC000"/>
          </a:solidFill>
          <a:ln w="12700">
            <a:solidFill>
              <a:srgbClr val="FFC000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7" name="Text 25"/>
          <p:cNvSpPr txBox="1"/>
          <p:nvPr/>
        </p:nvSpPr>
        <p:spPr>
          <a:xfrm>
            <a:off x="6309360" y="449884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2</a:t>
            </a:r>
            <a:endParaRPr lang="en-US" sz="1400" dirty="0"/>
          </a:p>
        </p:txBody>
      </p:sp>
      <p:sp>
        <p:nvSpPr>
          <p:cNvPr id="28" name="Text 26"/>
          <p:cNvSpPr txBox="1"/>
          <p:nvPr/>
        </p:nvSpPr>
        <p:spPr>
          <a:xfrm>
            <a:off x="6766560" y="4462272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56082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JSON</a:t>
            </a:r>
            <a:endParaRPr lang="en-US" sz="1800" dirty="0"/>
          </a:p>
        </p:txBody>
      </p:sp>
      <p:sp>
        <p:nvSpPr>
          <p:cNvPr id="29" name="Text 27"/>
          <p:cNvSpPr txBox="1"/>
          <p:nvPr/>
        </p:nvSpPr>
        <p:spPr>
          <a:xfrm>
            <a:off x="6766560" y="4828032"/>
            <a:ext cx="4754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外部連携用の通知。lat_ms は検出から通知までの時間</a:t>
            </a:r>
            <a:endParaRPr lang="en-US" sz="1500" dirty="0"/>
          </a:p>
        </p:txBody>
      </p:sp>
      <p:sp>
        <p:nvSpPr>
          <p:cNvPr id="30" name="Shape 28"/>
          <p:cNvSpPr/>
          <p:nvPr/>
        </p:nvSpPr>
        <p:spPr>
          <a:xfrm>
            <a:off x="457200" y="5440680"/>
            <a:ext cx="5486400" cy="960120"/>
          </a:xfrm>
          <a:prstGeom prst="rect">
            <a:avLst/>
          </a:prstGeom>
          <a:solidFill>
            <a:srgbClr val="F2F2F2"/>
          </a:solidFill>
          <a:ln w="12700">
            <a:solidFill>
              <a:srgbClr val="F2F2F2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31" name="Shape 29"/>
          <p:cNvSpPr/>
          <p:nvPr/>
        </p:nvSpPr>
        <p:spPr>
          <a:xfrm>
            <a:off x="594360" y="5550408"/>
            <a:ext cx="329184" cy="329184"/>
          </a:xfrm>
          <a:prstGeom prst="ellipse">
            <a:avLst/>
          </a:prstGeom>
          <a:solidFill>
            <a:srgbClr val="FFC000"/>
          </a:solidFill>
          <a:ln w="12700">
            <a:solidFill>
              <a:srgbClr val="FFC000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32" name="Text 30"/>
          <p:cNvSpPr txBox="1"/>
          <p:nvPr/>
        </p:nvSpPr>
        <p:spPr>
          <a:xfrm>
            <a:off x="594360" y="555040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3</a:t>
            </a:r>
            <a:endParaRPr lang="en-US" sz="1400" dirty="0"/>
          </a:p>
        </p:txBody>
      </p:sp>
      <p:sp>
        <p:nvSpPr>
          <p:cNvPr id="33" name="Text 31"/>
          <p:cNvSpPr txBox="1"/>
          <p:nvPr/>
        </p:nvSpPr>
        <p:spPr>
          <a:xfrm>
            <a:off x="1051560" y="5513832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56082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win 行</a:t>
            </a:r>
            <a:endParaRPr lang="en-US" sz="1800" dirty="0"/>
          </a:p>
        </p:txBody>
      </p:sp>
      <p:sp>
        <p:nvSpPr>
          <p:cNvPr id="34" name="Text 32"/>
          <p:cNvSpPr txBox="1"/>
          <p:nvPr/>
        </p:nvSpPr>
        <p:spPr>
          <a:xfrm>
            <a:off x="1051560" y="5879592"/>
            <a:ext cx="4754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窓の番号・平均音量（dBFS）・瞬間音量（peak）・窓が揃ってから処理を始めるまでの遅れ（lag）</a:t>
            </a:r>
            <a:endParaRPr lang="en-US" sz="1500" dirty="0"/>
          </a:p>
        </p:txBody>
      </p:sp>
      <p:sp>
        <p:nvSpPr>
          <p:cNvPr id="35" name="Shape 33"/>
          <p:cNvSpPr/>
          <p:nvPr/>
        </p:nvSpPr>
        <p:spPr>
          <a:xfrm>
            <a:off x="6172200" y="5440680"/>
            <a:ext cx="5486400" cy="960120"/>
          </a:xfrm>
          <a:prstGeom prst="rect">
            <a:avLst/>
          </a:prstGeom>
          <a:solidFill>
            <a:srgbClr val="F2F2F2"/>
          </a:solidFill>
          <a:ln w="12700">
            <a:solidFill>
              <a:srgbClr val="F2F2F2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36" name="Shape 34"/>
          <p:cNvSpPr/>
          <p:nvPr/>
        </p:nvSpPr>
        <p:spPr>
          <a:xfrm>
            <a:off x="6309360" y="5550408"/>
            <a:ext cx="329184" cy="329184"/>
          </a:xfrm>
          <a:prstGeom prst="ellipse">
            <a:avLst/>
          </a:prstGeom>
          <a:solidFill>
            <a:srgbClr val="FFC000"/>
          </a:solidFill>
          <a:ln w="12700">
            <a:solidFill>
              <a:srgbClr val="FFC000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37" name="Text 35"/>
          <p:cNvSpPr txBox="1"/>
          <p:nvPr/>
        </p:nvSpPr>
        <p:spPr>
          <a:xfrm>
            <a:off x="6309360" y="555040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4</a:t>
            </a:r>
            <a:endParaRPr lang="en-US" sz="1400" dirty="0"/>
          </a:p>
        </p:txBody>
      </p:sp>
      <p:sp>
        <p:nvSpPr>
          <p:cNvPr id="38" name="Text 36"/>
          <p:cNvSpPr txBox="1"/>
          <p:nvPr/>
        </p:nvSpPr>
        <p:spPr>
          <a:xfrm>
            <a:off x="6766560" y="5513832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56082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-&gt; 行</a:t>
            </a:r>
            <a:endParaRPr lang="en-US" sz="1800" dirty="0"/>
          </a:p>
        </p:txBody>
      </p:sp>
      <p:sp>
        <p:nvSpPr>
          <p:cNvPr id="39" name="Text 37"/>
          <p:cNvSpPr txBox="1"/>
          <p:nvPr/>
        </p:nvSpPr>
        <p:spPr>
          <a:xfrm>
            <a:off x="6766560" y="5879592"/>
            <a:ext cx="4754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判定：クラス・確率・暗騒音（floor）との差（Δ）と、前処理・推論の時間</a:t>
            </a:r>
            <a:endParaRPr lang="en-US" sz="1500" dirty="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74320" y="109728"/>
            <a:ext cx="116128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10-4　最終集計（FINAL）の読み方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0" y="777240"/>
            <a:ext cx="12191695" cy="274320"/>
          </a:xfrm>
          <a:prstGeom prst="rect">
            <a:avLst/>
          </a:prstGeom>
          <a:solidFill>
            <a:srgbClr val="156082"/>
          </a:solidFill>
          <a:ln w="12700">
            <a:solidFill>
              <a:srgbClr val="156082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4" name="Text 2"/>
          <p:cNvSpPr txBox="1"/>
          <p:nvPr/>
        </p:nvSpPr>
        <p:spPr>
          <a:xfrm>
            <a:off x="457200" y="1188720"/>
            <a:ext cx="11274552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800" b="1" dirty="0">
                <a:solidFill>
                  <a:srgbClr val="FF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取りこぼしと「捨てた数」がすべて 0 なら、何も落ちていない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457200" y="2148840"/>
            <a:ext cx="11274552" cy="292608"/>
          </a:xfrm>
          <a:prstGeom prst="rect">
            <a:avLst/>
          </a:prstGeom>
          <a:solidFill>
            <a:srgbClr val="3C3C3C"/>
          </a:solidFill>
          <a:ln w="12700">
            <a:solidFill>
              <a:srgbClr val="3C3C3C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6" name="Shape 4"/>
          <p:cNvSpPr/>
          <p:nvPr/>
        </p:nvSpPr>
        <p:spPr>
          <a:xfrm>
            <a:off x="566928" y="2240280"/>
            <a:ext cx="109728" cy="109728"/>
          </a:xfrm>
          <a:prstGeom prst="ellipse">
            <a:avLst/>
          </a:prstGeom>
          <a:solidFill>
            <a:srgbClr val="FF5F57"/>
          </a:solidFill>
          <a:ln w="12700">
            <a:solidFill>
              <a:srgbClr val="FF5F57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7" name="Shape 5"/>
          <p:cNvSpPr/>
          <p:nvPr/>
        </p:nvSpPr>
        <p:spPr>
          <a:xfrm>
            <a:off x="731520" y="2240280"/>
            <a:ext cx="109728" cy="109728"/>
          </a:xfrm>
          <a:prstGeom prst="ellipse">
            <a:avLst/>
          </a:prstGeom>
          <a:solidFill>
            <a:srgbClr val="FEBC2E"/>
          </a:solidFill>
          <a:ln w="12700">
            <a:solidFill>
              <a:srgbClr val="FEBC2E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8" name="Shape 6"/>
          <p:cNvSpPr/>
          <p:nvPr/>
        </p:nvSpPr>
        <p:spPr>
          <a:xfrm>
            <a:off x="896112" y="2240280"/>
            <a:ext cx="109728" cy="109728"/>
          </a:xfrm>
          <a:prstGeom prst="ellipse">
            <a:avLst/>
          </a:prstGeom>
          <a:solidFill>
            <a:srgbClr val="28C840"/>
          </a:solidFill>
          <a:ln w="12700">
            <a:solidFill>
              <a:srgbClr val="28C840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9" name="Text 7"/>
          <p:cNvSpPr txBox="1"/>
          <p:nvPr/>
        </p:nvSpPr>
        <p:spPr>
          <a:xfrm>
            <a:off x="1097280" y="2148840"/>
            <a:ext cx="105430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0E0E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1 時間運転の最後に出る FINAL（2026-09-27 17:20）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57200" y="2441448"/>
            <a:ext cx="11274552" cy="1993392"/>
          </a:xfrm>
          <a:prstGeom prst="rect">
            <a:avLst/>
          </a:prstGeom>
          <a:solidFill>
            <a:srgbClr val="1E1E1E"/>
          </a:solidFill>
          <a:ln w="12700">
            <a:solidFill>
              <a:srgbClr val="1E1E1E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1" name="Text 9"/>
          <p:cNvSpPr txBox="1"/>
          <p:nvPr/>
        </p:nvSpPr>
        <p:spPr>
          <a:xfrm>
            <a:off x="868680" y="2560320"/>
            <a:ext cx="10771632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000"/>
              </a:lnSpc>
              <a:buNone/>
            </a:pPr>
            <a:r>
              <a:rPr lang="en-US" sz="13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tap final: windows=3854 (expected 3854 from 59209472 samples) overrun=0 torn=0 skipped=0</a:t>
            </a:r>
            <a:endParaRPr lang="en-US" sz="1300" dirty="0"/>
          </a:p>
          <a:p>
            <a:pPr marL="0" indent="0">
              <a:lnSpc>
                <a:spcPts val="2000"/>
              </a:lnSpc>
              <a:buNone/>
            </a:pPr>
            <a:r>
              <a:rPr lang="en-US" sz="1300" b="1" dirty="0">
                <a:solidFill>
                  <a:srgbClr val="B5CE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audio under=0 over=0 late=0 | aed run=3854 err=0 (last er=0)</a:t>
            </a:r>
            <a:endParaRPr lang="en-US" sz="1300" dirty="0"/>
          </a:p>
          <a:p>
            <a:pPr marL="0" indent="0">
              <a:lnSpc>
                <a:spcPts val="2000"/>
              </a:lnSpc>
              <a:buNone/>
            </a:pPr>
            <a:r>
              <a:rPr lang="en-US" sz="13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preproc max=69145us avg=69077us | infer max=41158us avg=41054us</a:t>
            </a:r>
            <a:endParaRPr lang="en-US" sz="1300" dirty="0"/>
          </a:p>
          <a:p>
            <a:pPr marL="0" indent="0">
              <a:lnSpc>
                <a:spcPts val="2000"/>
              </a:lnSpc>
              <a:buNone/>
            </a:pPr>
            <a:r>
              <a:rPr lang="en-US" sz="13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notify out=157 held=3436 offlist=261 gated=427 lat max=112328us (0 lower bounds)</a:t>
            </a:r>
            <a:endParaRPr lang="en-US" sz="1300" dirty="0"/>
          </a:p>
          <a:p>
            <a:pPr marL="0" indent="0">
              <a:lnSpc>
                <a:spcPts val="2000"/>
              </a:lnSpc>
              <a:buNone/>
            </a:pPr>
            <a:r>
              <a:rPr lang="en-US" sz="1300" b="1" dirty="0">
                <a:solidFill>
                  <a:srgbClr val="B5CE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log sent=24238 dropped=0 lag max=127874us</a:t>
            </a:r>
            <a:endParaRPr lang="en-US" sz="1300" dirty="0"/>
          </a:p>
          <a:p>
            <a:pPr marL="0" indent="0">
              <a:lnSpc>
                <a:spcPts val="2000"/>
              </a:lnSpc>
              <a:buNone/>
            </a:pPr>
            <a:r>
              <a:rPr lang="en-US" sz="1300" b="1" dirty="0">
                <a:solidFill>
                  <a:srgbClr val="B5CE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disp sent=83 dropped=0 max=98707us avg=30502us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548640" y="2586736"/>
            <a:ext cx="219456" cy="219456"/>
          </a:xfrm>
          <a:prstGeom prst="ellipse">
            <a:avLst/>
          </a:prstGeom>
          <a:solidFill>
            <a:srgbClr val="FFC000"/>
          </a:solidFill>
          <a:ln w="12700">
            <a:solidFill>
              <a:srgbClr val="FFC000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3" name="Text 11"/>
          <p:cNvSpPr txBox="1"/>
          <p:nvPr/>
        </p:nvSpPr>
        <p:spPr>
          <a:xfrm>
            <a:off x="548640" y="2586736"/>
            <a:ext cx="219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1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548640" y="2840736"/>
            <a:ext cx="219456" cy="219456"/>
          </a:xfrm>
          <a:prstGeom prst="ellipse">
            <a:avLst/>
          </a:prstGeom>
          <a:solidFill>
            <a:srgbClr val="FFC000"/>
          </a:solidFill>
          <a:ln w="12700">
            <a:solidFill>
              <a:srgbClr val="FFC000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5" name="Text 13"/>
          <p:cNvSpPr txBox="1"/>
          <p:nvPr/>
        </p:nvSpPr>
        <p:spPr>
          <a:xfrm>
            <a:off x="548640" y="2840736"/>
            <a:ext cx="219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2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548640" y="3348736"/>
            <a:ext cx="219456" cy="219456"/>
          </a:xfrm>
          <a:prstGeom prst="ellipse">
            <a:avLst/>
          </a:prstGeom>
          <a:solidFill>
            <a:srgbClr val="FFC000"/>
          </a:solidFill>
          <a:ln w="12700">
            <a:solidFill>
              <a:srgbClr val="FFC000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7" name="Text 15"/>
          <p:cNvSpPr txBox="1"/>
          <p:nvPr/>
        </p:nvSpPr>
        <p:spPr>
          <a:xfrm>
            <a:off x="548640" y="3348736"/>
            <a:ext cx="219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3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548640" y="3602736"/>
            <a:ext cx="219456" cy="219456"/>
          </a:xfrm>
          <a:prstGeom prst="ellipse">
            <a:avLst/>
          </a:prstGeom>
          <a:solidFill>
            <a:srgbClr val="FFC000"/>
          </a:solidFill>
          <a:ln w="12700">
            <a:solidFill>
              <a:srgbClr val="FFC000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9" name="Text 17"/>
          <p:cNvSpPr txBox="1"/>
          <p:nvPr/>
        </p:nvSpPr>
        <p:spPr>
          <a:xfrm>
            <a:off x="548640" y="3602736"/>
            <a:ext cx="219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4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548640" y="3856736"/>
            <a:ext cx="219456" cy="219456"/>
          </a:xfrm>
          <a:prstGeom prst="ellipse">
            <a:avLst/>
          </a:prstGeom>
          <a:solidFill>
            <a:srgbClr val="FFC000"/>
          </a:solidFill>
          <a:ln w="12700">
            <a:solidFill>
              <a:srgbClr val="FFC000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1" name="Text 19"/>
          <p:cNvSpPr txBox="1"/>
          <p:nvPr/>
        </p:nvSpPr>
        <p:spPr>
          <a:xfrm>
            <a:off x="548640" y="3856736"/>
            <a:ext cx="219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4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457200" y="4617720"/>
            <a:ext cx="5486400" cy="886968"/>
          </a:xfrm>
          <a:prstGeom prst="rect">
            <a:avLst/>
          </a:prstGeom>
          <a:solidFill>
            <a:srgbClr val="F2F2F2"/>
          </a:solidFill>
          <a:ln w="12700">
            <a:solidFill>
              <a:srgbClr val="F2F2F2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3" name="Shape 21"/>
          <p:cNvSpPr/>
          <p:nvPr/>
        </p:nvSpPr>
        <p:spPr>
          <a:xfrm>
            <a:off x="594360" y="4709160"/>
            <a:ext cx="329184" cy="329184"/>
          </a:xfrm>
          <a:prstGeom prst="ellipse">
            <a:avLst/>
          </a:prstGeom>
          <a:solidFill>
            <a:srgbClr val="FFC000"/>
          </a:solidFill>
          <a:ln w="12700">
            <a:solidFill>
              <a:srgbClr val="FFC000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4" name="Text 22"/>
          <p:cNvSpPr txBox="1"/>
          <p:nvPr/>
        </p:nvSpPr>
        <p:spPr>
          <a:xfrm>
            <a:off x="594360" y="470916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1</a:t>
            </a:r>
            <a:endParaRPr lang="en-US" sz="1400" dirty="0"/>
          </a:p>
        </p:txBody>
      </p:sp>
      <p:sp>
        <p:nvSpPr>
          <p:cNvPr id="25" name="Text 23"/>
          <p:cNvSpPr txBox="1"/>
          <p:nvPr/>
        </p:nvSpPr>
        <p:spPr>
          <a:xfrm>
            <a:off x="1051560" y="4663440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56082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windows = expected</a:t>
            </a:r>
            <a:endParaRPr lang="en-US" sz="1800" dirty="0"/>
          </a:p>
        </p:txBody>
      </p:sp>
      <p:sp>
        <p:nvSpPr>
          <p:cNvPr id="26" name="Text 24"/>
          <p:cNvSpPr txBox="1"/>
          <p:nvPr/>
        </p:nvSpPr>
        <p:spPr>
          <a:xfrm>
            <a:off x="1051560" y="5029200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音の量から計算した窓の数と、推論した窓の数が一致 → 窓の消失なし</a:t>
            </a:r>
            <a:endParaRPr lang="en-US" sz="1500" dirty="0"/>
          </a:p>
        </p:txBody>
      </p:sp>
      <p:sp>
        <p:nvSpPr>
          <p:cNvPr id="27" name="Shape 25"/>
          <p:cNvSpPr/>
          <p:nvPr/>
        </p:nvSpPr>
        <p:spPr>
          <a:xfrm>
            <a:off x="6172200" y="4617720"/>
            <a:ext cx="5486400" cy="886968"/>
          </a:xfrm>
          <a:prstGeom prst="rect">
            <a:avLst/>
          </a:prstGeom>
          <a:solidFill>
            <a:srgbClr val="F2F2F2"/>
          </a:solidFill>
          <a:ln w="12700">
            <a:solidFill>
              <a:srgbClr val="F2F2F2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8" name="Shape 26"/>
          <p:cNvSpPr/>
          <p:nvPr/>
        </p:nvSpPr>
        <p:spPr>
          <a:xfrm>
            <a:off x="6309360" y="4709160"/>
            <a:ext cx="329184" cy="329184"/>
          </a:xfrm>
          <a:prstGeom prst="ellipse">
            <a:avLst/>
          </a:prstGeom>
          <a:solidFill>
            <a:srgbClr val="FFC000"/>
          </a:solidFill>
          <a:ln w="12700">
            <a:solidFill>
              <a:srgbClr val="FFC000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9" name="Text 27"/>
          <p:cNvSpPr txBox="1"/>
          <p:nvPr/>
        </p:nvSpPr>
        <p:spPr>
          <a:xfrm>
            <a:off x="6309360" y="470916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2</a:t>
            </a:r>
            <a:endParaRPr lang="en-US" sz="1400" dirty="0"/>
          </a:p>
        </p:txBody>
      </p:sp>
      <p:sp>
        <p:nvSpPr>
          <p:cNvPr id="30" name="Text 28"/>
          <p:cNvSpPr txBox="1"/>
          <p:nvPr/>
        </p:nvSpPr>
        <p:spPr>
          <a:xfrm>
            <a:off x="6766560" y="4663440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56082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audio under / over / late</a:t>
            </a:r>
            <a:endParaRPr lang="en-US" sz="1800" dirty="0"/>
          </a:p>
        </p:txBody>
      </p:sp>
      <p:sp>
        <p:nvSpPr>
          <p:cNvPr id="31" name="Text 29"/>
          <p:cNvSpPr txBox="1"/>
          <p:nvPr/>
        </p:nvSpPr>
        <p:spPr>
          <a:xfrm>
            <a:off x="6766560" y="5029200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音の取りこぼし。3 つとも 0 が合格</a:t>
            </a:r>
            <a:endParaRPr lang="en-US" sz="1500" dirty="0"/>
          </a:p>
        </p:txBody>
      </p:sp>
      <p:sp>
        <p:nvSpPr>
          <p:cNvPr id="32" name="Shape 30"/>
          <p:cNvSpPr/>
          <p:nvPr/>
        </p:nvSpPr>
        <p:spPr>
          <a:xfrm>
            <a:off x="457200" y="5577840"/>
            <a:ext cx="5486400" cy="886968"/>
          </a:xfrm>
          <a:prstGeom prst="rect">
            <a:avLst/>
          </a:prstGeom>
          <a:solidFill>
            <a:srgbClr val="F2F2F2"/>
          </a:solidFill>
          <a:ln w="12700">
            <a:solidFill>
              <a:srgbClr val="F2F2F2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33" name="Shape 31"/>
          <p:cNvSpPr/>
          <p:nvPr/>
        </p:nvSpPr>
        <p:spPr>
          <a:xfrm>
            <a:off x="594360" y="5669280"/>
            <a:ext cx="329184" cy="329184"/>
          </a:xfrm>
          <a:prstGeom prst="ellipse">
            <a:avLst/>
          </a:prstGeom>
          <a:solidFill>
            <a:srgbClr val="FFC000"/>
          </a:solidFill>
          <a:ln w="12700">
            <a:solidFill>
              <a:srgbClr val="FFC000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34" name="Text 32"/>
          <p:cNvSpPr txBox="1"/>
          <p:nvPr/>
        </p:nvSpPr>
        <p:spPr>
          <a:xfrm>
            <a:off x="594360" y="566928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3</a:t>
            </a:r>
            <a:endParaRPr lang="en-US" sz="1400" dirty="0"/>
          </a:p>
        </p:txBody>
      </p:sp>
      <p:sp>
        <p:nvSpPr>
          <p:cNvPr id="35" name="Text 33"/>
          <p:cNvSpPr txBox="1"/>
          <p:nvPr/>
        </p:nvSpPr>
        <p:spPr>
          <a:xfrm>
            <a:off x="1051560" y="5623560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56082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notify out / gated</a:t>
            </a:r>
            <a:endParaRPr lang="en-US" sz="1800" dirty="0"/>
          </a:p>
        </p:txBody>
      </p:sp>
      <p:sp>
        <p:nvSpPr>
          <p:cNvPr id="36" name="Text 34"/>
          <p:cNvSpPr txBox="1"/>
          <p:nvPr/>
        </p:nvSpPr>
        <p:spPr>
          <a:xfrm>
            <a:off x="1051560" y="5989320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JSON を出した数と、音量の条件で止めた窓の数</a:t>
            </a:r>
            <a:endParaRPr lang="en-US" sz="1500" dirty="0"/>
          </a:p>
        </p:txBody>
      </p:sp>
      <p:sp>
        <p:nvSpPr>
          <p:cNvPr id="37" name="Shape 35"/>
          <p:cNvSpPr/>
          <p:nvPr/>
        </p:nvSpPr>
        <p:spPr>
          <a:xfrm>
            <a:off x="6172200" y="5577840"/>
            <a:ext cx="5486400" cy="886968"/>
          </a:xfrm>
          <a:prstGeom prst="rect">
            <a:avLst/>
          </a:prstGeom>
          <a:solidFill>
            <a:srgbClr val="F2F2F2"/>
          </a:solidFill>
          <a:ln w="12700">
            <a:solidFill>
              <a:srgbClr val="F2F2F2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38" name="Shape 36"/>
          <p:cNvSpPr/>
          <p:nvPr/>
        </p:nvSpPr>
        <p:spPr>
          <a:xfrm>
            <a:off x="6309360" y="5669280"/>
            <a:ext cx="329184" cy="329184"/>
          </a:xfrm>
          <a:prstGeom prst="ellipse">
            <a:avLst/>
          </a:prstGeom>
          <a:solidFill>
            <a:srgbClr val="FFC000"/>
          </a:solidFill>
          <a:ln w="12700">
            <a:solidFill>
              <a:srgbClr val="FFC000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39" name="Text 37"/>
          <p:cNvSpPr txBox="1"/>
          <p:nvPr/>
        </p:nvSpPr>
        <p:spPr>
          <a:xfrm>
            <a:off x="6309360" y="566928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4</a:t>
            </a:r>
            <a:endParaRPr lang="en-US" sz="1400" dirty="0"/>
          </a:p>
        </p:txBody>
      </p:sp>
      <p:sp>
        <p:nvSpPr>
          <p:cNvPr id="40" name="Text 38"/>
          <p:cNvSpPr txBox="1"/>
          <p:nvPr/>
        </p:nvSpPr>
        <p:spPr>
          <a:xfrm>
            <a:off x="6766560" y="5623560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56082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log / disp dropped</a:t>
            </a:r>
            <a:endParaRPr lang="en-US" sz="1800" dirty="0"/>
          </a:p>
        </p:txBody>
      </p:sp>
      <p:sp>
        <p:nvSpPr>
          <p:cNvPr id="41" name="Text 39"/>
          <p:cNvSpPr txBox="1"/>
          <p:nvPr/>
        </p:nvSpPr>
        <p:spPr>
          <a:xfrm>
            <a:off x="6766560" y="5989320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捨てたログの行と画面の更新。0 が合格</a:t>
            </a:r>
            <a:endParaRPr lang="en-US" sz="1500" dirty="0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74320" y="109728"/>
            <a:ext cx="116128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11　まとめ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0" y="777240"/>
            <a:ext cx="12191695" cy="274320"/>
          </a:xfrm>
          <a:prstGeom prst="rect">
            <a:avLst/>
          </a:prstGeom>
          <a:solidFill>
            <a:srgbClr val="156082"/>
          </a:solidFill>
          <a:ln w="12700">
            <a:solidFill>
              <a:srgbClr val="156082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4" name="Shape 2"/>
          <p:cNvSpPr/>
          <p:nvPr/>
        </p:nvSpPr>
        <p:spPr>
          <a:xfrm>
            <a:off x="0" y="1051560"/>
            <a:ext cx="12191695" cy="1097280"/>
          </a:xfrm>
          <a:prstGeom prst="rect">
            <a:avLst/>
          </a:prstGeom>
          <a:solidFill>
            <a:srgbClr val="DDEBF3"/>
          </a:solidFill>
          <a:ln w="12700">
            <a:solidFill>
              <a:srgbClr val="DDEBF3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5" name="Text 3"/>
          <p:cNvSpPr txBox="1"/>
          <p:nvPr/>
        </p:nvSpPr>
        <p:spPr>
          <a:xfrm>
            <a:off x="457200" y="1097280"/>
            <a:ext cx="1127455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 err="1">
                <a:solidFill>
                  <a:srgbClr val="FF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音・推論・表示を優先度で並べ</a:t>
            </a:r>
            <a:r>
              <a:rPr lang="en-US" sz="2800" b="1" dirty="0">
                <a:solidFill>
                  <a:srgbClr val="FF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、</a:t>
            </a:r>
          </a:p>
          <a:p>
            <a:pPr marL="0" indent="0">
              <a:buNone/>
            </a:pPr>
            <a:r>
              <a:rPr lang="en-US" sz="2800" b="1" dirty="0" err="1">
                <a:solidFill>
                  <a:srgbClr val="FF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壊しても音だけは生き残ることを実測で示した</a:t>
            </a:r>
            <a:endParaRPr lang="en-US" sz="28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2331720"/>
            <a:ext cx="3611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1 </a:t>
            </a:r>
            <a:r>
              <a:rPr lang="en-US" sz="2000" b="1" dirty="0" err="1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時間、止めずに動かし</a:t>
            </a:r>
            <a:r>
              <a:rPr lang="ja-JP" altLang="en-US" sz="2000" b="1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ても</a:t>
            </a:r>
            <a:endParaRPr lang="en-US" sz="2000" dirty="0"/>
          </a:p>
        </p:txBody>
      </p:sp>
      <p:sp>
        <p:nvSpPr>
          <p:cNvPr id="7" name="Text 5"/>
          <p:cNvSpPr txBox="1"/>
          <p:nvPr/>
        </p:nvSpPr>
        <p:spPr>
          <a:xfrm>
            <a:off x="457200" y="2788920"/>
            <a:ext cx="36118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000" b="1" dirty="0">
                <a:solidFill>
                  <a:srgbClr val="008A5E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0 回</a:t>
            </a:r>
            <a:endParaRPr lang="en-US" sz="6000" dirty="0"/>
          </a:p>
        </p:txBody>
      </p:sp>
      <p:sp>
        <p:nvSpPr>
          <p:cNvPr id="8" name="Text 6"/>
          <p:cNvSpPr txBox="1"/>
          <p:nvPr/>
        </p:nvSpPr>
        <p:spPr>
          <a:xfrm>
            <a:off x="457200" y="3886200"/>
            <a:ext cx="3611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音の取りこぼし</a:t>
            </a:r>
            <a:endParaRPr lang="en-US" sz="2000" dirty="0"/>
          </a:p>
        </p:txBody>
      </p:sp>
      <p:sp>
        <p:nvSpPr>
          <p:cNvPr id="9" name="Text 7"/>
          <p:cNvSpPr txBox="1"/>
          <p:nvPr/>
        </p:nvSpPr>
        <p:spPr>
          <a:xfrm>
            <a:off x="457200" y="4297680"/>
            <a:ext cx="3429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595959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3,854 窓すべて。ログ 24,238 行・画面 83 回も欠け 0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4288536" y="2331720"/>
            <a:ext cx="3611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 err="1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推論を音より優先に</a:t>
            </a:r>
            <a:r>
              <a:rPr lang="ja-JP" altLang="en-US" sz="2000" b="1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すると</a:t>
            </a:r>
            <a:endParaRPr lang="en-US" sz="2000" dirty="0"/>
          </a:p>
        </p:txBody>
      </p:sp>
      <p:sp>
        <p:nvSpPr>
          <p:cNvPr id="11" name="Text 9"/>
          <p:cNvSpPr txBox="1"/>
          <p:nvPr/>
        </p:nvSpPr>
        <p:spPr>
          <a:xfrm>
            <a:off x="4288536" y="2788920"/>
            <a:ext cx="36118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000" b="1" dirty="0">
                <a:solidFill>
                  <a:srgbClr val="C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8%</a:t>
            </a:r>
            <a:endParaRPr lang="en-US" sz="6000" dirty="0"/>
          </a:p>
        </p:txBody>
      </p:sp>
      <p:sp>
        <p:nvSpPr>
          <p:cNvPr id="12" name="Text 10"/>
          <p:cNvSpPr txBox="1"/>
          <p:nvPr/>
        </p:nvSpPr>
        <p:spPr>
          <a:xfrm>
            <a:off x="4288536" y="3886200"/>
            <a:ext cx="3611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入力の欠落</a:t>
            </a:r>
            <a:endParaRPr lang="en-US" sz="2000" dirty="0"/>
          </a:p>
        </p:txBody>
      </p:sp>
      <p:sp>
        <p:nvSpPr>
          <p:cNvPr id="13" name="Text 11"/>
          <p:cNvSpPr txBox="1"/>
          <p:nvPr/>
        </p:nvSpPr>
        <p:spPr>
          <a:xfrm>
            <a:off x="4288536" y="4297680"/>
            <a:ext cx="3429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 err="1">
                <a:solidFill>
                  <a:srgbClr val="595959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推論と表示は無事。順序を間違えると</a:t>
            </a:r>
            <a:endParaRPr lang="en-US" sz="1400" dirty="0">
              <a:solidFill>
                <a:srgbClr val="595959"/>
              </a:solidFill>
              <a:latin typeface="游ゴシック" pitchFamily="34" charset="0"/>
              <a:ea typeface="游ゴシック" pitchFamily="34" charset="-122"/>
              <a:cs typeface="游ゴシック" pitchFamily="34" charset="-120"/>
            </a:endParaRPr>
          </a:p>
          <a:p>
            <a:pPr marL="0" indent="0">
              <a:buNone/>
            </a:pPr>
            <a:r>
              <a:rPr lang="en-US" sz="1400" dirty="0" err="1">
                <a:solidFill>
                  <a:srgbClr val="595959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音が壊れる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8119872" y="2331720"/>
            <a:ext cx="3611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推論を 10 </a:t>
            </a:r>
            <a:r>
              <a:rPr lang="en-US" sz="2000" b="1" dirty="0" err="1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倍重く</a:t>
            </a:r>
            <a:r>
              <a:rPr lang="ja-JP" altLang="en-US" sz="2000" b="1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ても</a:t>
            </a:r>
            <a:endParaRPr lang="en-US" sz="2000" dirty="0"/>
          </a:p>
        </p:txBody>
      </p:sp>
      <p:sp>
        <p:nvSpPr>
          <p:cNvPr id="15" name="Text 13"/>
          <p:cNvSpPr txBox="1"/>
          <p:nvPr/>
        </p:nvSpPr>
        <p:spPr>
          <a:xfrm>
            <a:off x="8119872" y="2788920"/>
            <a:ext cx="36118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000" b="1" dirty="0">
                <a:solidFill>
                  <a:srgbClr val="008A5E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0 回</a:t>
            </a:r>
            <a:endParaRPr lang="en-US" sz="6000" dirty="0"/>
          </a:p>
        </p:txBody>
      </p:sp>
      <p:sp>
        <p:nvSpPr>
          <p:cNvPr id="16" name="Text 14"/>
          <p:cNvSpPr txBox="1"/>
          <p:nvPr/>
        </p:nvSpPr>
        <p:spPr>
          <a:xfrm>
            <a:off x="8119872" y="3886200"/>
            <a:ext cx="3611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音の取りこぼし</a:t>
            </a:r>
            <a:endParaRPr lang="en-US" sz="2000" dirty="0"/>
          </a:p>
        </p:txBody>
      </p:sp>
      <p:sp>
        <p:nvSpPr>
          <p:cNvPr id="17" name="Text 15"/>
          <p:cNvSpPr txBox="1"/>
          <p:nvPr/>
        </p:nvSpPr>
        <p:spPr>
          <a:xfrm>
            <a:off x="8119872" y="4297680"/>
            <a:ext cx="3429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595959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窓 13% 消失・ログ 93% 破棄・画面 10 分停止でも音は無事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457200" y="5166360"/>
            <a:ext cx="11274552" cy="1371600"/>
          </a:xfrm>
          <a:prstGeom prst="rect">
            <a:avLst/>
          </a:prstGeom>
          <a:solidFill>
            <a:srgbClr val="F2F2F2"/>
          </a:solidFill>
          <a:ln w="12700">
            <a:solidFill>
              <a:srgbClr val="BFBFBF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pic>
        <p:nvPicPr>
          <p:cNvPr id="19" name="Image 0" descr="/home/claude/v4/icons/FaExchangeAlt_15608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5303520"/>
            <a:ext cx="411480" cy="411480"/>
          </a:xfrm>
          <a:prstGeom prst="rect">
            <a:avLst/>
          </a:prstGeom>
        </p:spPr>
      </p:pic>
      <p:sp>
        <p:nvSpPr>
          <p:cNvPr id="20" name="Text 17"/>
          <p:cNvSpPr txBox="1"/>
          <p:nvPr/>
        </p:nvSpPr>
        <p:spPr>
          <a:xfrm>
            <a:off x="1234440" y="5257800"/>
            <a:ext cx="103327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モデルは交換部品。2 つのモデルを同じ手順で測り、基盤の数字は変わらなかった（7 章）</a:t>
            </a:r>
            <a:endParaRPr lang="en-US" sz="1800" dirty="0"/>
          </a:p>
        </p:txBody>
      </p:sp>
      <p:pic>
        <p:nvPicPr>
          <p:cNvPr id="21" name="Image 1" descr="/home/claude/v4/icons/FaIndustry_156082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0080" y="5925312"/>
            <a:ext cx="411480" cy="411480"/>
          </a:xfrm>
          <a:prstGeom prst="rect">
            <a:avLst/>
          </a:prstGeom>
        </p:spPr>
      </p:pic>
      <p:sp>
        <p:nvSpPr>
          <p:cNvPr id="22" name="Text 18"/>
          <p:cNvSpPr txBox="1"/>
          <p:nvPr/>
        </p:nvSpPr>
        <p:spPr>
          <a:xfrm>
            <a:off x="1234440" y="5879592"/>
            <a:ext cx="103327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落とせない周期処理に推論を足す装置の土台と、その確かめ方として使える（9 章）</a:t>
            </a:r>
            <a:endParaRPr lang="en-US" sz="1800" dirty="0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74320" y="109728"/>
            <a:ext cx="116128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付録 A1　既存ソフトウェア一覧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0" y="777240"/>
            <a:ext cx="12191695" cy="274320"/>
          </a:xfrm>
          <a:prstGeom prst="rect">
            <a:avLst/>
          </a:prstGeom>
          <a:solidFill>
            <a:srgbClr val="156082"/>
          </a:solidFill>
          <a:ln w="12700">
            <a:solidFill>
              <a:srgbClr val="156082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4" name="Text 2"/>
          <p:cNvSpPr txBox="1"/>
          <p:nvPr/>
        </p:nvSpPr>
        <p:spPr>
          <a:xfrm>
            <a:off x="457200" y="1188720"/>
            <a:ext cx="11274552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800" b="1" dirty="0">
                <a:solidFill>
                  <a:srgbClr val="FF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既存のソフトはすべて出典とライセンスを明記した</a:t>
            </a:r>
            <a:endParaRPr lang="en-US" sz="2800" dirty="0"/>
          </a:p>
        </p:txBody>
      </p:sp>
      <p:graphicFrame>
        <p:nvGraphicFramePr>
          <p:cNvPr id="4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2103120"/>
          <a:ext cx="11274552" cy="3462528"/>
        </p:xfrm>
        <a:graphic>
          <a:graphicData uri="http://schemas.openxmlformats.org/drawingml/2006/table">
            <a:tbl>
              <a:tblPr/>
              <a:tblGrid>
                <a:gridCol w="32461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2402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1488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63931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2062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游ゴシック" pitchFamily="34" charset="0"/>
                          <a:ea typeface="游ゴシック" pitchFamily="34" charset="-122"/>
                          <a:cs typeface="游ゴシック" pitchFamily="34" charset="-120"/>
                        </a:rPr>
                        <a:t>名称</a:t>
                      </a:r>
                      <a:endParaRPr lang="en-US" sz="1400" dirty="0">
                        <a:latin typeface="游ゴシック" charset="0"/>
                        <a:ea typeface="游ゴシック" charset="0"/>
                        <a:cs typeface="游ゴシック" charset="0"/>
                      </a:endParaRPr>
                    </a:p>
                  </a:txBody>
                  <a:tcPr marL="73152" marR="73152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608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游ゴシック" pitchFamily="34" charset="0"/>
                          <a:ea typeface="游ゴシック" pitchFamily="34" charset="-122"/>
                          <a:cs typeface="游ゴシック" pitchFamily="34" charset="-120"/>
                        </a:rPr>
                        <a:t>権利者</a:t>
                      </a:r>
                      <a:endParaRPr lang="en-US" sz="1400" dirty="0">
                        <a:latin typeface="游ゴシック" charset="0"/>
                        <a:ea typeface="游ゴシック" charset="0"/>
                        <a:cs typeface="游ゴシック" charset="0"/>
                      </a:endParaRPr>
                    </a:p>
                  </a:txBody>
                  <a:tcPr marL="73152" marR="73152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608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游ゴシック" pitchFamily="34" charset="0"/>
                          <a:ea typeface="游ゴシック" pitchFamily="34" charset="-122"/>
                          <a:cs typeface="游ゴシック" pitchFamily="34" charset="-120"/>
                        </a:rPr>
                        <a:t>ライセンス</a:t>
                      </a:r>
                      <a:endParaRPr lang="en-US" sz="1400" dirty="0">
                        <a:latin typeface="游ゴシック" charset="0"/>
                        <a:ea typeface="游ゴシック" charset="0"/>
                        <a:cs typeface="游ゴシック" charset="0"/>
                      </a:endParaRPr>
                    </a:p>
                  </a:txBody>
                  <a:tcPr marL="73152" marR="73152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608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游ゴシック" pitchFamily="34" charset="0"/>
                          <a:ea typeface="游ゴシック" pitchFamily="34" charset="-122"/>
                          <a:cs typeface="游ゴシック" pitchFamily="34" charset="-120"/>
                        </a:rPr>
                        <a:t>改変</a:t>
                      </a:r>
                      <a:endParaRPr lang="en-US" sz="1400" dirty="0">
                        <a:latin typeface="游ゴシック" charset="0"/>
                        <a:ea typeface="游ゴシック" charset="0"/>
                        <a:cs typeface="游ゴシック" charset="0"/>
                      </a:endParaRPr>
                    </a:p>
                  </a:txBody>
                  <a:tcPr marL="73152" marR="73152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608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2062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游ゴシック" pitchFamily="34" charset="0"/>
                          <a:ea typeface="游ゴシック" pitchFamily="34" charset="-122"/>
                          <a:cs typeface="游ゴシック" pitchFamily="34" charset="-120"/>
                        </a:rPr>
                        <a:t>μT-Kernel 3.0 BSP2</a:t>
                      </a:r>
                      <a:endParaRPr lang="en-US" sz="1400" dirty="0">
                        <a:latin typeface="游ゴシック" charset="0"/>
                        <a:ea typeface="游ゴシック" charset="0"/>
                        <a:cs typeface="游ゴシック" charset="0"/>
                      </a:endParaRPr>
                    </a:p>
                  </a:txBody>
                  <a:tcPr marL="73152" marR="73152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游ゴシック" pitchFamily="34" charset="0"/>
                          <a:ea typeface="游ゴシック" pitchFamily="34" charset="-122"/>
                          <a:cs typeface="游ゴシック" pitchFamily="34" charset="-120"/>
                        </a:rPr>
                        <a:t>TRON Forum</a:t>
                      </a:r>
                      <a:endParaRPr lang="en-US" sz="1400" dirty="0">
                        <a:latin typeface="游ゴシック" charset="0"/>
                        <a:ea typeface="游ゴシック" charset="0"/>
                        <a:cs typeface="游ゴシック" charset="0"/>
                      </a:endParaRPr>
                    </a:p>
                  </a:txBody>
                  <a:tcPr marL="73152" marR="73152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游ゴシック" pitchFamily="34" charset="0"/>
                          <a:ea typeface="游ゴシック" pitchFamily="34" charset="-122"/>
                          <a:cs typeface="游ゴシック" pitchFamily="34" charset="-120"/>
                        </a:rPr>
                        <a:t>T-License 2.2（一部 2.1）</a:t>
                      </a:r>
                      <a:endParaRPr lang="en-US" sz="1400" dirty="0">
                        <a:latin typeface="游ゴシック" charset="0"/>
                        <a:ea typeface="游ゴシック" charset="0"/>
                        <a:cs typeface="游ゴシック" charset="0"/>
                      </a:endParaRPr>
                    </a:p>
                  </a:txBody>
                  <a:tcPr marL="73152" marR="73152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游ゴシック" pitchFamily="34" charset="0"/>
                          <a:ea typeface="游ゴシック" pitchFamily="34" charset="-122"/>
                          <a:cs typeface="游ゴシック" pitchFamily="34" charset="-120"/>
                        </a:rPr>
                        <a:t>無改変（リンカスクリプトに追記）</a:t>
                      </a:r>
                      <a:endParaRPr lang="en-US" sz="1400" dirty="0">
                        <a:latin typeface="游ゴシック" charset="0"/>
                        <a:ea typeface="游ゴシック" charset="0"/>
                        <a:cs typeface="游ゴシック" charset="0"/>
                      </a:endParaRPr>
                    </a:p>
                  </a:txBody>
                  <a:tcPr marL="73152" marR="73152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2062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游ゴシック" pitchFamily="34" charset="0"/>
                          <a:ea typeface="游ゴシック" pitchFamily="34" charset="-122"/>
                          <a:cs typeface="游ゴシック" pitchFamily="34" charset="-120"/>
                        </a:rPr>
                        <a:t>STM32N6 HAL / CMSIS</a:t>
                      </a:r>
                      <a:endParaRPr lang="en-US" sz="1400" dirty="0">
                        <a:latin typeface="游ゴシック" charset="0"/>
                        <a:ea typeface="游ゴシック" charset="0"/>
                        <a:cs typeface="游ゴシック" charset="0"/>
                      </a:endParaRPr>
                    </a:p>
                  </a:txBody>
                  <a:tcPr marL="73152" marR="73152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游ゴシック" pitchFamily="34" charset="0"/>
                          <a:ea typeface="游ゴシック" pitchFamily="34" charset="-122"/>
                          <a:cs typeface="游ゴシック" pitchFamily="34" charset="-120"/>
                        </a:rPr>
                        <a:t>STMicroelectronics / Arm</a:t>
                      </a:r>
                      <a:endParaRPr lang="en-US" sz="1400" dirty="0">
                        <a:latin typeface="游ゴシック" charset="0"/>
                        <a:ea typeface="游ゴシック" charset="0"/>
                        <a:cs typeface="游ゴシック" charset="0"/>
                      </a:endParaRPr>
                    </a:p>
                  </a:txBody>
                  <a:tcPr marL="73152" marR="73152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游ゴシック" pitchFamily="34" charset="0"/>
                          <a:ea typeface="游ゴシック" pitchFamily="34" charset="-122"/>
                          <a:cs typeface="游ゴシック" pitchFamily="34" charset="-120"/>
                        </a:rPr>
                        <a:t>BSD-3 / Apache-2.0</a:t>
                      </a:r>
                      <a:endParaRPr lang="en-US" sz="1400" dirty="0">
                        <a:latin typeface="游ゴシック" charset="0"/>
                        <a:ea typeface="游ゴシック" charset="0"/>
                        <a:cs typeface="游ゴシック" charset="0"/>
                      </a:endParaRPr>
                    </a:p>
                  </a:txBody>
                  <a:tcPr marL="73152" marR="73152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游ゴシック" pitchFamily="34" charset="0"/>
                          <a:ea typeface="游ゴシック" pitchFamily="34" charset="-122"/>
                          <a:cs typeface="游ゴシック" pitchFamily="34" charset="-120"/>
                        </a:rPr>
                        <a:t>無改変（HAL の LTDC ドライバ 4 本を追加）</a:t>
                      </a:r>
                      <a:endParaRPr lang="en-US" sz="1400" dirty="0">
                        <a:latin typeface="游ゴシック" charset="0"/>
                        <a:ea typeface="游ゴシック" charset="0"/>
                        <a:cs typeface="游ゴシック" charset="0"/>
                      </a:endParaRPr>
                    </a:p>
                  </a:txBody>
                  <a:tcPr marL="73152" marR="73152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2062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游ゴシック" pitchFamily="34" charset="0"/>
                          <a:ea typeface="游ゴシック" pitchFamily="34" charset="-122"/>
                          <a:cs typeface="游ゴシック" pitchFamily="34" charset="-120"/>
                        </a:rPr>
                        <a:t>ll_aton ＋ NetworkRuntime 1201</a:t>
                      </a:r>
                      <a:endParaRPr lang="en-US" sz="1400" dirty="0">
                        <a:latin typeface="游ゴシック" charset="0"/>
                        <a:ea typeface="游ゴシック" charset="0"/>
                        <a:cs typeface="游ゴシック" charset="0"/>
                      </a:endParaRPr>
                    </a:p>
                  </a:txBody>
                  <a:tcPr marL="73152" marR="73152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游ゴシック" pitchFamily="34" charset="0"/>
                          <a:ea typeface="游ゴシック" pitchFamily="34" charset="-122"/>
                          <a:cs typeface="游ゴシック" pitchFamily="34" charset="-120"/>
                        </a:rPr>
                        <a:t>STMicroelectronics</a:t>
                      </a:r>
                      <a:endParaRPr lang="en-US" sz="1400" dirty="0">
                        <a:latin typeface="游ゴシック" charset="0"/>
                        <a:ea typeface="游ゴシック" charset="0"/>
                        <a:cs typeface="游ゴシック" charset="0"/>
                      </a:endParaRPr>
                    </a:p>
                  </a:txBody>
                  <a:tcPr marL="73152" marR="73152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游ゴシック" pitchFamily="34" charset="0"/>
                          <a:ea typeface="游ゴシック" pitchFamily="34" charset="-122"/>
                          <a:cs typeface="游ゴシック" pitchFamily="34" charset="-120"/>
                        </a:rPr>
                        <a:t>SLA0104</a:t>
                      </a:r>
                      <a:endParaRPr lang="en-US" sz="1400" dirty="0">
                        <a:latin typeface="游ゴシック" charset="0"/>
                        <a:ea typeface="游ゴシック" charset="0"/>
                        <a:cs typeface="游ゴシック" charset="0"/>
                      </a:endParaRPr>
                    </a:p>
                  </a:txBody>
                  <a:tcPr marL="73152" marR="73152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游ゴシック" pitchFamily="34" charset="0"/>
                          <a:ea typeface="游ゴシック" pitchFamily="34" charset="-122"/>
                          <a:cs typeface="游ゴシック" pitchFamily="34" charset="-120"/>
                        </a:rPr>
                        <a:t>無改変（4.0.1 同梱版）</a:t>
                      </a:r>
                      <a:endParaRPr lang="en-US" sz="1400" dirty="0">
                        <a:latin typeface="游ゴシック" charset="0"/>
                        <a:ea typeface="游ゴシック" charset="0"/>
                        <a:cs typeface="游ゴシック" charset="0"/>
                      </a:endParaRPr>
                    </a:p>
                  </a:txBody>
                  <a:tcPr marL="73152" marR="73152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2062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游ゴシック" pitchFamily="34" charset="0"/>
                          <a:ea typeface="游ゴシック" pitchFamily="34" charset="-122"/>
                          <a:cs typeface="游ゴシック" pitchFamily="34" charset="-120"/>
                        </a:rPr>
                        <a:t>生成済みネットワーク（ESC-10 版・FSD50K 版）</a:t>
                      </a:r>
                      <a:endParaRPr lang="en-US" sz="1400" dirty="0">
                        <a:latin typeface="游ゴシック" charset="0"/>
                        <a:ea typeface="游ゴシック" charset="0"/>
                        <a:cs typeface="游ゴシック" charset="0"/>
                      </a:endParaRPr>
                    </a:p>
                  </a:txBody>
                  <a:tcPr marL="73152" marR="73152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游ゴシック" pitchFamily="34" charset="0"/>
                          <a:ea typeface="游ゴシック" pitchFamily="34" charset="-122"/>
                          <a:cs typeface="游ゴシック" pitchFamily="34" charset="-120"/>
                        </a:rPr>
                        <a:t>STMicroelectronics</a:t>
                      </a:r>
                      <a:endParaRPr lang="en-US" sz="1400" dirty="0">
                        <a:latin typeface="游ゴシック" charset="0"/>
                        <a:ea typeface="游ゴシック" charset="0"/>
                        <a:cs typeface="游ゴシック" charset="0"/>
                      </a:endParaRPr>
                    </a:p>
                  </a:txBody>
                  <a:tcPr marL="73152" marR="73152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游ゴシック" pitchFamily="34" charset="0"/>
                          <a:ea typeface="游ゴシック" pitchFamily="34" charset="-122"/>
                          <a:cs typeface="游ゴシック" pitchFamily="34" charset="-120"/>
                        </a:rPr>
                        <a:t>SLA0104</a:t>
                      </a:r>
                      <a:endParaRPr lang="en-US" sz="1400" dirty="0">
                        <a:latin typeface="游ゴシック" charset="0"/>
                        <a:ea typeface="游ゴシック" charset="0"/>
                        <a:cs typeface="游ゴシック" charset="0"/>
                      </a:endParaRPr>
                    </a:p>
                  </a:txBody>
                  <a:tcPr marL="73152" marR="73152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游ゴシック" pitchFamily="34" charset="0"/>
                          <a:ea typeface="游ゴシック" pitchFamily="34" charset="-122"/>
                          <a:cs typeface="游ゴシック" pitchFamily="34" charset="-120"/>
                        </a:rPr>
                        <a:t>無改変。ESC-10 の重み hex（SLA0044）は同梱しない</a:t>
                      </a:r>
                      <a:endParaRPr lang="en-US" sz="1400" dirty="0">
                        <a:latin typeface="游ゴシック" charset="0"/>
                        <a:ea typeface="游ゴシック" charset="0"/>
                        <a:cs typeface="游ゴシック" charset="0"/>
                      </a:endParaRPr>
                    </a:p>
                  </a:txBody>
                  <a:tcPr marL="73152" marR="73152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2062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游ゴシック" pitchFamily="34" charset="0"/>
                          <a:ea typeface="游ゴシック" pitchFamily="34" charset="-122"/>
                          <a:cs typeface="游ゴシック" pitchFamily="34" charset="-120"/>
                        </a:rPr>
                        <a:t>MX66UW1G45G ドライバ ／ ExtMem Manager</a:t>
                      </a:r>
                      <a:endParaRPr lang="en-US" sz="1400" dirty="0">
                        <a:latin typeface="游ゴシック" charset="0"/>
                        <a:ea typeface="游ゴシック" charset="0"/>
                        <a:cs typeface="游ゴシック" charset="0"/>
                      </a:endParaRPr>
                    </a:p>
                  </a:txBody>
                  <a:tcPr marL="73152" marR="73152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游ゴシック" pitchFamily="34" charset="0"/>
                          <a:ea typeface="游ゴシック" pitchFamily="34" charset="-122"/>
                          <a:cs typeface="游ゴシック" pitchFamily="34" charset="-120"/>
                        </a:rPr>
                        <a:t>STMicroelectronics</a:t>
                      </a:r>
                      <a:endParaRPr lang="en-US" sz="1400" dirty="0">
                        <a:latin typeface="游ゴシック" charset="0"/>
                        <a:ea typeface="游ゴシック" charset="0"/>
                        <a:cs typeface="游ゴシック" charset="0"/>
                      </a:endParaRPr>
                    </a:p>
                  </a:txBody>
                  <a:tcPr marL="73152" marR="73152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游ゴシック" pitchFamily="34" charset="0"/>
                          <a:ea typeface="游ゴシック" pitchFamily="34" charset="-122"/>
                          <a:cs typeface="游ゴシック" pitchFamily="34" charset="-120"/>
                        </a:rPr>
                        <a:t>BSD-3 ／ SLA0044</a:t>
                      </a:r>
                      <a:endParaRPr lang="en-US" sz="1400" dirty="0">
                        <a:latin typeface="游ゴシック" charset="0"/>
                        <a:ea typeface="游ゴシック" charset="0"/>
                        <a:cs typeface="游ゴシック" charset="0"/>
                      </a:endParaRPr>
                    </a:p>
                  </a:txBody>
                  <a:tcPr marL="73152" marR="73152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游ゴシック" pitchFamily="34" charset="0"/>
                          <a:ea typeface="游ゴシック" pitchFamily="34" charset="-122"/>
                          <a:cs typeface="游ゴシック" pitchFamily="34" charset="-120"/>
                        </a:rPr>
                        <a:t>無改変（設定ファイルに本機の値）</a:t>
                      </a:r>
                      <a:endParaRPr lang="en-US" sz="1400" dirty="0">
                        <a:latin typeface="游ゴシック" charset="0"/>
                        <a:ea typeface="游ゴシック" charset="0"/>
                        <a:cs typeface="游ゴシック" charset="0"/>
                      </a:endParaRPr>
                    </a:p>
                  </a:txBody>
                  <a:tcPr marL="73152" marR="73152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2062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游ゴシック" pitchFamily="34" charset="0"/>
                          <a:ea typeface="游ゴシック" pitchFamily="34" charset="-122"/>
                          <a:cs typeface="游ゴシック" pitchFamily="34" charset="-120"/>
                        </a:rPr>
                        <a:t>RK050HR18 定義・Font24 ／ FSD50K 版の tflite</a:t>
                      </a:r>
                      <a:endParaRPr lang="en-US" sz="1400" dirty="0">
                        <a:latin typeface="游ゴシック" charset="0"/>
                        <a:ea typeface="游ゴシック" charset="0"/>
                        <a:cs typeface="游ゴシック" charset="0"/>
                      </a:endParaRPr>
                    </a:p>
                  </a:txBody>
                  <a:tcPr marL="73152" marR="73152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游ゴシック" pitchFamily="34" charset="0"/>
                          <a:ea typeface="游ゴシック" pitchFamily="34" charset="-122"/>
                          <a:cs typeface="游ゴシック" pitchFamily="34" charset="-120"/>
                        </a:rPr>
                        <a:t>STMicroelectronics</a:t>
                      </a:r>
                      <a:endParaRPr lang="en-US" sz="1400" dirty="0">
                        <a:latin typeface="游ゴシック" charset="0"/>
                        <a:ea typeface="游ゴシック" charset="0"/>
                        <a:cs typeface="游ゴシック" charset="0"/>
                      </a:endParaRPr>
                    </a:p>
                  </a:txBody>
                  <a:tcPr marL="73152" marR="73152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游ゴシック" pitchFamily="34" charset="0"/>
                          <a:ea typeface="游ゴシック" pitchFamily="34" charset="-122"/>
                          <a:cs typeface="游ゴシック" pitchFamily="34" charset="-120"/>
                        </a:rPr>
                        <a:t>BSD-3 ／ Apache-2.0</a:t>
                      </a:r>
                      <a:endParaRPr lang="en-US" sz="1400" dirty="0">
                        <a:latin typeface="游ゴシック" charset="0"/>
                        <a:ea typeface="游ゴシック" charset="0"/>
                        <a:cs typeface="游ゴシック" charset="0"/>
                      </a:endParaRPr>
                    </a:p>
                  </a:txBody>
                  <a:tcPr marL="73152" marR="73152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游ゴシック" pitchFamily="34" charset="0"/>
                          <a:ea typeface="游ゴシック" pitchFamily="34" charset="-122"/>
                          <a:cs typeface="游ゴシック" pitchFamily="34" charset="-120"/>
                        </a:rPr>
                        <a:t>無改変</a:t>
                      </a:r>
                      <a:endParaRPr lang="en-US" sz="1400" dirty="0">
                        <a:latin typeface="游ゴシック" charset="0"/>
                        <a:ea typeface="游ゴシック" charset="0"/>
                        <a:cs typeface="游ゴシック" charset="0"/>
                      </a:endParaRPr>
                    </a:p>
                  </a:txBody>
                  <a:tcPr marL="73152" marR="73152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2062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游ゴシック" pitchFamily="34" charset="0"/>
                          <a:ea typeface="游ゴシック" pitchFamily="34" charset="-122"/>
                          <a:cs typeface="游ゴシック" pitchFamily="34" charset="-120"/>
                        </a:rPr>
                        <a:t>ESC-50（試験用クリップ）</a:t>
                      </a:r>
                      <a:endParaRPr lang="en-US" sz="1400" dirty="0">
                        <a:latin typeface="游ゴシック" charset="0"/>
                        <a:ea typeface="游ゴシック" charset="0"/>
                        <a:cs typeface="游ゴシック" charset="0"/>
                      </a:endParaRPr>
                    </a:p>
                  </a:txBody>
                  <a:tcPr marL="73152" marR="73152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游ゴシック" pitchFamily="34" charset="0"/>
                          <a:ea typeface="游ゴシック" pitchFamily="34" charset="-122"/>
                          <a:cs typeface="游ゴシック" pitchFamily="34" charset="-120"/>
                        </a:rPr>
                        <a:t>K. Piczak</a:t>
                      </a:r>
                      <a:endParaRPr lang="en-US" sz="1400" dirty="0">
                        <a:latin typeface="游ゴシック" charset="0"/>
                        <a:ea typeface="游ゴシック" charset="0"/>
                        <a:cs typeface="游ゴシック" charset="0"/>
                      </a:endParaRPr>
                    </a:p>
                  </a:txBody>
                  <a:tcPr marL="73152" marR="73152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游ゴシック" pitchFamily="34" charset="0"/>
                          <a:ea typeface="游ゴシック" pitchFamily="34" charset="-122"/>
                          <a:cs typeface="游ゴシック" pitchFamily="34" charset="-120"/>
                        </a:rPr>
                        <a:t>CC BY-NC 3.0</a:t>
                      </a:r>
                      <a:endParaRPr lang="en-US" sz="1400" dirty="0">
                        <a:latin typeface="游ゴシック" charset="0"/>
                        <a:ea typeface="游ゴシック" charset="0"/>
                        <a:cs typeface="游ゴシック" charset="0"/>
                      </a:endParaRPr>
                    </a:p>
                  </a:txBody>
                  <a:tcPr marL="73152" marR="73152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游ゴシック" pitchFamily="34" charset="0"/>
                          <a:ea typeface="游ゴシック" pitchFamily="34" charset="-122"/>
                          <a:cs typeface="游ゴシック" pitchFamily="34" charset="-120"/>
                        </a:rPr>
                        <a:t>同梱しない（スクリプトで取得・生成）</a:t>
                      </a:r>
                      <a:endParaRPr lang="en-US" sz="1400" dirty="0">
                        <a:latin typeface="游ゴシック" charset="0"/>
                        <a:ea typeface="游ゴシック" charset="0"/>
                        <a:cs typeface="游ゴシック" charset="0"/>
                      </a:endParaRPr>
                    </a:p>
                  </a:txBody>
                  <a:tcPr marL="73152" marR="73152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6" name="Text 3"/>
          <p:cNvSpPr txBox="1"/>
          <p:nvPr/>
        </p:nvSpPr>
        <p:spPr>
          <a:xfrm>
            <a:off x="457200" y="6400800"/>
            <a:ext cx="1127455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95959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権利者・入手先・改変箇所の詳細は docs/third_party.md</a:t>
            </a:r>
            <a:endParaRPr lang="en-US" sz="1400" dirty="0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74320" y="109728"/>
            <a:ext cx="116128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付録 A2　既存・改変・自作の区別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0" y="777240"/>
            <a:ext cx="12191695" cy="274320"/>
          </a:xfrm>
          <a:prstGeom prst="rect">
            <a:avLst/>
          </a:prstGeom>
          <a:solidFill>
            <a:srgbClr val="156082"/>
          </a:solidFill>
          <a:ln w="12700">
            <a:solidFill>
              <a:srgbClr val="156082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4" name="Text 2"/>
          <p:cNvSpPr txBox="1"/>
          <p:nvPr/>
        </p:nvSpPr>
        <p:spPr>
          <a:xfrm>
            <a:off x="457200" y="1188720"/>
            <a:ext cx="11274552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800" b="1" dirty="0">
                <a:solidFill>
                  <a:srgbClr val="FF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既存のものはそのまま使い、無かった部分を自作した</a:t>
            </a:r>
            <a:endParaRPr lang="en-US" sz="2800" dirty="0"/>
          </a:p>
        </p:txBody>
      </p:sp>
      <p:graphicFrame>
        <p:nvGraphicFramePr>
          <p:cNvPr id="4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2194560"/>
          <a:ext cx="11274552" cy="3931920"/>
        </p:xfrm>
        <a:graphic>
          <a:graphicData uri="http://schemas.openxmlformats.org/drawingml/2006/table">
            <a:tbl>
              <a:tblPr/>
              <a:tblGrid>
                <a:gridCol w="12801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5661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0175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41071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7772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游ゴシック" pitchFamily="34" charset="0"/>
                          <a:ea typeface="游ゴシック" pitchFamily="34" charset="-122"/>
                          <a:cs typeface="游ゴシック" pitchFamily="34" charset="-120"/>
                        </a:rPr>
                        <a:t>層</a:t>
                      </a:r>
                      <a:endParaRPr lang="en-US" sz="1600" dirty="0">
                        <a:latin typeface="游ゴシック" charset="0"/>
                        <a:ea typeface="游ゴシック" charset="0"/>
                        <a:cs typeface="游ゴシック" charset="0"/>
                      </a:endParaRPr>
                    </a:p>
                  </a:txBody>
                  <a:tcPr marL="73152" marR="73152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608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游ゴシック" pitchFamily="34" charset="0"/>
                          <a:ea typeface="游ゴシック" pitchFamily="34" charset="-122"/>
                          <a:cs typeface="游ゴシック" pitchFamily="34" charset="-120"/>
                        </a:rPr>
                        <a:t>既存のまま</a:t>
                      </a:r>
                      <a:endParaRPr lang="en-US" sz="1600" dirty="0">
                        <a:latin typeface="游ゴシック" charset="0"/>
                        <a:ea typeface="游ゴシック" charset="0"/>
                        <a:cs typeface="游ゴシック" charset="0"/>
                      </a:endParaRPr>
                    </a:p>
                  </a:txBody>
                  <a:tcPr marL="73152" marR="73152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608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游ゴシック" pitchFamily="34" charset="0"/>
                          <a:ea typeface="游ゴシック" pitchFamily="34" charset="-122"/>
                          <a:cs typeface="游ゴシック" pitchFamily="34" charset="-120"/>
                        </a:rPr>
                        <a:t>改変</a:t>
                      </a:r>
                      <a:endParaRPr lang="en-US" sz="1600" dirty="0">
                        <a:latin typeface="游ゴシック" charset="0"/>
                        <a:ea typeface="游ゴシック" charset="0"/>
                        <a:cs typeface="游ゴシック" charset="0"/>
                      </a:endParaRPr>
                    </a:p>
                  </a:txBody>
                  <a:tcPr marL="73152" marR="73152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608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游ゴシック" pitchFamily="34" charset="0"/>
                          <a:ea typeface="游ゴシック" pitchFamily="34" charset="-122"/>
                          <a:cs typeface="游ゴシック" pitchFamily="34" charset="-120"/>
                        </a:rPr>
                        <a:t>自作</a:t>
                      </a:r>
                      <a:endParaRPr lang="en-US" sz="1600" dirty="0">
                        <a:latin typeface="游ゴシック" charset="0"/>
                        <a:ea typeface="游ゴシック" charset="0"/>
                        <a:cs typeface="游ゴシック" charset="0"/>
                      </a:endParaRPr>
                    </a:p>
                  </a:txBody>
                  <a:tcPr marL="73152" marR="73152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608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772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000000"/>
                          </a:solidFill>
                          <a:latin typeface="游ゴシック" pitchFamily="34" charset="0"/>
                          <a:ea typeface="游ゴシック" pitchFamily="34" charset="-122"/>
                          <a:cs typeface="游ゴシック" pitchFamily="34" charset="-120"/>
                        </a:rPr>
                        <a:t>OS・HAL</a:t>
                      </a:r>
                      <a:endParaRPr lang="en-US" sz="1600" dirty="0">
                        <a:latin typeface="游ゴシック" charset="0"/>
                        <a:ea typeface="游ゴシック" charset="0"/>
                        <a:cs typeface="游ゴシック" charset="0"/>
                      </a:endParaRPr>
                    </a:p>
                  </a:txBody>
                  <a:tcPr marL="73152" marR="73152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000000"/>
                          </a:solidFill>
                          <a:latin typeface="游ゴシック" pitchFamily="34" charset="0"/>
                          <a:ea typeface="游ゴシック" pitchFamily="34" charset="-122"/>
                          <a:cs typeface="游ゴシック" pitchFamily="34" charset="-120"/>
                        </a:rPr>
                        <a:t>μT-Kernel 3.0 BSP2、STM32N6 HAL / CMSIS</a:t>
                      </a:r>
                      <a:endParaRPr lang="en-US" sz="1600" dirty="0">
                        <a:latin typeface="游ゴシック" charset="0"/>
                        <a:ea typeface="游ゴシック" charset="0"/>
                        <a:cs typeface="游ゴシック" charset="0"/>
                      </a:endParaRPr>
                    </a:p>
                  </a:txBody>
                  <a:tcPr marL="73152" marR="73152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000000"/>
                          </a:solidFill>
                          <a:latin typeface="游ゴシック" pitchFamily="34" charset="0"/>
                          <a:ea typeface="游ゴシック" pitchFamily="34" charset="-122"/>
                          <a:cs typeface="游ゴシック" pitchFamily="34" charset="-120"/>
                        </a:rPr>
                        <a:t>CubeMX 生成の main.c / it.c / hal_conf.h（クロック・割込み）とリンカスクリプト</a:t>
                      </a:r>
                      <a:endParaRPr lang="en-US" sz="1600" dirty="0">
                        <a:latin typeface="游ゴシック" charset="0"/>
                        <a:ea typeface="游ゴシック" charset="0"/>
                        <a:cs typeface="游ゴシック" charset="0"/>
                      </a:endParaRPr>
                    </a:p>
                  </a:txBody>
                  <a:tcPr marL="73152" marR="73152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000000"/>
                          </a:solidFill>
                          <a:latin typeface="游ゴシック" pitchFamily="34" charset="0"/>
                          <a:ea typeface="游ゴシック" pitchFamily="34" charset="-122"/>
                          <a:cs typeface="游ゴシック" pitchFamily="34" charset="-120"/>
                        </a:rPr>
                        <a:t>フォールト表・トレース・ログ基盤</a:t>
                      </a:r>
                      <a:endParaRPr lang="en-US" sz="1600" dirty="0">
                        <a:latin typeface="游ゴシック" charset="0"/>
                        <a:ea typeface="游ゴシック" charset="0"/>
                        <a:cs typeface="游ゴシック" charset="0"/>
                      </a:endParaRPr>
                    </a:p>
                  </a:txBody>
                  <a:tcPr marL="73152" marR="73152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772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000000"/>
                          </a:solidFill>
                          <a:latin typeface="游ゴシック" pitchFamily="34" charset="0"/>
                          <a:ea typeface="游ゴシック" pitchFamily="34" charset="-122"/>
                          <a:cs typeface="游ゴシック" pitchFamily="34" charset="-120"/>
                        </a:rPr>
                        <a:t>音</a:t>
                      </a:r>
                      <a:endParaRPr lang="en-US" sz="1600" dirty="0">
                        <a:latin typeface="游ゴシック" charset="0"/>
                        <a:ea typeface="游ゴシック" charset="0"/>
                        <a:cs typeface="游ゴシック" charset="0"/>
                      </a:endParaRPr>
                    </a:p>
                  </a:txBody>
                  <a:tcPr marL="73152" marR="73152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000000"/>
                          </a:solidFill>
                          <a:latin typeface="游ゴシック" pitchFamily="34" charset="0"/>
                          <a:ea typeface="游ゴシック" pitchFamily="34" charset="-122"/>
                          <a:cs typeface="游ゴシック" pitchFamily="34" charset="-120"/>
                        </a:rPr>
                        <a:t>WM8904 コーデックの設定（ST 由来）</a:t>
                      </a:r>
                      <a:endParaRPr lang="en-US" sz="1600" dirty="0">
                        <a:latin typeface="游ゴシック" charset="0"/>
                        <a:ea typeface="游ゴシック" charset="0"/>
                        <a:cs typeface="游ゴシック" charset="0"/>
                      </a:endParaRPr>
                    </a:p>
                  </a:txBody>
                  <a:tcPr marL="73152" marR="73152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000000"/>
                          </a:solidFill>
                          <a:latin typeface="游ゴシック" pitchFamily="34" charset="0"/>
                          <a:ea typeface="游ゴシック" pitchFamily="34" charset="-122"/>
                          <a:cs typeface="游ゴシック" pitchFamily="34" charset="-120"/>
                        </a:rPr>
                        <a:t>—</a:t>
                      </a:r>
                      <a:endParaRPr lang="en-US" sz="1600" dirty="0">
                        <a:latin typeface="游ゴシック" charset="0"/>
                        <a:ea typeface="游ゴシック" charset="0"/>
                        <a:cs typeface="游ゴシック" charset="0"/>
                      </a:endParaRPr>
                    </a:p>
                  </a:txBody>
                  <a:tcPr marL="73152" marR="73152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000000"/>
                          </a:solidFill>
                          <a:latin typeface="游ゴシック" pitchFamily="34" charset="0"/>
                          <a:ea typeface="游ゴシック" pitchFamily="34" charset="-122"/>
                          <a:cs typeface="游ゴシック" pitchFamily="34" charset="-120"/>
                        </a:rPr>
                        <a:t>PCM FIFO、窓リング、ヘッドホンへの折り返し、窓の切り出し</a:t>
                      </a:r>
                      <a:endParaRPr lang="en-US" sz="1600" dirty="0">
                        <a:latin typeface="游ゴシック" charset="0"/>
                        <a:ea typeface="游ゴシック" charset="0"/>
                        <a:cs typeface="游ゴシック" charset="0"/>
                      </a:endParaRPr>
                    </a:p>
                  </a:txBody>
                  <a:tcPr marL="73152" marR="73152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772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000000"/>
                          </a:solidFill>
                          <a:latin typeface="游ゴシック" pitchFamily="34" charset="0"/>
                          <a:ea typeface="游ゴシック" pitchFamily="34" charset="-122"/>
                          <a:cs typeface="游ゴシック" pitchFamily="34" charset="-120"/>
                        </a:rPr>
                        <a:t>推論</a:t>
                      </a:r>
                      <a:endParaRPr lang="en-US" sz="1600" dirty="0">
                        <a:latin typeface="游ゴシック" charset="0"/>
                        <a:ea typeface="游ゴシック" charset="0"/>
                        <a:cs typeface="游ゴシック" charset="0"/>
                      </a:endParaRPr>
                    </a:p>
                  </a:txBody>
                  <a:tcPr marL="73152" marR="73152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000000"/>
                          </a:solidFill>
                          <a:latin typeface="游ゴシック" pitchFamily="34" charset="0"/>
                          <a:ea typeface="游ゴシック" pitchFamily="34" charset="-122"/>
                          <a:cs typeface="游ゴシック" pitchFamily="34" charset="-120"/>
                        </a:rPr>
                        <a:t>ll_aton ＋ NetworkRuntime、生成済みネットワーク（ST Edge AI Core）</a:t>
                      </a:r>
                      <a:endParaRPr lang="en-US" sz="1600" dirty="0">
                        <a:latin typeface="游ゴシック" charset="0"/>
                        <a:ea typeface="游ゴシック" charset="0"/>
                        <a:cs typeface="游ゴシック" charset="0"/>
                      </a:endParaRPr>
                    </a:p>
                  </a:txBody>
                  <a:tcPr marL="73152" marR="73152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000000"/>
                          </a:solidFill>
                          <a:latin typeface="游ゴシック" pitchFamily="34" charset="0"/>
                          <a:ea typeface="游ゴシック" pitchFamily="34" charset="-122"/>
                          <a:cs typeface="游ゴシック" pitchFamily="34" charset="-120"/>
                        </a:rPr>
                        <a:t>—</a:t>
                      </a:r>
                      <a:endParaRPr lang="en-US" sz="1600" dirty="0">
                        <a:latin typeface="游ゴシック" charset="0"/>
                        <a:ea typeface="游ゴシック" charset="0"/>
                        <a:cs typeface="游ゴシック" charset="0"/>
                      </a:endParaRPr>
                    </a:p>
                  </a:txBody>
                  <a:tcPr marL="73152" marR="73152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000000"/>
                          </a:solidFill>
                          <a:latin typeface="游ゴシック" pitchFamily="34" charset="0"/>
                          <a:ea typeface="游ゴシック" pitchFamily="34" charset="-122"/>
                          <a:cs typeface="游ゴシック" pitchFamily="34" charset="-120"/>
                        </a:rPr>
                        <a:t>log-mel 前処理、NPU の初期化、自己検証</a:t>
                      </a:r>
                      <a:endParaRPr lang="en-US" sz="1600" dirty="0">
                        <a:latin typeface="游ゴシック" charset="0"/>
                        <a:ea typeface="游ゴシック" charset="0"/>
                        <a:cs typeface="游ゴシック" charset="0"/>
                      </a:endParaRPr>
                    </a:p>
                  </a:txBody>
                  <a:tcPr marL="73152" marR="73152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772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000000"/>
                          </a:solidFill>
                          <a:latin typeface="游ゴシック" pitchFamily="34" charset="0"/>
                          <a:ea typeface="游ゴシック" pitchFamily="34" charset="-122"/>
                          <a:cs typeface="游ゴシック" pitchFamily="34" charset="-120"/>
                        </a:rPr>
                        <a:t>出力</a:t>
                      </a:r>
                      <a:endParaRPr lang="en-US" sz="1600" dirty="0">
                        <a:latin typeface="游ゴシック" charset="0"/>
                        <a:ea typeface="游ゴシック" charset="0"/>
                        <a:cs typeface="游ゴシック" charset="0"/>
                      </a:endParaRPr>
                    </a:p>
                  </a:txBody>
                  <a:tcPr marL="73152" marR="73152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000000"/>
                          </a:solidFill>
                          <a:latin typeface="游ゴシック" pitchFamily="34" charset="0"/>
                          <a:ea typeface="游ゴシック" pitchFamily="34" charset="-122"/>
                          <a:cs typeface="游ゴシック" pitchFamily="34" charset="-120"/>
                        </a:rPr>
                        <a:t>HAL LTDC、RK050HR18 定義、Font24</a:t>
                      </a:r>
                      <a:endParaRPr lang="en-US" sz="1600" dirty="0">
                        <a:latin typeface="游ゴシック" charset="0"/>
                        <a:ea typeface="游ゴシック" charset="0"/>
                        <a:cs typeface="游ゴシック" charset="0"/>
                      </a:endParaRPr>
                    </a:p>
                  </a:txBody>
                  <a:tcPr marL="73152" marR="73152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000000"/>
                          </a:solidFill>
                          <a:latin typeface="游ゴシック" pitchFamily="34" charset="0"/>
                          <a:ea typeface="游ゴシック" pitchFamily="34" charset="-122"/>
                          <a:cs typeface="游ゴシック" pitchFamily="34" charset="-120"/>
                        </a:rPr>
                        <a:t>—</a:t>
                      </a:r>
                      <a:endParaRPr lang="en-US" sz="1600" dirty="0">
                        <a:latin typeface="游ゴシック" charset="0"/>
                        <a:ea typeface="游ゴシック" charset="0"/>
                        <a:cs typeface="游ゴシック" charset="0"/>
                      </a:endParaRPr>
                    </a:p>
                  </a:txBody>
                  <a:tcPr marL="73152" marR="73152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000000"/>
                          </a:solidFill>
                          <a:latin typeface="游ゴシック" pitchFamily="34" charset="0"/>
                          <a:ea typeface="游ゴシック" pitchFamily="34" charset="-122"/>
                          <a:cs typeface="游ゴシック" pitchFamily="34" charset="-120"/>
                        </a:rPr>
                        <a:t>LTDC 直結の LCD ドライバ、通知の判定、LCD タスク、JSON</a:t>
                      </a:r>
                      <a:endParaRPr lang="en-US" sz="1600" dirty="0">
                        <a:latin typeface="游ゴシック" charset="0"/>
                        <a:ea typeface="游ゴシック" charset="0"/>
                        <a:cs typeface="游ゴシック" charset="0"/>
                      </a:endParaRPr>
                    </a:p>
                  </a:txBody>
                  <a:tcPr marL="73152" marR="73152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74320" y="109728"/>
            <a:ext cx="116128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付録 A3　ST リファレンス実装との違い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0" y="777240"/>
            <a:ext cx="12191695" cy="274320"/>
          </a:xfrm>
          <a:prstGeom prst="rect">
            <a:avLst/>
          </a:prstGeom>
          <a:solidFill>
            <a:srgbClr val="156082"/>
          </a:solidFill>
          <a:ln w="12700">
            <a:solidFill>
              <a:srgbClr val="156082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4" name="Text 2"/>
          <p:cNvSpPr txBox="1"/>
          <p:nvPr/>
        </p:nvSpPr>
        <p:spPr>
          <a:xfrm>
            <a:off x="457200" y="1188720"/>
            <a:ext cx="11274552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800" b="1" dirty="0">
                <a:solidFill>
                  <a:srgbClr val="FF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OS の上で音と推論を分け、壊れ方まで測った</a:t>
            </a:r>
            <a:endParaRPr lang="en-US" sz="2800" dirty="0"/>
          </a:p>
        </p:txBody>
      </p:sp>
      <p:graphicFrame>
        <p:nvGraphicFramePr>
          <p:cNvPr id="4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2148840"/>
          <a:ext cx="11274552" cy="3907536"/>
        </p:xfrm>
        <a:graphic>
          <a:graphicData uri="http://schemas.openxmlformats.org/drawingml/2006/table">
            <a:tbl>
              <a:tblPr/>
              <a:tblGrid>
                <a:gridCol w="21031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4747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69671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3035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游ゴシック" pitchFamily="34" charset="0"/>
                          <a:ea typeface="游ゴシック" pitchFamily="34" charset="-122"/>
                          <a:cs typeface="游ゴシック" pitchFamily="34" charset="-120"/>
                        </a:rPr>
                        <a:t>観点</a:t>
                      </a:r>
                      <a:endParaRPr lang="en-US" sz="1600" dirty="0">
                        <a:latin typeface="游ゴシック" charset="0"/>
                        <a:ea typeface="游ゴシック" charset="0"/>
                        <a:cs typeface="游ゴシック" charset="0"/>
                      </a:endParaRPr>
                    </a:p>
                  </a:txBody>
                  <a:tcPr marL="73152" marR="73152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608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游ゴシック" pitchFamily="34" charset="0"/>
                          <a:ea typeface="游ゴシック" pitchFamily="34" charset="-122"/>
                          <a:cs typeface="游ゴシック" pitchFamily="34" charset="-120"/>
                        </a:rPr>
                        <a:t>ST GettingStarted（ベアメタル）</a:t>
                      </a:r>
                      <a:endParaRPr lang="en-US" sz="1600" dirty="0">
                        <a:latin typeface="游ゴシック" charset="0"/>
                        <a:ea typeface="游ゴシック" charset="0"/>
                        <a:cs typeface="游ゴシック" charset="0"/>
                      </a:endParaRPr>
                    </a:p>
                  </a:txBody>
                  <a:tcPr marL="73152" marR="73152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608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游ゴシック" pitchFamily="34" charset="0"/>
                          <a:ea typeface="游ゴシック" pitchFamily="34" charset="-122"/>
                          <a:cs typeface="游ゴシック" pitchFamily="34" charset="-120"/>
                        </a:rPr>
                        <a:t>本作品</a:t>
                      </a:r>
                      <a:endParaRPr lang="en-US" sz="1600" dirty="0">
                        <a:latin typeface="游ゴシック" charset="0"/>
                        <a:ea typeface="游ゴシック" charset="0"/>
                        <a:cs typeface="游ゴシック" charset="0"/>
                      </a:endParaRPr>
                    </a:p>
                  </a:txBody>
                  <a:tcPr marL="73152" marR="73152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608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3035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000000"/>
                          </a:solidFill>
                          <a:latin typeface="游ゴシック" pitchFamily="34" charset="0"/>
                          <a:ea typeface="游ゴシック" pitchFamily="34" charset="-122"/>
                          <a:cs typeface="游ゴシック" pitchFamily="34" charset="-120"/>
                        </a:rPr>
                        <a:t>OS</a:t>
                      </a:r>
                      <a:endParaRPr lang="en-US" sz="1600" dirty="0">
                        <a:latin typeface="游ゴシック" charset="0"/>
                        <a:ea typeface="游ゴシック" charset="0"/>
                        <a:cs typeface="游ゴシック" charset="0"/>
                      </a:endParaRPr>
                    </a:p>
                  </a:txBody>
                  <a:tcPr marL="73152" marR="73152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000000"/>
                          </a:solidFill>
                          <a:latin typeface="游ゴシック" pitchFamily="34" charset="0"/>
                          <a:ea typeface="游ゴシック" pitchFamily="34" charset="-122"/>
                          <a:cs typeface="游ゴシック" pitchFamily="34" charset="-120"/>
                        </a:rPr>
                        <a:t>無し（メインループ）</a:t>
                      </a:r>
                      <a:endParaRPr lang="en-US" sz="1600" dirty="0">
                        <a:latin typeface="游ゴシック" charset="0"/>
                        <a:ea typeface="游ゴシック" charset="0"/>
                        <a:cs typeface="游ゴシック" charset="0"/>
                      </a:endParaRPr>
                    </a:p>
                  </a:txBody>
                  <a:tcPr marL="73152" marR="73152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000000"/>
                          </a:solidFill>
                          <a:latin typeface="游ゴシック" pitchFamily="34" charset="0"/>
                          <a:ea typeface="游ゴシック" pitchFamily="34" charset="-122"/>
                          <a:cs typeface="游ゴシック" pitchFamily="34" charset="-120"/>
                        </a:rPr>
                        <a:t>μT-Kernel 3.0、7 タスク＋周期／アラームハンドラ</a:t>
                      </a:r>
                      <a:endParaRPr lang="en-US" sz="1600" dirty="0">
                        <a:latin typeface="游ゴシック" charset="0"/>
                        <a:ea typeface="游ゴシック" charset="0"/>
                        <a:cs typeface="游ゴシック" charset="0"/>
                      </a:endParaRPr>
                    </a:p>
                  </a:txBody>
                  <a:tcPr marL="73152" marR="73152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3035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000000"/>
                          </a:solidFill>
                          <a:latin typeface="游ゴシック" pitchFamily="34" charset="0"/>
                          <a:ea typeface="游ゴシック" pitchFamily="34" charset="-122"/>
                          <a:cs typeface="游ゴシック" pitchFamily="34" charset="-120"/>
                        </a:rPr>
                        <a:t>音の経路</a:t>
                      </a:r>
                      <a:endParaRPr lang="en-US" sz="1600" dirty="0">
                        <a:latin typeface="游ゴシック" charset="0"/>
                        <a:ea typeface="游ゴシック" charset="0"/>
                        <a:cs typeface="游ゴシック" charset="0"/>
                      </a:endParaRPr>
                    </a:p>
                  </a:txBody>
                  <a:tcPr marL="73152" marR="73152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000000"/>
                          </a:solidFill>
                          <a:latin typeface="游ゴシック" pitchFamily="34" charset="0"/>
                          <a:ea typeface="游ゴシック" pitchFamily="34" charset="-122"/>
                          <a:cs typeface="游ゴシック" pitchFamily="34" charset="-120"/>
                        </a:rPr>
                        <a:t>取り込みと推論が同じループ</a:t>
                      </a:r>
                      <a:endParaRPr lang="en-US" sz="1600" dirty="0">
                        <a:latin typeface="游ゴシック" charset="0"/>
                        <a:ea typeface="游ゴシック" charset="0"/>
                        <a:cs typeface="游ゴシック" charset="0"/>
                      </a:endParaRPr>
                    </a:p>
                  </a:txBody>
                  <a:tcPr marL="73152" marR="73152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000000"/>
                          </a:solidFill>
                          <a:latin typeface="游ゴシック" pitchFamily="34" charset="0"/>
                          <a:ea typeface="游ゴシック" pitchFamily="34" charset="-122"/>
                          <a:cs typeface="游ゴシック" pitchFamily="34" charset="-120"/>
                        </a:rPr>
                        <a:t>取り込みは最優先のタスク。推論が遅れても落ちない（実験 1）</a:t>
                      </a:r>
                      <a:endParaRPr lang="en-US" sz="1600" dirty="0">
                        <a:latin typeface="游ゴシック" charset="0"/>
                        <a:ea typeface="游ゴシック" charset="0"/>
                        <a:cs typeface="游ゴシック" charset="0"/>
                      </a:endParaRPr>
                    </a:p>
                  </a:txBody>
                  <a:tcPr marL="73152" marR="73152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3035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000000"/>
                          </a:solidFill>
                          <a:latin typeface="游ゴシック" pitchFamily="34" charset="0"/>
                          <a:ea typeface="游ゴシック" pitchFamily="34" charset="-122"/>
                          <a:cs typeface="游ゴシック" pitchFamily="34" charset="-120"/>
                        </a:rPr>
                        <a:t>前処理</a:t>
                      </a:r>
                      <a:endParaRPr lang="en-US" sz="1600" dirty="0">
                        <a:latin typeface="游ゴシック" charset="0"/>
                        <a:ea typeface="游ゴシック" charset="0"/>
                        <a:cs typeface="游ゴシック" charset="0"/>
                      </a:endParaRPr>
                    </a:p>
                  </a:txBody>
                  <a:tcPr marL="73152" marR="73152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000000"/>
                          </a:solidFill>
                          <a:latin typeface="游ゴシック" pitchFamily="34" charset="0"/>
                          <a:ea typeface="游ゴシック" pitchFamily="34" charset="-122"/>
                          <a:cs typeface="游ゴシック" pitchFamily="34" charset="-120"/>
                        </a:rPr>
                        <a:t>ST のライブラリ</a:t>
                      </a:r>
                      <a:endParaRPr lang="en-US" sz="1600" dirty="0">
                        <a:latin typeface="游ゴシック" charset="0"/>
                        <a:ea typeface="游ゴシック" charset="0"/>
                        <a:cs typeface="游ゴシック" charset="0"/>
                      </a:endParaRPr>
                    </a:p>
                  </a:txBody>
                  <a:tcPr marL="73152" marR="73152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000000"/>
                          </a:solidFill>
                          <a:latin typeface="游ゴシック" pitchFamily="34" charset="0"/>
                          <a:ea typeface="游ゴシック" pitchFamily="34" charset="-122"/>
                          <a:cs typeface="游ゴシック" pitchFamily="34" charset="-120"/>
                        </a:rPr>
                        <a:t>自作の log-mel（PC と 1 ビットも違わない。PC 側スクリプト同梱）</a:t>
                      </a:r>
                      <a:endParaRPr lang="en-US" sz="1600" dirty="0">
                        <a:latin typeface="游ゴシック" charset="0"/>
                        <a:ea typeface="游ゴシック" charset="0"/>
                        <a:cs typeface="游ゴシック" charset="0"/>
                      </a:endParaRPr>
                    </a:p>
                  </a:txBody>
                  <a:tcPr marL="73152" marR="73152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3035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000000"/>
                          </a:solidFill>
                          <a:latin typeface="游ゴシック" pitchFamily="34" charset="0"/>
                          <a:ea typeface="游ゴシック" pitchFamily="34" charset="-122"/>
                          <a:cs typeface="游ゴシック" pitchFamily="34" charset="-120"/>
                        </a:rPr>
                        <a:t>検証</a:t>
                      </a:r>
                      <a:endParaRPr lang="en-US" sz="1600" dirty="0">
                        <a:latin typeface="游ゴシック" charset="0"/>
                        <a:ea typeface="游ゴシック" charset="0"/>
                        <a:cs typeface="游ゴシック" charset="0"/>
                      </a:endParaRPr>
                    </a:p>
                  </a:txBody>
                  <a:tcPr marL="73152" marR="73152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000000"/>
                          </a:solidFill>
                          <a:latin typeface="游ゴシック" pitchFamily="34" charset="0"/>
                          <a:ea typeface="游ゴシック" pitchFamily="34" charset="-122"/>
                          <a:cs typeface="游ゴシック" pitchFamily="34" charset="-120"/>
                        </a:rPr>
                        <a:t>デモ動作</a:t>
                      </a:r>
                      <a:endParaRPr lang="en-US" sz="1600" dirty="0">
                        <a:latin typeface="游ゴシック" charset="0"/>
                        <a:ea typeface="游ゴシック" charset="0"/>
                        <a:cs typeface="游ゴシック" charset="0"/>
                      </a:endParaRPr>
                    </a:p>
                  </a:txBody>
                  <a:tcPr marL="73152" marR="73152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000000"/>
                          </a:solidFill>
                          <a:latin typeface="游ゴシック" pitchFamily="34" charset="0"/>
                          <a:ea typeface="游ゴシック" pitchFamily="34" charset="-122"/>
                          <a:cs typeface="游ゴシック" pitchFamily="34" charset="-120"/>
                        </a:rPr>
                        <a:t>自己検証・前処理の一致・対照試験・1 時間運転・誤報の再走行、ログと再生スクリプト</a:t>
                      </a:r>
                      <a:endParaRPr lang="en-US" sz="1600" dirty="0">
                        <a:latin typeface="游ゴシック" charset="0"/>
                        <a:ea typeface="游ゴシック" charset="0"/>
                        <a:cs typeface="游ゴシック" charset="0"/>
                      </a:endParaRPr>
                    </a:p>
                  </a:txBody>
                  <a:tcPr marL="73152" marR="73152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3035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000000"/>
                          </a:solidFill>
                          <a:latin typeface="游ゴシック" pitchFamily="34" charset="0"/>
                          <a:ea typeface="游ゴシック" pitchFamily="34" charset="-122"/>
                          <a:cs typeface="游ゴシック" pitchFamily="34" charset="-120"/>
                        </a:rPr>
                        <a:t>表示・通知</a:t>
                      </a:r>
                      <a:endParaRPr lang="en-US" sz="1600" dirty="0">
                        <a:latin typeface="游ゴシック" charset="0"/>
                        <a:ea typeface="游ゴシック" charset="0"/>
                        <a:cs typeface="游ゴシック" charset="0"/>
                      </a:endParaRPr>
                    </a:p>
                  </a:txBody>
                  <a:tcPr marL="73152" marR="73152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000000"/>
                          </a:solidFill>
                          <a:latin typeface="游ゴシック" pitchFamily="34" charset="0"/>
                          <a:ea typeface="游ゴシック" pitchFamily="34" charset="-122"/>
                          <a:cs typeface="游ゴシック" pitchFamily="34" charset="-120"/>
                        </a:rPr>
                        <a:t>無し</a:t>
                      </a:r>
                      <a:endParaRPr lang="en-US" sz="1600" dirty="0">
                        <a:latin typeface="游ゴシック" charset="0"/>
                        <a:ea typeface="游ゴシック" charset="0"/>
                        <a:cs typeface="游ゴシック" charset="0"/>
                      </a:endParaRPr>
                    </a:p>
                  </a:txBody>
                  <a:tcPr marL="73152" marR="73152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000000"/>
                          </a:solidFill>
                          <a:latin typeface="游ゴシック" pitchFamily="34" charset="0"/>
                          <a:ea typeface="游ゴシック" pitchFamily="34" charset="-122"/>
                          <a:cs typeface="游ゴシック" pitchFamily="34" charset="-120"/>
                        </a:rPr>
                        <a:t>LTDC 直結の LCD（全面の色＋履歴）、LED、UART JSON</a:t>
                      </a:r>
                      <a:endParaRPr lang="en-US" sz="1600" dirty="0">
                        <a:latin typeface="游ゴシック" charset="0"/>
                        <a:ea typeface="游ゴシック" charset="0"/>
                        <a:cs typeface="游ゴシック" charset="0"/>
                      </a:endParaRPr>
                    </a:p>
                  </a:txBody>
                  <a:tcPr marL="73152" marR="73152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3035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000000"/>
                          </a:solidFill>
                          <a:latin typeface="游ゴシック" pitchFamily="34" charset="0"/>
                          <a:ea typeface="游ゴシック" pitchFamily="34" charset="-122"/>
                          <a:cs typeface="游ゴシック" pitchFamily="34" charset="-120"/>
                        </a:rPr>
                        <a:t>低レベルの初期化</a:t>
                      </a:r>
                      <a:endParaRPr lang="en-US" sz="1600" dirty="0">
                        <a:latin typeface="游ゴシック" charset="0"/>
                        <a:ea typeface="游ゴシック" charset="0"/>
                        <a:cs typeface="游ゴシック" charset="0"/>
                      </a:endParaRPr>
                    </a:p>
                  </a:txBody>
                  <a:tcPr marL="73152" marR="73152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000000"/>
                          </a:solidFill>
                          <a:latin typeface="游ゴシック" pitchFamily="34" charset="0"/>
                          <a:ea typeface="游ゴシック" pitchFamily="34" charset="-122"/>
                          <a:cs typeface="游ゴシック" pitchFamily="34" charset="-120"/>
                        </a:rPr>
                        <a:t>GettingStarted に含まれる</a:t>
                      </a:r>
                      <a:endParaRPr lang="en-US" sz="1600" dirty="0">
                        <a:latin typeface="游ゴシック" charset="0"/>
                        <a:ea typeface="游ゴシック" charset="0"/>
                        <a:cs typeface="游ゴシック" charset="0"/>
                      </a:endParaRPr>
                    </a:p>
                  </a:txBody>
                  <a:tcPr marL="73152" marR="73152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000000"/>
                          </a:solidFill>
                          <a:latin typeface="游ゴシック" pitchFamily="34" charset="0"/>
                          <a:ea typeface="游ゴシック" pitchFamily="34" charset="-122"/>
                          <a:cs typeface="游ゴシック" pitchFamily="34" charset="-120"/>
                        </a:rPr>
                        <a:t>BSP2 に無かった分を自作（フラッシュ・NPU・RIF・LCD）</a:t>
                      </a:r>
                      <a:endParaRPr lang="en-US" sz="1600" dirty="0">
                        <a:latin typeface="游ゴシック" charset="0"/>
                        <a:ea typeface="游ゴシック" charset="0"/>
                        <a:cs typeface="游ゴシック" charset="0"/>
                      </a:endParaRPr>
                    </a:p>
                  </a:txBody>
                  <a:tcPr marL="73152" marR="73152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游ゴシック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26</TotalTime>
  <Words>4004</Words>
  <Application>Microsoft Office PowerPoint</Application>
  <PresentationFormat>ワイド画面</PresentationFormat>
  <Paragraphs>987</Paragraphs>
  <Slides>42</Slides>
  <Notes>42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3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42</vt:i4>
      </vt:variant>
    </vt:vector>
  </HeadingPairs>
  <TitlesOfParts>
    <vt:vector size="46" baseType="lpstr">
      <vt:lpstr>游ゴシック</vt:lpstr>
      <vt:lpstr>Arial</vt:lpstr>
      <vt:lpstr>Consolas</vt:lpstr>
      <vt:lpstr>Office Theme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μT-Kernel で音響処理と NPU 推論を両立する音響イベント検出基盤の開発</dc:title>
  <dc:subject>PptxGenJS Presentation</dc:subject>
  <dc:creator>辻大知</dc:creator>
  <cp:lastModifiedBy>辻　大知_福井</cp:lastModifiedBy>
  <cp:revision>2</cp:revision>
  <dcterms:created xsi:type="dcterms:W3CDTF">2026-09-29T18:40:48Z</dcterms:created>
  <dcterms:modified xsi:type="dcterms:W3CDTF">2026-09-29T19:10:48Z</dcterms:modified>
</cp:coreProperties>
</file>